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Kontextdiagramm ThesisFlow in Datenfluss-Notation (Soll-Perspektive, vgl. Vorlesung Kap. 2 System und Systemkontext abgrenzen).
Systemgrenze: das Portal ThesisFlow. Kontextgrenze: alle Personen, Systeme, Dokumente und Ereignisse, die Anforderungen beeinflussen.
Grüne Pfeile = Input (Quellen), blaue Pfeile = Output (Senken). Die Grauzone rechts enthält Aspekte, deren Beziehung zum System noch zu klären ist (Interviewfragen an den Auftraggeber).
Grundlage: 7-Schritte-Ablauf des Zulassungsantrags (Studierende, 2. Prüfer, Sekretariat, PA-Vorsitz, 1. Prüfer, Sekretariat, Studierende) und Verlängerungsantrag an den Studienausschuss WI.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Ist-Zustand: kein System, sondern der Laufweg des PDF-Antragsformulars. Die Schritte 1 bis 7 entsprechen den Hinweisen zur Bearbeitung im Zulassungsantrag: 1 Erstprüfer mailt das Formular, 2 Studierende füllen aus und unterschreiben (externe Korreferenten zusätzlich mit Formular Externe Prüfende und Urkunde), 3 Zweitprüfer unterschreibt und mailt ans Dekanat, 4 Sekretariat prüft Zulassung und Qualifikation, PA-Vorsitz entscheidet, 5 Erstprüfer trägt die Ausgabe ein, 6 Formular zurück ans Sekretariat, Fristprüfung und Ablage, 7 Sekretariat informiert Studierende. Verlängerung läuft als eigener Papierantrag an den Studienausschuss WI. Die Abgrenzung des Systems erfolgt laut Vorlesung in der Soll-Perspektive (Folie 1); diese Folie belegt die Schwachstellen.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82880"/>
            <a:ext cx="7315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2A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Kontextdiagramm ThesisFlow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03504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Systemkontext in der Soll-Perspektive: Quellen und Senken des Abschlussarbeiten-Portals des FB MND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8046720" y="256032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spc="150" kern="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 ENGINEERING  ·  GRUPPE GRÜN  ·  STAND 30.09.2026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57200" y="914400"/>
            <a:ext cx="9692640" cy="5257800"/>
          </a:xfrm>
          <a:prstGeom prst="roundRect">
            <a:avLst>
              <a:gd name="adj" fmla="val 3478"/>
            </a:avLst>
          </a:prstGeom>
          <a:solidFill>
            <a:srgbClr val="F5F7F4"/>
          </a:solidFill>
          <a:ln w="15875">
            <a:solidFill>
              <a:srgbClr val="97BC62"/>
            </a:solidFill>
            <a:prstDash val="dash"/>
          </a:ln>
        </p:spPr>
      </p:sp>
      <p:sp>
        <p:nvSpPr>
          <p:cNvPr id="6" name="Text 4"/>
          <p:cNvSpPr txBox="1"/>
          <p:nvPr/>
        </p:nvSpPr>
        <p:spPr>
          <a:xfrm>
            <a:off x="640080" y="97840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i="1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Kontextgrenze  ·  Systemkontext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4480560" y="1188720"/>
            <a:ext cx="1828800" cy="3429000"/>
          </a:xfrm>
          <a:prstGeom prst="roundRect">
            <a:avLst>
              <a:gd name="adj" fmla="val 6000"/>
            </a:avLst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572000" y="1188720"/>
            <a:ext cx="164592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ThesisFlow</a:t>
            </a:r>
            <a:endParaRPr lang="en-US" sz="20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D9E6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Portal für Anmeldung, Freigabe, Ausgabe und Verlängerung von Abschlussarbeiten</a:t>
            </a:r>
            <a:endParaRPr lang="en-US" sz="2000" dirty="0"/>
          </a:p>
          <a:p>
            <a:pPr algn="ctr"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2000" dirty="0"/>
          </a:p>
          <a:p>
            <a:pPr algn="ctr" indent="0" marL="0">
              <a:buNone/>
            </a:pPr>
            <a:r>
              <a:rPr lang="en-US" sz="800" i="1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Systemgrenze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731520" y="1325880"/>
            <a:ext cx="1737360" cy="502920"/>
          </a:xfrm>
          <a:prstGeom prst="roundRect">
            <a:avLst>
              <a:gd name="adj" fmla="val 14545"/>
            </a:avLst>
          </a:prstGeom>
          <a:solidFill>
            <a:srgbClr val="EEF4E8"/>
          </a:solidFill>
          <a:ln w="15875">
            <a:solidFill>
              <a:srgbClr val="2C5F2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1325880"/>
            <a:ext cx="1737360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Studierende</a:t>
            </a:r>
            <a:endParaRPr lang="en-US" sz="95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5C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/ Rolle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2468880" y="1513332"/>
            <a:ext cx="2011680" cy="914"/>
          </a:xfrm>
          <a:prstGeom prst="line">
            <a:avLst/>
          </a:prstGeom>
          <a:noFill/>
          <a:ln w="15875">
            <a:solidFill>
              <a:srgbClr val="2C5F2D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2468880" y="1641348"/>
            <a:ext cx="2011680" cy="914"/>
          </a:xfrm>
          <a:prstGeom prst="line">
            <a:avLst/>
          </a:prstGeom>
          <a:noFill/>
          <a:ln w="15875">
            <a:solidFill>
              <a:srgbClr val="4A7FB5"/>
            </a:solidFill>
            <a:prstDash val="solid"/>
            <a:headEnd type="triangle"/>
          </a:ln>
        </p:spPr>
      </p:sp>
      <p:sp>
        <p:nvSpPr>
          <p:cNvPr id="13" name="Text 11"/>
          <p:cNvSpPr txBox="1"/>
          <p:nvPr/>
        </p:nvSpPr>
        <p:spPr>
          <a:xfrm>
            <a:off x="2606040" y="1348740"/>
            <a:ext cx="173736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C9D1C9"/>
            </a:solidFill>
          </a:ln>
        </p:spPr>
        <p:txBody>
          <a:bodyPr wrap="square" lIns="508" tIns="508" rIns="508" bIns="508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0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Antrag (Thema, Prüfende, Starttermin), Anlage ext. Prüfer, Verlängerungsantrag</a:t>
            </a:r>
            <a:endParaRPr lang="en-US" sz="7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700" dirty="0">
                <a:solidFill>
                  <a:srgbClr val="4A7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◀ Status, Zulassungsbescheid, Ausgabe (Thema, Beginn, Abgabe)</a:t>
            </a:r>
            <a:endParaRPr lang="en-US" sz="700" dirty="0"/>
          </a:p>
        </p:txBody>
      </p:sp>
      <p:sp>
        <p:nvSpPr>
          <p:cNvPr id="14" name="Shape 12"/>
          <p:cNvSpPr/>
          <p:nvPr/>
        </p:nvSpPr>
        <p:spPr>
          <a:xfrm>
            <a:off x="731520" y="2011680"/>
            <a:ext cx="1737360" cy="502920"/>
          </a:xfrm>
          <a:prstGeom prst="roundRect">
            <a:avLst>
              <a:gd name="adj" fmla="val 14545"/>
            </a:avLst>
          </a:prstGeom>
          <a:solidFill>
            <a:srgbClr val="EEF4E8"/>
          </a:solidFill>
          <a:ln w="15875">
            <a:solidFill>
              <a:srgbClr val="2C5F2D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1520" y="2011680"/>
            <a:ext cx="1737360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Erstprüfende</a:t>
            </a:r>
            <a:endParaRPr lang="en-US" sz="95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5C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/ Rolle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2468880" y="2199132"/>
            <a:ext cx="2011680" cy="914"/>
          </a:xfrm>
          <a:prstGeom prst="line">
            <a:avLst/>
          </a:prstGeom>
          <a:noFill/>
          <a:ln w="15875">
            <a:solidFill>
              <a:srgbClr val="2C5F2D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2468880" y="2327148"/>
            <a:ext cx="2011680" cy="914"/>
          </a:xfrm>
          <a:prstGeom prst="line">
            <a:avLst/>
          </a:prstGeom>
          <a:noFill/>
          <a:ln w="15875">
            <a:solidFill>
              <a:srgbClr val="4A7FB5"/>
            </a:solidFill>
            <a:prstDash val="solid"/>
            <a:headEnd type="triangle"/>
          </a:ln>
        </p:spPr>
      </p:sp>
      <p:sp>
        <p:nvSpPr>
          <p:cNvPr id="18" name="Text 16"/>
          <p:cNvSpPr txBox="1"/>
          <p:nvPr/>
        </p:nvSpPr>
        <p:spPr>
          <a:xfrm>
            <a:off x="2606040" y="2034540"/>
            <a:ext cx="173736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C9D1C9"/>
            </a:solidFill>
          </a:ln>
        </p:spPr>
        <p:txBody>
          <a:bodyPr wrap="square" lIns="508" tIns="508" rIns="508" bIns="508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0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Betreuungszusage, Ausgabe mit Beginn und Abgabe, Befürwortung Verlängerung</a:t>
            </a:r>
            <a:endParaRPr lang="en-US" sz="7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700" dirty="0">
                <a:solidFill>
                  <a:srgbClr val="4A7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◀ Antragsdaten, Aufgabenhinweis</a:t>
            </a:r>
            <a:endParaRPr lang="en-US" sz="700" dirty="0"/>
          </a:p>
        </p:txBody>
      </p:sp>
      <p:sp>
        <p:nvSpPr>
          <p:cNvPr id="19" name="Shape 17"/>
          <p:cNvSpPr/>
          <p:nvPr/>
        </p:nvSpPr>
        <p:spPr>
          <a:xfrm>
            <a:off x="731520" y="2697480"/>
            <a:ext cx="1737360" cy="502920"/>
          </a:xfrm>
          <a:prstGeom prst="roundRect">
            <a:avLst>
              <a:gd name="adj" fmla="val 14545"/>
            </a:avLst>
          </a:prstGeom>
          <a:solidFill>
            <a:srgbClr val="EEF4E8"/>
          </a:solidFill>
          <a:ln w="15875">
            <a:solidFill>
              <a:srgbClr val="2C5F2D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31520" y="2697480"/>
            <a:ext cx="1737360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Interne Zweitprüfende</a:t>
            </a:r>
            <a:endParaRPr lang="en-US" sz="95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5C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/ Rolle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2468880" y="2884932"/>
            <a:ext cx="2011680" cy="914"/>
          </a:xfrm>
          <a:prstGeom prst="line">
            <a:avLst/>
          </a:prstGeom>
          <a:noFill/>
          <a:ln w="15875">
            <a:solidFill>
              <a:srgbClr val="2C5F2D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2468880" y="3012948"/>
            <a:ext cx="2011680" cy="914"/>
          </a:xfrm>
          <a:prstGeom prst="line">
            <a:avLst/>
          </a:prstGeom>
          <a:noFill/>
          <a:ln w="15875">
            <a:solidFill>
              <a:srgbClr val="4A7FB5"/>
            </a:solidFill>
            <a:prstDash val="solid"/>
            <a:headEnd type="triangle"/>
          </a:ln>
        </p:spPr>
      </p:sp>
      <p:sp>
        <p:nvSpPr>
          <p:cNvPr id="23" name="Text 21"/>
          <p:cNvSpPr txBox="1"/>
          <p:nvPr/>
        </p:nvSpPr>
        <p:spPr>
          <a:xfrm>
            <a:off x="2606040" y="2720340"/>
            <a:ext cx="173736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C9D1C9"/>
            </a:solidFill>
          </a:ln>
        </p:spPr>
        <p:txBody>
          <a:bodyPr wrap="square" lIns="508" tIns="508" rIns="508" bIns="508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0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Zusage Korreferat</a:t>
            </a:r>
            <a:endParaRPr lang="en-US" sz="7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700" dirty="0">
                <a:solidFill>
                  <a:srgbClr val="4A7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◀ Korreferatsanfrage, Antragsdaten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731520" y="3383280"/>
            <a:ext cx="1737360" cy="502920"/>
          </a:xfrm>
          <a:prstGeom prst="roundRect">
            <a:avLst>
              <a:gd name="adj" fmla="val 14545"/>
            </a:avLst>
          </a:prstGeom>
          <a:solidFill>
            <a:srgbClr val="EEF4E8"/>
          </a:solidFill>
          <a:ln w="15875">
            <a:solidFill>
              <a:srgbClr val="2C5F2D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31520" y="3383280"/>
            <a:ext cx="1737360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Externe Korreferenten</a:t>
            </a:r>
            <a:endParaRPr lang="en-US" sz="95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5C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/ Rolle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2468880" y="3570732"/>
            <a:ext cx="2011680" cy="914"/>
          </a:xfrm>
          <a:prstGeom prst="line">
            <a:avLst/>
          </a:prstGeom>
          <a:noFill/>
          <a:ln w="15875">
            <a:solidFill>
              <a:srgbClr val="2C5F2D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2468880" y="3698748"/>
            <a:ext cx="2011680" cy="914"/>
          </a:xfrm>
          <a:prstGeom prst="line">
            <a:avLst/>
          </a:prstGeom>
          <a:noFill/>
          <a:ln w="15875">
            <a:solidFill>
              <a:srgbClr val="4A7FB5"/>
            </a:solidFill>
            <a:prstDash val="solid"/>
            <a:headEnd type="triangle"/>
          </a:ln>
        </p:spPr>
      </p:sp>
      <p:sp>
        <p:nvSpPr>
          <p:cNvPr id="28" name="Text 26"/>
          <p:cNvSpPr txBox="1"/>
          <p:nvPr/>
        </p:nvSpPr>
        <p:spPr>
          <a:xfrm>
            <a:off x="2606040" y="3406140"/>
            <a:ext cx="173736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C9D1C9"/>
            </a:solidFill>
          </a:ln>
        </p:spPr>
        <p:txBody>
          <a:bodyPr wrap="square" lIns="508" tIns="508" rIns="508" bIns="508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0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Zusage, Qualifikationsnachweis, Urkundenkopie</a:t>
            </a:r>
            <a:endParaRPr lang="en-US" sz="7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700" dirty="0">
                <a:solidFill>
                  <a:srgbClr val="4A7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◀ Einladungslink (ohne THM-Konto), Antragsdaten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31520" y="4069080"/>
            <a:ext cx="1737360" cy="502920"/>
          </a:xfrm>
          <a:prstGeom prst="roundRect">
            <a:avLst>
              <a:gd name="adj" fmla="val 14545"/>
            </a:avLst>
          </a:prstGeom>
          <a:solidFill>
            <a:srgbClr val="EEF4E8"/>
          </a:solidFill>
          <a:ln w="15875">
            <a:solidFill>
              <a:srgbClr val="2C5F2D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31520" y="4069080"/>
            <a:ext cx="1737360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Sekretariat / Dekanat MND</a:t>
            </a:r>
            <a:endParaRPr lang="en-US" sz="95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5C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/ Rolle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2468880" y="4256532"/>
            <a:ext cx="2011680" cy="914"/>
          </a:xfrm>
          <a:prstGeom prst="line">
            <a:avLst/>
          </a:prstGeom>
          <a:noFill/>
          <a:ln w="15875">
            <a:solidFill>
              <a:srgbClr val="2C5F2D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2468880" y="4384548"/>
            <a:ext cx="2011680" cy="914"/>
          </a:xfrm>
          <a:prstGeom prst="line">
            <a:avLst/>
          </a:prstGeom>
          <a:noFill/>
          <a:ln w="15875">
            <a:solidFill>
              <a:srgbClr val="4A7FB5"/>
            </a:solidFill>
            <a:prstDash val="solid"/>
            <a:headEnd type="triangle"/>
          </a:ln>
        </p:spPr>
      </p:sp>
      <p:sp>
        <p:nvSpPr>
          <p:cNvPr id="33" name="Text 31"/>
          <p:cNvSpPr txBox="1"/>
          <p:nvPr/>
        </p:nvSpPr>
        <p:spPr>
          <a:xfrm>
            <a:off x="2606040" y="4091940"/>
            <a:ext cx="173736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C9D1C9"/>
            </a:solidFill>
          </a:ln>
        </p:spPr>
        <p:txBody>
          <a:bodyPr wrap="square" lIns="508" tIns="508" rIns="508" bIns="508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0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Ergebnis formale Prüfung, Fristprüfung</a:t>
            </a:r>
            <a:endParaRPr lang="en-US" sz="7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700" dirty="0">
                <a:solidFill>
                  <a:srgbClr val="4A7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◀ Prüfliste, Antragsdaten, Fristenübersicht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8321040" y="1645920"/>
            <a:ext cx="1737360" cy="502920"/>
          </a:xfrm>
          <a:prstGeom prst="roundRect">
            <a:avLst>
              <a:gd name="adj" fmla="val 14545"/>
            </a:avLst>
          </a:prstGeom>
          <a:solidFill>
            <a:srgbClr val="EEF4E8"/>
          </a:solidFill>
          <a:ln w="15875">
            <a:solidFill>
              <a:srgbClr val="2C5F2D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321040" y="1645920"/>
            <a:ext cx="1737360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Prüfungsausschuss-Vorsitz</a:t>
            </a:r>
            <a:endParaRPr lang="en-US" sz="95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5C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/ Rolle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6309360" y="1833372"/>
            <a:ext cx="2011680" cy="914"/>
          </a:xfrm>
          <a:prstGeom prst="line">
            <a:avLst/>
          </a:prstGeom>
          <a:noFill/>
          <a:ln w="15875">
            <a:solidFill>
              <a:srgbClr val="2C5F2D"/>
            </a:solidFill>
            <a:prstDash val="solid"/>
            <a:headEnd type="triangle"/>
          </a:ln>
        </p:spPr>
      </p:sp>
      <p:sp>
        <p:nvSpPr>
          <p:cNvPr id="37" name="Shape 35"/>
          <p:cNvSpPr/>
          <p:nvPr/>
        </p:nvSpPr>
        <p:spPr>
          <a:xfrm>
            <a:off x="6309360" y="1961388"/>
            <a:ext cx="2011680" cy="914"/>
          </a:xfrm>
          <a:prstGeom prst="line">
            <a:avLst/>
          </a:prstGeom>
          <a:noFill/>
          <a:ln w="15875">
            <a:solidFill>
              <a:srgbClr val="4A7FB5"/>
            </a:solidFill>
            <a:prstDash val="solid"/>
            <a:tailEnd type="triangle"/>
          </a:ln>
        </p:spPr>
      </p:sp>
      <p:sp>
        <p:nvSpPr>
          <p:cNvPr id="38" name="Text 36"/>
          <p:cNvSpPr txBox="1"/>
          <p:nvPr/>
        </p:nvSpPr>
        <p:spPr>
          <a:xfrm>
            <a:off x="6446520" y="1668780"/>
            <a:ext cx="173736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C9D1C9"/>
            </a:solidFill>
          </a:ln>
        </p:spPr>
        <p:txBody>
          <a:bodyPr wrap="square" lIns="508" tIns="508" rIns="508" bIns="508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0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Entscheidung Zulassung und ext. Prüfer, Begründung</a:t>
            </a:r>
            <a:endParaRPr lang="en-US" sz="7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700" dirty="0">
                <a:solidFill>
                  <a:srgbClr val="4A7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◀ Entscheidungsvorlage</a:t>
            </a:r>
            <a:endParaRPr lang="en-US" sz="700" dirty="0"/>
          </a:p>
        </p:txBody>
      </p:sp>
      <p:sp>
        <p:nvSpPr>
          <p:cNvPr id="39" name="Shape 37"/>
          <p:cNvSpPr/>
          <p:nvPr/>
        </p:nvSpPr>
        <p:spPr>
          <a:xfrm>
            <a:off x="8321040" y="2423160"/>
            <a:ext cx="1737360" cy="502920"/>
          </a:xfrm>
          <a:prstGeom prst="roundRect">
            <a:avLst>
              <a:gd name="adj" fmla="val 14545"/>
            </a:avLst>
          </a:prstGeom>
          <a:solidFill>
            <a:srgbClr val="EEF4E8"/>
          </a:solidFill>
          <a:ln w="15875">
            <a:solidFill>
              <a:srgbClr val="2C5F2D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8321040" y="2423160"/>
            <a:ext cx="1737360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Studienausschuss WI</a:t>
            </a:r>
            <a:endParaRPr lang="en-US" sz="95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5C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/ Rolle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6309360" y="2610612"/>
            <a:ext cx="2011680" cy="914"/>
          </a:xfrm>
          <a:prstGeom prst="line">
            <a:avLst/>
          </a:prstGeom>
          <a:noFill/>
          <a:ln w="15875">
            <a:solidFill>
              <a:srgbClr val="2C5F2D"/>
            </a:solidFill>
            <a:prstDash val="solid"/>
            <a:headEnd type="triangle"/>
          </a:ln>
        </p:spPr>
      </p:sp>
      <p:sp>
        <p:nvSpPr>
          <p:cNvPr id="42" name="Shape 40"/>
          <p:cNvSpPr/>
          <p:nvPr/>
        </p:nvSpPr>
        <p:spPr>
          <a:xfrm>
            <a:off x="6309360" y="2738628"/>
            <a:ext cx="2011680" cy="914"/>
          </a:xfrm>
          <a:prstGeom prst="line">
            <a:avLst/>
          </a:prstGeom>
          <a:noFill/>
          <a:ln w="15875">
            <a:solidFill>
              <a:srgbClr val="4A7FB5"/>
            </a:solidFill>
            <a:prstDash val="solid"/>
            <a:tailEnd type="triangle"/>
          </a:ln>
        </p:spPr>
      </p:sp>
      <p:sp>
        <p:nvSpPr>
          <p:cNvPr id="43" name="Text 41"/>
          <p:cNvSpPr txBox="1"/>
          <p:nvPr/>
        </p:nvSpPr>
        <p:spPr>
          <a:xfrm>
            <a:off x="6446520" y="2446020"/>
            <a:ext cx="173736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C9D1C9"/>
            </a:solidFill>
          </a:ln>
        </p:spPr>
        <p:txBody>
          <a:bodyPr wrap="square" lIns="508" tIns="508" rIns="508" bIns="508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0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Entscheidung Verlängerung</a:t>
            </a:r>
            <a:endParaRPr lang="en-US" sz="7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700" dirty="0">
                <a:solidFill>
                  <a:srgbClr val="4A7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◀ Verlängerungsantrag mit Befürwortung</a:t>
            </a:r>
            <a:endParaRPr lang="en-US" sz="700" dirty="0"/>
          </a:p>
        </p:txBody>
      </p:sp>
      <p:sp>
        <p:nvSpPr>
          <p:cNvPr id="44" name="Shape 42"/>
          <p:cNvSpPr/>
          <p:nvPr/>
        </p:nvSpPr>
        <p:spPr>
          <a:xfrm>
            <a:off x="8321040" y="3200400"/>
            <a:ext cx="173736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5875">
            <a:solidFill>
              <a:srgbClr val="8A968A"/>
            </a:solidFill>
            <a:prstDash val="dash"/>
          </a:ln>
        </p:spPr>
      </p:sp>
      <p:sp>
        <p:nvSpPr>
          <p:cNvPr id="45" name="Text 43"/>
          <p:cNvSpPr txBox="1"/>
          <p:nvPr/>
        </p:nvSpPr>
        <p:spPr>
          <a:xfrm>
            <a:off x="8321040" y="3200400"/>
            <a:ext cx="1737360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C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THM-Login (SSO)</a:t>
            </a:r>
            <a:endParaRPr lang="en-US" sz="95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5C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im Betrieb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6309360" y="3387852"/>
            <a:ext cx="2011680" cy="914"/>
          </a:xfrm>
          <a:prstGeom prst="line">
            <a:avLst/>
          </a:prstGeom>
          <a:noFill/>
          <a:ln w="15875">
            <a:solidFill>
              <a:srgbClr val="2C5F2D"/>
            </a:solidFill>
            <a:prstDash val="solid"/>
            <a:headEnd type="triangle"/>
          </a:ln>
        </p:spPr>
      </p:sp>
      <p:sp>
        <p:nvSpPr>
          <p:cNvPr id="47" name="Shape 45"/>
          <p:cNvSpPr/>
          <p:nvPr/>
        </p:nvSpPr>
        <p:spPr>
          <a:xfrm>
            <a:off x="6309360" y="3515868"/>
            <a:ext cx="2011680" cy="914"/>
          </a:xfrm>
          <a:prstGeom prst="line">
            <a:avLst/>
          </a:prstGeom>
          <a:noFill/>
          <a:ln w="15875">
            <a:solidFill>
              <a:srgbClr val="4A7FB5"/>
            </a:solidFill>
            <a:prstDash val="solid"/>
            <a:tailEnd type="triangle"/>
          </a:ln>
        </p:spPr>
      </p:sp>
      <p:sp>
        <p:nvSpPr>
          <p:cNvPr id="48" name="Text 46"/>
          <p:cNvSpPr txBox="1"/>
          <p:nvPr/>
        </p:nvSpPr>
        <p:spPr>
          <a:xfrm>
            <a:off x="6446520" y="3223260"/>
            <a:ext cx="173736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C9D1C9"/>
            </a:solidFill>
          </a:ln>
        </p:spPr>
        <p:txBody>
          <a:bodyPr wrap="square" lIns="508" tIns="508" rIns="508" bIns="508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0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Identität, Rolle, Matrikelnummer</a:t>
            </a:r>
            <a:endParaRPr lang="en-US" sz="7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700" dirty="0">
                <a:solidFill>
                  <a:srgbClr val="4A7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◀ Authentifizierungsanfrage</a:t>
            </a:r>
            <a:endParaRPr lang="en-US" sz="700" dirty="0"/>
          </a:p>
        </p:txBody>
      </p:sp>
      <p:sp>
        <p:nvSpPr>
          <p:cNvPr id="49" name="Shape 47"/>
          <p:cNvSpPr/>
          <p:nvPr/>
        </p:nvSpPr>
        <p:spPr>
          <a:xfrm>
            <a:off x="8321040" y="3977640"/>
            <a:ext cx="173736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5875">
            <a:solidFill>
              <a:srgbClr val="8A968A"/>
            </a:solidFill>
            <a:prstDash val="dash"/>
          </a:ln>
        </p:spPr>
      </p:sp>
      <p:sp>
        <p:nvSpPr>
          <p:cNvPr id="50" name="Text 48"/>
          <p:cNvSpPr txBox="1"/>
          <p:nvPr/>
        </p:nvSpPr>
        <p:spPr>
          <a:xfrm>
            <a:off x="8321040" y="3977640"/>
            <a:ext cx="1737360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C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E-Mail-Dienst THM</a:t>
            </a:r>
            <a:endParaRPr lang="en-US" sz="95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5C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im Betrieb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6309360" y="4165092"/>
            <a:ext cx="2011680" cy="914"/>
          </a:xfrm>
          <a:prstGeom prst="line">
            <a:avLst/>
          </a:prstGeom>
          <a:noFill/>
          <a:ln w="15875">
            <a:solidFill>
              <a:srgbClr val="2C5F2D"/>
            </a:solidFill>
            <a:prstDash val="solid"/>
            <a:headEnd type="triangle"/>
          </a:ln>
        </p:spPr>
      </p:sp>
      <p:sp>
        <p:nvSpPr>
          <p:cNvPr id="52" name="Shape 50"/>
          <p:cNvSpPr/>
          <p:nvPr/>
        </p:nvSpPr>
        <p:spPr>
          <a:xfrm>
            <a:off x="6309360" y="4293108"/>
            <a:ext cx="2011680" cy="914"/>
          </a:xfrm>
          <a:prstGeom prst="line">
            <a:avLst/>
          </a:prstGeom>
          <a:noFill/>
          <a:ln w="15875">
            <a:solidFill>
              <a:srgbClr val="4A7FB5"/>
            </a:solidFill>
            <a:prstDash val="solid"/>
            <a:tailEnd type="triangle"/>
          </a:ln>
        </p:spPr>
      </p:sp>
      <p:sp>
        <p:nvSpPr>
          <p:cNvPr id="53" name="Text 51"/>
          <p:cNvSpPr txBox="1"/>
          <p:nvPr/>
        </p:nvSpPr>
        <p:spPr>
          <a:xfrm>
            <a:off x="6446520" y="4000500"/>
            <a:ext cx="173736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C9D1C9"/>
            </a:solidFill>
          </a:ln>
        </p:spPr>
        <p:txBody>
          <a:bodyPr wrap="square" lIns="508" tIns="508" rIns="508" bIns="508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0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Zustellstatus</a:t>
            </a:r>
            <a:endParaRPr lang="en-US" sz="7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700" dirty="0">
                <a:solidFill>
                  <a:srgbClr val="4A7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◀ Benachrichtigungen, Einladungen, Bescheide</a:t>
            </a:r>
            <a:endParaRPr lang="en-US" sz="700" dirty="0"/>
          </a:p>
        </p:txBody>
      </p:sp>
      <p:sp>
        <p:nvSpPr>
          <p:cNvPr id="54" name="Shape 52"/>
          <p:cNvSpPr/>
          <p:nvPr/>
        </p:nvSpPr>
        <p:spPr>
          <a:xfrm>
            <a:off x="2377440" y="5440680"/>
            <a:ext cx="173736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5875">
            <a:solidFill>
              <a:srgbClr val="2C5F2D"/>
            </a:solidFill>
            <a:prstDash val="sysDot"/>
          </a:ln>
        </p:spPr>
      </p:sp>
      <p:sp>
        <p:nvSpPr>
          <p:cNvPr id="55" name="Text 53"/>
          <p:cNvSpPr txBox="1"/>
          <p:nvPr/>
        </p:nvSpPr>
        <p:spPr>
          <a:xfrm>
            <a:off x="2377440" y="5440680"/>
            <a:ext cx="1737360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Prüfungsordnungen / Allg. Best.</a:t>
            </a:r>
            <a:endParaRPr lang="en-US" sz="95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5C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Dokument</a:t>
            </a:r>
            <a:endParaRPr lang="en-US" sz="950" dirty="0"/>
          </a:p>
        </p:txBody>
      </p:sp>
      <p:sp>
        <p:nvSpPr>
          <p:cNvPr id="56" name="Shape 54"/>
          <p:cNvSpPr/>
          <p:nvPr/>
        </p:nvSpPr>
        <p:spPr>
          <a:xfrm>
            <a:off x="3246120" y="4892040"/>
            <a:ext cx="914" cy="548640"/>
          </a:xfrm>
          <a:prstGeom prst="line">
            <a:avLst/>
          </a:prstGeom>
          <a:noFill/>
          <a:ln w="15875">
            <a:solidFill>
              <a:srgbClr val="2C5F2D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3246120" y="4892040"/>
            <a:ext cx="1645920" cy="914"/>
          </a:xfrm>
          <a:prstGeom prst="line">
            <a:avLst/>
          </a:prstGeom>
          <a:noFill/>
          <a:ln w="15875">
            <a:solidFill>
              <a:srgbClr val="2C5F2D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4892040" y="4617720"/>
            <a:ext cx="914" cy="274320"/>
          </a:xfrm>
          <a:prstGeom prst="line">
            <a:avLst/>
          </a:prstGeom>
          <a:noFill/>
          <a:ln w="15875">
            <a:solidFill>
              <a:srgbClr val="2C5F2D"/>
            </a:solidFill>
            <a:prstDash val="solid"/>
            <a:headEnd type="triangle"/>
          </a:ln>
        </p:spPr>
      </p:sp>
      <p:sp>
        <p:nvSpPr>
          <p:cNvPr id="59" name="Text 57"/>
          <p:cNvSpPr txBox="1"/>
          <p:nvPr/>
        </p:nvSpPr>
        <p:spPr>
          <a:xfrm>
            <a:off x="2468880" y="4956048"/>
            <a:ext cx="155448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C9D1C9"/>
            </a:solidFill>
          </a:ln>
        </p:spPr>
        <p:txBody>
          <a:bodyPr wrap="square" lIns="508" tIns="508" rIns="508" bIns="508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0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Zulassungsregeln, Fristen (Konfiguration)</a:t>
            </a:r>
            <a:endParaRPr lang="en-US" sz="700" dirty="0"/>
          </a:p>
        </p:txBody>
      </p:sp>
      <p:sp>
        <p:nvSpPr>
          <p:cNvPr id="60" name="Shape 58"/>
          <p:cNvSpPr/>
          <p:nvPr/>
        </p:nvSpPr>
        <p:spPr>
          <a:xfrm>
            <a:off x="4526280" y="5440680"/>
            <a:ext cx="173736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5875">
            <a:solidFill>
              <a:srgbClr val="2C5F2D"/>
            </a:solidFill>
            <a:prstDash val="sysDot"/>
          </a:ln>
        </p:spPr>
      </p:sp>
      <p:sp>
        <p:nvSpPr>
          <p:cNvPr id="61" name="Text 59"/>
          <p:cNvSpPr txBox="1"/>
          <p:nvPr/>
        </p:nvSpPr>
        <p:spPr>
          <a:xfrm>
            <a:off x="4526280" y="5440680"/>
            <a:ext cx="1737360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Studierendenakte</a:t>
            </a:r>
            <a:endParaRPr lang="en-US" sz="95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5C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Dokument</a:t>
            </a:r>
            <a:endParaRPr lang="en-US" sz="950" dirty="0"/>
          </a:p>
        </p:txBody>
      </p:sp>
      <p:sp>
        <p:nvSpPr>
          <p:cNvPr id="62" name="Shape 60"/>
          <p:cNvSpPr/>
          <p:nvPr/>
        </p:nvSpPr>
        <p:spPr>
          <a:xfrm>
            <a:off x="5394960" y="4617720"/>
            <a:ext cx="914" cy="822960"/>
          </a:xfrm>
          <a:prstGeom prst="line">
            <a:avLst/>
          </a:prstGeom>
          <a:noFill/>
          <a:ln w="15875">
            <a:solidFill>
              <a:srgbClr val="4A7FB5"/>
            </a:solidFill>
            <a:prstDash val="solid"/>
            <a:tailEnd type="triangle"/>
          </a:ln>
        </p:spPr>
      </p:sp>
      <p:sp>
        <p:nvSpPr>
          <p:cNvPr id="63" name="Text 61"/>
          <p:cNvSpPr txBox="1"/>
          <p:nvPr/>
        </p:nvSpPr>
        <p:spPr>
          <a:xfrm>
            <a:off x="4617720" y="4956048"/>
            <a:ext cx="155448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C9D1C9"/>
            </a:solidFill>
          </a:ln>
        </p:spPr>
        <p:txBody>
          <a:bodyPr wrap="square" lIns="508" tIns="508" rIns="508" bIns="508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00" dirty="0">
                <a:solidFill>
                  <a:srgbClr val="4A7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◀ abgeschlossener Vorgang als Akten-PDF</a:t>
            </a:r>
            <a:endParaRPr lang="en-US" sz="700" dirty="0"/>
          </a:p>
        </p:txBody>
      </p:sp>
      <p:sp>
        <p:nvSpPr>
          <p:cNvPr id="64" name="Shape 62"/>
          <p:cNvSpPr/>
          <p:nvPr/>
        </p:nvSpPr>
        <p:spPr>
          <a:xfrm>
            <a:off x="6675120" y="5440680"/>
            <a:ext cx="1737360" cy="502920"/>
          </a:xfrm>
          <a:prstGeom prst="roundRect">
            <a:avLst>
              <a:gd name="adj" fmla="val 14545"/>
            </a:avLst>
          </a:prstGeom>
          <a:solidFill>
            <a:srgbClr val="FFF7E0"/>
          </a:solidFill>
          <a:ln w="15875">
            <a:solidFill>
              <a:srgbClr val="C9A227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6675120" y="5440680"/>
            <a:ext cx="1737360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7A5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Fristablauf / Rückgabefrist</a:t>
            </a:r>
            <a:endParaRPr lang="en-US" sz="95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5C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Ereignis</a:t>
            </a:r>
            <a:endParaRPr lang="en-US" sz="950" dirty="0"/>
          </a:p>
        </p:txBody>
      </p:sp>
      <p:sp>
        <p:nvSpPr>
          <p:cNvPr id="66" name="Shape 64"/>
          <p:cNvSpPr/>
          <p:nvPr/>
        </p:nvSpPr>
        <p:spPr>
          <a:xfrm>
            <a:off x="7543800" y="4892040"/>
            <a:ext cx="914" cy="548640"/>
          </a:xfrm>
          <a:prstGeom prst="line">
            <a:avLst/>
          </a:prstGeom>
          <a:noFill/>
          <a:ln w="15875">
            <a:solidFill>
              <a:srgbClr val="2C5F2D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5897880" y="4892040"/>
            <a:ext cx="1645920" cy="914"/>
          </a:xfrm>
          <a:prstGeom prst="line">
            <a:avLst/>
          </a:prstGeom>
          <a:noFill/>
          <a:ln w="15875">
            <a:solidFill>
              <a:srgbClr val="2C5F2D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5897880" y="4617720"/>
            <a:ext cx="914" cy="274320"/>
          </a:xfrm>
          <a:prstGeom prst="line">
            <a:avLst/>
          </a:prstGeom>
          <a:noFill/>
          <a:ln w="15875">
            <a:solidFill>
              <a:srgbClr val="2C5F2D"/>
            </a:solidFill>
            <a:prstDash val="solid"/>
            <a:headEnd type="triangle"/>
          </a:ln>
        </p:spPr>
      </p:sp>
      <p:sp>
        <p:nvSpPr>
          <p:cNvPr id="69" name="Text 67"/>
          <p:cNvSpPr txBox="1"/>
          <p:nvPr/>
        </p:nvSpPr>
        <p:spPr>
          <a:xfrm>
            <a:off x="6766560" y="4956048"/>
            <a:ext cx="155448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C9D1C9"/>
            </a:solidFill>
          </a:ln>
        </p:spPr>
        <p:txBody>
          <a:bodyPr wrap="square" lIns="508" tIns="508" rIns="508" bIns="508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0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Abgabetermin erreicht, 4-Wochen-Frist Themenrückgabe</a:t>
            </a:r>
            <a:endParaRPr lang="en-US" sz="700" dirty="0"/>
          </a:p>
        </p:txBody>
      </p:sp>
      <p:sp>
        <p:nvSpPr>
          <p:cNvPr id="70" name="Shape 68"/>
          <p:cNvSpPr/>
          <p:nvPr/>
        </p:nvSpPr>
        <p:spPr>
          <a:xfrm>
            <a:off x="10332720" y="914400"/>
            <a:ext cx="1417320" cy="5257800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C9D1C9"/>
            </a:solidFill>
            <a:prstDash val="sysDot"/>
          </a:ln>
        </p:spPr>
      </p:sp>
      <p:sp>
        <p:nvSpPr>
          <p:cNvPr id="71" name="Text 69"/>
          <p:cNvSpPr txBox="1"/>
          <p:nvPr/>
        </p:nvSpPr>
        <p:spPr>
          <a:xfrm>
            <a:off x="10424160" y="1005840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5C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Grauzone</a:t>
            </a:r>
            <a:endParaRPr lang="en-US" sz="950" dirty="0"/>
          </a:p>
          <a:p>
            <a:pPr indent="0" marL="0">
              <a:buNone/>
            </a:pPr>
            <a:r>
              <a:rPr lang="en-US" sz="700" dirty="0">
                <a:solidFill>
                  <a:srgbClr val="8A96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Beziehung zum System noch offen (Kontextabgrenzung)</a:t>
            </a:r>
            <a:endParaRPr lang="en-US" sz="950" dirty="0"/>
          </a:p>
        </p:txBody>
      </p:sp>
      <p:sp>
        <p:nvSpPr>
          <p:cNvPr id="72" name="Shape 70"/>
          <p:cNvSpPr/>
          <p:nvPr/>
        </p:nvSpPr>
        <p:spPr>
          <a:xfrm>
            <a:off x="10424160" y="1645920"/>
            <a:ext cx="1234440" cy="987552"/>
          </a:xfrm>
          <a:prstGeom prst="roundRect">
            <a:avLst>
              <a:gd name="adj" fmla="val 5556"/>
            </a:avLst>
          </a:prstGeom>
          <a:solidFill>
            <a:srgbClr val="F5F7F4"/>
          </a:solidFill>
          <a:ln w="9525">
            <a:solidFill>
              <a:srgbClr val="C9D1C9"/>
            </a:solidFill>
            <a:prstDash val="dash"/>
          </a:ln>
        </p:spPr>
      </p:sp>
      <p:sp>
        <p:nvSpPr>
          <p:cNvPr id="73" name="Text 71"/>
          <p:cNvSpPr txBox="1"/>
          <p:nvPr/>
        </p:nvSpPr>
        <p:spPr>
          <a:xfrm>
            <a:off x="10479024" y="1691640"/>
            <a:ext cx="11247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800" b="1" dirty="0">
                <a:solidFill>
                  <a:srgbClr val="5C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Prüfungsverwaltung THM</a:t>
            </a:r>
            <a:endParaRPr lang="en-US" sz="8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700" dirty="0">
                <a:solidFill>
                  <a:srgbClr val="8A96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Modulstand für die Zulassungsprüfung: manuell oder Schnittstelle?</a:t>
            </a:r>
            <a:endParaRPr lang="en-US" sz="800" dirty="0"/>
          </a:p>
        </p:txBody>
      </p:sp>
      <p:sp>
        <p:nvSpPr>
          <p:cNvPr id="74" name="Shape 72"/>
          <p:cNvSpPr/>
          <p:nvPr/>
        </p:nvSpPr>
        <p:spPr>
          <a:xfrm>
            <a:off x="10424160" y="2743200"/>
            <a:ext cx="1234440" cy="987552"/>
          </a:xfrm>
          <a:prstGeom prst="roundRect">
            <a:avLst>
              <a:gd name="adj" fmla="val 5556"/>
            </a:avLst>
          </a:prstGeom>
          <a:solidFill>
            <a:srgbClr val="F5F7F4"/>
          </a:solidFill>
          <a:ln w="9525">
            <a:solidFill>
              <a:srgbClr val="C9D1C9"/>
            </a:solidFill>
            <a:prstDash val="dash"/>
          </a:ln>
        </p:spPr>
      </p:sp>
      <p:sp>
        <p:nvSpPr>
          <p:cNvPr id="75" name="Text 73"/>
          <p:cNvSpPr txBox="1"/>
          <p:nvPr/>
        </p:nvSpPr>
        <p:spPr>
          <a:xfrm>
            <a:off x="10479024" y="2788920"/>
            <a:ext cx="11247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800" b="1" dirty="0">
                <a:solidFill>
                  <a:srgbClr val="5C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Unternehmen der Studierenden</a:t>
            </a:r>
            <a:endParaRPr lang="en-US" sz="8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700" dirty="0">
                <a:solidFill>
                  <a:srgbClr val="8A96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 externer Thesis und Verlängerung: nur Datenfeld oder Beteiligter?</a:t>
            </a:r>
            <a:endParaRPr lang="en-US" sz="800" dirty="0"/>
          </a:p>
        </p:txBody>
      </p:sp>
      <p:sp>
        <p:nvSpPr>
          <p:cNvPr id="76" name="Shape 74"/>
          <p:cNvSpPr/>
          <p:nvPr/>
        </p:nvSpPr>
        <p:spPr>
          <a:xfrm>
            <a:off x="10424160" y="3840480"/>
            <a:ext cx="1234440" cy="987552"/>
          </a:xfrm>
          <a:prstGeom prst="roundRect">
            <a:avLst>
              <a:gd name="adj" fmla="val 5556"/>
            </a:avLst>
          </a:prstGeom>
          <a:solidFill>
            <a:srgbClr val="F5F7F4"/>
          </a:solidFill>
          <a:ln w="9525">
            <a:solidFill>
              <a:srgbClr val="C9D1C9"/>
            </a:solidFill>
            <a:prstDash val="dash"/>
          </a:ln>
        </p:spPr>
      </p:sp>
      <p:sp>
        <p:nvSpPr>
          <p:cNvPr id="77" name="Text 75"/>
          <p:cNvSpPr txBox="1"/>
          <p:nvPr/>
        </p:nvSpPr>
        <p:spPr>
          <a:xfrm>
            <a:off x="10479024" y="3886200"/>
            <a:ext cx="11247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800" b="1" dirty="0">
                <a:solidFill>
                  <a:srgbClr val="5C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Moodle / Lernplattform</a:t>
            </a:r>
            <a:endParaRPr lang="en-US" sz="8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700" dirty="0">
                <a:solidFill>
                  <a:srgbClr val="8A96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Kolloquium und Betreuung laufen dort, nicht im Portal?</a:t>
            </a:r>
            <a:endParaRPr lang="en-US" sz="800" dirty="0"/>
          </a:p>
        </p:txBody>
      </p:sp>
      <p:sp>
        <p:nvSpPr>
          <p:cNvPr id="78" name="Shape 76"/>
          <p:cNvSpPr/>
          <p:nvPr/>
        </p:nvSpPr>
        <p:spPr>
          <a:xfrm>
            <a:off x="10424160" y="4937760"/>
            <a:ext cx="1234440" cy="987552"/>
          </a:xfrm>
          <a:prstGeom prst="roundRect">
            <a:avLst>
              <a:gd name="adj" fmla="val 5556"/>
            </a:avLst>
          </a:prstGeom>
          <a:solidFill>
            <a:srgbClr val="F5F7F4"/>
          </a:solidFill>
          <a:ln w="9525">
            <a:solidFill>
              <a:srgbClr val="C9D1C9"/>
            </a:solidFill>
            <a:prstDash val="dash"/>
          </a:ln>
        </p:spPr>
      </p:sp>
      <p:sp>
        <p:nvSpPr>
          <p:cNvPr id="79" name="Text 77"/>
          <p:cNvSpPr txBox="1"/>
          <p:nvPr/>
        </p:nvSpPr>
        <p:spPr>
          <a:xfrm>
            <a:off x="10479024" y="4983480"/>
            <a:ext cx="11247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800" b="1" dirty="0">
                <a:solidFill>
                  <a:srgbClr val="5C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Papierakte / Postadresse</a:t>
            </a:r>
            <a:endParaRPr lang="en-US" sz="8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700" dirty="0">
                <a:solidFill>
                  <a:srgbClr val="8A96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Entfällt, falls die Akte digital geführt wird.</a:t>
            </a:r>
            <a:endParaRPr lang="en-US" sz="800" dirty="0"/>
          </a:p>
        </p:txBody>
      </p:sp>
      <p:sp>
        <p:nvSpPr>
          <p:cNvPr id="80" name="Shape 78"/>
          <p:cNvSpPr/>
          <p:nvPr/>
        </p:nvSpPr>
        <p:spPr>
          <a:xfrm>
            <a:off x="457200" y="6355080"/>
            <a:ext cx="292608" cy="182880"/>
          </a:xfrm>
          <a:prstGeom prst="roundRect">
            <a:avLst>
              <a:gd name="adj" fmla="val 20000"/>
            </a:avLst>
          </a:prstGeom>
          <a:solidFill>
            <a:srgbClr val="EEF4E8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804672" y="63093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C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/ Rolle</a:t>
            </a:r>
            <a:endParaRPr lang="en-US" sz="750" dirty="0"/>
          </a:p>
        </p:txBody>
      </p:sp>
      <p:sp>
        <p:nvSpPr>
          <p:cNvPr id="82" name="Shape 80"/>
          <p:cNvSpPr/>
          <p:nvPr/>
        </p:nvSpPr>
        <p:spPr>
          <a:xfrm>
            <a:off x="1737360" y="6355080"/>
            <a:ext cx="292608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8A968A"/>
            </a:solidFill>
            <a:prstDash val="dash"/>
          </a:ln>
        </p:spPr>
      </p:sp>
      <p:sp>
        <p:nvSpPr>
          <p:cNvPr id="83" name="Text 81"/>
          <p:cNvSpPr txBox="1"/>
          <p:nvPr/>
        </p:nvSpPr>
        <p:spPr>
          <a:xfrm>
            <a:off x="2084832" y="63093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C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im Betrieb</a:t>
            </a:r>
            <a:endParaRPr lang="en-US" sz="750" dirty="0"/>
          </a:p>
        </p:txBody>
      </p:sp>
      <p:sp>
        <p:nvSpPr>
          <p:cNvPr id="84" name="Shape 82"/>
          <p:cNvSpPr/>
          <p:nvPr/>
        </p:nvSpPr>
        <p:spPr>
          <a:xfrm>
            <a:off x="3108960" y="6355080"/>
            <a:ext cx="292608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2C5F2D"/>
            </a:solidFill>
            <a:prstDash val="sysDot"/>
          </a:ln>
        </p:spPr>
      </p:sp>
      <p:sp>
        <p:nvSpPr>
          <p:cNvPr id="85" name="Text 83"/>
          <p:cNvSpPr txBox="1"/>
          <p:nvPr/>
        </p:nvSpPr>
        <p:spPr>
          <a:xfrm>
            <a:off x="3456432" y="63093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C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Dokument</a:t>
            </a:r>
            <a:endParaRPr lang="en-US" sz="750" dirty="0"/>
          </a:p>
        </p:txBody>
      </p:sp>
      <p:sp>
        <p:nvSpPr>
          <p:cNvPr id="86" name="Shape 84"/>
          <p:cNvSpPr/>
          <p:nvPr/>
        </p:nvSpPr>
        <p:spPr>
          <a:xfrm>
            <a:off x="4114800" y="6355080"/>
            <a:ext cx="292608" cy="182880"/>
          </a:xfrm>
          <a:prstGeom prst="roundRect">
            <a:avLst>
              <a:gd name="adj" fmla="val 20000"/>
            </a:avLst>
          </a:prstGeom>
          <a:solidFill>
            <a:srgbClr val="FFF7E0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87" name="Text 85"/>
          <p:cNvSpPr txBox="1"/>
          <p:nvPr/>
        </p:nvSpPr>
        <p:spPr>
          <a:xfrm>
            <a:off x="4462272" y="63093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C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Ereignis</a:t>
            </a:r>
            <a:endParaRPr lang="en-US" sz="750" dirty="0"/>
          </a:p>
        </p:txBody>
      </p:sp>
      <p:sp>
        <p:nvSpPr>
          <p:cNvPr id="88" name="Shape 86"/>
          <p:cNvSpPr/>
          <p:nvPr/>
        </p:nvSpPr>
        <p:spPr>
          <a:xfrm>
            <a:off x="5120640" y="6446520"/>
            <a:ext cx="365760" cy="914"/>
          </a:xfrm>
          <a:prstGeom prst="line">
            <a:avLst/>
          </a:prstGeom>
          <a:noFill/>
          <a:ln w="15875">
            <a:solidFill>
              <a:srgbClr val="2C5F2D"/>
            </a:solidFill>
            <a:prstDash val="solid"/>
            <a:tailEnd type="triangle"/>
          </a:ln>
        </p:spPr>
      </p:sp>
      <p:sp>
        <p:nvSpPr>
          <p:cNvPr id="89" name="Text 87"/>
          <p:cNvSpPr txBox="1"/>
          <p:nvPr/>
        </p:nvSpPr>
        <p:spPr>
          <a:xfrm>
            <a:off x="5532120" y="630936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C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in das System (Quelle)</a:t>
            </a:r>
            <a:endParaRPr lang="en-US" sz="750" dirty="0"/>
          </a:p>
        </p:txBody>
      </p:sp>
      <p:sp>
        <p:nvSpPr>
          <p:cNvPr id="90" name="Shape 88"/>
          <p:cNvSpPr/>
          <p:nvPr/>
        </p:nvSpPr>
        <p:spPr>
          <a:xfrm>
            <a:off x="7132320" y="6446520"/>
            <a:ext cx="365760" cy="914"/>
          </a:xfrm>
          <a:prstGeom prst="line">
            <a:avLst/>
          </a:prstGeom>
          <a:noFill/>
          <a:ln w="15875">
            <a:solidFill>
              <a:srgbClr val="4A7FB5"/>
            </a:solidFill>
            <a:prstDash val="solid"/>
            <a:headEnd type="triangle"/>
          </a:ln>
        </p:spPr>
      </p:sp>
      <p:sp>
        <p:nvSpPr>
          <p:cNvPr id="91" name="Text 89"/>
          <p:cNvSpPr txBox="1"/>
          <p:nvPr/>
        </p:nvSpPr>
        <p:spPr>
          <a:xfrm>
            <a:off x="7543800" y="63093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C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aus dem System (Senke)</a:t>
            </a:r>
            <a:endParaRPr lang="en-US" sz="750" dirty="0"/>
          </a:p>
        </p:txBody>
      </p:sp>
      <p:sp>
        <p:nvSpPr>
          <p:cNvPr id="92" name="Text 90"/>
          <p:cNvSpPr txBox="1"/>
          <p:nvPr/>
        </p:nvSpPr>
        <p:spPr>
          <a:xfrm>
            <a:off x="9326880" y="630936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8A96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Quellen: Zulassungsantrag WS23/24, Anlage ext. Prüfer, PO B.Sc./M.Sc. WI 2024, Vorlesung Kap. 2</a:t>
            </a:r>
            <a:endParaRPr lang="en-US" sz="6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82880"/>
            <a:ext cx="7315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2A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Kontextdiagramm Ist-Zustand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03504"/>
            <a:ext cx="914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Heute gibt es kein System: das PDF-Formular wandert in sieben Übergaben per E-Mail, Papier und Scan zwischen den Beteiligten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8046720" y="256032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spc="150" kern="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 ENGINEERING  ·  GRUPPE GRÜN  ·  STAND 30.09.2026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57200" y="896112"/>
            <a:ext cx="9509760" cy="4526280"/>
          </a:xfrm>
          <a:prstGeom prst="roundRect">
            <a:avLst>
              <a:gd name="adj" fmla="val 4040"/>
            </a:avLst>
          </a:prstGeom>
          <a:solidFill>
            <a:srgbClr val="F5F7F4"/>
          </a:solidFill>
          <a:ln w="15875">
            <a:solidFill>
              <a:srgbClr val="97BC62"/>
            </a:solidFill>
            <a:prstDash val="dash"/>
          </a:ln>
        </p:spPr>
      </p:sp>
      <p:sp>
        <p:nvSpPr>
          <p:cNvPr id="6" name="Text 4"/>
          <p:cNvSpPr txBox="1"/>
          <p:nvPr/>
        </p:nvSpPr>
        <p:spPr>
          <a:xfrm>
            <a:off x="640080" y="932688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i="1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Kontextgrenze  ·  Ist-Prozess (Laufweg des Antragsformulars)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914400" y="1371600"/>
            <a:ext cx="1737360" cy="502920"/>
          </a:xfrm>
          <a:prstGeom prst="roundRect">
            <a:avLst>
              <a:gd name="adj" fmla="val 14545"/>
            </a:avLst>
          </a:prstGeom>
          <a:solidFill>
            <a:srgbClr val="EEF4E8"/>
          </a:solidFill>
          <a:ln w="15875">
            <a:solidFill>
              <a:srgbClr val="2C5F2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1371600"/>
            <a:ext cx="1737360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Erstprüfende</a:t>
            </a:r>
            <a:endParaRPr lang="en-US" sz="95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5C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/ Rolle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914400" y="2926080"/>
            <a:ext cx="1737360" cy="502920"/>
          </a:xfrm>
          <a:prstGeom prst="roundRect">
            <a:avLst>
              <a:gd name="adj" fmla="val 14545"/>
            </a:avLst>
          </a:prstGeom>
          <a:solidFill>
            <a:srgbClr val="EEF4E8"/>
          </a:solidFill>
          <a:ln w="15875">
            <a:solidFill>
              <a:srgbClr val="2C5F2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2926080"/>
            <a:ext cx="1737360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Studierende</a:t>
            </a:r>
            <a:endParaRPr lang="en-US" sz="95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5C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/ Rolle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914400" y="4480560"/>
            <a:ext cx="1737360" cy="502920"/>
          </a:xfrm>
          <a:prstGeom prst="roundRect">
            <a:avLst>
              <a:gd name="adj" fmla="val 14545"/>
            </a:avLst>
          </a:prstGeom>
          <a:solidFill>
            <a:srgbClr val="EEF4E8"/>
          </a:solidFill>
          <a:ln w="15875">
            <a:solidFill>
              <a:srgbClr val="2C5F2D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4400" y="4480560"/>
            <a:ext cx="1737360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Interne Zweitprüfende</a:t>
            </a:r>
            <a:endParaRPr lang="en-US" sz="95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5C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/ Rolle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3108960" y="4480560"/>
            <a:ext cx="1737360" cy="502920"/>
          </a:xfrm>
          <a:prstGeom prst="roundRect">
            <a:avLst>
              <a:gd name="adj" fmla="val 14545"/>
            </a:avLst>
          </a:prstGeom>
          <a:solidFill>
            <a:srgbClr val="EEF4E8"/>
          </a:solidFill>
          <a:ln w="15875">
            <a:solidFill>
              <a:srgbClr val="2C5F2D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108960" y="4480560"/>
            <a:ext cx="1737360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Externe Korreferenten</a:t>
            </a:r>
            <a:endParaRPr lang="en-US" sz="95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5C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/ Rolle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120640" y="2926080"/>
            <a:ext cx="1737360" cy="502920"/>
          </a:xfrm>
          <a:prstGeom prst="roundRect">
            <a:avLst>
              <a:gd name="adj" fmla="val 14545"/>
            </a:avLst>
          </a:prstGeom>
          <a:solidFill>
            <a:srgbClr val="EEF4E8"/>
          </a:solidFill>
          <a:ln w="15875">
            <a:solidFill>
              <a:srgbClr val="2C5F2D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120640" y="2926080"/>
            <a:ext cx="1737360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Sekretariat / Dekanat MND</a:t>
            </a:r>
            <a:endParaRPr lang="en-US" sz="95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5C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Drehscheibe, prüft und legt ab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7955280" y="1371600"/>
            <a:ext cx="1737360" cy="502920"/>
          </a:xfrm>
          <a:prstGeom prst="roundRect">
            <a:avLst>
              <a:gd name="adj" fmla="val 14545"/>
            </a:avLst>
          </a:prstGeom>
          <a:solidFill>
            <a:srgbClr val="EEF4E8"/>
          </a:solidFill>
          <a:ln w="15875">
            <a:solidFill>
              <a:srgbClr val="2C5F2D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955280" y="1371600"/>
            <a:ext cx="1737360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Prüfungsausschuss-Vorsitz</a:t>
            </a:r>
            <a:endParaRPr lang="en-US" sz="95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5C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/ Rolle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7955280" y="2926080"/>
            <a:ext cx="1737360" cy="502920"/>
          </a:xfrm>
          <a:prstGeom prst="roundRect">
            <a:avLst>
              <a:gd name="adj" fmla="val 14545"/>
            </a:avLst>
          </a:prstGeom>
          <a:solidFill>
            <a:srgbClr val="EEF4E8"/>
          </a:solidFill>
          <a:ln w="15875">
            <a:solidFill>
              <a:srgbClr val="2C5F2D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955280" y="2926080"/>
            <a:ext cx="1737360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Studienausschuss WI</a:t>
            </a:r>
            <a:endParaRPr lang="en-US" sz="95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5C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nur bei Verlängerung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1783080" y="1874520"/>
            <a:ext cx="914" cy="1051560"/>
          </a:xfrm>
          <a:prstGeom prst="line">
            <a:avLst/>
          </a:prstGeom>
          <a:noFill/>
          <a:ln w="19050">
            <a:solidFill>
              <a:srgbClr val="2C5F2D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1874520" y="2267712"/>
            <a:ext cx="201168" cy="201168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874520" y="2267712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800" dirty="0"/>
          </a:p>
        </p:txBody>
      </p:sp>
      <p:sp>
        <p:nvSpPr>
          <p:cNvPr id="24" name="Text 22"/>
          <p:cNvSpPr txBox="1"/>
          <p:nvPr/>
        </p:nvSpPr>
        <p:spPr>
          <a:xfrm>
            <a:off x="2121408" y="2240280"/>
            <a:ext cx="1307592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Formular per E-Mail</a:t>
            </a:r>
            <a:endParaRPr lang="en-US" sz="750" dirty="0"/>
          </a:p>
        </p:txBody>
      </p:sp>
      <p:sp>
        <p:nvSpPr>
          <p:cNvPr id="25" name="Shape 23"/>
          <p:cNvSpPr/>
          <p:nvPr/>
        </p:nvSpPr>
        <p:spPr>
          <a:xfrm>
            <a:off x="1783080" y="3429000"/>
            <a:ext cx="914" cy="1051560"/>
          </a:xfrm>
          <a:prstGeom prst="line">
            <a:avLst/>
          </a:prstGeom>
          <a:noFill/>
          <a:ln w="19050">
            <a:solidFill>
              <a:srgbClr val="2C5F2D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1874520" y="3822192"/>
            <a:ext cx="201168" cy="201168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874520" y="3822192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00" dirty="0"/>
          </a:p>
        </p:txBody>
      </p:sp>
      <p:sp>
        <p:nvSpPr>
          <p:cNvPr id="28" name="Text 26"/>
          <p:cNvSpPr txBox="1"/>
          <p:nvPr/>
        </p:nvSpPr>
        <p:spPr>
          <a:xfrm>
            <a:off x="2121408" y="3794760"/>
            <a:ext cx="1764792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Antrag ausgefüllt, unterschrieben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2651760" y="3337560"/>
            <a:ext cx="1325880" cy="914"/>
          </a:xfrm>
          <a:prstGeom prst="line">
            <a:avLst/>
          </a:prstGeom>
          <a:noFill/>
          <a:ln w="19050">
            <a:solidFill>
              <a:srgbClr val="2C5F2D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977640" y="3337560"/>
            <a:ext cx="914" cy="1143000"/>
          </a:xfrm>
          <a:prstGeom prst="line">
            <a:avLst/>
          </a:prstGeom>
          <a:noFill/>
          <a:ln w="19050">
            <a:solidFill>
              <a:srgbClr val="2C5F2D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2743200" y="3456432"/>
            <a:ext cx="201168" cy="201168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2743200" y="3456432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00" dirty="0"/>
          </a:p>
        </p:txBody>
      </p:sp>
      <p:sp>
        <p:nvSpPr>
          <p:cNvPr id="33" name="Text 31"/>
          <p:cNvSpPr txBox="1"/>
          <p:nvPr/>
        </p:nvSpPr>
        <p:spPr>
          <a:xfrm>
            <a:off x="2990088" y="3429000"/>
            <a:ext cx="1581912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Formular Ext. Prüfende + Urkunde</a:t>
            </a:r>
            <a:endParaRPr lang="en-US" sz="750" dirty="0"/>
          </a:p>
        </p:txBody>
      </p:sp>
      <p:sp>
        <p:nvSpPr>
          <p:cNvPr id="34" name="Shape 32"/>
          <p:cNvSpPr/>
          <p:nvPr/>
        </p:nvSpPr>
        <p:spPr>
          <a:xfrm>
            <a:off x="1783080" y="4983480"/>
            <a:ext cx="914" cy="155448"/>
          </a:xfrm>
          <a:prstGeom prst="line">
            <a:avLst/>
          </a:prstGeom>
          <a:noFill/>
          <a:ln w="19050">
            <a:solidFill>
              <a:srgbClr val="2C5F2D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977640" y="4983480"/>
            <a:ext cx="914" cy="155448"/>
          </a:xfrm>
          <a:prstGeom prst="line">
            <a:avLst/>
          </a:prstGeom>
          <a:noFill/>
          <a:ln w="19050">
            <a:solidFill>
              <a:srgbClr val="2C5F2D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783080" y="5138928"/>
            <a:ext cx="3886200" cy="914"/>
          </a:xfrm>
          <a:prstGeom prst="line">
            <a:avLst/>
          </a:prstGeom>
          <a:noFill/>
          <a:ln w="19050">
            <a:solidFill>
              <a:srgbClr val="2C5F2D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0" y="3429000"/>
            <a:ext cx="914" cy="1709928"/>
          </a:xfrm>
          <a:prstGeom prst="line">
            <a:avLst/>
          </a:prstGeom>
          <a:noFill/>
          <a:ln w="19050">
            <a:solidFill>
              <a:srgbClr val="2C5F2D"/>
            </a:solidFill>
            <a:prstDash val="solid"/>
            <a:headEnd type="triangle"/>
          </a:ln>
        </p:spPr>
      </p:sp>
      <p:sp>
        <p:nvSpPr>
          <p:cNvPr id="38" name="Shape 36"/>
          <p:cNvSpPr/>
          <p:nvPr/>
        </p:nvSpPr>
        <p:spPr>
          <a:xfrm>
            <a:off x="5760720" y="4005072"/>
            <a:ext cx="201168" cy="201168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760720" y="4005072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00" dirty="0"/>
          </a:p>
        </p:txBody>
      </p:sp>
      <p:sp>
        <p:nvSpPr>
          <p:cNvPr id="40" name="Text 38"/>
          <p:cNvSpPr txBox="1"/>
          <p:nvPr/>
        </p:nvSpPr>
        <p:spPr>
          <a:xfrm>
            <a:off x="6007608" y="3977640"/>
            <a:ext cx="1856232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unterschrieben, per E-Mail ans Dekanat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6492240" y="1623060"/>
            <a:ext cx="914" cy="1303020"/>
          </a:xfrm>
          <a:prstGeom prst="line">
            <a:avLst/>
          </a:prstGeom>
          <a:noFill/>
          <a:ln w="19050">
            <a:solidFill>
              <a:srgbClr val="2C5F2D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492240" y="1623060"/>
            <a:ext cx="1463040" cy="914"/>
          </a:xfrm>
          <a:prstGeom prst="line">
            <a:avLst/>
          </a:prstGeom>
          <a:noFill/>
          <a:ln w="19050">
            <a:solidFill>
              <a:srgbClr val="2C5F2D"/>
            </a:solidFill>
            <a:prstDash val="solid"/>
            <a:tailEnd type="triangle"/>
          </a:ln>
        </p:spPr>
      </p:sp>
      <p:sp>
        <p:nvSpPr>
          <p:cNvPr id="43" name="Shape 41"/>
          <p:cNvSpPr/>
          <p:nvPr/>
        </p:nvSpPr>
        <p:spPr>
          <a:xfrm>
            <a:off x="6583680" y="2130552"/>
            <a:ext cx="201168" cy="201168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6583680" y="2130552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00" dirty="0"/>
          </a:p>
        </p:txBody>
      </p:sp>
      <p:sp>
        <p:nvSpPr>
          <p:cNvPr id="45" name="Text 43"/>
          <p:cNvSpPr txBox="1"/>
          <p:nvPr/>
        </p:nvSpPr>
        <p:spPr>
          <a:xfrm>
            <a:off x="6830568" y="2103120"/>
            <a:ext cx="1170432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geprüft: Zulassung, Qualifikation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8823960" y="1188720"/>
            <a:ext cx="914" cy="182880"/>
          </a:xfrm>
          <a:prstGeom prst="line">
            <a:avLst/>
          </a:prstGeom>
          <a:noFill/>
          <a:ln w="19050">
            <a:solidFill>
              <a:srgbClr val="2C5F2D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783080" y="1188720"/>
            <a:ext cx="7040880" cy="914"/>
          </a:xfrm>
          <a:prstGeom prst="line">
            <a:avLst/>
          </a:prstGeom>
          <a:noFill/>
          <a:ln w="19050">
            <a:solidFill>
              <a:srgbClr val="2C5F2D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783080" y="1188720"/>
            <a:ext cx="914" cy="182880"/>
          </a:xfrm>
          <a:prstGeom prst="line">
            <a:avLst/>
          </a:prstGeom>
          <a:noFill/>
          <a:ln w="19050">
            <a:solidFill>
              <a:srgbClr val="2C5F2D"/>
            </a:solidFill>
            <a:prstDash val="solid"/>
            <a:tailEnd type="triangle"/>
          </a:ln>
        </p:spPr>
      </p:sp>
      <p:sp>
        <p:nvSpPr>
          <p:cNvPr id="49" name="Shape 47"/>
          <p:cNvSpPr/>
          <p:nvPr/>
        </p:nvSpPr>
        <p:spPr>
          <a:xfrm>
            <a:off x="4023360" y="1234440"/>
            <a:ext cx="201168" cy="201168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4023360" y="1234440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00" dirty="0"/>
          </a:p>
        </p:txBody>
      </p:sp>
      <p:sp>
        <p:nvSpPr>
          <p:cNvPr id="51" name="Text 49"/>
          <p:cNvSpPr txBox="1"/>
          <p:nvPr/>
        </p:nvSpPr>
        <p:spPr>
          <a:xfrm>
            <a:off x="4270248" y="1207008"/>
            <a:ext cx="2679192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Entscheidung PA; 1. Prüfer trägt Ausgabe ein (Beginn, Abgabe)</a:t>
            </a:r>
            <a:endParaRPr lang="en-US" sz="750" dirty="0"/>
          </a:p>
        </p:txBody>
      </p:sp>
      <p:sp>
        <p:nvSpPr>
          <p:cNvPr id="52" name="Shape 50"/>
          <p:cNvSpPr/>
          <p:nvPr/>
        </p:nvSpPr>
        <p:spPr>
          <a:xfrm>
            <a:off x="2651760" y="1737360"/>
            <a:ext cx="2240280" cy="914"/>
          </a:xfrm>
          <a:prstGeom prst="line">
            <a:avLst/>
          </a:prstGeom>
          <a:noFill/>
          <a:ln w="19050">
            <a:solidFill>
              <a:srgbClr val="2C5F2D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892040" y="1737360"/>
            <a:ext cx="914" cy="1325880"/>
          </a:xfrm>
          <a:prstGeom prst="line">
            <a:avLst/>
          </a:prstGeom>
          <a:noFill/>
          <a:ln w="19050">
            <a:solidFill>
              <a:srgbClr val="2C5F2D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4892040" y="3063240"/>
            <a:ext cx="228600" cy="914"/>
          </a:xfrm>
          <a:prstGeom prst="line">
            <a:avLst/>
          </a:prstGeom>
          <a:noFill/>
          <a:ln w="19050">
            <a:solidFill>
              <a:srgbClr val="2C5F2D"/>
            </a:solidFill>
            <a:prstDash val="solid"/>
            <a:tailEnd type="triangle"/>
          </a:ln>
        </p:spPr>
      </p:sp>
      <p:sp>
        <p:nvSpPr>
          <p:cNvPr id="55" name="Shape 53"/>
          <p:cNvSpPr/>
          <p:nvPr/>
        </p:nvSpPr>
        <p:spPr>
          <a:xfrm>
            <a:off x="2743200" y="1856232"/>
            <a:ext cx="201168" cy="201168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2743200" y="1856232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00" dirty="0"/>
          </a:p>
        </p:txBody>
      </p:sp>
      <p:sp>
        <p:nvSpPr>
          <p:cNvPr id="57" name="Text 55"/>
          <p:cNvSpPr txBox="1"/>
          <p:nvPr/>
        </p:nvSpPr>
        <p:spPr>
          <a:xfrm>
            <a:off x="2990088" y="1828800"/>
            <a:ext cx="1399032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Formular mit Fristen zurück</a:t>
            </a:r>
            <a:endParaRPr lang="en-US" sz="750" dirty="0"/>
          </a:p>
        </p:txBody>
      </p:sp>
      <p:sp>
        <p:nvSpPr>
          <p:cNvPr id="58" name="Shape 56"/>
          <p:cNvSpPr/>
          <p:nvPr/>
        </p:nvSpPr>
        <p:spPr>
          <a:xfrm>
            <a:off x="2651760" y="3200400"/>
            <a:ext cx="2468880" cy="914"/>
          </a:xfrm>
          <a:prstGeom prst="line">
            <a:avLst/>
          </a:prstGeom>
          <a:noFill/>
          <a:ln w="19050">
            <a:solidFill>
              <a:srgbClr val="2C5F2D"/>
            </a:solidFill>
            <a:prstDash val="solid"/>
            <a:headEnd type="triangle"/>
          </a:ln>
        </p:spPr>
      </p:sp>
      <p:sp>
        <p:nvSpPr>
          <p:cNvPr id="59" name="Shape 57"/>
          <p:cNvSpPr/>
          <p:nvPr/>
        </p:nvSpPr>
        <p:spPr>
          <a:xfrm>
            <a:off x="2743200" y="2816352"/>
            <a:ext cx="201168" cy="201168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2743200" y="2816352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00" dirty="0"/>
          </a:p>
        </p:txBody>
      </p:sp>
      <p:sp>
        <p:nvSpPr>
          <p:cNvPr id="61" name="Text 59"/>
          <p:cNvSpPr txBox="1"/>
          <p:nvPr/>
        </p:nvSpPr>
        <p:spPr>
          <a:xfrm>
            <a:off x="2990088" y="2788920"/>
            <a:ext cx="1856232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 Thema + Frist; Formular bleibt in der Akte</a:t>
            </a:r>
            <a:endParaRPr lang="en-US" sz="750" dirty="0"/>
          </a:p>
        </p:txBody>
      </p:sp>
      <p:sp>
        <p:nvSpPr>
          <p:cNvPr id="62" name="Shape 60"/>
          <p:cNvSpPr/>
          <p:nvPr/>
        </p:nvSpPr>
        <p:spPr>
          <a:xfrm>
            <a:off x="6858000" y="3200400"/>
            <a:ext cx="1097280" cy="914"/>
          </a:xfrm>
          <a:prstGeom prst="line">
            <a:avLst/>
          </a:prstGeom>
          <a:noFill/>
          <a:ln w="19050">
            <a:solidFill>
              <a:srgbClr val="C9A227"/>
            </a:solidFill>
            <a:prstDash val="dash"/>
            <a:tailEnd type="triangle"/>
          </a:ln>
        </p:spPr>
      </p:sp>
      <p:sp>
        <p:nvSpPr>
          <p:cNvPr id="63" name="Shape 61"/>
          <p:cNvSpPr/>
          <p:nvPr/>
        </p:nvSpPr>
        <p:spPr>
          <a:xfrm>
            <a:off x="6903720" y="3456432"/>
            <a:ext cx="201168" cy="201168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6903720" y="3456432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</a:t>
            </a:r>
            <a:endParaRPr lang="en-US" sz="800" dirty="0"/>
          </a:p>
        </p:txBody>
      </p:sp>
      <p:sp>
        <p:nvSpPr>
          <p:cNvPr id="65" name="Text 63"/>
          <p:cNvSpPr txBox="1"/>
          <p:nvPr/>
        </p:nvSpPr>
        <p:spPr>
          <a:xfrm>
            <a:off x="7150608" y="3429000"/>
            <a:ext cx="850392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Verlängerung</a:t>
            </a:r>
            <a:endParaRPr lang="en-US" sz="750" dirty="0"/>
          </a:p>
        </p:txBody>
      </p:sp>
      <p:sp>
        <p:nvSpPr>
          <p:cNvPr id="66" name="Text 64"/>
          <p:cNvSpPr txBox="1"/>
          <p:nvPr/>
        </p:nvSpPr>
        <p:spPr>
          <a:xfrm>
            <a:off x="457200" y="548640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i="1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Rahmenbedingungen im Kontext</a:t>
            </a:r>
            <a:endParaRPr lang="en-US" sz="800" dirty="0"/>
          </a:p>
        </p:txBody>
      </p:sp>
      <p:sp>
        <p:nvSpPr>
          <p:cNvPr id="67" name="Shape 65"/>
          <p:cNvSpPr/>
          <p:nvPr/>
        </p:nvSpPr>
        <p:spPr>
          <a:xfrm>
            <a:off x="457200" y="5687568"/>
            <a:ext cx="228600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8A968A"/>
            </a:solidFill>
            <a:prstDash val="dash"/>
          </a:ln>
        </p:spPr>
      </p:sp>
      <p:sp>
        <p:nvSpPr>
          <p:cNvPr id="68" name="Text 66"/>
          <p:cNvSpPr txBox="1"/>
          <p:nvPr/>
        </p:nvSpPr>
        <p:spPr>
          <a:xfrm>
            <a:off x="457200" y="5687568"/>
            <a:ext cx="22860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C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E-Mail (Outlook)</a:t>
            </a:r>
            <a:endParaRPr lang="en-US" sz="850" dirty="0"/>
          </a:p>
          <a:p>
            <a:pPr indent="0" marL="0">
              <a:buNone/>
            </a:pPr>
            <a:r>
              <a:rPr lang="en-US" sz="700" dirty="0">
                <a:solidFill>
                  <a:srgbClr val="5C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Transport aller Übergaben, keine Nachverfolgung</a:t>
            </a:r>
            <a:endParaRPr lang="en-US" sz="850" dirty="0"/>
          </a:p>
        </p:txBody>
      </p:sp>
      <p:sp>
        <p:nvSpPr>
          <p:cNvPr id="69" name="Shape 67"/>
          <p:cNvSpPr/>
          <p:nvPr/>
        </p:nvSpPr>
        <p:spPr>
          <a:xfrm>
            <a:off x="2852928" y="5687568"/>
            <a:ext cx="228600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8A968A"/>
            </a:solidFill>
            <a:prstDash val="dash"/>
          </a:ln>
        </p:spPr>
      </p:sp>
      <p:sp>
        <p:nvSpPr>
          <p:cNvPr id="70" name="Text 68"/>
          <p:cNvSpPr txBox="1"/>
          <p:nvPr/>
        </p:nvSpPr>
        <p:spPr>
          <a:xfrm>
            <a:off x="2852928" y="5687568"/>
            <a:ext cx="22860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C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THM-Intranet</a:t>
            </a:r>
            <a:endParaRPr lang="en-US" sz="850" dirty="0"/>
          </a:p>
          <a:p>
            <a:pPr indent="0" marL="0">
              <a:buNone/>
            </a:pPr>
            <a:r>
              <a:rPr lang="en-US" sz="700" dirty="0">
                <a:solidFill>
                  <a:srgbClr val="5C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PDF-Formulare nur nach Login</a:t>
            </a:r>
            <a:endParaRPr lang="en-US" sz="850" dirty="0"/>
          </a:p>
        </p:txBody>
      </p:sp>
      <p:sp>
        <p:nvSpPr>
          <p:cNvPr id="71" name="Shape 69"/>
          <p:cNvSpPr/>
          <p:nvPr/>
        </p:nvSpPr>
        <p:spPr>
          <a:xfrm>
            <a:off x="5248656" y="5687568"/>
            <a:ext cx="2286000" cy="457200"/>
          </a:xfrm>
          <a:prstGeom prst="roundRect">
            <a:avLst>
              <a:gd name="adj" fmla="val 12000"/>
            </a:avLst>
          </a:prstGeom>
          <a:solidFill>
            <a:srgbClr val="FFF7E0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5248656" y="5687568"/>
            <a:ext cx="22860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7A5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Sprechzeiten Sekretariat</a:t>
            </a:r>
            <a:endParaRPr lang="en-US" sz="850" dirty="0"/>
          </a:p>
          <a:p>
            <a:pPr indent="0" marL="0">
              <a:buNone/>
            </a:pPr>
            <a:r>
              <a:rPr lang="en-US" sz="700" dirty="0">
                <a:solidFill>
                  <a:srgbClr val="5C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Rückfragen Mo bis Fr 9.30 bis 11.30 Uhr</a:t>
            </a:r>
            <a:endParaRPr lang="en-US" sz="850" dirty="0"/>
          </a:p>
        </p:txBody>
      </p:sp>
      <p:sp>
        <p:nvSpPr>
          <p:cNvPr id="73" name="Shape 71"/>
          <p:cNvSpPr/>
          <p:nvPr/>
        </p:nvSpPr>
        <p:spPr>
          <a:xfrm>
            <a:off x="7644384" y="5687568"/>
            <a:ext cx="228600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2C5F2D"/>
            </a:solidFill>
            <a:prstDash val="sysDot"/>
          </a:ln>
        </p:spPr>
      </p:sp>
      <p:sp>
        <p:nvSpPr>
          <p:cNvPr id="74" name="Text 72"/>
          <p:cNvSpPr txBox="1"/>
          <p:nvPr/>
        </p:nvSpPr>
        <p:spPr>
          <a:xfrm>
            <a:off x="7644384" y="5687568"/>
            <a:ext cx="22860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Papierakte</a:t>
            </a:r>
            <a:endParaRPr lang="en-US" sz="850" dirty="0"/>
          </a:p>
          <a:p>
            <a:pPr indent="0" marL="0">
              <a:buNone/>
            </a:pPr>
            <a:r>
              <a:rPr lang="en-US" sz="700" dirty="0">
                <a:solidFill>
                  <a:srgbClr val="5C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Formular wird abgeheftet, nicht an Studierende</a:t>
            </a:r>
            <a:endParaRPr lang="en-US" sz="850" dirty="0"/>
          </a:p>
        </p:txBody>
      </p:sp>
      <p:sp>
        <p:nvSpPr>
          <p:cNvPr id="75" name="Shape 73"/>
          <p:cNvSpPr/>
          <p:nvPr/>
        </p:nvSpPr>
        <p:spPr>
          <a:xfrm>
            <a:off x="10241280" y="896112"/>
            <a:ext cx="1508760" cy="5248656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12700">
            <a:solidFill>
              <a:srgbClr val="9B3B2E"/>
            </a:solidFill>
            <a:prstDash val="sysDot"/>
          </a:ln>
        </p:spPr>
      </p:sp>
      <p:sp>
        <p:nvSpPr>
          <p:cNvPr id="76" name="Text 74"/>
          <p:cNvSpPr txBox="1"/>
          <p:nvPr/>
        </p:nvSpPr>
        <p:spPr>
          <a:xfrm>
            <a:off x="10332720" y="987552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9B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Schwachstellen (Ist)</a:t>
            </a:r>
            <a:endParaRPr lang="en-US" sz="950" dirty="0"/>
          </a:p>
          <a:p>
            <a:pPr indent="0" marL="0">
              <a:buNone/>
            </a:pPr>
            <a:r>
              <a:rPr lang="en-US" sz="700" dirty="0">
                <a:solidFill>
                  <a:srgbClr val="8A96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Beobachtet aus Formular und THM-Seite</a:t>
            </a:r>
            <a:endParaRPr lang="en-US" sz="950" dirty="0"/>
          </a:p>
        </p:txBody>
      </p:sp>
      <p:sp>
        <p:nvSpPr>
          <p:cNvPr id="77" name="Shape 75"/>
          <p:cNvSpPr/>
          <p:nvPr/>
        </p:nvSpPr>
        <p:spPr>
          <a:xfrm>
            <a:off x="10332720" y="1627632"/>
            <a:ext cx="1325880" cy="987552"/>
          </a:xfrm>
          <a:prstGeom prst="roundRect">
            <a:avLst>
              <a:gd name="adj" fmla="val 5556"/>
            </a:avLst>
          </a:prstGeom>
          <a:solidFill>
            <a:srgbClr val="FBF1EF"/>
          </a:solidFill>
          <a:ln w="9525">
            <a:solidFill>
              <a:srgbClr val="9B3B2E"/>
            </a:solidFill>
            <a:prstDash val="dash"/>
          </a:ln>
        </p:spPr>
      </p:sp>
      <p:sp>
        <p:nvSpPr>
          <p:cNvPr id="78" name="Text 76"/>
          <p:cNvSpPr txBox="1"/>
          <p:nvPr/>
        </p:nvSpPr>
        <p:spPr>
          <a:xfrm>
            <a:off x="10387584" y="1673352"/>
            <a:ext cx="1216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800" b="1" dirty="0">
                <a:solidFill>
                  <a:srgbClr val="9B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Medienbrüche</a:t>
            </a:r>
            <a:endParaRPr lang="en-US" sz="8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700" dirty="0">
                <a:solidFill>
                  <a:srgbClr val="5C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ausfüllen, drucken, unterschreiben, scannen, mailen: sieben Übergaben pro Antrag.</a:t>
            </a:r>
            <a:endParaRPr lang="en-US" sz="800" dirty="0"/>
          </a:p>
        </p:txBody>
      </p:sp>
      <p:sp>
        <p:nvSpPr>
          <p:cNvPr id="79" name="Shape 77"/>
          <p:cNvSpPr/>
          <p:nvPr/>
        </p:nvSpPr>
        <p:spPr>
          <a:xfrm>
            <a:off x="10332720" y="2724912"/>
            <a:ext cx="1325880" cy="987552"/>
          </a:xfrm>
          <a:prstGeom prst="roundRect">
            <a:avLst>
              <a:gd name="adj" fmla="val 5556"/>
            </a:avLst>
          </a:prstGeom>
          <a:solidFill>
            <a:srgbClr val="FBF1EF"/>
          </a:solidFill>
          <a:ln w="9525">
            <a:solidFill>
              <a:srgbClr val="9B3B2E"/>
            </a:solidFill>
            <a:prstDash val="dash"/>
          </a:ln>
        </p:spPr>
      </p:sp>
      <p:sp>
        <p:nvSpPr>
          <p:cNvPr id="80" name="Text 78"/>
          <p:cNvSpPr txBox="1"/>
          <p:nvPr/>
        </p:nvSpPr>
        <p:spPr>
          <a:xfrm>
            <a:off x="10387584" y="2770632"/>
            <a:ext cx="1216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800" b="1" dirty="0">
                <a:solidFill>
                  <a:srgbClr val="9B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Kein Status</a:t>
            </a:r>
            <a:endParaRPr lang="en-US" sz="8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700" dirty="0">
                <a:solidFill>
                  <a:srgbClr val="5C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Studierende erfahren erst in Schritt 7 vom Ergebnis; Nachfragen nur telefonisch.</a:t>
            </a:r>
            <a:endParaRPr lang="en-US" sz="800" dirty="0"/>
          </a:p>
        </p:txBody>
      </p:sp>
      <p:sp>
        <p:nvSpPr>
          <p:cNvPr id="81" name="Shape 79"/>
          <p:cNvSpPr/>
          <p:nvPr/>
        </p:nvSpPr>
        <p:spPr>
          <a:xfrm>
            <a:off x="10332720" y="3822192"/>
            <a:ext cx="1325880" cy="987552"/>
          </a:xfrm>
          <a:prstGeom prst="roundRect">
            <a:avLst>
              <a:gd name="adj" fmla="val 5556"/>
            </a:avLst>
          </a:prstGeom>
          <a:solidFill>
            <a:srgbClr val="FBF1EF"/>
          </a:solidFill>
          <a:ln w="9525">
            <a:solidFill>
              <a:srgbClr val="9B3B2E"/>
            </a:solidFill>
            <a:prstDash val="dash"/>
          </a:ln>
        </p:spPr>
      </p:sp>
      <p:sp>
        <p:nvSpPr>
          <p:cNvPr id="82" name="Text 80"/>
          <p:cNvSpPr txBox="1"/>
          <p:nvPr/>
        </p:nvSpPr>
        <p:spPr>
          <a:xfrm>
            <a:off x="10387584" y="3867912"/>
            <a:ext cx="1216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800" b="1" dirty="0">
                <a:solidFill>
                  <a:srgbClr val="9B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Manuelle Prüfung</a:t>
            </a:r>
            <a:endParaRPr lang="en-US" sz="8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700" dirty="0">
                <a:solidFill>
                  <a:srgbClr val="5C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Zulassung, Qualifikation und Fristen prüft das Sekretariat von Hand (Schritte 3 und 6).</a:t>
            </a:r>
            <a:endParaRPr lang="en-US" sz="800" dirty="0"/>
          </a:p>
        </p:txBody>
      </p:sp>
      <p:sp>
        <p:nvSpPr>
          <p:cNvPr id="83" name="Shape 81"/>
          <p:cNvSpPr/>
          <p:nvPr/>
        </p:nvSpPr>
        <p:spPr>
          <a:xfrm>
            <a:off x="10332720" y="4919472"/>
            <a:ext cx="1325880" cy="987552"/>
          </a:xfrm>
          <a:prstGeom prst="roundRect">
            <a:avLst>
              <a:gd name="adj" fmla="val 5556"/>
            </a:avLst>
          </a:prstGeom>
          <a:solidFill>
            <a:srgbClr val="FBF1EF"/>
          </a:solidFill>
          <a:ln w="9525">
            <a:solidFill>
              <a:srgbClr val="9B3B2E"/>
            </a:solidFill>
            <a:prstDash val="dash"/>
          </a:ln>
        </p:spPr>
      </p:sp>
      <p:sp>
        <p:nvSpPr>
          <p:cNvPr id="84" name="Text 82"/>
          <p:cNvSpPr txBox="1"/>
          <p:nvPr/>
        </p:nvSpPr>
        <p:spPr>
          <a:xfrm>
            <a:off x="10387584" y="4965192"/>
            <a:ext cx="1216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800" b="1" dirty="0">
                <a:solidFill>
                  <a:srgbClr val="9B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Externe ohne Zugang</a:t>
            </a:r>
            <a:endParaRPr lang="en-US" sz="8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700" dirty="0">
                <a:solidFill>
                  <a:srgbClr val="5C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Externe Korreferenten brauchen Zusatzformular, Post oder Scan (Schritt 2).</a:t>
            </a:r>
            <a:endParaRPr lang="en-US" sz="800" dirty="0"/>
          </a:p>
        </p:txBody>
      </p:sp>
      <p:sp>
        <p:nvSpPr>
          <p:cNvPr id="85" name="Shape 83"/>
          <p:cNvSpPr/>
          <p:nvPr/>
        </p:nvSpPr>
        <p:spPr>
          <a:xfrm>
            <a:off x="457200" y="6355080"/>
            <a:ext cx="292608" cy="182880"/>
          </a:xfrm>
          <a:prstGeom prst="roundRect">
            <a:avLst>
              <a:gd name="adj" fmla="val 20000"/>
            </a:avLst>
          </a:prstGeom>
          <a:solidFill>
            <a:srgbClr val="EEF4E8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86" name="Text 84"/>
          <p:cNvSpPr txBox="1"/>
          <p:nvPr/>
        </p:nvSpPr>
        <p:spPr>
          <a:xfrm>
            <a:off x="804672" y="63093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C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/ Rolle</a:t>
            </a:r>
            <a:endParaRPr lang="en-US" sz="750" dirty="0"/>
          </a:p>
        </p:txBody>
      </p:sp>
      <p:sp>
        <p:nvSpPr>
          <p:cNvPr id="87" name="Shape 85"/>
          <p:cNvSpPr/>
          <p:nvPr/>
        </p:nvSpPr>
        <p:spPr>
          <a:xfrm>
            <a:off x="1737360" y="6355080"/>
            <a:ext cx="292608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8A968A"/>
            </a:solidFill>
            <a:prstDash val="dash"/>
          </a:ln>
        </p:spPr>
      </p:sp>
      <p:sp>
        <p:nvSpPr>
          <p:cNvPr id="88" name="Text 86"/>
          <p:cNvSpPr txBox="1"/>
          <p:nvPr/>
        </p:nvSpPr>
        <p:spPr>
          <a:xfrm>
            <a:off x="2084832" y="63093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C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im Betrieb</a:t>
            </a:r>
            <a:endParaRPr lang="en-US" sz="750" dirty="0"/>
          </a:p>
        </p:txBody>
      </p:sp>
      <p:sp>
        <p:nvSpPr>
          <p:cNvPr id="89" name="Shape 87"/>
          <p:cNvSpPr/>
          <p:nvPr/>
        </p:nvSpPr>
        <p:spPr>
          <a:xfrm>
            <a:off x="3108960" y="6355080"/>
            <a:ext cx="292608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2C5F2D"/>
            </a:solidFill>
            <a:prstDash val="sysDot"/>
          </a:ln>
        </p:spPr>
      </p:sp>
      <p:sp>
        <p:nvSpPr>
          <p:cNvPr id="90" name="Text 88"/>
          <p:cNvSpPr txBox="1"/>
          <p:nvPr/>
        </p:nvSpPr>
        <p:spPr>
          <a:xfrm>
            <a:off x="3456432" y="63093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C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Dokument</a:t>
            </a:r>
            <a:endParaRPr lang="en-US" sz="750" dirty="0"/>
          </a:p>
        </p:txBody>
      </p:sp>
      <p:sp>
        <p:nvSpPr>
          <p:cNvPr id="91" name="Shape 89"/>
          <p:cNvSpPr/>
          <p:nvPr/>
        </p:nvSpPr>
        <p:spPr>
          <a:xfrm>
            <a:off x="4114800" y="6355080"/>
            <a:ext cx="292608" cy="182880"/>
          </a:xfrm>
          <a:prstGeom prst="roundRect">
            <a:avLst>
              <a:gd name="adj" fmla="val 20000"/>
            </a:avLst>
          </a:prstGeom>
          <a:solidFill>
            <a:srgbClr val="FFF7E0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92" name="Text 90"/>
          <p:cNvSpPr txBox="1"/>
          <p:nvPr/>
        </p:nvSpPr>
        <p:spPr>
          <a:xfrm>
            <a:off x="4462272" y="63093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C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Ereignis / Einschränkung</a:t>
            </a:r>
            <a:endParaRPr lang="en-US" sz="750" dirty="0"/>
          </a:p>
        </p:txBody>
      </p:sp>
      <p:sp>
        <p:nvSpPr>
          <p:cNvPr id="93" name="Shape 91"/>
          <p:cNvSpPr/>
          <p:nvPr/>
        </p:nvSpPr>
        <p:spPr>
          <a:xfrm>
            <a:off x="5669280" y="6446520"/>
            <a:ext cx="365760" cy="914"/>
          </a:xfrm>
          <a:prstGeom prst="line">
            <a:avLst/>
          </a:prstGeom>
          <a:noFill/>
          <a:ln w="19050">
            <a:solidFill>
              <a:srgbClr val="2C5F2D"/>
            </a:solidFill>
            <a:prstDash val="solid"/>
            <a:tailEnd type="triangle"/>
          </a:ln>
        </p:spPr>
      </p:sp>
      <p:sp>
        <p:nvSpPr>
          <p:cNvPr id="94" name="Text 92"/>
          <p:cNvSpPr txBox="1"/>
          <p:nvPr/>
        </p:nvSpPr>
        <p:spPr>
          <a:xfrm>
            <a:off x="6080760" y="63093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C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Übergabe des Formulars, Schritte 1 bis 7</a:t>
            </a:r>
            <a:endParaRPr lang="en-US" sz="750" dirty="0"/>
          </a:p>
        </p:txBody>
      </p:sp>
      <p:sp>
        <p:nvSpPr>
          <p:cNvPr id="95" name="Shape 93"/>
          <p:cNvSpPr/>
          <p:nvPr/>
        </p:nvSpPr>
        <p:spPr>
          <a:xfrm>
            <a:off x="8138160" y="6446520"/>
            <a:ext cx="365760" cy="914"/>
          </a:xfrm>
          <a:prstGeom prst="line">
            <a:avLst/>
          </a:prstGeom>
          <a:noFill/>
          <a:ln w="19050">
            <a:solidFill>
              <a:srgbClr val="C9A227"/>
            </a:solidFill>
            <a:prstDash val="dash"/>
            <a:tailEnd type="triangle"/>
          </a:ln>
        </p:spPr>
      </p:sp>
      <p:sp>
        <p:nvSpPr>
          <p:cNvPr id="96" name="Text 94"/>
          <p:cNvSpPr txBox="1"/>
          <p:nvPr/>
        </p:nvSpPr>
        <p:spPr>
          <a:xfrm>
            <a:off x="8549640" y="630936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C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Verlängerungsantrag</a:t>
            </a:r>
            <a:endParaRPr lang="en-US" sz="750" dirty="0"/>
          </a:p>
        </p:txBody>
      </p:sp>
      <p:sp>
        <p:nvSpPr>
          <p:cNvPr id="97" name="Text 95"/>
          <p:cNvSpPr txBox="1"/>
          <p:nvPr/>
        </p:nvSpPr>
        <p:spPr>
          <a:xfrm>
            <a:off x="9784080" y="630936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8A96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Quelle: Zulassungsantrag WS23/24, Hinweise zur Bearbeitung</a:t>
            </a:r>
            <a:endParaRPr lang="en-US" sz="6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Kontextdiagramm ThesisFlow</dc:title>
  <dc:subject>PptxGenJS Presentation</dc:subject>
  <dc:creator>PptxGenJS</dc:creator>
  <cp:lastModifiedBy>PptxGenJS</cp:lastModifiedBy>
  <cp:revision>1</cp:revision>
  <dcterms:created xsi:type="dcterms:W3CDTF">2026-09-30T11:35:06Z</dcterms:created>
  <dcterms:modified xsi:type="dcterms:W3CDTF">2026-09-30T11:35:06Z</dcterms:modified>
</cp:coreProperties>
</file>