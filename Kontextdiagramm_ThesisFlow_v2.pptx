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Kontextdiagramm ThesisFlow in Datenfluss-Notation (Soll-Perspektive, vgl. Vorlesung Kap. 2 System und Systemkontext abgrenzen).
Systemgrenze: das Portal ThesisFlow. Kontextgrenze: alle Personen, Systeme, Dokumente und Ereignisse, die Anforderungen beeinflussen.
Grüne Pfeile = Input (Quellen), blaue Pfeile = Output (Senken). Die Grauzone rechts enthält Aspekte, deren Beziehung zum System noch zu klären ist (Interviewfragen an den Auftraggeber).
Grundlage: 7-Schritte-Ablauf des Zulassungsantrags (Studierende, 2. Prüfer, Sekretariat, PA-Vorsitz, 1. Prüfer, Sekretariat, Studierende) und Verlängerungsantrag an den Studienausschuss WI.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Kontextdiagramm ThesisFlow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Systemkontext in der Soll-Perspektive: Quellen und Senken des Abschlussarbeiten-Portals des FB MND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046720" y="2743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ENGINEERING  ·  GRUPPE GRÜN  ·  STAND 30.09.2026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9281160" cy="5166360"/>
          </a:xfrm>
          <a:prstGeom prst="roundRect">
            <a:avLst>
              <a:gd name="adj" fmla="val 3540"/>
            </a:avLst>
          </a:prstGeom>
          <a:solidFill>
            <a:srgbClr val="F5F7F4"/>
          </a:solidFill>
          <a:ln w="15875">
            <a:solidFill>
              <a:srgbClr val="97BC62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640080" y="10332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Kontextgrenze  ·  Systemkontext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206240" y="2788920"/>
            <a:ext cx="1828800" cy="1188720"/>
          </a:xfrm>
          <a:prstGeom prst="roundRect">
            <a:avLst>
              <a:gd name="adj" fmla="val 9231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206240" y="2788920"/>
            <a:ext cx="182880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ThesisFlow</a:t>
            </a:r>
            <a:endParaRPr lang="en-US" sz="18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9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für Anmeldung, Freigabe,</a:t>
            </a:r>
            <a:endParaRPr lang="en-US" sz="18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9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Ausgabe und Verlängerung</a:t>
            </a:r>
            <a:endParaRPr lang="en-US" sz="180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Systemgrenze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123444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EEF4E8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1234440"/>
            <a:ext cx="17373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Studierende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/ Rolle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68880" y="1431036"/>
            <a:ext cx="1737360" cy="1449324"/>
          </a:xfrm>
          <a:prstGeom prst="line">
            <a:avLst/>
          </a:prstGeom>
          <a:noFill/>
          <a:ln w="15875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468880" y="1540764"/>
            <a:ext cx="1737360" cy="1431036"/>
          </a:xfrm>
          <a:prstGeom prst="line">
            <a:avLst/>
          </a:prstGeom>
          <a:noFill/>
          <a:ln w="15875">
            <a:solidFill>
              <a:srgbClr val="4A7FB5"/>
            </a:solidFill>
            <a:prstDash val="solid"/>
            <a:headEnd type="triangle"/>
          </a:ln>
        </p:spPr>
      </p:sp>
      <p:sp>
        <p:nvSpPr>
          <p:cNvPr id="13" name="Text 11"/>
          <p:cNvSpPr txBox="1"/>
          <p:nvPr/>
        </p:nvSpPr>
        <p:spPr>
          <a:xfrm>
            <a:off x="2606040" y="1995678"/>
            <a:ext cx="1463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9D1C9"/>
            </a:solidFill>
          </a:ln>
        </p:spPr>
        <p:txBody>
          <a:bodyPr wrap="square" lIns="381" tIns="381" rIns="381" bIns="381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Antrag (Thema, Prüfende, Starttermin), Anlage ext. Prüfer, Verlängerungsantrag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Status, Zulassungsbescheid, Ausgabe (Thema, Beginn, Abgabe)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731520" y="228600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EEF4E8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2286000"/>
            <a:ext cx="17373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Erstprüfende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/ Rolle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468880" y="2482596"/>
            <a:ext cx="1737360" cy="717804"/>
          </a:xfrm>
          <a:prstGeom prst="line">
            <a:avLst/>
          </a:prstGeom>
          <a:noFill/>
          <a:ln w="15875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468880" y="2592324"/>
            <a:ext cx="1737360" cy="699516"/>
          </a:xfrm>
          <a:prstGeom prst="line">
            <a:avLst/>
          </a:prstGeom>
          <a:noFill/>
          <a:ln w="15875">
            <a:solidFill>
              <a:srgbClr val="4A7FB5"/>
            </a:solidFill>
            <a:prstDash val="solid"/>
            <a:headEnd type="triangle"/>
          </a:ln>
        </p:spPr>
      </p:sp>
      <p:sp>
        <p:nvSpPr>
          <p:cNvPr id="18" name="Text 16"/>
          <p:cNvSpPr txBox="1"/>
          <p:nvPr/>
        </p:nvSpPr>
        <p:spPr>
          <a:xfrm>
            <a:off x="2606040" y="2681478"/>
            <a:ext cx="1463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9D1C9"/>
            </a:solidFill>
          </a:ln>
        </p:spPr>
        <p:txBody>
          <a:bodyPr wrap="square" lIns="381" tIns="381" rIns="381" bIns="381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Betreuungszusage, Ausgabe mit Beginn und Abgabe, Befürwortung Verlängerung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Antragsdaten, Aufgabenhinweis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731520" y="333756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EEF4E8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3337560"/>
            <a:ext cx="17373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 Zweitprüfende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/ Rolle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 flipV="1">
            <a:off x="2468880" y="3520440"/>
            <a:ext cx="1737360" cy="13716"/>
          </a:xfrm>
          <a:prstGeom prst="line">
            <a:avLst/>
          </a:prstGeom>
          <a:noFill/>
          <a:ln w="15875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 flipV="1">
            <a:off x="2468880" y="3611880"/>
            <a:ext cx="1737360" cy="32004"/>
          </a:xfrm>
          <a:prstGeom prst="line">
            <a:avLst/>
          </a:prstGeom>
          <a:noFill/>
          <a:ln w="15875">
            <a:solidFill>
              <a:srgbClr val="4A7FB5"/>
            </a:solidFill>
            <a:prstDash val="solid"/>
            <a:headEnd type="triangle"/>
          </a:ln>
        </p:spPr>
      </p:sp>
      <p:sp>
        <p:nvSpPr>
          <p:cNvPr id="23" name="Text 21"/>
          <p:cNvSpPr txBox="1"/>
          <p:nvPr/>
        </p:nvSpPr>
        <p:spPr>
          <a:xfrm>
            <a:off x="2606040" y="3367278"/>
            <a:ext cx="1463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9D1C9"/>
            </a:solidFill>
          </a:ln>
        </p:spPr>
        <p:txBody>
          <a:bodyPr wrap="square" lIns="381" tIns="381" rIns="381" bIns="381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Zusage Korreferat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Korreferatsanfrage, Antragsdaten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731520" y="438912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EEF4E8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4389120"/>
            <a:ext cx="17373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Externe Korreferenten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/ Rolle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 flipV="1">
            <a:off x="2468880" y="3840480"/>
            <a:ext cx="1737360" cy="745236"/>
          </a:xfrm>
          <a:prstGeom prst="line">
            <a:avLst/>
          </a:prstGeom>
          <a:noFill/>
          <a:ln w="15875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 flipV="1">
            <a:off x="2468880" y="3931920"/>
            <a:ext cx="1737360" cy="763524"/>
          </a:xfrm>
          <a:prstGeom prst="line">
            <a:avLst/>
          </a:prstGeom>
          <a:noFill/>
          <a:ln w="15875">
            <a:solidFill>
              <a:srgbClr val="4A7FB5"/>
            </a:solidFill>
            <a:prstDash val="solid"/>
            <a:headEnd type="triangle"/>
          </a:ln>
        </p:spPr>
      </p:sp>
      <p:sp>
        <p:nvSpPr>
          <p:cNvPr id="28" name="Text 26"/>
          <p:cNvSpPr txBox="1"/>
          <p:nvPr/>
        </p:nvSpPr>
        <p:spPr>
          <a:xfrm>
            <a:off x="2606040" y="4053078"/>
            <a:ext cx="1463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9D1C9"/>
            </a:solidFill>
          </a:ln>
        </p:spPr>
        <p:txBody>
          <a:bodyPr wrap="square" lIns="381" tIns="381" rIns="381" bIns="381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Zusage, Qualifikationsnachweis, Urkundenkopie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Einladungslink (ohne THM-Konto), Antragsdaten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7726680" y="123444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EEF4E8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26680" y="1234440"/>
            <a:ext cx="17373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Sekretariat / Dekanat MND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/ Rolle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 flipV="1">
            <a:off x="6035040" y="1431036"/>
            <a:ext cx="1691640" cy="1449324"/>
          </a:xfrm>
          <a:prstGeom prst="line">
            <a:avLst/>
          </a:prstGeom>
          <a:noFill/>
          <a:ln w="15875">
            <a:solidFill>
              <a:srgbClr val="2C5F2D"/>
            </a:solidFill>
            <a:prstDash val="solid"/>
            <a:headEnd type="triangle"/>
          </a:ln>
        </p:spPr>
      </p:sp>
      <p:sp>
        <p:nvSpPr>
          <p:cNvPr id="32" name="Shape 30"/>
          <p:cNvSpPr/>
          <p:nvPr/>
        </p:nvSpPr>
        <p:spPr>
          <a:xfrm flipV="1">
            <a:off x="6035040" y="1540764"/>
            <a:ext cx="1691640" cy="1431036"/>
          </a:xfrm>
          <a:prstGeom prst="line">
            <a:avLst/>
          </a:prstGeom>
          <a:noFill/>
          <a:ln w="15875">
            <a:solidFill>
              <a:srgbClr val="4A7FB5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6172200" y="1995678"/>
            <a:ext cx="1463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9D1C9"/>
            </a:solidFill>
          </a:ln>
        </p:spPr>
        <p:txBody>
          <a:bodyPr wrap="square" lIns="381" tIns="381" rIns="381" bIns="381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Ergebnis formale Prüfung, Fristprüfung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Prüfliste, Antragsdaten, Fristenübersicht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7726680" y="228600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EEF4E8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726680" y="2286000"/>
            <a:ext cx="17373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Prüfungsausschuss-Vorsitz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/ Rolle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 flipV="1">
            <a:off x="6035040" y="2482596"/>
            <a:ext cx="1691640" cy="717804"/>
          </a:xfrm>
          <a:prstGeom prst="line">
            <a:avLst/>
          </a:prstGeom>
          <a:noFill/>
          <a:ln w="15875">
            <a:solidFill>
              <a:srgbClr val="2C5F2D"/>
            </a:solidFill>
            <a:prstDash val="solid"/>
            <a:headEnd type="triangle"/>
          </a:ln>
        </p:spPr>
      </p:sp>
      <p:sp>
        <p:nvSpPr>
          <p:cNvPr id="37" name="Shape 35"/>
          <p:cNvSpPr/>
          <p:nvPr/>
        </p:nvSpPr>
        <p:spPr>
          <a:xfrm flipV="1">
            <a:off x="6035040" y="2592324"/>
            <a:ext cx="1691640" cy="699516"/>
          </a:xfrm>
          <a:prstGeom prst="line">
            <a:avLst/>
          </a:prstGeom>
          <a:noFill/>
          <a:ln w="15875">
            <a:solidFill>
              <a:srgbClr val="4A7FB5"/>
            </a:solidFill>
            <a:prstDash val="solid"/>
            <a:tailEnd type="triangle"/>
          </a:ln>
        </p:spPr>
      </p:sp>
      <p:sp>
        <p:nvSpPr>
          <p:cNvPr id="38" name="Text 36"/>
          <p:cNvSpPr txBox="1"/>
          <p:nvPr/>
        </p:nvSpPr>
        <p:spPr>
          <a:xfrm>
            <a:off x="6172200" y="2681478"/>
            <a:ext cx="1463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9D1C9"/>
            </a:solidFill>
          </a:ln>
        </p:spPr>
        <p:txBody>
          <a:bodyPr wrap="square" lIns="381" tIns="381" rIns="381" bIns="381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Entscheidung Zulassung und ext. Prüfer, Begründung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Entscheidungsvorlage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7726680" y="333756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EEF4E8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726680" y="3337560"/>
            <a:ext cx="17373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Studienausschuss WI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/ Rolle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035040" y="3520440"/>
            <a:ext cx="1691640" cy="13716"/>
          </a:xfrm>
          <a:prstGeom prst="line">
            <a:avLst/>
          </a:prstGeom>
          <a:noFill/>
          <a:ln w="15875">
            <a:solidFill>
              <a:srgbClr val="2C5F2D"/>
            </a:solidFill>
            <a:prstDash val="solid"/>
            <a:headEnd type="triangle"/>
          </a:ln>
        </p:spPr>
      </p:sp>
      <p:sp>
        <p:nvSpPr>
          <p:cNvPr id="42" name="Shape 40"/>
          <p:cNvSpPr/>
          <p:nvPr/>
        </p:nvSpPr>
        <p:spPr>
          <a:xfrm>
            <a:off x="6035040" y="3611880"/>
            <a:ext cx="1691640" cy="32004"/>
          </a:xfrm>
          <a:prstGeom prst="line">
            <a:avLst/>
          </a:prstGeom>
          <a:noFill/>
          <a:ln w="15875">
            <a:solidFill>
              <a:srgbClr val="4A7FB5"/>
            </a:solidFill>
            <a:prstDash val="solid"/>
            <a:tailEnd type="triangle"/>
          </a:ln>
        </p:spPr>
      </p:sp>
      <p:sp>
        <p:nvSpPr>
          <p:cNvPr id="43" name="Text 41"/>
          <p:cNvSpPr txBox="1"/>
          <p:nvPr/>
        </p:nvSpPr>
        <p:spPr>
          <a:xfrm>
            <a:off x="6172200" y="3367278"/>
            <a:ext cx="1463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9D1C9"/>
            </a:solidFill>
          </a:ln>
        </p:spPr>
        <p:txBody>
          <a:bodyPr wrap="square" lIns="381" tIns="381" rIns="381" bIns="381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Entscheidung Verlängerung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Verlängerungsantrag mit Befürwortung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7726680" y="438912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8A968A"/>
            </a:solidFill>
            <a:prstDash val="dash"/>
          </a:ln>
        </p:spPr>
      </p:sp>
      <p:sp>
        <p:nvSpPr>
          <p:cNvPr id="45" name="Text 43"/>
          <p:cNvSpPr txBox="1"/>
          <p:nvPr/>
        </p:nvSpPr>
        <p:spPr>
          <a:xfrm>
            <a:off x="7726680" y="4389120"/>
            <a:ext cx="17373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E-Mail-Dienst THM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im Betrieb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035040" y="3840480"/>
            <a:ext cx="1691640" cy="745236"/>
          </a:xfrm>
          <a:prstGeom prst="line">
            <a:avLst/>
          </a:prstGeom>
          <a:noFill/>
          <a:ln w="15875">
            <a:solidFill>
              <a:srgbClr val="2C5F2D"/>
            </a:solidFill>
            <a:prstDash val="solid"/>
            <a:headEnd type="triangle"/>
          </a:ln>
        </p:spPr>
      </p:sp>
      <p:sp>
        <p:nvSpPr>
          <p:cNvPr id="47" name="Shape 45"/>
          <p:cNvSpPr/>
          <p:nvPr/>
        </p:nvSpPr>
        <p:spPr>
          <a:xfrm>
            <a:off x="6035040" y="3931920"/>
            <a:ext cx="1691640" cy="763524"/>
          </a:xfrm>
          <a:prstGeom prst="line">
            <a:avLst/>
          </a:prstGeom>
          <a:noFill/>
          <a:ln w="15875">
            <a:solidFill>
              <a:srgbClr val="4A7FB5"/>
            </a:solidFill>
            <a:prstDash val="solid"/>
            <a:tailEnd type="triangle"/>
          </a:ln>
        </p:spPr>
      </p:sp>
      <p:sp>
        <p:nvSpPr>
          <p:cNvPr id="48" name="Text 46"/>
          <p:cNvSpPr txBox="1"/>
          <p:nvPr/>
        </p:nvSpPr>
        <p:spPr>
          <a:xfrm>
            <a:off x="6172200" y="4053078"/>
            <a:ext cx="1463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9D1C9"/>
            </a:solidFill>
          </a:ln>
        </p:spPr>
        <p:txBody>
          <a:bodyPr wrap="square" lIns="381" tIns="381" rIns="381" bIns="381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Zustellstatus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Benachrichtigungen, Einladungen, Bescheide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4251960" y="118872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8A968A"/>
            </a:solidFill>
            <a:prstDash val="dash"/>
          </a:ln>
        </p:spPr>
      </p:sp>
      <p:sp>
        <p:nvSpPr>
          <p:cNvPr id="50" name="Text 48"/>
          <p:cNvSpPr txBox="1"/>
          <p:nvPr/>
        </p:nvSpPr>
        <p:spPr>
          <a:xfrm>
            <a:off x="4251960" y="1188720"/>
            <a:ext cx="17373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THM-Login (SSO)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im Betrieb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029200" y="1691640"/>
            <a:ext cx="914" cy="1097280"/>
          </a:xfrm>
          <a:prstGeom prst="line">
            <a:avLst/>
          </a:prstGeom>
          <a:noFill/>
          <a:ln w="15875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 flipV="1">
            <a:off x="5212080" y="1691640"/>
            <a:ext cx="914" cy="1097280"/>
          </a:xfrm>
          <a:prstGeom prst="line">
            <a:avLst/>
          </a:prstGeom>
          <a:noFill/>
          <a:ln w="15875">
            <a:solidFill>
              <a:srgbClr val="4A7FB5"/>
            </a:solidFill>
            <a:prstDash val="solid"/>
            <a:tailEnd type="triangle"/>
          </a:ln>
        </p:spPr>
      </p:sp>
      <p:sp>
        <p:nvSpPr>
          <p:cNvPr id="53" name="Text 51"/>
          <p:cNvSpPr txBox="1"/>
          <p:nvPr/>
        </p:nvSpPr>
        <p:spPr>
          <a:xfrm>
            <a:off x="5303520" y="2011680"/>
            <a:ext cx="1371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9D1C9"/>
            </a:solidFill>
          </a:ln>
        </p:spPr>
        <p:txBody>
          <a:bodyPr wrap="square" lIns="381" tIns="381" rIns="381" bIns="381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Identität, Rolle, Matrikelnummer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Authentifizierungsanfrage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2148840" y="534924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2C5F2D"/>
            </a:solidFill>
            <a:prstDash val="sysDot"/>
          </a:ln>
        </p:spPr>
      </p:sp>
      <p:sp>
        <p:nvSpPr>
          <p:cNvPr id="55" name="Text 53"/>
          <p:cNvSpPr txBox="1"/>
          <p:nvPr/>
        </p:nvSpPr>
        <p:spPr>
          <a:xfrm>
            <a:off x="2148840" y="5349240"/>
            <a:ext cx="17373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Prüfungsordnungen / Allg. Best.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 flipV="1">
            <a:off x="3017520" y="3977640"/>
            <a:ext cx="1508760" cy="1371600"/>
          </a:xfrm>
          <a:prstGeom prst="line">
            <a:avLst/>
          </a:prstGeom>
          <a:noFill/>
          <a:ln w="15875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4251960" y="534924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2C5F2D"/>
            </a:solidFill>
            <a:prstDash val="sysDot"/>
          </a:ln>
        </p:spPr>
      </p:sp>
      <p:sp>
        <p:nvSpPr>
          <p:cNvPr id="58" name="Text 56"/>
          <p:cNvSpPr txBox="1"/>
          <p:nvPr/>
        </p:nvSpPr>
        <p:spPr>
          <a:xfrm>
            <a:off x="4251960" y="5349240"/>
            <a:ext cx="17373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Studierendenakte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5120640" y="3977640"/>
            <a:ext cx="0" cy="1371600"/>
          </a:xfrm>
          <a:prstGeom prst="line">
            <a:avLst/>
          </a:prstGeom>
          <a:noFill/>
          <a:ln w="15875">
            <a:solidFill>
              <a:srgbClr val="4A7FB5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6355080" y="534924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FFF7E0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355080" y="5349240"/>
            <a:ext cx="17373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Fristablauf / Rückgabefrist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Ereignis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5715000" y="3977640"/>
            <a:ext cx="1508760" cy="1371600"/>
          </a:xfrm>
          <a:prstGeom prst="line">
            <a:avLst/>
          </a:prstGeom>
          <a:noFill/>
          <a:ln w="15875">
            <a:solidFill>
              <a:srgbClr val="2C5F2D"/>
            </a:solidFill>
            <a:prstDash val="solid"/>
            <a:headEnd type="triangle"/>
          </a:ln>
        </p:spPr>
      </p:sp>
      <p:sp>
        <p:nvSpPr>
          <p:cNvPr id="63" name="Text 61"/>
          <p:cNvSpPr txBox="1"/>
          <p:nvPr/>
        </p:nvSpPr>
        <p:spPr>
          <a:xfrm>
            <a:off x="2743200" y="4572000"/>
            <a:ext cx="14173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9D1C9"/>
            </a:solidFill>
          </a:ln>
        </p:spPr>
        <p:txBody>
          <a:bodyPr wrap="square" lIns="381" tIns="381" rIns="381" bIns="381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Zulassungsregeln, Fristen (Konfiguration)</a:t>
            </a:r>
            <a:endParaRPr lang="en-US" sz="700" dirty="0"/>
          </a:p>
        </p:txBody>
      </p:sp>
      <p:sp>
        <p:nvSpPr>
          <p:cNvPr id="64" name="Text 62"/>
          <p:cNvSpPr txBox="1"/>
          <p:nvPr/>
        </p:nvSpPr>
        <p:spPr>
          <a:xfrm>
            <a:off x="5074920" y="4709160"/>
            <a:ext cx="1371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9D1C9"/>
            </a:solidFill>
          </a:ln>
        </p:spPr>
        <p:txBody>
          <a:bodyPr wrap="square" lIns="381" tIns="381" rIns="381" bIns="381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abgeschlossener Vorgang als Akten-PDF</a:t>
            </a:r>
            <a:endParaRPr lang="en-US" sz="700" dirty="0"/>
          </a:p>
        </p:txBody>
      </p:sp>
      <p:sp>
        <p:nvSpPr>
          <p:cNvPr id="65" name="Text 63"/>
          <p:cNvSpPr txBox="1"/>
          <p:nvPr/>
        </p:nvSpPr>
        <p:spPr>
          <a:xfrm>
            <a:off x="6629400" y="4572000"/>
            <a:ext cx="14173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9D1C9"/>
            </a:solidFill>
          </a:ln>
        </p:spPr>
        <p:txBody>
          <a:bodyPr wrap="square" lIns="381" tIns="381" rIns="381" bIns="381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Abgabetermin erreicht, 4-Wochen-Frist Themenrückgabe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10012680" y="960120"/>
            <a:ext cx="1737360" cy="516636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9D1C9"/>
            </a:solidFill>
            <a:prstDash val="sysDot"/>
          </a:ln>
        </p:spPr>
      </p:sp>
      <p:sp>
        <p:nvSpPr>
          <p:cNvPr id="67" name="Text 65"/>
          <p:cNvSpPr txBox="1"/>
          <p:nvPr/>
        </p:nvSpPr>
        <p:spPr>
          <a:xfrm>
            <a:off x="10104120" y="106984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Grauzone</a:t>
            </a:r>
            <a:endParaRPr lang="en-US" sz="950" dirty="0"/>
          </a:p>
          <a:p>
            <a:pPr indent="0" marL="0">
              <a:buNone/>
            </a:pPr>
            <a:r>
              <a:rPr lang="en-US" sz="750" dirty="0">
                <a:solidFill>
                  <a:srgbClr val="8A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Beziehung zum System noch offen (Kontextabgrenzung)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10122408" y="1737360"/>
            <a:ext cx="1517904" cy="960120"/>
          </a:xfrm>
          <a:prstGeom prst="roundRect">
            <a:avLst>
              <a:gd name="adj" fmla="val 5714"/>
            </a:avLst>
          </a:prstGeom>
          <a:solidFill>
            <a:srgbClr val="F5F7F4"/>
          </a:solidFill>
          <a:ln w="9525">
            <a:solidFill>
              <a:srgbClr val="C9D1C9"/>
            </a:solidFill>
            <a:prstDash val="dash"/>
          </a:ln>
        </p:spPr>
      </p:sp>
      <p:sp>
        <p:nvSpPr>
          <p:cNvPr id="69" name="Text 67"/>
          <p:cNvSpPr txBox="1"/>
          <p:nvPr/>
        </p:nvSpPr>
        <p:spPr>
          <a:xfrm>
            <a:off x="10177272" y="1773936"/>
            <a:ext cx="140817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Prüfungsverwaltung THM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8A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Modulstand für die Zulassungsprüfung: manuell oder Schnittstelle?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10122408" y="2816352"/>
            <a:ext cx="1517904" cy="960120"/>
          </a:xfrm>
          <a:prstGeom prst="roundRect">
            <a:avLst>
              <a:gd name="adj" fmla="val 5714"/>
            </a:avLst>
          </a:prstGeom>
          <a:solidFill>
            <a:srgbClr val="F5F7F4"/>
          </a:solidFill>
          <a:ln w="9525">
            <a:solidFill>
              <a:srgbClr val="C9D1C9"/>
            </a:solidFill>
            <a:prstDash val="dash"/>
          </a:ln>
        </p:spPr>
      </p:sp>
      <p:sp>
        <p:nvSpPr>
          <p:cNvPr id="71" name="Text 69"/>
          <p:cNvSpPr txBox="1"/>
          <p:nvPr/>
        </p:nvSpPr>
        <p:spPr>
          <a:xfrm>
            <a:off x="10177272" y="2852928"/>
            <a:ext cx="140817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Unternehmen der Studierenden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8A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bei externer Thesis und Verlängerung: nur Datenfeld oder Beteiligter?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10122408" y="3895344"/>
            <a:ext cx="1517904" cy="960120"/>
          </a:xfrm>
          <a:prstGeom prst="roundRect">
            <a:avLst>
              <a:gd name="adj" fmla="val 5714"/>
            </a:avLst>
          </a:prstGeom>
          <a:solidFill>
            <a:srgbClr val="F5F7F4"/>
          </a:solidFill>
          <a:ln w="9525">
            <a:solidFill>
              <a:srgbClr val="C9D1C9"/>
            </a:solidFill>
            <a:prstDash val="dash"/>
          </a:ln>
        </p:spPr>
      </p:sp>
      <p:sp>
        <p:nvSpPr>
          <p:cNvPr id="73" name="Text 71"/>
          <p:cNvSpPr txBox="1"/>
          <p:nvPr/>
        </p:nvSpPr>
        <p:spPr>
          <a:xfrm>
            <a:off x="10177272" y="3931920"/>
            <a:ext cx="140817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Moodle / Lernplattform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8A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Kolloquium und Betreuung laufen dort, nicht im Portal?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10122408" y="4974336"/>
            <a:ext cx="1517904" cy="960120"/>
          </a:xfrm>
          <a:prstGeom prst="roundRect">
            <a:avLst>
              <a:gd name="adj" fmla="val 5714"/>
            </a:avLst>
          </a:prstGeom>
          <a:solidFill>
            <a:srgbClr val="F5F7F4"/>
          </a:solidFill>
          <a:ln w="9525">
            <a:solidFill>
              <a:srgbClr val="C9D1C9"/>
            </a:solidFill>
            <a:prstDash val="dash"/>
          </a:ln>
        </p:spPr>
      </p:sp>
      <p:sp>
        <p:nvSpPr>
          <p:cNvPr id="75" name="Text 73"/>
          <p:cNvSpPr txBox="1"/>
          <p:nvPr/>
        </p:nvSpPr>
        <p:spPr>
          <a:xfrm>
            <a:off x="10177272" y="5010912"/>
            <a:ext cx="140817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Postadresse / Papierakte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8A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Entfällt in der Soll-Perspektive, falls Akte digital geführt wird.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457200" y="6309360"/>
            <a:ext cx="292608" cy="182880"/>
          </a:xfrm>
          <a:prstGeom prst="roundRect">
            <a:avLst>
              <a:gd name="adj" fmla="val 20000"/>
            </a:avLst>
          </a:prstGeom>
          <a:solidFill>
            <a:srgbClr val="EEF4E8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804672" y="6263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/ Rolle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1828800" y="6309360"/>
            <a:ext cx="292608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8A968A"/>
            </a:solidFill>
            <a:prstDash val="dash"/>
          </a:ln>
        </p:spPr>
      </p:sp>
      <p:sp>
        <p:nvSpPr>
          <p:cNvPr id="79" name="Text 77"/>
          <p:cNvSpPr txBox="1"/>
          <p:nvPr/>
        </p:nvSpPr>
        <p:spPr>
          <a:xfrm>
            <a:off x="2176272" y="6263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im Betrieb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3291840" y="6309360"/>
            <a:ext cx="292608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C5F2D"/>
            </a:solidFill>
            <a:prstDash val="sysDot"/>
          </a:ln>
        </p:spPr>
      </p:sp>
      <p:sp>
        <p:nvSpPr>
          <p:cNvPr id="81" name="Text 79"/>
          <p:cNvSpPr txBox="1"/>
          <p:nvPr/>
        </p:nvSpPr>
        <p:spPr>
          <a:xfrm>
            <a:off x="3639312" y="6263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4389120" y="6309360"/>
            <a:ext cx="292608" cy="182880"/>
          </a:xfrm>
          <a:prstGeom prst="roundRect">
            <a:avLst>
              <a:gd name="adj" fmla="val 20000"/>
            </a:avLst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4736592" y="6263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Ereignis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5486400" y="6400800"/>
            <a:ext cx="365760" cy="914"/>
          </a:xfrm>
          <a:prstGeom prst="line">
            <a:avLst/>
          </a:prstGeom>
          <a:noFill/>
          <a:ln w="15875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85" name="Text 83"/>
          <p:cNvSpPr txBox="1"/>
          <p:nvPr/>
        </p:nvSpPr>
        <p:spPr>
          <a:xfrm>
            <a:off x="5897880" y="6263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in das System (Quelle)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7498080" y="6400800"/>
            <a:ext cx="365760" cy="914"/>
          </a:xfrm>
          <a:prstGeom prst="line">
            <a:avLst/>
          </a:prstGeom>
          <a:noFill/>
          <a:ln w="15875">
            <a:solidFill>
              <a:srgbClr val="4A7FB5"/>
            </a:solidFill>
            <a:prstDash val="solid"/>
            <a:headEnd type="triangle"/>
          </a:ln>
        </p:spPr>
      </p:sp>
      <p:sp>
        <p:nvSpPr>
          <p:cNvPr id="87" name="Text 85"/>
          <p:cNvSpPr txBox="1"/>
          <p:nvPr/>
        </p:nvSpPr>
        <p:spPr>
          <a:xfrm>
            <a:off x="7909560" y="6263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aus dem System (Senke)</a:t>
            </a:r>
            <a:endParaRPr lang="en-US" sz="750" dirty="0"/>
          </a:p>
        </p:txBody>
      </p:sp>
      <p:sp>
        <p:nvSpPr>
          <p:cNvPr id="88" name="Text 86"/>
          <p:cNvSpPr txBox="1"/>
          <p:nvPr/>
        </p:nvSpPr>
        <p:spPr>
          <a:xfrm>
            <a:off x="9601200" y="62636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A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Quellen: Zulassungsantrag WS23/24, Anlage ext. Prüfer, PO B.Sc./M.Sc. WI 2024, Vorlesung Kap. 2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Kontextdiagramm ThesisFlow</dc:title>
  <dc:subject>PptxGenJS Presentation</dc:subject>
  <dc:creator>PptxGenJS</dc:creator>
  <cp:lastModifiedBy>PptxGenJS</cp:lastModifiedBy>
  <cp:revision>1</cp:revision>
  <dcterms:created xsi:type="dcterms:W3CDTF">2026-09-30T11:13:59Z</dcterms:created>
  <dcterms:modified xsi:type="dcterms:W3CDTF">2026-09-30T11:13:59Z</dcterms:modified>
</cp:coreProperties>
</file>