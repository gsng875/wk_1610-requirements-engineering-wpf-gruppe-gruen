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9" r:id="rId4"/>
    <p:sldId id="258" r:id="rId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310"/>
    <p:restoredTop sz="94646"/>
  </p:normalViewPr>
  <p:slideViewPr>
    <p:cSldViewPr snapToGrid="0" snapToObjects="1">
      <p:cViewPr varScale="1">
        <p:scale>
          <a:sx n="103" d="100"/>
          <a:sy n="103" d="100"/>
        </p:scale>
        <p:origin x="560" y="18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jpg"/><Relationship Id="rId3" Type="http://schemas.openxmlformats.org/officeDocument/2006/relationships/image" Target="../media/image2.jpg"/><Relationship Id="rId7" Type="http://schemas.openxmlformats.org/officeDocument/2006/relationships/image" Target="../media/image6.jp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jpg"/><Relationship Id="rId11" Type="http://schemas.openxmlformats.org/officeDocument/2006/relationships/image" Target="../media/image10.jpeg"/><Relationship Id="rId5" Type="http://schemas.openxmlformats.org/officeDocument/2006/relationships/image" Target="../media/image4.jpg"/><Relationship Id="rId10" Type="http://schemas.openxmlformats.org/officeDocument/2006/relationships/image" Target="../media/image9.jpg"/><Relationship Id="rId4" Type="http://schemas.openxmlformats.org/officeDocument/2006/relationships/image" Target="../media/image3.jpg"/><Relationship Id="rId9" Type="http://schemas.openxmlformats.org/officeDocument/2006/relationships/image" Target="../media/image8.jp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4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502920" y="310896"/>
            <a:ext cx="274320" cy="274320"/>
          </a:xfrm>
          <a:prstGeom prst="roundRect">
            <a:avLst/>
          </a:prstGeom>
          <a:solidFill>
            <a:srgbClr val="1F60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310896"/>
            <a:ext cx="274320" cy="2743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tf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1248" y="292608"/>
            <a:ext cx="1463040" cy="310896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700" b="1">
                <a:solidFill>
                  <a:srgbClr val="1D342A"/>
                </a:solidFill>
                <a:latin typeface="Aptos"/>
              </a:rPr>
              <a:t>ThesisFlow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731520"/>
            <a:ext cx="2331720" cy="1828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900" b="1">
                <a:solidFill>
                  <a:srgbClr val="1F6046"/>
                </a:solidFill>
                <a:latin typeface="Aptos"/>
              </a:rPr>
              <a:t>DIALOGLANDKARTE / SITEMAP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941832"/>
            <a:ext cx="4754880" cy="310896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2100" b="1">
                <a:solidFill>
                  <a:srgbClr val="1D342A"/>
                </a:solidFill>
                <a:latin typeface="Aptos"/>
              </a:rPr>
              <a:t>Prüfer-Anwendung: Themenfreigabe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271016"/>
            <a:ext cx="5486400" cy="20116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000" b="0">
                <a:solidFill>
                  <a:srgbClr val="5E6D65"/>
                </a:solidFill>
                <a:latin typeface="Aptos"/>
              </a:rPr>
              <a:t>Vom geschützten Login bis zur verbindlichen Entscheidung mit Verlauf.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33488" y="356616"/>
            <a:ext cx="4315968" cy="612648"/>
          </a:xfrm>
          <a:prstGeom prst="roundRect">
            <a:avLst/>
          </a:prstGeom>
          <a:solidFill>
            <a:srgbClr val="EEF4EB"/>
          </a:solidFill>
          <a:ln w="10160">
            <a:solidFill>
              <a:srgbClr val="EEF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479792" y="429768"/>
            <a:ext cx="1508760" cy="16459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850" b="1">
                <a:solidFill>
                  <a:srgbClr val="1F6046"/>
                </a:solidFill>
                <a:latin typeface="Aptos"/>
              </a:rPr>
              <a:t>Ziel aus dem Praxisteil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79792" y="621792"/>
            <a:ext cx="3950208" cy="1828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850" b="0">
                <a:solidFill>
                  <a:srgbClr val="1D342A"/>
                </a:solidFill>
                <a:latin typeface="Aptos"/>
              </a:rPr>
              <a:t>PDF-Antrag digitalisieren · webbasiertes Portal · Desktop &amp; Smartphone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30352" y="1554480"/>
            <a:ext cx="2606040" cy="16459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800" b="1">
                <a:solidFill>
                  <a:srgbClr val="5E6D65"/>
                </a:solidFill>
                <a:latin typeface="Aptos"/>
              </a:rPr>
              <a:t>Navigationsfluss in geprüfter Reihenfolge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49640" y="1554480"/>
            <a:ext cx="3063240" cy="16459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/>
            <a:r>
              <a:rPr sz="800" b="1">
                <a:solidFill>
                  <a:srgbClr val="5E6D65"/>
                </a:solidFill>
                <a:latin typeface="Aptos"/>
              </a:rPr>
              <a:t>Statuslogik: offen → gespeichert → endgültig entschieden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02920" y="1828800"/>
            <a:ext cx="2104948" cy="162763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8DF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557784" y="1883664"/>
            <a:ext cx="1995220" cy="1060704"/>
          </a:xfrm>
          <a:prstGeom prst="roundRect">
            <a:avLst/>
          </a:prstGeom>
          <a:solidFill>
            <a:srgbClr val="FAFBFA"/>
          </a:solidFill>
          <a:ln w="10160">
            <a:solidFill>
              <a:srgbClr val="D8DF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5" name="Picture 14" descr="b3275806-080e-448a-90ff-000e0a6275aa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9830" y="1892807"/>
            <a:ext cx="1851127" cy="1042415"/>
          </a:xfrm>
          <a:prstGeom prst="rect">
            <a:avLst/>
          </a:prstGeom>
        </p:spPr>
      </p:pic>
      <p:sp>
        <p:nvSpPr>
          <p:cNvPr id="16" name="Rounded Rectangle 15"/>
          <p:cNvSpPr/>
          <p:nvPr/>
        </p:nvSpPr>
        <p:spPr>
          <a:xfrm>
            <a:off x="576072" y="3008376"/>
            <a:ext cx="320040" cy="201168"/>
          </a:xfrm>
          <a:prstGeom prst="roundRect">
            <a:avLst/>
          </a:prstGeom>
          <a:solidFill>
            <a:srgbClr val="1F60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576072" y="3008376"/>
            <a:ext cx="320040" cy="20116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750" b="1">
                <a:solidFill>
                  <a:srgbClr val="FFFFFF"/>
                </a:solidFill>
                <a:latin typeface="Aptos"/>
              </a:rPr>
              <a:t>01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50976" y="2971800"/>
            <a:ext cx="1574596" cy="20116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930" b="1">
                <a:solidFill>
                  <a:srgbClr val="1D342A"/>
                </a:solidFill>
                <a:latin typeface="Aptos"/>
              </a:rPr>
              <a:t>Login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50976" y="3182112"/>
            <a:ext cx="1574596" cy="16459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770" b="0">
                <a:solidFill>
                  <a:srgbClr val="5E6D65"/>
                </a:solidFill>
                <a:latin typeface="Aptos"/>
              </a:rPr>
              <a:t>Rolle &amp; Zugriff prüfen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2772460" y="1828800"/>
            <a:ext cx="2104948" cy="162763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8DF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ounded Rectangle 20"/>
          <p:cNvSpPr/>
          <p:nvPr/>
        </p:nvSpPr>
        <p:spPr>
          <a:xfrm>
            <a:off x="2827324" y="1883664"/>
            <a:ext cx="1995220" cy="1060704"/>
          </a:xfrm>
          <a:prstGeom prst="roundRect">
            <a:avLst/>
          </a:prstGeom>
          <a:solidFill>
            <a:srgbClr val="FAFBFA"/>
          </a:solidFill>
          <a:ln w="10160">
            <a:solidFill>
              <a:srgbClr val="D8DF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2" name="Picture 21" descr="454f76dc-4943-4231-818d-16fdba9fca65.jpe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90032" y="1892807"/>
            <a:ext cx="1869804" cy="1042415"/>
          </a:xfrm>
          <a:prstGeom prst="rect">
            <a:avLst/>
          </a:prstGeom>
        </p:spPr>
      </p:pic>
      <p:sp>
        <p:nvSpPr>
          <p:cNvPr id="23" name="Rounded Rectangle 22"/>
          <p:cNvSpPr/>
          <p:nvPr/>
        </p:nvSpPr>
        <p:spPr>
          <a:xfrm>
            <a:off x="2845612" y="3008376"/>
            <a:ext cx="320040" cy="201168"/>
          </a:xfrm>
          <a:prstGeom prst="roundRect">
            <a:avLst/>
          </a:prstGeom>
          <a:solidFill>
            <a:srgbClr val="1F60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2845612" y="3008376"/>
            <a:ext cx="320040" cy="20116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750" b="1">
                <a:solidFill>
                  <a:srgbClr val="FFFFFF"/>
                </a:solidFill>
                <a:latin typeface="Aptos"/>
              </a:rPr>
              <a:t>02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220516" y="2971800"/>
            <a:ext cx="1574596" cy="20116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930" b="1">
                <a:solidFill>
                  <a:srgbClr val="1D342A"/>
                </a:solidFill>
                <a:latin typeface="Aptos"/>
              </a:rPr>
              <a:t>Meine Themen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220516" y="3182112"/>
            <a:ext cx="1574596" cy="16459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770" b="0">
                <a:solidFill>
                  <a:srgbClr val="5E6D65"/>
                </a:solidFill>
                <a:latin typeface="Aptos"/>
              </a:rPr>
              <a:t>zugeordnete Vorgänge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042001" y="1828800"/>
            <a:ext cx="2104948" cy="162763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8DF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ounded Rectangle 27"/>
          <p:cNvSpPr/>
          <p:nvPr/>
        </p:nvSpPr>
        <p:spPr>
          <a:xfrm>
            <a:off x="5096865" y="1883664"/>
            <a:ext cx="1995220" cy="1060704"/>
          </a:xfrm>
          <a:prstGeom prst="roundRect">
            <a:avLst/>
          </a:prstGeom>
          <a:solidFill>
            <a:srgbClr val="FAFBFA"/>
          </a:solidFill>
          <a:ln w="10160">
            <a:solidFill>
              <a:srgbClr val="D8DF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9" name="Picture 28" descr="fddcefb4-e5a2-4409-9778-24ad301381d1.jpe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59573" y="1892807"/>
            <a:ext cx="1869804" cy="1042415"/>
          </a:xfrm>
          <a:prstGeom prst="rect">
            <a:avLst/>
          </a:prstGeom>
        </p:spPr>
      </p:pic>
      <p:sp>
        <p:nvSpPr>
          <p:cNvPr id="30" name="Rounded Rectangle 29"/>
          <p:cNvSpPr/>
          <p:nvPr/>
        </p:nvSpPr>
        <p:spPr>
          <a:xfrm>
            <a:off x="5115153" y="3008376"/>
            <a:ext cx="320040" cy="201168"/>
          </a:xfrm>
          <a:prstGeom prst="roundRect">
            <a:avLst/>
          </a:prstGeom>
          <a:solidFill>
            <a:srgbClr val="1F60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5115153" y="3008376"/>
            <a:ext cx="320040" cy="20116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750" b="1">
                <a:solidFill>
                  <a:srgbClr val="FFFFFF"/>
                </a:solidFill>
                <a:latin typeface="Aptos"/>
              </a:rPr>
              <a:t>03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490057" y="2971800"/>
            <a:ext cx="1574596" cy="20116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930" b="1" dirty="0" err="1">
                <a:solidFill>
                  <a:srgbClr val="1D342A"/>
                </a:solidFill>
                <a:latin typeface="Aptos"/>
              </a:rPr>
              <a:t>Zugriffsregeln</a:t>
            </a:r>
            <a:endParaRPr sz="930" b="1" dirty="0">
              <a:solidFill>
                <a:srgbClr val="1D342A"/>
              </a:solidFill>
              <a:latin typeface="Aptos"/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5490057" y="3182112"/>
            <a:ext cx="1574596" cy="16459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770" b="0">
                <a:solidFill>
                  <a:srgbClr val="5E6D65"/>
                </a:solidFill>
                <a:latin typeface="Aptos"/>
              </a:rPr>
              <a:t>Voraussetzungen sichtbar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7311542" y="1828800"/>
            <a:ext cx="2104948" cy="162763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8DF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Rounded Rectangle 34"/>
          <p:cNvSpPr/>
          <p:nvPr/>
        </p:nvSpPr>
        <p:spPr>
          <a:xfrm>
            <a:off x="7366406" y="1883664"/>
            <a:ext cx="1995220" cy="1060704"/>
          </a:xfrm>
          <a:prstGeom prst="roundRect">
            <a:avLst/>
          </a:prstGeom>
          <a:solidFill>
            <a:srgbClr val="FAFBFA"/>
          </a:solidFill>
          <a:ln w="10160">
            <a:solidFill>
              <a:srgbClr val="D8DF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6" name="Picture 35" descr="1c283166-d105-455e-82f1-bddceabac86c.jpe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38453" y="1892807"/>
            <a:ext cx="1851127" cy="1042415"/>
          </a:xfrm>
          <a:prstGeom prst="rect">
            <a:avLst/>
          </a:prstGeom>
        </p:spPr>
      </p:pic>
      <p:sp>
        <p:nvSpPr>
          <p:cNvPr id="37" name="Rounded Rectangle 36"/>
          <p:cNvSpPr/>
          <p:nvPr/>
        </p:nvSpPr>
        <p:spPr>
          <a:xfrm>
            <a:off x="7384694" y="3008376"/>
            <a:ext cx="320040" cy="201168"/>
          </a:xfrm>
          <a:prstGeom prst="roundRect">
            <a:avLst/>
          </a:prstGeom>
          <a:solidFill>
            <a:srgbClr val="1F60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7384694" y="3008376"/>
            <a:ext cx="320040" cy="20116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750" b="1">
                <a:solidFill>
                  <a:srgbClr val="FFFFFF"/>
                </a:solidFill>
                <a:latin typeface="Aptos"/>
              </a:rPr>
              <a:t>04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759598" y="2971800"/>
            <a:ext cx="1574596" cy="20116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930" b="1">
                <a:solidFill>
                  <a:srgbClr val="1D342A"/>
                </a:solidFill>
                <a:latin typeface="Aptos"/>
              </a:rPr>
              <a:t>Thema prüfen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759598" y="3182112"/>
            <a:ext cx="1574596" cy="16459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770" b="0">
                <a:solidFill>
                  <a:srgbClr val="5E6D65"/>
                </a:solidFill>
                <a:latin typeface="Aptos"/>
              </a:rPr>
              <a:t>Details + Bewertung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9581083" y="1828800"/>
            <a:ext cx="2104948" cy="162763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8DF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Rounded Rectangle 41"/>
          <p:cNvSpPr/>
          <p:nvPr/>
        </p:nvSpPr>
        <p:spPr>
          <a:xfrm>
            <a:off x="9635947" y="1883664"/>
            <a:ext cx="1995220" cy="1060704"/>
          </a:xfrm>
          <a:prstGeom prst="roundRect">
            <a:avLst/>
          </a:prstGeom>
          <a:solidFill>
            <a:srgbClr val="FAFBFA"/>
          </a:solidFill>
          <a:ln w="10160">
            <a:solidFill>
              <a:srgbClr val="D8DF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3" name="Picture 42" descr="6db8887c-4bd6-40f0-a1ee-acf24379d41e.jpe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703866" y="1892807"/>
            <a:ext cx="1859381" cy="1042415"/>
          </a:xfrm>
          <a:prstGeom prst="rect">
            <a:avLst/>
          </a:prstGeom>
        </p:spPr>
      </p:pic>
      <p:sp>
        <p:nvSpPr>
          <p:cNvPr id="44" name="Rounded Rectangle 43"/>
          <p:cNvSpPr/>
          <p:nvPr/>
        </p:nvSpPr>
        <p:spPr>
          <a:xfrm>
            <a:off x="9654235" y="3008376"/>
            <a:ext cx="320040" cy="201168"/>
          </a:xfrm>
          <a:prstGeom prst="roundRect">
            <a:avLst/>
          </a:prstGeom>
          <a:solidFill>
            <a:srgbClr val="1F60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9654235" y="3008376"/>
            <a:ext cx="320040" cy="20116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750" b="1">
                <a:solidFill>
                  <a:srgbClr val="FFFFFF"/>
                </a:solidFill>
                <a:latin typeface="Aptos"/>
              </a:rPr>
              <a:t>05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0029139" y="2971800"/>
            <a:ext cx="1574596" cy="20116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930" b="1">
                <a:solidFill>
                  <a:srgbClr val="1D342A"/>
                </a:solidFill>
                <a:latin typeface="Aptos"/>
              </a:rPr>
              <a:t>Einschätzung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0029139" y="3182112"/>
            <a:ext cx="1574596" cy="16459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770" b="0">
                <a:solidFill>
                  <a:srgbClr val="5E6D65"/>
                </a:solidFill>
                <a:latin typeface="Aptos"/>
              </a:rPr>
              <a:t>Bewertung + Rückmeldung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502920" y="3867912"/>
            <a:ext cx="2104948" cy="162763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8DF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Rounded Rectangle 48"/>
          <p:cNvSpPr/>
          <p:nvPr/>
        </p:nvSpPr>
        <p:spPr>
          <a:xfrm>
            <a:off x="557784" y="3922776"/>
            <a:ext cx="1995220" cy="1060704"/>
          </a:xfrm>
          <a:prstGeom prst="roundRect">
            <a:avLst/>
          </a:prstGeom>
          <a:solidFill>
            <a:srgbClr val="FAFBFA"/>
          </a:solidFill>
          <a:ln w="10160">
            <a:solidFill>
              <a:srgbClr val="D8DF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0" name="Picture 49" descr="15f75533-1650-4cdf-8af5-e1415dc0af41(1).jpe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20492" y="3931920"/>
            <a:ext cx="1869804" cy="1042415"/>
          </a:xfrm>
          <a:prstGeom prst="rect">
            <a:avLst/>
          </a:prstGeom>
        </p:spPr>
      </p:pic>
      <p:sp>
        <p:nvSpPr>
          <p:cNvPr id="51" name="Rounded Rectangle 50"/>
          <p:cNvSpPr/>
          <p:nvPr/>
        </p:nvSpPr>
        <p:spPr>
          <a:xfrm>
            <a:off x="576072" y="5047488"/>
            <a:ext cx="320040" cy="201168"/>
          </a:xfrm>
          <a:prstGeom prst="roundRect">
            <a:avLst/>
          </a:prstGeom>
          <a:solidFill>
            <a:srgbClr val="1F60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TextBox 51"/>
          <p:cNvSpPr txBox="1"/>
          <p:nvPr/>
        </p:nvSpPr>
        <p:spPr>
          <a:xfrm>
            <a:off x="576072" y="5047488"/>
            <a:ext cx="320040" cy="20116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750" b="1">
                <a:solidFill>
                  <a:srgbClr val="FFFFFF"/>
                </a:solidFill>
                <a:latin typeface="Aptos"/>
              </a:rPr>
              <a:t>06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950976" y="5010912"/>
            <a:ext cx="1574596" cy="20116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930" b="1">
                <a:solidFill>
                  <a:srgbClr val="1D342A"/>
                </a:solidFill>
                <a:latin typeface="Aptos"/>
              </a:rPr>
              <a:t>Prüfkriterien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950976" y="5221224"/>
            <a:ext cx="1574596" cy="16459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770" b="0">
                <a:solidFill>
                  <a:srgbClr val="5E6D65"/>
                </a:solidFill>
                <a:latin typeface="Aptos"/>
              </a:rPr>
              <a:t>Pflichtfelder bestätigen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2772460" y="3867912"/>
            <a:ext cx="2104948" cy="162763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8DF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Rounded Rectangle 55"/>
          <p:cNvSpPr/>
          <p:nvPr/>
        </p:nvSpPr>
        <p:spPr>
          <a:xfrm>
            <a:off x="2827324" y="3922776"/>
            <a:ext cx="1995220" cy="1060704"/>
          </a:xfrm>
          <a:prstGeom prst="roundRect">
            <a:avLst/>
          </a:prstGeom>
          <a:solidFill>
            <a:srgbClr val="FAFBFA"/>
          </a:solidFill>
          <a:ln w="10160">
            <a:solidFill>
              <a:srgbClr val="D8DF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7" name="Picture 56" descr="a2c118b7-465d-451e-b7b1-e39135aaf924.jpe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884762" y="3931920"/>
            <a:ext cx="1880344" cy="1042415"/>
          </a:xfrm>
          <a:prstGeom prst="rect">
            <a:avLst/>
          </a:prstGeom>
        </p:spPr>
      </p:pic>
      <p:sp>
        <p:nvSpPr>
          <p:cNvPr id="58" name="Rounded Rectangle 57"/>
          <p:cNvSpPr/>
          <p:nvPr/>
        </p:nvSpPr>
        <p:spPr>
          <a:xfrm>
            <a:off x="2845612" y="5047488"/>
            <a:ext cx="320040" cy="201168"/>
          </a:xfrm>
          <a:prstGeom prst="roundRect">
            <a:avLst/>
          </a:prstGeom>
          <a:solidFill>
            <a:srgbClr val="1F60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TextBox 58"/>
          <p:cNvSpPr txBox="1"/>
          <p:nvPr/>
        </p:nvSpPr>
        <p:spPr>
          <a:xfrm>
            <a:off x="2845612" y="5047488"/>
            <a:ext cx="320040" cy="20116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750" b="1">
                <a:solidFill>
                  <a:srgbClr val="FFFFFF"/>
                </a:solidFill>
                <a:latin typeface="Aptos"/>
              </a:rPr>
              <a:t>07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3220516" y="5010912"/>
            <a:ext cx="1574596" cy="20116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930" b="1">
                <a:solidFill>
                  <a:srgbClr val="1D342A"/>
                </a:solidFill>
                <a:latin typeface="Aptos"/>
              </a:rPr>
              <a:t>Freigabe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3220516" y="5221224"/>
            <a:ext cx="1574596" cy="16459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770" b="0">
                <a:solidFill>
                  <a:srgbClr val="5E6D65"/>
                </a:solidFill>
                <a:latin typeface="Aptos"/>
              </a:rPr>
              <a:t>Entscheidung bestätigen</a:t>
            </a:r>
          </a:p>
        </p:txBody>
      </p:sp>
      <p:sp>
        <p:nvSpPr>
          <p:cNvPr id="62" name="Rounded Rectangle 61"/>
          <p:cNvSpPr/>
          <p:nvPr/>
        </p:nvSpPr>
        <p:spPr>
          <a:xfrm>
            <a:off x="5042001" y="3867912"/>
            <a:ext cx="2104948" cy="162763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8DF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3" name="Rounded Rectangle 62"/>
          <p:cNvSpPr/>
          <p:nvPr/>
        </p:nvSpPr>
        <p:spPr>
          <a:xfrm>
            <a:off x="5096865" y="3922776"/>
            <a:ext cx="1995220" cy="1060704"/>
          </a:xfrm>
          <a:prstGeom prst="roundRect">
            <a:avLst/>
          </a:prstGeom>
          <a:solidFill>
            <a:srgbClr val="FAFBFA"/>
          </a:solidFill>
          <a:ln w="10160">
            <a:solidFill>
              <a:srgbClr val="D8DF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64" name="Picture 63" descr="b9d6c36e-78fa-4a90-9f0e-3d558e0a8fd6.jpe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162707" y="3931920"/>
            <a:ext cx="1863536" cy="1042415"/>
          </a:xfrm>
          <a:prstGeom prst="rect">
            <a:avLst/>
          </a:prstGeom>
        </p:spPr>
      </p:pic>
      <p:sp>
        <p:nvSpPr>
          <p:cNvPr id="65" name="Rounded Rectangle 64"/>
          <p:cNvSpPr/>
          <p:nvPr/>
        </p:nvSpPr>
        <p:spPr>
          <a:xfrm>
            <a:off x="5115153" y="5047488"/>
            <a:ext cx="320040" cy="201168"/>
          </a:xfrm>
          <a:prstGeom prst="roundRect">
            <a:avLst/>
          </a:prstGeom>
          <a:solidFill>
            <a:srgbClr val="1F60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6" name="TextBox 65"/>
          <p:cNvSpPr txBox="1"/>
          <p:nvPr/>
        </p:nvSpPr>
        <p:spPr>
          <a:xfrm>
            <a:off x="5115153" y="5047488"/>
            <a:ext cx="320040" cy="20116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750" b="1">
                <a:solidFill>
                  <a:srgbClr val="FFFFFF"/>
                </a:solidFill>
                <a:latin typeface="Aptos"/>
              </a:rPr>
              <a:t>08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5490057" y="5010912"/>
            <a:ext cx="1574596" cy="20116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930" b="1">
                <a:solidFill>
                  <a:srgbClr val="1D342A"/>
                </a:solidFill>
                <a:latin typeface="Aptos"/>
              </a:rPr>
              <a:t>Ablehnung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5490057" y="5221224"/>
            <a:ext cx="1574596" cy="16459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770" b="0">
                <a:solidFill>
                  <a:srgbClr val="5E6D65"/>
                </a:solidFill>
                <a:latin typeface="Aptos"/>
              </a:rPr>
              <a:t>Alternative bestätigen</a:t>
            </a:r>
          </a:p>
        </p:txBody>
      </p:sp>
      <p:sp>
        <p:nvSpPr>
          <p:cNvPr id="69" name="Rounded Rectangle 68"/>
          <p:cNvSpPr/>
          <p:nvPr/>
        </p:nvSpPr>
        <p:spPr>
          <a:xfrm>
            <a:off x="7311542" y="3867912"/>
            <a:ext cx="2104948" cy="162763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8DF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0" name="Rounded Rectangle 69"/>
          <p:cNvSpPr/>
          <p:nvPr/>
        </p:nvSpPr>
        <p:spPr>
          <a:xfrm>
            <a:off x="7366406" y="3922776"/>
            <a:ext cx="1995220" cy="1060704"/>
          </a:xfrm>
          <a:prstGeom prst="roundRect">
            <a:avLst/>
          </a:prstGeom>
          <a:solidFill>
            <a:srgbClr val="FAFBFA"/>
          </a:solidFill>
          <a:ln w="10160">
            <a:solidFill>
              <a:srgbClr val="D8DF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71" name="Picture 70" descr="db305ce9-93fc-4a97-85a4-bf170a998a4c.jpe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430161" y="3931920"/>
            <a:ext cx="1867710" cy="1042415"/>
          </a:xfrm>
          <a:prstGeom prst="rect">
            <a:avLst/>
          </a:prstGeom>
        </p:spPr>
      </p:pic>
      <p:sp>
        <p:nvSpPr>
          <p:cNvPr id="72" name="Rounded Rectangle 71"/>
          <p:cNvSpPr/>
          <p:nvPr/>
        </p:nvSpPr>
        <p:spPr>
          <a:xfrm>
            <a:off x="7384694" y="5047488"/>
            <a:ext cx="320040" cy="201168"/>
          </a:xfrm>
          <a:prstGeom prst="roundRect">
            <a:avLst/>
          </a:prstGeom>
          <a:solidFill>
            <a:srgbClr val="1F60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3" name="TextBox 72"/>
          <p:cNvSpPr txBox="1"/>
          <p:nvPr/>
        </p:nvSpPr>
        <p:spPr>
          <a:xfrm>
            <a:off x="7384694" y="5047488"/>
            <a:ext cx="320040" cy="20116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750" b="1">
                <a:solidFill>
                  <a:srgbClr val="FFFFFF"/>
                </a:solidFill>
                <a:latin typeface="Aptos"/>
              </a:rPr>
              <a:t>09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7759598" y="5010912"/>
            <a:ext cx="1574596" cy="20116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930" b="1">
                <a:solidFill>
                  <a:srgbClr val="1D342A"/>
                </a:solidFill>
                <a:latin typeface="Aptos"/>
              </a:rPr>
              <a:t>Status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7759598" y="5221224"/>
            <a:ext cx="1574596" cy="16459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770" b="0">
                <a:solidFill>
                  <a:srgbClr val="5E6D65"/>
                </a:solidFill>
                <a:latin typeface="Aptos"/>
              </a:rPr>
              <a:t>Endentscheidung sichtbar</a:t>
            </a:r>
          </a:p>
        </p:txBody>
      </p:sp>
      <p:sp>
        <p:nvSpPr>
          <p:cNvPr id="76" name="Rounded Rectangle 75"/>
          <p:cNvSpPr/>
          <p:nvPr/>
        </p:nvSpPr>
        <p:spPr>
          <a:xfrm>
            <a:off x="9581083" y="3867912"/>
            <a:ext cx="2104948" cy="162763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8DF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7" name="Rounded Rectangle 76"/>
          <p:cNvSpPr/>
          <p:nvPr/>
        </p:nvSpPr>
        <p:spPr>
          <a:xfrm>
            <a:off x="9635947" y="3922776"/>
            <a:ext cx="1995220" cy="1060704"/>
          </a:xfrm>
          <a:prstGeom prst="roundRect">
            <a:avLst/>
          </a:prstGeom>
          <a:solidFill>
            <a:srgbClr val="FAFBFA"/>
          </a:solidFill>
          <a:ln w="10160">
            <a:solidFill>
              <a:srgbClr val="D8DF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9" name="Rounded Rectangle 78"/>
          <p:cNvSpPr/>
          <p:nvPr/>
        </p:nvSpPr>
        <p:spPr>
          <a:xfrm>
            <a:off x="9654235" y="5047488"/>
            <a:ext cx="320040" cy="201168"/>
          </a:xfrm>
          <a:prstGeom prst="roundRect">
            <a:avLst/>
          </a:prstGeom>
          <a:solidFill>
            <a:srgbClr val="1F60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0" name="TextBox 79"/>
          <p:cNvSpPr txBox="1"/>
          <p:nvPr/>
        </p:nvSpPr>
        <p:spPr>
          <a:xfrm>
            <a:off x="9654235" y="5047488"/>
            <a:ext cx="320040" cy="20116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750" b="1" dirty="0">
                <a:solidFill>
                  <a:srgbClr val="FFFFFF"/>
                </a:solidFill>
                <a:latin typeface="Aptos"/>
              </a:rPr>
              <a:t>10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10029139" y="4993772"/>
            <a:ext cx="716863" cy="235449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lang="de-DE" sz="930" b="1" dirty="0">
                <a:solidFill>
                  <a:srgbClr val="1D342A"/>
                </a:solidFill>
                <a:latin typeface="Aptos"/>
              </a:rPr>
              <a:t>Übersicht</a:t>
            </a:r>
            <a:endParaRPr sz="930" b="1" dirty="0">
              <a:solidFill>
                <a:srgbClr val="1D342A"/>
              </a:solidFill>
              <a:latin typeface="Aptos"/>
            </a:endParaRPr>
          </a:p>
        </p:txBody>
      </p:sp>
      <p:sp>
        <p:nvSpPr>
          <p:cNvPr id="82" name="TextBox 81"/>
          <p:cNvSpPr txBox="1"/>
          <p:nvPr/>
        </p:nvSpPr>
        <p:spPr>
          <a:xfrm>
            <a:off x="10029139" y="5138860"/>
            <a:ext cx="1495922" cy="329321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lang="de-DE" sz="770" dirty="0">
                <a:solidFill>
                  <a:srgbClr val="5E6D65"/>
                </a:solidFill>
                <a:latin typeface="Aptos"/>
              </a:rPr>
              <a:t>Angenommen oder abgelehnte</a:t>
            </a:r>
          </a:p>
          <a:p>
            <a:pPr algn="l"/>
            <a:r>
              <a:rPr lang="de-DE" sz="770" b="0" dirty="0">
                <a:solidFill>
                  <a:srgbClr val="5E6D65"/>
                </a:solidFill>
                <a:latin typeface="Aptos"/>
              </a:rPr>
              <a:t>Themen</a:t>
            </a:r>
            <a:endParaRPr sz="770" b="0" dirty="0">
              <a:solidFill>
                <a:srgbClr val="5E6D65"/>
              </a:solidFill>
              <a:latin typeface="Aptos"/>
            </a:endParaRPr>
          </a:p>
        </p:txBody>
      </p:sp>
      <p:cxnSp>
        <p:nvCxnSpPr>
          <p:cNvPr id="83" name="Connector 82"/>
          <p:cNvCxnSpPr/>
          <p:nvPr/>
        </p:nvCxnSpPr>
        <p:spPr>
          <a:xfrm>
            <a:off x="2626156" y="2624328"/>
            <a:ext cx="118872" cy="0"/>
          </a:xfrm>
          <a:prstGeom prst="line">
            <a:avLst/>
          </a:prstGeom>
          <a:ln w="17780">
            <a:solidFill>
              <a:srgbClr val="1F60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4" name="Connector 83"/>
          <p:cNvCxnSpPr/>
          <p:nvPr/>
        </p:nvCxnSpPr>
        <p:spPr>
          <a:xfrm>
            <a:off x="4895697" y="2624328"/>
            <a:ext cx="118872" cy="0"/>
          </a:xfrm>
          <a:prstGeom prst="line">
            <a:avLst/>
          </a:prstGeom>
          <a:ln w="17780">
            <a:solidFill>
              <a:srgbClr val="1F60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5" name="Connector 84"/>
          <p:cNvCxnSpPr/>
          <p:nvPr/>
        </p:nvCxnSpPr>
        <p:spPr>
          <a:xfrm>
            <a:off x="7165238" y="2624328"/>
            <a:ext cx="118872" cy="0"/>
          </a:xfrm>
          <a:prstGeom prst="line">
            <a:avLst/>
          </a:prstGeom>
          <a:ln w="17780">
            <a:solidFill>
              <a:srgbClr val="1F60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6" name="Connector 85"/>
          <p:cNvCxnSpPr/>
          <p:nvPr/>
        </p:nvCxnSpPr>
        <p:spPr>
          <a:xfrm>
            <a:off x="9434779" y="2624328"/>
            <a:ext cx="118872" cy="0"/>
          </a:xfrm>
          <a:prstGeom prst="line">
            <a:avLst/>
          </a:prstGeom>
          <a:ln w="17780">
            <a:solidFill>
              <a:srgbClr val="1F60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7" name="Connector 86"/>
          <p:cNvCxnSpPr/>
          <p:nvPr/>
        </p:nvCxnSpPr>
        <p:spPr>
          <a:xfrm>
            <a:off x="10633557" y="3493008"/>
            <a:ext cx="0" cy="292607"/>
          </a:xfrm>
          <a:prstGeom prst="line">
            <a:avLst/>
          </a:prstGeom>
          <a:ln w="17780">
            <a:solidFill>
              <a:srgbClr val="1F60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8" name="Connector 87"/>
          <p:cNvCxnSpPr/>
          <p:nvPr/>
        </p:nvCxnSpPr>
        <p:spPr>
          <a:xfrm>
            <a:off x="10633557" y="3493008"/>
            <a:ext cx="0" cy="201168"/>
          </a:xfrm>
          <a:prstGeom prst="line">
            <a:avLst/>
          </a:prstGeom>
          <a:ln w="17780">
            <a:solidFill>
              <a:srgbClr val="1F60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9" name="Connector 88"/>
          <p:cNvCxnSpPr/>
          <p:nvPr/>
        </p:nvCxnSpPr>
        <p:spPr>
          <a:xfrm flipH="1">
            <a:off x="1555394" y="3694176"/>
            <a:ext cx="9078163" cy="0"/>
          </a:xfrm>
          <a:prstGeom prst="line">
            <a:avLst/>
          </a:prstGeom>
          <a:ln w="17780">
            <a:solidFill>
              <a:srgbClr val="1F60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0" name="Connector 89"/>
          <p:cNvCxnSpPr/>
          <p:nvPr/>
        </p:nvCxnSpPr>
        <p:spPr>
          <a:xfrm>
            <a:off x="1555394" y="3694176"/>
            <a:ext cx="0" cy="100584"/>
          </a:xfrm>
          <a:prstGeom prst="line">
            <a:avLst/>
          </a:prstGeom>
          <a:ln w="17780">
            <a:solidFill>
              <a:srgbClr val="1F60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1" name="Connector 90"/>
          <p:cNvCxnSpPr/>
          <p:nvPr/>
        </p:nvCxnSpPr>
        <p:spPr>
          <a:xfrm>
            <a:off x="2626156" y="4663440"/>
            <a:ext cx="118872" cy="0"/>
          </a:xfrm>
          <a:prstGeom prst="line">
            <a:avLst/>
          </a:prstGeom>
          <a:ln w="17780">
            <a:solidFill>
              <a:srgbClr val="1F60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2" name="Connector 91"/>
          <p:cNvCxnSpPr/>
          <p:nvPr/>
        </p:nvCxnSpPr>
        <p:spPr>
          <a:xfrm>
            <a:off x="4895697" y="4663440"/>
            <a:ext cx="118872" cy="0"/>
          </a:xfrm>
          <a:prstGeom prst="line">
            <a:avLst/>
          </a:prstGeom>
          <a:ln w="17780">
            <a:solidFill>
              <a:srgbClr val="1F60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3" name="Connector 92"/>
          <p:cNvCxnSpPr/>
          <p:nvPr/>
        </p:nvCxnSpPr>
        <p:spPr>
          <a:xfrm>
            <a:off x="7165238" y="4663440"/>
            <a:ext cx="118872" cy="0"/>
          </a:xfrm>
          <a:prstGeom prst="line">
            <a:avLst/>
          </a:prstGeom>
          <a:ln w="17780">
            <a:solidFill>
              <a:srgbClr val="1F60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4" name="Connector 93"/>
          <p:cNvCxnSpPr/>
          <p:nvPr/>
        </p:nvCxnSpPr>
        <p:spPr>
          <a:xfrm>
            <a:off x="9434779" y="4663440"/>
            <a:ext cx="118872" cy="0"/>
          </a:xfrm>
          <a:prstGeom prst="line">
            <a:avLst/>
          </a:prstGeom>
          <a:ln w="17780">
            <a:solidFill>
              <a:srgbClr val="1F60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5" name="TextBox 94"/>
          <p:cNvSpPr txBox="1"/>
          <p:nvPr/>
        </p:nvSpPr>
        <p:spPr>
          <a:xfrm>
            <a:off x="685800" y="6199632"/>
            <a:ext cx="8641080" cy="1828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770" b="0">
                <a:solidFill>
                  <a:srgbClr val="5E6D65"/>
                </a:solidFill>
                <a:latin typeface="Aptos"/>
              </a:rPr>
              <a:t>Sitemap: /login  →  /themen  →  /zugriffsregeln  →  /themen/{id}/pruefen  →  /entscheidung  →  /verlauf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9189720" y="6199632"/>
            <a:ext cx="2468880" cy="1828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/>
            <a:r>
              <a:rPr sz="770" b="0">
                <a:solidFill>
                  <a:srgbClr val="5E6D65"/>
                </a:solidFill>
                <a:latin typeface="Aptos"/>
              </a:rPr>
              <a:t>Requirements Engineering · Gruppe Grün · Prototyp</a:t>
            </a:r>
          </a:p>
        </p:txBody>
      </p:sp>
      <p:pic>
        <p:nvPicPr>
          <p:cNvPr id="98" name="Grafik 97">
            <a:extLst>
              <a:ext uri="{FF2B5EF4-FFF2-40B4-BE49-F238E27FC236}">
                <a16:creationId xmlns:a16="http://schemas.microsoft.com/office/drawing/2014/main" id="{5E0DC51E-DCD1-21D0-704E-62E43E37014B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9756761" y="3973993"/>
            <a:ext cx="1806486" cy="1000342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Grafik 5">
            <a:extLst>
              <a:ext uri="{FF2B5EF4-FFF2-40B4-BE49-F238E27FC236}">
                <a16:creationId xmlns:a16="http://schemas.microsoft.com/office/drawing/2014/main" id="{9C911BE7-DA0E-4C6E-52D8-126DB72E32F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63627" y="0"/>
            <a:ext cx="6664745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9090759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502920" y="320040"/>
            <a:ext cx="292608" cy="292608"/>
          </a:xfrm>
          <a:prstGeom prst="roundRect">
            <a:avLst/>
          </a:prstGeom>
          <a:solidFill>
            <a:srgbClr val="1F60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292608" cy="29260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tf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59536" y="301752"/>
            <a:ext cx="1554480" cy="310896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700" b="1">
                <a:solidFill>
                  <a:srgbClr val="1D342A"/>
                </a:solidFill>
                <a:latin typeface="Aptos"/>
              </a:rPr>
              <a:t>ThesisFlow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749808"/>
            <a:ext cx="2468880" cy="1828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900" b="1">
                <a:solidFill>
                  <a:srgbClr val="1F6046"/>
                </a:solidFill>
                <a:latin typeface="Aptos"/>
              </a:rPr>
              <a:t>DIALOGLANDKARTE / SITEMAP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960120"/>
            <a:ext cx="5852160" cy="38404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2200" b="1">
                <a:solidFill>
                  <a:srgbClr val="1D342A"/>
                </a:solidFill>
                <a:latin typeface="Aptos"/>
              </a:rPr>
              <a:t>Aktivität: Verlängerungsantrag stellen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344168"/>
            <a:ext cx="6583680" cy="219456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000" b="0">
                <a:solidFill>
                  <a:srgbClr val="5C6C64"/>
                </a:solidFill>
                <a:latin typeface="Aptos"/>
              </a:rPr>
              <a:t>Klickpfad des Studierenden vom Start des Antrags bis zur Statusanzeige.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543800" y="365760"/>
            <a:ext cx="4069080" cy="658368"/>
          </a:xfrm>
          <a:prstGeom prst="roundRect">
            <a:avLst/>
          </a:prstGeom>
          <a:solidFill>
            <a:srgbClr val="EEF4EB"/>
          </a:solidFill>
          <a:ln w="11430">
            <a:solidFill>
              <a:srgbClr val="EEF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726679" y="438912"/>
            <a:ext cx="1280160" cy="16459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850" b="1">
                <a:solidFill>
                  <a:srgbClr val="1F6046"/>
                </a:solidFill>
                <a:latin typeface="Aptos"/>
              </a:rPr>
              <a:t>USER STORIES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26679" y="640080"/>
            <a:ext cx="3657600" cy="1828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830" b="0">
                <a:solidFill>
                  <a:srgbClr val="1D342A"/>
                </a:solidFill>
                <a:latin typeface="Aptos"/>
              </a:rPr>
              <a:t>5.3.1 Antrag starten  ·  5.3.2 Grund angeben  ·  5.3.3 Status sehen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2920" y="1874519"/>
            <a:ext cx="3154680" cy="3401568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D7DE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576072" y="1947672"/>
            <a:ext cx="3008376" cy="2395728"/>
          </a:xfrm>
          <a:prstGeom prst="roundRect">
            <a:avLst/>
          </a:prstGeom>
          <a:solidFill>
            <a:srgbClr val="FAFBFA"/>
          </a:solidFill>
          <a:ln w="11430">
            <a:solidFill>
              <a:srgbClr val="D7DE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14" name="Rounded Rectangle 13"/>
          <p:cNvSpPr/>
          <p:nvPr/>
        </p:nvSpPr>
        <p:spPr>
          <a:xfrm>
            <a:off x="612648" y="4462272"/>
            <a:ext cx="365760" cy="219456"/>
          </a:xfrm>
          <a:prstGeom prst="roundRect">
            <a:avLst/>
          </a:prstGeom>
          <a:solidFill>
            <a:srgbClr val="1F60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12648" y="4462272"/>
            <a:ext cx="365760" cy="219456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Aptos"/>
              </a:rPr>
              <a:t>01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69848" y="4416552"/>
            <a:ext cx="2459736" cy="25603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100" b="1">
                <a:solidFill>
                  <a:srgbClr val="1D342A"/>
                </a:solidFill>
                <a:latin typeface="Aptos"/>
              </a:rPr>
              <a:t>Antrag starten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9848" y="4690872"/>
            <a:ext cx="2459736" cy="34747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819" b="0">
                <a:solidFill>
                  <a:srgbClr val="5C6C64"/>
                </a:solidFill>
                <a:latin typeface="Aptos"/>
              </a:rPr>
              <a:t>Arbeit auswählen · Daten werden automatisch angezeigt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12648" y="5001768"/>
            <a:ext cx="685800" cy="1828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780" b="1">
                <a:solidFill>
                  <a:srgbClr val="1F6046"/>
                </a:solidFill>
                <a:latin typeface="Aptos"/>
              </a:rPr>
              <a:t>5.3.1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087368" y="1874519"/>
            <a:ext cx="3154680" cy="3401568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D7DE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ounded Rectangle 19"/>
          <p:cNvSpPr/>
          <p:nvPr/>
        </p:nvSpPr>
        <p:spPr>
          <a:xfrm>
            <a:off x="4160520" y="1947672"/>
            <a:ext cx="3008376" cy="2395728"/>
          </a:xfrm>
          <a:prstGeom prst="roundRect">
            <a:avLst/>
          </a:prstGeom>
          <a:solidFill>
            <a:srgbClr val="FAFBFA"/>
          </a:solidFill>
          <a:ln w="11430">
            <a:solidFill>
              <a:srgbClr val="D7DE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ounded Rectangle 21"/>
          <p:cNvSpPr/>
          <p:nvPr/>
        </p:nvSpPr>
        <p:spPr>
          <a:xfrm>
            <a:off x="4197096" y="4462272"/>
            <a:ext cx="365760" cy="219456"/>
          </a:xfrm>
          <a:prstGeom prst="roundRect">
            <a:avLst/>
          </a:prstGeom>
          <a:solidFill>
            <a:srgbClr val="1F60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4197096" y="4462272"/>
            <a:ext cx="365760" cy="219456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Aptos"/>
              </a:rPr>
              <a:t>02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654296" y="4416552"/>
            <a:ext cx="2459736" cy="25603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100" b="1">
                <a:solidFill>
                  <a:srgbClr val="1D342A"/>
                </a:solidFill>
                <a:latin typeface="Aptos"/>
              </a:rPr>
              <a:t>Grund angeben &amp; absenden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654296" y="4690872"/>
            <a:ext cx="2459736" cy="34747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819" b="0" dirty="0" err="1">
                <a:solidFill>
                  <a:srgbClr val="5C6C64"/>
                </a:solidFill>
                <a:latin typeface="Aptos"/>
              </a:rPr>
              <a:t>neuer</a:t>
            </a:r>
            <a:r>
              <a:rPr sz="819" b="0" dirty="0">
                <a:solidFill>
                  <a:srgbClr val="5C6C64"/>
                </a:solidFill>
                <a:latin typeface="Aptos"/>
              </a:rPr>
              <a:t> </a:t>
            </a:r>
            <a:r>
              <a:rPr sz="819" b="0" dirty="0" err="1">
                <a:solidFill>
                  <a:srgbClr val="5C6C64"/>
                </a:solidFill>
                <a:latin typeface="Aptos"/>
              </a:rPr>
              <a:t>Abgabetermin</a:t>
            </a:r>
            <a:r>
              <a:rPr sz="819" b="0" dirty="0">
                <a:solidFill>
                  <a:srgbClr val="5C6C64"/>
                </a:solidFill>
                <a:latin typeface="Aptos"/>
              </a:rPr>
              <a:t> </a:t>
            </a:r>
            <a:r>
              <a:rPr sz="819" b="0" dirty="0" err="1">
                <a:solidFill>
                  <a:srgbClr val="5C6C64"/>
                </a:solidFill>
                <a:latin typeface="Aptos"/>
              </a:rPr>
              <a:t>wird</a:t>
            </a:r>
            <a:r>
              <a:rPr sz="819" b="0" dirty="0">
                <a:solidFill>
                  <a:srgbClr val="5C6C64"/>
                </a:solidFill>
                <a:latin typeface="Aptos"/>
              </a:rPr>
              <a:t> </a:t>
            </a:r>
            <a:r>
              <a:rPr sz="819" b="0" dirty="0" err="1">
                <a:solidFill>
                  <a:srgbClr val="5C6C64"/>
                </a:solidFill>
                <a:latin typeface="Aptos"/>
              </a:rPr>
              <a:t>berechnet</a:t>
            </a:r>
            <a:r>
              <a:rPr sz="819" b="0" dirty="0">
                <a:solidFill>
                  <a:srgbClr val="5C6C64"/>
                </a:solidFill>
                <a:latin typeface="Aptos"/>
              </a:rPr>
              <a:t> · Grund </a:t>
            </a:r>
            <a:r>
              <a:rPr sz="819" b="0" dirty="0" err="1">
                <a:solidFill>
                  <a:srgbClr val="5C6C64"/>
                </a:solidFill>
                <a:latin typeface="Aptos"/>
              </a:rPr>
              <a:t>ist</a:t>
            </a:r>
            <a:r>
              <a:rPr sz="819" b="0" dirty="0">
                <a:solidFill>
                  <a:srgbClr val="5C6C64"/>
                </a:solidFill>
                <a:latin typeface="Aptos"/>
              </a:rPr>
              <a:t> </a:t>
            </a:r>
            <a:r>
              <a:rPr sz="819" b="0" dirty="0" err="1">
                <a:solidFill>
                  <a:srgbClr val="5C6C64"/>
                </a:solidFill>
                <a:latin typeface="Aptos"/>
              </a:rPr>
              <a:t>Pflicht</a:t>
            </a:r>
            <a:endParaRPr sz="819" b="0" dirty="0">
              <a:solidFill>
                <a:srgbClr val="5C6C64"/>
              </a:solidFill>
              <a:latin typeface="Aptos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4197096" y="5001768"/>
            <a:ext cx="685800" cy="1828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780" b="1">
                <a:solidFill>
                  <a:srgbClr val="1F6046"/>
                </a:solidFill>
                <a:latin typeface="Aptos"/>
              </a:rPr>
              <a:t>5.3.2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671816" y="1874519"/>
            <a:ext cx="3154680" cy="3401568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D7DE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ounded Rectangle 27"/>
          <p:cNvSpPr/>
          <p:nvPr/>
        </p:nvSpPr>
        <p:spPr>
          <a:xfrm>
            <a:off x="7744968" y="1947672"/>
            <a:ext cx="3008376" cy="2395728"/>
          </a:xfrm>
          <a:prstGeom prst="roundRect">
            <a:avLst/>
          </a:prstGeom>
          <a:solidFill>
            <a:srgbClr val="FAFBFA"/>
          </a:solidFill>
          <a:ln w="11430">
            <a:solidFill>
              <a:srgbClr val="D7DE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ounded Rectangle 29"/>
          <p:cNvSpPr/>
          <p:nvPr/>
        </p:nvSpPr>
        <p:spPr>
          <a:xfrm>
            <a:off x="7781544" y="4462272"/>
            <a:ext cx="365760" cy="219456"/>
          </a:xfrm>
          <a:prstGeom prst="roundRect">
            <a:avLst/>
          </a:prstGeom>
          <a:solidFill>
            <a:srgbClr val="1F60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7781544" y="4462272"/>
            <a:ext cx="365760" cy="219456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Aptos"/>
              </a:rPr>
              <a:t>03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238744" y="4416552"/>
            <a:ext cx="2459736" cy="25603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100" b="1">
                <a:solidFill>
                  <a:srgbClr val="1D342A"/>
                </a:solidFill>
                <a:latin typeface="Aptos"/>
              </a:rPr>
              <a:t>Status sehen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238744" y="4690872"/>
            <a:ext cx="2459736" cy="34747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819" b="0" dirty="0" err="1">
                <a:solidFill>
                  <a:srgbClr val="5C6C64"/>
                </a:solidFill>
                <a:latin typeface="Aptos"/>
              </a:rPr>
              <a:t>Antrag</a:t>
            </a:r>
            <a:r>
              <a:rPr sz="819" b="0" dirty="0">
                <a:solidFill>
                  <a:srgbClr val="5C6C64"/>
                </a:solidFill>
                <a:latin typeface="Aptos"/>
              </a:rPr>
              <a:t> </a:t>
            </a:r>
            <a:r>
              <a:rPr sz="819" b="0" dirty="0" err="1">
                <a:solidFill>
                  <a:srgbClr val="5C6C64"/>
                </a:solidFill>
                <a:latin typeface="Aptos"/>
              </a:rPr>
              <a:t>eingereicht</a:t>
            </a:r>
            <a:r>
              <a:rPr sz="819" b="0" dirty="0">
                <a:solidFill>
                  <a:srgbClr val="5C6C64"/>
                </a:solidFill>
                <a:latin typeface="Aptos"/>
              </a:rPr>
              <a:t> · </a:t>
            </a:r>
            <a:r>
              <a:rPr sz="819" b="0" dirty="0" err="1">
                <a:solidFill>
                  <a:srgbClr val="5C6C64"/>
                </a:solidFill>
                <a:latin typeface="Aptos"/>
              </a:rPr>
              <a:t>weitere</a:t>
            </a:r>
            <a:r>
              <a:rPr sz="819" b="0" dirty="0">
                <a:solidFill>
                  <a:srgbClr val="5C6C64"/>
                </a:solidFill>
                <a:latin typeface="Aptos"/>
              </a:rPr>
              <a:t> </a:t>
            </a:r>
            <a:r>
              <a:rPr sz="819" b="0" dirty="0" err="1">
                <a:solidFill>
                  <a:srgbClr val="5C6C64"/>
                </a:solidFill>
                <a:latin typeface="Aptos"/>
              </a:rPr>
              <a:t>Schritte</a:t>
            </a:r>
            <a:r>
              <a:rPr sz="819" b="0" dirty="0">
                <a:solidFill>
                  <a:srgbClr val="5C6C64"/>
                </a:solidFill>
                <a:latin typeface="Aptos"/>
              </a:rPr>
              <a:t> </a:t>
            </a:r>
            <a:r>
              <a:rPr sz="819" b="0" dirty="0" err="1">
                <a:solidFill>
                  <a:srgbClr val="5C6C64"/>
                </a:solidFill>
                <a:latin typeface="Aptos"/>
              </a:rPr>
              <a:t>folgen</a:t>
            </a:r>
            <a:endParaRPr sz="819" b="0" dirty="0">
              <a:solidFill>
                <a:srgbClr val="5C6C64"/>
              </a:solidFill>
              <a:latin typeface="Aptos"/>
            </a:endParaRPr>
          </a:p>
        </p:txBody>
      </p:sp>
      <p:sp>
        <p:nvSpPr>
          <p:cNvPr id="34" name="TextBox 33"/>
          <p:cNvSpPr txBox="1"/>
          <p:nvPr/>
        </p:nvSpPr>
        <p:spPr>
          <a:xfrm>
            <a:off x="7781544" y="5001768"/>
            <a:ext cx="685800" cy="1828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780" b="1">
                <a:solidFill>
                  <a:srgbClr val="1F6046"/>
                </a:solidFill>
                <a:latin typeface="Aptos"/>
              </a:rPr>
              <a:t>5.3.3</a:t>
            </a:r>
          </a:p>
        </p:txBody>
      </p:sp>
      <p:cxnSp>
        <p:nvCxnSpPr>
          <p:cNvPr id="35" name="Connector 34"/>
          <p:cNvCxnSpPr/>
          <p:nvPr/>
        </p:nvCxnSpPr>
        <p:spPr>
          <a:xfrm>
            <a:off x="3730752" y="3291839"/>
            <a:ext cx="283463" cy="0"/>
          </a:xfrm>
          <a:prstGeom prst="line">
            <a:avLst/>
          </a:prstGeom>
          <a:ln w="22860">
            <a:solidFill>
              <a:srgbClr val="1F60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>
            <a:off x="7315200" y="3291839"/>
            <a:ext cx="283464" cy="0"/>
          </a:xfrm>
          <a:prstGeom prst="line">
            <a:avLst/>
          </a:prstGeom>
          <a:ln w="22860">
            <a:solidFill>
              <a:srgbClr val="1F60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TextBox 36"/>
          <p:cNvSpPr txBox="1"/>
          <p:nvPr/>
        </p:nvSpPr>
        <p:spPr>
          <a:xfrm>
            <a:off x="530352" y="5559552"/>
            <a:ext cx="1097280" cy="16459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850" b="1">
                <a:solidFill>
                  <a:srgbClr val="1F6046"/>
                </a:solidFill>
                <a:latin typeface="Aptos"/>
              </a:rPr>
              <a:t>PROZESSLOGIK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536192" y="5522976"/>
            <a:ext cx="1170432" cy="25603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919" b="1">
                <a:solidFill>
                  <a:srgbClr val="1D342A"/>
                </a:solidFill>
                <a:latin typeface="Aptos"/>
              </a:rPr>
              <a:t>Arbeit auswählen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2706624" y="5522976"/>
            <a:ext cx="256032" cy="25603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300" b="1">
                <a:solidFill>
                  <a:srgbClr val="1F6046"/>
                </a:solidFill>
                <a:latin typeface="Aptos"/>
              </a:rPr>
              <a:t>→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2980944" y="5522976"/>
            <a:ext cx="1353312" cy="25603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919" b="1">
                <a:solidFill>
                  <a:srgbClr val="1D342A"/>
                </a:solidFill>
                <a:latin typeface="Aptos"/>
              </a:rPr>
              <a:t>Antragsdaten prüfen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334256" y="5522976"/>
            <a:ext cx="256032" cy="25603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300" b="1">
                <a:solidFill>
                  <a:srgbClr val="1F6046"/>
                </a:solidFill>
                <a:latin typeface="Aptos"/>
              </a:rPr>
              <a:t>→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608576" y="5522976"/>
            <a:ext cx="1143000" cy="25603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919" b="1">
                <a:solidFill>
                  <a:srgbClr val="1D342A"/>
                </a:solidFill>
                <a:latin typeface="Aptos"/>
              </a:rPr>
              <a:t>Grund angeben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751576" y="5522976"/>
            <a:ext cx="256032" cy="25603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300" b="1">
                <a:solidFill>
                  <a:srgbClr val="1F6046"/>
                </a:solidFill>
                <a:latin typeface="Aptos"/>
              </a:rPr>
              <a:t>→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025896" y="5522976"/>
            <a:ext cx="1170432" cy="25603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919" b="1">
                <a:solidFill>
                  <a:srgbClr val="1D342A"/>
                </a:solidFill>
                <a:latin typeface="Aptos"/>
              </a:rPr>
              <a:t>Antrag absenden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196328" y="5522976"/>
            <a:ext cx="256032" cy="25603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300" b="1">
                <a:solidFill>
                  <a:srgbClr val="1F6046"/>
                </a:solidFill>
                <a:latin typeface="Aptos"/>
              </a:rPr>
              <a:t>→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470648" y="5522976"/>
            <a:ext cx="1143000" cy="25603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919" b="1">
                <a:solidFill>
                  <a:srgbClr val="1D342A"/>
                </a:solidFill>
                <a:latin typeface="Aptos"/>
              </a:rPr>
              <a:t>Status einsehen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9189720" y="5504688"/>
            <a:ext cx="2331720" cy="2743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/>
            <a:r>
              <a:rPr sz="850" b="1">
                <a:solidFill>
                  <a:srgbClr val="1F6046"/>
                </a:solidFill>
                <a:latin typeface="Aptos"/>
              </a:rPr>
              <a:t>Neuer Abgabetermin: 30.01.2027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30352" y="6291072"/>
            <a:ext cx="3749039" cy="16459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780" b="0">
                <a:solidFill>
                  <a:srgbClr val="5C6C64"/>
                </a:solidFill>
                <a:latin typeface="Aptos"/>
              </a:rPr>
              <a:t>Requirements Engineering · Gruppe Grün · Prototyp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778240" y="6291072"/>
            <a:ext cx="2788920" cy="16459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/>
            <a:r>
              <a:rPr sz="780" b="1">
                <a:solidFill>
                  <a:srgbClr val="1F6046"/>
                </a:solidFill>
                <a:latin typeface="Aptos"/>
              </a:rPr>
              <a:t>Aktivität: Verlängerungsantrag stellen</a:t>
            </a:r>
          </a:p>
        </p:txBody>
      </p:sp>
      <p:pic>
        <p:nvPicPr>
          <p:cNvPr id="51" name="Grafik 50">
            <a:extLst>
              <a:ext uri="{FF2B5EF4-FFF2-40B4-BE49-F238E27FC236}">
                <a16:creationId xmlns:a16="http://schemas.microsoft.com/office/drawing/2014/main" id="{8FF12BC3-F16A-86B6-2595-0A45EE7DDF4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809" y="1947672"/>
            <a:ext cx="3035639" cy="2395728"/>
          </a:xfrm>
          <a:prstGeom prst="roundRect">
            <a:avLst/>
          </a:prstGeom>
        </p:spPr>
      </p:pic>
      <p:pic>
        <p:nvPicPr>
          <p:cNvPr id="53" name="Grafik 52">
            <a:extLst>
              <a:ext uri="{FF2B5EF4-FFF2-40B4-BE49-F238E27FC236}">
                <a16:creationId xmlns:a16="http://schemas.microsoft.com/office/drawing/2014/main" id="{CE6072ED-33F0-451A-1965-014EF37807A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2211" y="1923925"/>
            <a:ext cx="3056685" cy="2401188"/>
          </a:xfrm>
          <a:prstGeom prst="roundRect">
            <a:avLst/>
          </a:prstGeom>
        </p:spPr>
      </p:pic>
      <p:pic>
        <p:nvPicPr>
          <p:cNvPr id="55" name="Grafik 54">
            <a:extLst>
              <a:ext uri="{FF2B5EF4-FFF2-40B4-BE49-F238E27FC236}">
                <a16:creationId xmlns:a16="http://schemas.microsoft.com/office/drawing/2014/main" id="{6871D60E-3EAA-DF01-AFD9-89C5E747EBB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71816" y="1894918"/>
            <a:ext cx="3154680" cy="2443910"/>
          </a:xfrm>
          <a:prstGeom prst="round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Grafik 4">
            <a:extLst>
              <a:ext uri="{FF2B5EF4-FFF2-40B4-BE49-F238E27FC236}">
                <a16:creationId xmlns:a16="http://schemas.microsoft.com/office/drawing/2014/main" id="{BF95B95B-818D-060A-9356-8D5F3877EE7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09800" y="724522"/>
            <a:ext cx="7772400" cy="54089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5440769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219</Words>
  <Application>Microsoft Macintosh PowerPoint</Application>
  <PresentationFormat>Breitbild</PresentationFormat>
  <Paragraphs>74</Paragraphs>
  <Slides>4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3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4</vt:i4>
      </vt:variant>
    </vt:vector>
  </HeadingPairs>
  <TitlesOfParts>
    <vt:vector size="8" baseType="lpstr">
      <vt:lpstr>Aptos</vt:lpstr>
      <vt:lpstr>Arial</vt:lpstr>
      <vt:lpstr>Calibri</vt:lpstr>
      <vt:lpstr>Office Theme</vt:lpstr>
      <vt:lpstr>PowerPoint-Präsentation</vt:lpstr>
      <vt:lpstr>PowerPoint-Präsentation</vt:lpstr>
      <vt:lpstr>PowerPoint-Präsentation</vt:lpstr>
      <vt:lpstr>PowerPoint-Präsentation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Gurcharan Singh</cp:lastModifiedBy>
  <cp:revision>5</cp:revision>
  <dcterms:created xsi:type="dcterms:W3CDTF">2013-01-27T09:14:16Z</dcterms:created>
  <dcterms:modified xsi:type="dcterms:W3CDTF">2026-10-01T20:27:58Z</dcterms:modified>
  <cp:category/>
</cp:coreProperties>
</file>