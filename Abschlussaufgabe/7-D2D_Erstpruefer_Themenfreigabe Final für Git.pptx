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68" r:id="rId3"/>
    <p:sldId id="260" r:id="rId4"/>
    <p:sldId id="262" r:id="rId5"/>
    <p:sldId id="263" r:id="rId6"/>
    <p:sldId id="264" r:id="rId7"/>
    <p:sldId id="267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54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Walter Weiß – Professor für Wirtschaftsinformatik, Fachbereich MND
„Ich akzeptiere Software sofort, wenn sie mir Zeit spart.“
Aufbau nach Vorgabe: Ziele (spezifisch und allgemein), Eigenschaften, Frustrationen, Nutzungsüberwindung.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3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7 Dimensionen im Überblick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solidFill>
            <a:srgbClr val="A97C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 (Prof. Dr. Andreas Becker), Studierende:r (Moritz Hoffmann)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13258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502152" y="1508760"/>
            <a:ext cx="411480" cy="411480"/>
          </a:xfrm>
          <a:prstGeom prst="rect">
            <a:avLst/>
          </a:prstGeom>
          <a:solidFill>
            <a:srgbClr val="7B2D9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350215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50792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zum Aufrufen, Prüfen, Bestätigen und Freigeben des Themas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3258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6364224" y="1508760"/>
            <a:ext cx="411480" cy="411480"/>
          </a:xfrm>
          <a:prstGeom prst="rect">
            <a:avLst/>
          </a:prstGeom>
          <a:solidFill>
            <a:srgbClr val="2E8B4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 txBox="1"/>
          <p:nvPr/>
        </p:nvSpPr>
        <p:spPr>
          <a:xfrm>
            <a:off x="6364224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12864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aufrufen, prüfen, bestätigen und freigeben; sonst Änderungswunsch eintragen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43416" y="13258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9226296" y="1508760"/>
            <a:ext cx="411480" cy="411480"/>
          </a:xfrm>
          <a:prstGeom prst="rect">
            <a:avLst/>
          </a:prstGeom>
          <a:solidFill>
            <a:srgbClr val="2A74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 txBox="1"/>
          <p:nvPr/>
        </p:nvSpPr>
        <p:spPr>
          <a:xfrm>
            <a:off x="9226296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774936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2103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Antrag, Thema, Themenfreigabe, Erstprüfer:in und Studierende:r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721608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40080" y="3904488"/>
            <a:ext cx="411480" cy="41148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 txBox="1"/>
          <p:nvPr/>
        </p:nvSpPr>
        <p:spPr>
          <a:xfrm>
            <a:off x="640080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904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49884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die zugeordnete Erstprüfer:in gibt frei, nach Annahme durch den Prüfungsausschuss; Themenfreigabe mit Zeitpunkt speichern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19272" y="3721608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3502152" y="3904488"/>
            <a:ext cx="411480" cy="41148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 txBox="1"/>
          <p:nvPr/>
        </p:nvSpPr>
        <p:spPr>
          <a:xfrm>
            <a:off x="3502152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050792" y="3904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3502152" y="449884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am Desktop; THM-Login und E-Mail-Dienst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81344" y="3721608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E4F2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6364224" y="3904488"/>
            <a:ext cx="411480" cy="411480"/>
          </a:xfrm>
          <a:prstGeom prst="rect">
            <a:avLst/>
          </a:prstGeom>
          <a:solidFill>
            <a:srgbClr val="6B737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 txBox="1"/>
          <p:nvPr/>
        </p:nvSpPr>
        <p:spPr>
          <a:xfrm>
            <a:off x="6364224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912864" y="3904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Attributes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449884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Sicherheit, Zuverlässigkeit, Benutzbarkeit, Effizienz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1376"/>
            <a:ext cx="792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Prüfer:in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426720"/>
            <a:ext cx="4328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2 VON 4  ·  THESISFLOW</a:t>
            </a:r>
            <a:endParaRPr lang="en-US" sz="1067" dirty="0"/>
          </a:p>
        </p:txBody>
      </p:sp>
      <p:sp>
        <p:nvSpPr>
          <p:cNvPr id="4" name="Shape 2"/>
          <p:cNvSpPr/>
          <p:nvPr/>
        </p:nvSpPr>
        <p:spPr>
          <a:xfrm>
            <a:off x="548640" y="1158240"/>
            <a:ext cx="3352800" cy="5242560"/>
          </a:xfrm>
          <a:prstGeom prst="roundRect">
            <a:avLst>
              <a:gd name="adj" fmla="val 4364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5" name="Shape 3"/>
          <p:cNvSpPr/>
          <p:nvPr/>
        </p:nvSpPr>
        <p:spPr>
          <a:xfrm>
            <a:off x="1341120" y="1341120"/>
            <a:ext cx="1767840" cy="17678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6" name="Image 0" descr="photos/u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0" y="1402080"/>
            <a:ext cx="1645920" cy="1645920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413760"/>
            <a:ext cx="2987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Walter Weiß</a:t>
            </a:r>
            <a:endParaRPr lang="en-US" sz="2133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840480"/>
            <a:ext cx="2987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für Wirtschaftsinformatik, Fachbereich MND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92480" y="432816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3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„Ich akzeptiere Software sofort, wenn sie mir Zeit spart.“</a:t>
            </a:r>
            <a:endParaRPr lang="en-US" sz="1333" dirty="0"/>
          </a:p>
        </p:txBody>
      </p:sp>
      <p:sp>
        <p:nvSpPr>
          <p:cNvPr id="10" name="Text 7"/>
          <p:cNvSpPr txBox="1"/>
          <p:nvPr/>
        </p:nvSpPr>
        <p:spPr>
          <a:xfrm>
            <a:off x="792480" y="5120640"/>
            <a:ext cx="28651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50 Jahre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Ort: THM Friedberg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der Hochschule seit: über 10 Jahren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Betreut 10 bis 16 Arbeiten pro Semester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Büro-PC, privates iPad, Smartphone</a:t>
            </a:r>
            <a:endParaRPr lang="en-US" sz="1133" dirty="0"/>
          </a:p>
        </p:txBody>
      </p:sp>
      <p:sp>
        <p:nvSpPr>
          <p:cNvPr id="11" name="Shape 8"/>
          <p:cNvSpPr/>
          <p:nvPr/>
        </p:nvSpPr>
        <p:spPr>
          <a:xfrm>
            <a:off x="4267200" y="1194816"/>
            <a:ext cx="316992" cy="31699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2" name="Text 9"/>
          <p:cNvSpPr txBox="1"/>
          <p:nvPr/>
        </p:nvSpPr>
        <p:spPr>
          <a:xfrm>
            <a:off x="4267200" y="1194816"/>
            <a:ext cx="316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06112" y="1158240"/>
            <a:ext cx="315772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667" dirty="0"/>
          </a:p>
        </p:txBody>
      </p:sp>
      <p:sp>
        <p:nvSpPr>
          <p:cNvPr id="14" name="Text 11"/>
          <p:cNvSpPr txBox="1"/>
          <p:nvPr/>
        </p:nvSpPr>
        <p:spPr>
          <a:xfrm>
            <a:off x="4328160" y="1621536"/>
            <a:ext cx="353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Betreuung mit einem Klick bestätigen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 geht ohne Medienbruch direkt weiter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 aller laufenden Arbeiten, um Engpässe zu vermeiden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 für inhaltliche Betreuung statt Bürokratie</a:t>
            </a:r>
            <a:endParaRPr lang="en-US" sz="1267" dirty="0"/>
          </a:p>
        </p:txBody>
      </p:sp>
      <p:sp>
        <p:nvSpPr>
          <p:cNvPr id="15" name="Shape 12"/>
          <p:cNvSpPr/>
          <p:nvPr/>
        </p:nvSpPr>
        <p:spPr>
          <a:xfrm>
            <a:off x="8046720" y="1194816"/>
            <a:ext cx="316992" cy="31699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6" name="Text 13"/>
          <p:cNvSpPr txBox="1"/>
          <p:nvPr/>
        </p:nvSpPr>
        <p:spPr>
          <a:xfrm>
            <a:off x="8046720" y="1194816"/>
            <a:ext cx="316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485632" y="1158240"/>
            <a:ext cx="315772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667" dirty="0"/>
          </a:p>
        </p:txBody>
      </p:sp>
      <p:sp>
        <p:nvSpPr>
          <p:cNvPr id="18" name="Text 15"/>
          <p:cNvSpPr txBox="1"/>
          <p:nvPr/>
        </p:nvSpPr>
        <p:spPr>
          <a:xfrm>
            <a:off x="8107680" y="1621536"/>
            <a:ext cx="353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Betreuungsbereitschaft, engagiert in Lehre und Praxis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Betreut neben Vorlesungen und Forschungsprojekten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Arbeitet viel asynchron von unterwegs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Erst- oder Zweitprüfer:in, je nach Arbeit</a:t>
            </a:r>
            <a:endParaRPr lang="en-US" sz="1267" dirty="0"/>
          </a:p>
        </p:txBody>
      </p:sp>
      <p:sp>
        <p:nvSpPr>
          <p:cNvPr id="19" name="Shape 16"/>
          <p:cNvSpPr/>
          <p:nvPr/>
        </p:nvSpPr>
        <p:spPr>
          <a:xfrm>
            <a:off x="4267200" y="3450336"/>
            <a:ext cx="316992" cy="31699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0" name="Text 17"/>
          <p:cNvSpPr txBox="1"/>
          <p:nvPr/>
        </p:nvSpPr>
        <p:spPr>
          <a:xfrm>
            <a:off x="4267200" y="3450336"/>
            <a:ext cx="316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06112" y="3413760"/>
            <a:ext cx="315772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667" dirty="0"/>
          </a:p>
        </p:txBody>
      </p:sp>
      <p:sp>
        <p:nvSpPr>
          <p:cNvPr id="22" name="Text 19"/>
          <p:cNvSpPr txBox="1"/>
          <p:nvPr/>
        </p:nvSpPr>
        <p:spPr>
          <a:xfrm>
            <a:off x="4328160" y="3877056"/>
            <a:ext cx="353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Unleserliche Scans und fehlerhaft ausgefüllte Anträge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Freigaben gehen im vollen Postfach unter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Mühsame Abstimmung mit externen Zweitprüfer:innen ohne THM-Konto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Überblick über Zeitplan und Begründung bei Verlängerungen</a:t>
            </a:r>
            <a:endParaRPr lang="en-US" sz="1267" dirty="0"/>
          </a:p>
        </p:txBody>
      </p:sp>
      <p:sp>
        <p:nvSpPr>
          <p:cNvPr id="23" name="Shape 20"/>
          <p:cNvSpPr/>
          <p:nvPr/>
        </p:nvSpPr>
        <p:spPr>
          <a:xfrm>
            <a:off x="8046720" y="3450336"/>
            <a:ext cx="316992" cy="31699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4" name="Text 21"/>
          <p:cNvSpPr txBox="1"/>
          <p:nvPr/>
        </p:nvSpPr>
        <p:spPr>
          <a:xfrm>
            <a:off x="8046720" y="3450336"/>
            <a:ext cx="316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485632" y="3413760"/>
            <a:ext cx="315772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667" dirty="0"/>
          </a:p>
        </p:txBody>
      </p:sp>
      <p:sp>
        <p:nvSpPr>
          <p:cNvPr id="26" name="Text 23"/>
          <p:cNvSpPr txBox="1"/>
          <p:nvPr/>
        </p:nvSpPr>
        <p:spPr>
          <a:xfrm>
            <a:off x="8107680" y="3877056"/>
            <a:ext cx="353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Spart spürbar Zeit gegenüber PDF und E-Mail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 bedienbar, ohne Schulung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überkomplizierten Masken</a:t>
            </a:r>
            <a:endParaRPr lang="en-US" sz="1267" dirty="0"/>
          </a:p>
          <a:p>
            <a:pPr marL="203195" indent="-203195">
              <a:spcAft>
                <a:spcPts val="400"/>
              </a:spcAft>
              <a:buSzPct val="100000"/>
              <a:buChar char="•"/>
            </a:pPr>
            <a:r>
              <a:rPr lang="en-US" sz="1267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auch auf iPad und Smartphone</a:t>
            </a:r>
            <a:endParaRPr lang="en-US" sz="1267" dirty="0"/>
          </a:p>
        </p:txBody>
      </p:sp>
      <p:sp>
        <p:nvSpPr>
          <p:cNvPr id="27" name="Text 24"/>
          <p:cNvSpPr txBox="1"/>
          <p:nvPr/>
        </p:nvSpPr>
        <p:spPr>
          <a:xfrm>
            <a:off x="4267200" y="5754624"/>
            <a:ext cx="1341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Technikaffinität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632704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9" name="Shape 26"/>
          <p:cNvSpPr/>
          <p:nvPr/>
        </p:nvSpPr>
        <p:spPr>
          <a:xfrm>
            <a:off x="5864352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0" name="Shape 27"/>
          <p:cNvSpPr/>
          <p:nvPr/>
        </p:nvSpPr>
        <p:spPr>
          <a:xfrm>
            <a:off x="6096000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1" name="Shape 28"/>
          <p:cNvSpPr/>
          <p:nvPr/>
        </p:nvSpPr>
        <p:spPr>
          <a:xfrm>
            <a:off x="6327648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2" name="Shape 29"/>
          <p:cNvSpPr/>
          <p:nvPr/>
        </p:nvSpPr>
        <p:spPr>
          <a:xfrm>
            <a:off x="6559296" y="5815584"/>
            <a:ext cx="182880" cy="18288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3" name="Text 30"/>
          <p:cNvSpPr txBox="1"/>
          <p:nvPr/>
        </p:nvSpPr>
        <p:spPr>
          <a:xfrm>
            <a:off x="6766560" y="5754624"/>
            <a:ext cx="1341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Prozesskenntnis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132064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5" name="Shape 32"/>
          <p:cNvSpPr/>
          <p:nvPr/>
        </p:nvSpPr>
        <p:spPr>
          <a:xfrm>
            <a:off x="8363712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6" name="Shape 33"/>
          <p:cNvSpPr/>
          <p:nvPr/>
        </p:nvSpPr>
        <p:spPr>
          <a:xfrm>
            <a:off x="8595360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7" name="Shape 34"/>
          <p:cNvSpPr/>
          <p:nvPr/>
        </p:nvSpPr>
        <p:spPr>
          <a:xfrm>
            <a:off x="8827008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8" name="Shape 35"/>
          <p:cNvSpPr/>
          <p:nvPr/>
        </p:nvSpPr>
        <p:spPr>
          <a:xfrm>
            <a:off x="9058656" y="5815584"/>
            <a:ext cx="182880" cy="18288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9" name="Text 36"/>
          <p:cNvSpPr txBox="1"/>
          <p:nvPr/>
        </p:nvSpPr>
        <p:spPr>
          <a:xfrm>
            <a:off x="9265920" y="5754624"/>
            <a:ext cx="1341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10631424" y="5815584"/>
            <a:ext cx="182880" cy="182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1" name="Shape 38"/>
          <p:cNvSpPr/>
          <p:nvPr/>
        </p:nvSpPr>
        <p:spPr>
          <a:xfrm>
            <a:off x="10863072" y="5815584"/>
            <a:ext cx="182880" cy="18288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2" name="Shape 39"/>
          <p:cNvSpPr/>
          <p:nvPr/>
        </p:nvSpPr>
        <p:spPr>
          <a:xfrm>
            <a:off x="11094720" y="5815584"/>
            <a:ext cx="182880" cy="18288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3" name="Shape 40"/>
          <p:cNvSpPr/>
          <p:nvPr/>
        </p:nvSpPr>
        <p:spPr>
          <a:xfrm>
            <a:off x="11326368" y="5815584"/>
            <a:ext cx="182880" cy="18288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4" name="Shape 41"/>
          <p:cNvSpPr/>
          <p:nvPr/>
        </p:nvSpPr>
        <p:spPr>
          <a:xfrm>
            <a:off x="11558016" y="5815584"/>
            <a:ext cx="182880" cy="18288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5" name="Text 42"/>
          <p:cNvSpPr txBox="1"/>
          <p:nvPr/>
        </p:nvSpPr>
        <p:spPr>
          <a:xfrm>
            <a:off x="4267200" y="6278880"/>
            <a:ext cx="7376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00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– Praxisteil  ·  Personas  ·  Skala 1 = niedrig, 5 = hoch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7B2D9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Interface: Bedienoberfläche (Wireframes, Smartphone)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2743200" cy="5074920"/>
          </a:xfrm>
          <a:prstGeom prst="roundRect">
            <a:avLst>
              <a:gd name="adj" fmla="val 8333"/>
            </a:avLst>
          </a:prstGeom>
          <a:solidFill>
            <a:srgbClr val="E6EAE8"/>
          </a:solidFill>
          <a:ln w="2540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1005840" y="1508760"/>
            <a:ext cx="2377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 txBox="1"/>
          <p:nvPr/>
        </p:nvSpPr>
        <p:spPr>
          <a:xfrm>
            <a:off x="1097280" y="1572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Antrag mit Thema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196596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1170432" y="196596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Studierende:r: &lt;Name&gt;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237744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 txBox="1"/>
          <p:nvPr/>
        </p:nvSpPr>
        <p:spPr>
          <a:xfrm>
            <a:off x="1170432" y="237744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Studiengang: &lt;Studiengang&gt;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0" y="278892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 txBox="1"/>
          <p:nvPr/>
        </p:nvSpPr>
        <p:spPr>
          <a:xfrm>
            <a:off x="1170432" y="278892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Abschluss: &lt;Bachelor / Master&gt;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320040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 txBox="1"/>
          <p:nvPr/>
        </p:nvSpPr>
        <p:spPr>
          <a:xfrm>
            <a:off x="1170432" y="320040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Wunschstart: &lt;TT.MM.JJJJ&gt;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361188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 txBox="1"/>
          <p:nvPr/>
        </p:nvSpPr>
        <p:spPr>
          <a:xfrm>
            <a:off x="1170432" y="361188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Zulassung: angenommen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 txBox="1"/>
          <p:nvPr/>
        </p:nvSpPr>
        <p:spPr>
          <a:xfrm>
            <a:off x="1170432" y="402336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Thema: &lt;Thema&gt;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7280" y="4919472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80BC00"/>
          </a:solidFill>
          <a:ln w="12700">
            <a:solidFill>
              <a:srgbClr val="80BC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 txBox="1"/>
          <p:nvPr/>
        </p:nvSpPr>
        <p:spPr>
          <a:xfrm>
            <a:off x="1152144" y="49194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prüfen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aufrufen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1143000"/>
            <a:ext cx="2743200" cy="5074920"/>
          </a:xfrm>
          <a:prstGeom prst="roundRect">
            <a:avLst>
              <a:gd name="adj" fmla="val 8333"/>
            </a:avLst>
          </a:prstGeom>
          <a:solidFill>
            <a:srgbClr val="E6EAE8"/>
          </a:solidFill>
          <a:ln w="2540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754880" y="1508760"/>
            <a:ext cx="2377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 txBox="1"/>
          <p:nvPr/>
        </p:nvSpPr>
        <p:spPr>
          <a:xfrm>
            <a:off x="4846320" y="1572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Thema prüfen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1965960"/>
            <a:ext cx="21945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 txBox="1"/>
          <p:nvPr/>
        </p:nvSpPr>
        <p:spPr>
          <a:xfrm>
            <a:off x="4919472" y="196596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Thema: &lt;Thema&gt;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 das Thema?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06324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 txBox="1"/>
          <p:nvPr/>
        </p:nvSpPr>
        <p:spPr>
          <a:xfrm>
            <a:off x="4919472" y="306324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Ja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447288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 txBox="1"/>
          <p:nvPr/>
        </p:nvSpPr>
        <p:spPr>
          <a:xfrm>
            <a:off x="4919472" y="344728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Nein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931920"/>
            <a:ext cx="2194560" cy="530352"/>
          </a:xfrm>
          <a:prstGeom prst="rect">
            <a:avLst/>
          </a:prstGeom>
          <a:solidFill>
            <a:srgbClr val="F4F6F5"/>
          </a:solidFill>
          <a:ln w="9525">
            <a:solidFill>
              <a:srgbClr val="9AA9AE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 txBox="1"/>
          <p:nvPr/>
        </p:nvSpPr>
        <p:spPr>
          <a:xfrm>
            <a:off x="4919472" y="3931920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Änderungswunsch  [nur bei „Nein“]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443484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80BC00"/>
          </a:solidFill>
          <a:ln w="12700">
            <a:solidFill>
              <a:srgbClr val="80BC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 txBox="1"/>
          <p:nvPr/>
        </p:nvSpPr>
        <p:spPr>
          <a:xfrm>
            <a:off x="4901184" y="443484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Bestätigen und freigeben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4919472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 txBox="1"/>
          <p:nvPr/>
        </p:nvSpPr>
        <p:spPr>
          <a:xfrm>
            <a:off x="4901184" y="49194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Änderungswunsch senden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prüfen, bestätigen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321040" y="1143000"/>
            <a:ext cx="2743200" cy="5074920"/>
          </a:xfrm>
          <a:prstGeom prst="roundRect">
            <a:avLst>
              <a:gd name="adj" fmla="val 8333"/>
            </a:avLst>
          </a:prstGeom>
          <a:solidFill>
            <a:srgbClr val="E6EAE8"/>
          </a:solidFill>
          <a:ln w="2540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8503920" y="1508760"/>
            <a:ext cx="23774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 txBox="1"/>
          <p:nvPr/>
        </p:nvSpPr>
        <p:spPr>
          <a:xfrm>
            <a:off x="8595360" y="1572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Themenfreigabe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595360" y="196596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 txBox="1"/>
          <p:nvPr/>
        </p:nvSpPr>
        <p:spPr>
          <a:xfrm>
            <a:off x="8668512" y="196596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Thema: &lt;Thema&gt;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595360" y="2350008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 txBox="1"/>
          <p:nvPr/>
        </p:nvSpPr>
        <p:spPr>
          <a:xfrm>
            <a:off x="8668512" y="235000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Freigegeben von: &lt;Erstprüfer:in&gt;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595360" y="2734056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 txBox="1"/>
          <p:nvPr/>
        </p:nvSpPr>
        <p:spPr>
          <a:xfrm>
            <a:off x="8668512" y="273405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Zeitpunkt: &lt;TT.MM.JJJJ HH:MM&gt;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95360" y="3337560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A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 txBox="1"/>
          <p:nvPr/>
        </p:nvSpPr>
        <p:spPr>
          <a:xfrm>
            <a:off x="8668512" y="333756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Thema freigegeben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859536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 wird benachrichtigt.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595360" y="4919472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80BC00"/>
          </a:solidFill>
          <a:ln w="12700">
            <a:solidFill>
              <a:srgbClr val="80BC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 txBox="1"/>
          <p:nvPr/>
        </p:nvSpPr>
        <p:spPr>
          <a:xfrm>
            <a:off x="8650224" y="49194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Zurück zur Übersicht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8321040" y="6291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freigegeben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2E8B4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Action: Themenfreigabe (Ablauf)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463040" cy="2468880"/>
          </a:xfrm>
          <a:prstGeom prst="rect">
            <a:avLst/>
          </a:prstGeom>
          <a:solidFill>
            <a:srgbClr val="4B5A63"/>
          </a:solidFill>
          <a:ln w="9525">
            <a:solidFill>
              <a:srgbClr val="4B5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 txBox="1"/>
          <p:nvPr/>
        </p:nvSpPr>
        <p:spPr>
          <a:xfrm>
            <a:off x="502920" y="118872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11274552" cy="1554480"/>
          </a:xfrm>
          <a:prstGeom prst="rect">
            <a:avLst/>
          </a:prstGeom>
          <a:solidFill>
            <a:srgbClr val="F7F9F8"/>
          </a:solidFill>
          <a:ln w="9525">
            <a:solidFill>
              <a:srgbClr val="C9D2C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463040" cy="1554480"/>
          </a:xfrm>
          <a:prstGeom prst="rect">
            <a:avLst/>
          </a:prstGeom>
          <a:solidFill>
            <a:srgbClr val="4B5A63"/>
          </a:solidFill>
          <a:ln w="9525">
            <a:solidFill>
              <a:srgbClr val="4B5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 txBox="1"/>
          <p:nvPr/>
        </p:nvSpPr>
        <p:spPr>
          <a:xfrm>
            <a:off x="502920" y="36576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(System)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14600" y="427024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 txBox="1"/>
          <p:nvPr/>
        </p:nvSpPr>
        <p:spPr>
          <a:xfrm>
            <a:off x="2084832" y="46451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94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schickt Thema an Prüfer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37560" y="406908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 txBox="1"/>
          <p:nvPr/>
        </p:nvSpPr>
        <p:spPr>
          <a:xfrm>
            <a:off x="3392424" y="406908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 informieren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33172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 txBox="1"/>
          <p:nvPr/>
        </p:nvSpPr>
        <p:spPr>
          <a:xfrm>
            <a:off x="3392424" y="233172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aufrufen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33172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4809744" y="233172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prüfen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446020"/>
            <a:ext cx="502920" cy="5029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6460236" y="2596896"/>
            <a:ext cx="201168" cy="201168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 flipV="1">
            <a:off x="6460236" y="2596896"/>
            <a:ext cx="201168" cy="201168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 txBox="1"/>
          <p:nvPr/>
        </p:nvSpPr>
        <p:spPr>
          <a:xfrm>
            <a:off x="5875020" y="29855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94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 das Thema?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0" y="233172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 txBox="1"/>
          <p:nvPr/>
        </p:nvSpPr>
        <p:spPr>
          <a:xfrm>
            <a:off x="7370064" y="233172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bestätigen und freigeben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92640" y="132588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 txBox="1"/>
          <p:nvPr/>
        </p:nvSpPr>
        <p:spPr>
          <a:xfrm>
            <a:off x="9747504" y="132588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Änderungswunsch eintragen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406908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 txBox="1"/>
          <p:nvPr/>
        </p:nvSpPr>
        <p:spPr>
          <a:xfrm>
            <a:off x="7370064" y="406908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Themenfreigabe speichern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92640" y="406908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E4F2C2"/>
          </a:solidFill>
          <a:ln w="12700">
            <a:solidFill>
              <a:srgbClr val="8FB0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 txBox="1"/>
          <p:nvPr/>
        </p:nvSpPr>
        <p:spPr>
          <a:xfrm>
            <a:off x="9747504" y="406908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Rückfrage an Studierende:n senden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78240" y="4270248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 txBox="1"/>
          <p:nvPr/>
        </p:nvSpPr>
        <p:spPr>
          <a:xfrm>
            <a:off x="8577072" y="464515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94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94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freigegeben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1018520" y="4270248"/>
            <a:ext cx="329184" cy="329184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 txBox="1"/>
          <p:nvPr/>
        </p:nvSpPr>
        <p:spPr>
          <a:xfrm>
            <a:off x="10863072" y="46451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94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Rückfrage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94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gesendet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43784" y="4434840"/>
            <a:ext cx="493776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5"/>
          <p:cNvSpPr/>
          <p:nvPr/>
        </p:nvSpPr>
        <p:spPr>
          <a:xfrm flipV="1">
            <a:off x="3931920" y="3063240"/>
            <a:ext cx="0" cy="100584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4526280" y="2697480"/>
            <a:ext cx="22860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7"/>
          <p:cNvSpPr/>
          <p:nvPr/>
        </p:nvSpPr>
        <p:spPr>
          <a:xfrm>
            <a:off x="5943600" y="2697480"/>
            <a:ext cx="36576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6812280" y="2697480"/>
            <a:ext cx="50292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 txBox="1"/>
          <p:nvPr/>
        </p:nvSpPr>
        <p:spPr>
          <a:xfrm>
            <a:off x="681228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94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 flipV="1">
            <a:off x="6560820" y="1691640"/>
            <a:ext cx="0" cy="75438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6560820" y="1691640"/>
            <a:ext cx="313182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 txBox="1"/>
          <p:nvPr/>
        </p:nvSpPr>
        <p:spPr>
          <a:xfrm>
            <a:off x="660654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94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909560" y="3063240"/>
            <a:ext cx="0" cy="100584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6" name="Shape 44"/>
          <p:cNvSpPr/>
          <p:nvPr/>
        </p:nvSpPr>
        <p:spPr>
          <a:xfrm>
            <a:off x="8503920" y="4434840"/>
            <a:ext cx="27432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7" name="Shape 45"/>
          <p:cNvSpPr/>
          <p:nvPr/>
        </p:nvSpPr>
        <p:spPr>
          <a:xfrm>
            <a:off x="10287000" y="2057400"/>
            <a:ext cx="0" cy="201168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8" name="Shape 46"/>
          <p:cNvSpPr/>
          <p:nvPr/>
        </p:nvSpPr>
        <p:spPr>
          <a:xfrm>
            <a:off x="10881360" y="4434840"/>
            <a:ext cx="137160" cy="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2A74C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Datenmodell (Ausschnitt)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108960" y="1280160"/>
            <a:ext cx="5943600" cy="347472"/>
          </a:xfrm>
          <a:prstGeom prst="rect">
            <a:avLst/>
          </a:prstGeom>
          <a:solidFill>
            <a:srgbClr val="2A74C2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3108960" y="12801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Antrag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1627632"/>
            <a:ext cx="5943600" cy="2802636"/>
          </a:xfrm>
          <a:prstGeom prst="rect">
            <a:avLst/>
          </a:prstGeom>
          <a:solidFill>
            <a:srgbClr val="EAF2FB"/>
          </a:solidFill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 txBox="1"/>
          <p:nvPr/>
        </p:nvSpPr>
        <p:spPr>
          <a:xfrm>
            <a:off x="3200400" y="1691640"/>
            <a:ext cx="5806440" cy="272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1100" u="sng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antrag_id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1100" u="sng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matrikelnummer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studiengang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studienabschluss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Abschlussart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gewuenschterStarttermin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Datum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erstpruefer_name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erstpruefer_pruefernummer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zulassung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Entscheidung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themenfreigabe_zeitpunkt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Datum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vorschlagBestaetigt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Boolean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r>
              <a:rPr lang="en-US" sz="1100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Antragsstatus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4841748"/>
            <a:ext cx="1645920" cy="1088136"/>
          </a:xfrm>
          <a:prstGeom prst="rect">
            <a:avLst/>
          </a:prstGeom>
          <a:solidFill>
            <a:srgbClr val="FFFFFF"/>
          </a:solidFill>
          <a:ln w="254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 txBox="1"/>
          <p:nvPr/>
        </p:nvSpPr>
        <p:spPr>
          <a:xfrm>
            <a:off x="3154680" y="48966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«enumeration»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50794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Abschlussart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54680" y="5344668"/>
            <a:ext cx="1645920" cy="0"/>
          </a:xfrm>
          <a:prstGeom prst="line">
            <a:avLst/>
          </a:prstGeom>
          <a:noFill/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 txBox="1"/>
          <p:nvPr/>
        </p:nvSpPr>
        <p:spPr>
          <a:xfrm>
            <a:off x="3264408" y="540867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4841748"/>
            <a:ext cx="1828800" cy="1088136"/>
          </a:xfrm>
          <a:prstGeom prst="rect">
            <a:avLst/>
          </a:prstGeom>
          <a:solidFill>
            <a:srgbClr val="FFFFFF"/>
          </a:solidFill>
          <a:ln w="254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 txBox="1"/>
          <p:nvPr/>
        </p:nvSpPr>
        <p:spPr>
          <a:xfrm>
            <a:off x="5074920" y="48966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«enumeration»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50794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Entscheidung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74920" y="5344668"/>
            <a:ext cx="1828800" cy="0"/>
          </a:xfrm>
          <a:prstGeom prst="line">
            <a:avLst/>
          </a:prstGeom>
          <a:noFill/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5184648" y="540867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angenommen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78040" y="4841748"/>
            <a:ext cx="1828800" cy="859536"/>
          </a:xfrm>
          <a:prstGeom prst="rect">
            <a:avLst/>
          </a:prstGeom>
          <a:solidFill>
            <a:srgbClr val="FFFFFF"/>
          </a:solidFill>
          <a:ln w="254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 txBox="1"/>
          <p:nvPr/>
        </p:nvSpPr>
        <p:spPr>
          <a:xfrm>
            <a:off x="7178040" y="48966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8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«enumeration»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50794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Antragsstatus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178040" y="5344668"/>
            <a:ext cx="1828800" cy="0"/>
          </a:xfrm>
          <a:prstGeom prst="line">
            <a:avLst/>
          </a:prstGeom>
          <a:noFill/>
          <a:ln w="12700">
            <a:solidFill>
              <a:srgbClr val="2A74C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 txBox="1"/>
          <p:nvPr/>
        </p:nvSpPr>
        <p:spPr>
          <a:xfrm>
            <a:off x="7287768" y="5408676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zu validieren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77640" y="4613148"/>
            <a:ext cx="0" cy="22860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3886200" y="443026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3886200" y="4521708"/>
            <a:ext cx="182880" cy="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3977640" y="4430268"/>
            <a:ext cx="0" cy="18288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5989320" y="4613148"/>
            <a:ext cx="0" cy="22860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5897880" y="443026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5897880" y="4521708"/>
            <a:ext cx="182880" cy="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5989320" y="4430268"/>
            <a:ext cx="0" cy="18288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8092440" y="4613148"/>
            <a:ext cx="0" cy="228600"/>
          </a:xfrm>
          <a:prstGeom prst="line">
            <a:avLst/>
          </a:prstGeom>
          <a:noFill/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8001000" y="443026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8001000" y="4521708"/>
            <a:ext cx="182880" cy="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8092440" y="4430268"/>
            <a:ext cx="0" cy="182880"/>
          </a:xfrm>
          <a:prstGeom prst="line">
            <a:avLst/>
          </a:prstGeom>
          <a:noFill/>
          <a:ln w="15875">
            <a:solidFill>
              <a:srgbClr val="3946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Control: Regeln und Entscheidungslogik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680932"/>
              </p:ext>
            </p:extLst>
          </p:nvPr>
        </p:nvGraphicFramePr>
        <p:xfrm>
          <a:off x="457200" y="1280160"/>
          <a:ext cx="11274552" cy="3136392"/>
        </p:xfrm>
        <a:graphic>
          <a:graphicData uri="http://schemas.openxmlformats.org/drawingml/2006/table">
            <a:tbl>
              <a:tblPr/>
              <a:tblGrid>
                <a:gridCol w="7408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5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Durchsetzung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Erstprüfer:in wird der ihr zugeordnete Antrag mit dem Thema zum Aufruf angeboten.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Antragsansicht im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 der Prüfungsausschuss den Antrag angenommen hat, kann die Erstprüfer:in das Thema bestätigen und freigeben.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Freigabe erst nach Annahme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die dem Antrag zugeordnete Erstprüfer:in kann das Thema freigeben.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Rollenprüfung im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der Freigabe werden Thema und Zeitpunkt gespeichert.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Speichern im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Bestätigt die Erstprüfer:in das Thema nicht, trägt sie einen Änderungswunsch ein.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Eingabefeld im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92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der Freigabe steht der Antrag für das Festlegen der Bearbeitungszeit bereit.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Statuswechsel im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09728" marB="109728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461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Environment: Betriebs- und Entwicklungsumgebung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82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Environment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82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Technologieplattform: Webportal im Browser am Desktop, Anmeldung über THM-Login.</a:t>
            </a:r>
            <a:endParaRPr lang="en-US" sz="12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/>
        </p:nvGraphicFramePr>
        <p:xfrm>
          <a:off x="457200" y="4160520"/>
          <a:ext cx="11274552" cy="569976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Abschlussarbeiten-Portal (Webanwendung), E-Mail-Dienst der THM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4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THM-Login, Prüfungsordnungen B.Sc. und M.Sc., Allg. PO THM § 17 (3)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3753BF47-46EB-F3B1-0ADB-2B12F6D49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53696"/>
              </p:ext>
            </p:extLst>
          </p:nvPr>
        </p:nvGraphicFramePr>
        <p:xfrm>
          <a:off x="457200" y="1600200"/>
          <a:ext cx="11274552" cy="114757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Eigenschaften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Erstprüfer:in (Prof. Becker)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Office, Homeoffice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Studierende:r (Moritz)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 Hause (WG)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latin typeface="Calibri" charset="0"/>
                          <a:ea typeface="Calibri" charset="0"/>
                          <a:cs typeface="Calibri" charset="0"/>
                        </a:rPr>
                        <a:t>Laptop, Desktop, Handy</a:t>
                      </a:r>
                    </a:p>
                  </a:txBody>
                  <a:tcPr marT="54864" marB="54864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solidFill>
            <a:srgbClr val="4B5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solidFill>
            <a:srgbClr val="6B737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566928" y="42976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Attributes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772960"/>
              </p:ext>
            </p:extLst>
          </p:nvPr>
        </p:nvGraphicFramePr>
        <p:xfrm>
          <a:off x="457200" y="1234440"/>
          <a:ext cx="11274552" cy="397306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Anforderung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Prüfbarkeit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Sicherheit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Themenfreigabe und Antragsdaten sind vor Zugriff durch nicht berechtigte Personen geschützt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Aufruf und Freigabeversuch mit einem nicht zugeordneten Konto werden verhindert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Zuverlässigkeit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Eine erteilte Themenfreigabe bleibt vollständig und unverändert gespeichert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erneutem Aufruf sind Thema und Zeitpunkt identisch vorhanden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Benutzbarkeit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Themenfreigabe ist ohne Schulung am Desktop und am Smartphone möglich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Nutzungstest mit Erstprüfenden auf beiden Gerätetypen, Zielwert noch zu validieren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Effizienz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Weniger Arbeitsschritte als im heutigen Formularprozess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182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Vergleich der Arbeitsschritte heute und im Portal, Zielwert noch zu validieren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82296" marB="82296" anchor="ctr">
                    <a:lnL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891</Words>
  <Application>Microsoft Office PowerPoint</Application>
  <PresentationFormat>Breitbild</PresentationFormat>
  <Paragraphs>195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D2D Verlängerungsantrag stellen</dc:title>
  <dc:subject>PptxGenJS Presentation</dc:subject>
  <dc:creator>PptxGenJS</dc:creator>
  <cp:lastModifiedBy>Luca kohlstetter</cp:lastModifiedBy>
  <cp:revision>17</cp:revision>
  <dcterms:created xsi:type="dcterms:W3CDTF">2026-10-01T11:22:53Z</dcterms:created>
  <dcterms:modified xsi:type="dcterms:W3CDTF">2026-10-01T17:35:04Z</dcterms:modified>
</cp:coreProperties>
</file>