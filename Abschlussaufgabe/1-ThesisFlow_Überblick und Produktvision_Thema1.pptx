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2"/>
    <p:sldId id="257" r:id="rId3"/>
  </p:sldIdLst>
  <p:sldSz cx="9144000" cy="5143500" type="screen16x9"/>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6"/>
  </p:normalViewPr>
  <p:slideViewPr>
    <p:cSldViewPr snapToGrid="0">
      <p:cViewPr varScale="1">
        <p:scale>
          <a:sx n="154" d="100"/>
          <a:sy n="154" d="100"/>
        </p:scale>
        <p:origin x="63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ONE-PAGER THESISFLOW – Überblick und Produktvision</a:t>
            </a:r>
          </a:p>
          <a:p>
            <a:endParaRPr/>
          </a:p>
          <a:p>
            <a:r>
              <a:t>Inhaltlich abgestimmt auf den Team-Stand im Repository, Commit c822c98d2f6e49fb046f5d92b5f1a23a1aa6f6d4 (am 01.10.2026 gelesen).</a:t>
            </a:r>
          </a:p>
          <a:p>
            <a:endParaRPr/>
          </a:p>
          <a:p>
            <a:r>
              <a:t>HAUPTQUELLEN</a:t>
            </a:r>
          </a:p>
          <a:p>
            <a:r>
              <a:t>1. Aufgabe 1.jpeg, hochgeladener Projekt-One-Pager, Status 30.09.2026: Tagline, Vision, PDF-/E-Mail-Prozess, externe Korreferenten und zweite Ausbaustufe.</a:t>
            </a:r>
          </a:p>
          <a:p>
            <a:r>
              <a:t>2. GitHub README.md und Skripte/onepager.js: Projektname ThesisFlow, Zweck und Elevator Pitch.</a:t>
            </a:r>
          </a:p>
          <a:p>
            <a:r>
              <a:t>3. Abschlusspräsentation/ThesisFlow_Abschlusspraesentation.pptx, Folien 1, 2 und 6: Stil, Vision und drei Releases.</a:t>
            </a:r>
          </a:p>
          <a:p>
            <a:r>
              <a:t>4. Story Mapping/Story_Mapping_V2.md: aktueller Umfang mit 7 Activities, 29 User Tasks und 66 Stories. Release 3 geht über den ursprünglichen Auftrag hinaus und ist mit dem Auftraggeber abzustimmen.</a:t>
            </a:r>
          </a:p>
          <a:p>
            <a:endParaRPr/>
          </a:p>
          <a:p>
            <a:r>
              <a:t>ERGÄNZENDE QUELLEN</a:t>
            </a:r>
          </a:p>
          <a:p>
            <a:r>
              <a:t>– 20250925_Unterlagen Praxisteil Seiten 1-3.pdf, beschriftete Seite 2: Webportal, Desktop/Smartphone, externe Korreferenten, Verlängerungsanträge als zweite Ausbaustufe.</a:t>
            </a:r>
          </a:p>
          <a:p>
            <a:r>
              <a:t>– Unterlagen Praxisteil.pdf, beschriftete Seite 4 und 34: One-Pager/Elevator Pitch sowie Präsentationseinleitung mit Überblick und Produktvision.</a:t>
            </a:r>
          </a:p>
          <a:p>
            <a:r>
              <a:t>– Personas_Abschlussarbeiten-Portal_v2 (1).pptx und hochgeladene Persona-PDF: Orientierung für Studierende, Verwaltungsentlastung für Prüfende und Sekretariat.</a:t>
            </a:r>
          </a:p>
          <a:p>
            <a:r>
              <a:t>– Hochgeladene Story Map sowie D2D_Verlaengerungsantrag_final (4).pptx: Anträge, Nachweise, Status und Verlängerung.</a:t>
            </a:r>
          </a:p>
          <a:p>
            <a:r>
              <a:t>– Quellen/Antrag_Zulassung_Auswertung.md und Quellen/Abschlussarbeit_Prozessseite_MND.md: PDF-Formular, beteiligte Rollen, Freigaben und Übergaben.</a:t>
            </a:r>
          </a:p>
          <a:p>
            <a:r>
              <a:t>– D2D User Story/7_Dimensions_Erstpruefer_Themenfreigabe.pptx und thesisflow-interface/README.md: Themenfreigabe und klickbarer Lehrprototyp.</a:t>
            </a:r>
          </a:p>
          <a:p>
            <a:endParaRPr/>
          </a:p>
          <a:p>
            <a:r>
              <a:t>GESTALTUNG</a:t>
            </a:r>
          </a:p>
          <a:p>
            <a:r>
              <a:t>Cambria/Calibri sowie Dunkelgrün 2C5F2D und Moosgrün 97BC62 aus der bestehenden Teampräsentation. Die linke dunkle Spalte übernimmt die Grundkomposition der Team-Titelfolie. Alle Texte sind editierbar.</a:t>
            </a:r>
          </a:p>
          <a:p>
            <a:endParaRPr/>
          </a:p>
          <a:p>
            <a:r>
              <a:t>EINORDNUNG</a:t>
            </a:r>
          </a:p>
          <a:p>
            <a:r>
              <a:t>Die Folie beschreibt das Zielprodukt. Weniger Rückfragen und Verwaltungsaufwand sind angestrebte Nutzen, keine gemessenen Ergebnisse. Releases entsprechen der bestehenden Planung; Release 3 ist ausdrücklich als Erweiterung gekennzeichnet. Eine echte THM-Anbindung und der produktive Hochschulbetrieb sind durch den Lehrprototyp noch nicht nachgewiesen. Termine, Budget und Rechtskonformität werden nicht als gesichert dargestellt.</a:t>
            </a:r>
          </a:p>
          <a:p>
            <a:endParaRPr/>
          </a:p>
          <a:p>
            <a:r>
              <a:t>SPRECHTEXT</a:t>
            </a:r>
          </a:p>
          <a:p>
            <a:r>
              <a:t>Unser Projekt heißt ThesisFlow. Unsere Vision ist, Abschlussarbeiten im Fachbereich MND digital anzumelden, freizugeben und zu verwalten. Heute führen PDF-Anträge und E-Mail-Umläufe zu Rückfragen, während ein gemeinsamer Überblick über den Bearbeitungsstand fehlt. ThesisFlow soll Anträge, Nachweise und Freigaben in einem Vorgang bündeln. Studierende, Prüfende und Verwaltung sehen den Status und ihre nächsten Schritte. So wollen wir Verwaltungsaufwand reduzieren und mehr Zeit für die fachliche Betreuung schaffen. Wir planen zuerst Anmeldung und Ausgabe einschließlich externer Zweitprüfender, danach Fristen und Verlängerungen. Abgabe und Abschluss sind als drittes Release vorgesehen, dessen Umfang wir mit dem Auftraggeber abstimmen.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THESISFLOW – ausführlicher Projekt-One-Pager</a:t>
            </a:r>
          </a:p>
          <a:p>
            <a:endParaRPr/>
          </a:p>
          <a:p>
            <a:r>
              <a:t>Vollständiger Abgleich mit Bildschirmfoto 2026-10-01 um 18.02.05.png (GitHub-Ansicht von Aufgabe 1.jpeg). Sämtliche inhaltlichen Punkte dieser Vorlage wurden sichtbar auf den beiden Folien übernommen. Projekttitel und Auftragnehmer wurden auf ThesisFlow und Gruppe Grün aktualisiert. Der Stand der Ausarbeitung ist der 01.10.2026. Die Vorlage vom 30.09.2026 bleibt die Quelle der Terminschätzungen.</a:t>
            </a:r>
          </a:p>
          <a:p>
            <a:endParaRPr/>
          </a:p>
          <a:p>
            <a:r>
              <a:t>Vorlage: vom Team hochgeladenes Aufgabe 1.jpeg, ausgefüllter Projekt-One-Pager (Status 30.09.2026). Aufbau mit fünf Metadatenfeldern und sechs Inhaltsfeldern bewusst beibehalten. Gestaltung auf die ThesisFlow-Farben und Cambria/Calibri aus der Gruppenpräsentation abgestimmt.</a:t>
            </a:r>
          </a:p>
          <a:p>
            <a:endParaRPr/>
          </a:p>
          <a:p>
            <a:r>
              <a:t>PLANUNGSRAHMEN</a:t>
            </a:r>
          </a:p>
          <a:p>
            <a:r>
              <a:t>Beginn Oktober 2026, Ende März 2027 für Ausbaustufe 1 und offenes Budget stammen aus eurem One-Pager. Die Termine sind Schätzungen, keine bestätigten Zusagen. Eine Finanzierungssumme wird nicht erfunden. Der aktuelle Stand dieser Ausarbeitung ist der 01.10.2026.</a:t>
            </a:r>
          </a:p>
          <a:p>
            <a:endParaRPr/>
          </a:p>
          <a:p>
            <a:r>
              <a:t>INHALTE UND QUELLEN</a:t>
            </a:r>
          </a:p>
          <a:p>
            <a:r>
              <a:t>– Bildschirmfoto 2026-10-01 um 17.54.44.png: Originalauftrag des Professors. Digitale Anmeldung für Wirtschaftsinformatik B.Sc./M.Sc., effiziente Abwicklung, Webportal im Desktop-/Smartphone-Browser, externe Korreferenten, Verlängerung in der zweiten Ausbaustufe, Auftragnehmer als Softwarefirma und Dozent/Fachbereich MND als Auftraggeber. Anforderungen aus Formularen/Prüfungsordnungen und bei Bedarf Interview.</a:t>
            </a:r>
          </a:p>
          <a:p>
            <a:r>
              <a:t>– Aufgabe 1.jpeg: Begründung, Ziele, Zeitrahmen, Ergebnisse, Risiken, Abhängigkeiten und Projektteam.</a:t>
            </a:r>
          </a:p>
          <a:p>
            <a:r>
              <a:t>– 20250925_Unterlagen Praxisteil Seiten 1-3.pdf, beschriftete Seite 2: Bachelor/Master Wirtschaftsinformatik, webbasierte Desktop-/Smartphone-Nutzung, externe Korreferenten und Verlängerung in der zweiten Ausbaustufe.</a:t>
            </a:r>
          </a:p>
          <a:p>
            <a:r>
              <a:t>– GitHub-Stand c822c98d2f6e49fb046f5d92b5f1a23a1aa6f6d4: README.md, Abschlusspräsentation/ThesisFlow_Abschlusspraesentation.pptx (insbesondere Folie 6), Story Mapping/Story_Mapping_V2.md, Kontextdiagramm und D2D-Unterlagen.</a:t>
            </a:r>
          </a:p>
          <a:p>
            <a:r>
              <a:t>– Personas und Quellen/Antrag_Zulassung_Auswertung.md: Medienbrüche, Rückfragen, Verwaltungsaufwand, Einbindung externer Prüfender und nachvollziehbare Entscheidungen.</a:t>
            </a:r>
          </a:p>
          <a:p>
            <a:r>
              <a:t>– Die drei Releases auf Folie 1 entsprechen der Planung im Repository. Die zwei Ausbaustufen auf Folie 2 entsprechen dem Original-One-Pager. Der produktive Start der ersten Ausbaustufe ist ein geplantes Ergebnis, kein bereits erreichter Stand. Die Regeln der Prüfungsordnungen sollen im Antrag geprüft werden; technische Durchführung und Zuständigkeit sind noch festzulegen. Das Projektteam stand in der Vorlage als N. N. und wird hier korrekt als Gruppe Grün bezeichnet. Die zusätzliche Vorlage-Fußzeile StudiumPlus OneID ist fremder Template-Text und wird nicht in das ThesisFlow-Projekt übernommen.</a:t>
            </a:r>
          </a:p>
          <a:p>
            <a:r>
              <a:t>– Die drei Releases entsprechen der Planung im Repository. Release 3 erweitert den ursprünglichen Auftrag und ist mit dem AG abzustimmen.</a:t>
            </a:r>
          </a:p>
          <a:p>
            <a:r>
              <a:t>– Die Gegenmaßnahmen zu den Risiken sind Vorschläge für das weitere Vorgehen, keine bereits durchgeführten Maßnahmen.</a:t>
            </a:r>
          </a:p>
          <a:p>
            <a:r>
              <a:t>– Die genaue Zuständigkeit für Verlängerungsentscheidungen ist zwischen Formular/Story Map noch zu klären. Deshalb wird hier allgemein der zuständige Ausschuss genannt.</a:t>
            </a:r>
          </a:p>
          <a:p>
            <a:endParaRPr/>
          </a:p>
          <a:p>
            <a:r>
              <a:t>SPRECHTEXT</a:t>
            </a:r>
          </a:p>
          <a:p>
            <a:r>
              <a:t>Diese zweite Folie zeigt den Rahmen unseres Projekts. Auftraggeber ist der Fachbereich MND, vertreten durch Prof. Dr. Carsten Lucke, und wir arbeiten als Gruppe Grün an den Anforderungen und dem Prototyp. Unser One-Pager sieht Oktober 2026 bis März 2027 als geschätzten Zeitraum für die erste Ausbaustufe vor; das Budget ist noch festzulegen. Den Bedarf begründen die Papier- und E-Mail-Schritte sowie die fehlende gemeinsame Statusübersicht. Unser Ziel ist ein Portal, das die Anträge und Nachweise zusammenführt, die Freigaben dokumentiert und die Beteiligten durch ihre Schritte führt. Dazu gehören externe Zweitprüfende und eine komfortable Nutzung am Desktop und Smartphone. Als Ergebnisse sehen wir die abgestimmte Spezifikation, Story Map und Modelle sowie einen Klickprototyp. Die Releaseplanung führt von Anmeldung und Ausgabe über Fristen und Verlängerungen zu Abgabe und Abschluss, wobei die letzte Erweiterung mit dem Auftraggeber zu klären ist. Offene Prüfregeln, Rollen, Datenschutz und Schnittstellen stimmen wir frühzeitig ab.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brand-background">
            <a:extLst>
              <a:ext uri="{FF2B5EF4-FFF2-40B4-BE49-F238E27FC236}">
                <a16:creationId xmlns:a16="http://schemas.microsoft.com/office/drawing/2014/main" id="{04724EED-6437-4D18-B864-C297661B4BA5}"/>
              </a:ext>
            </a:extLst>
          </p:cNvPr>
          <p:cNvSpPr>
            <a:spLocks noGrp="1"/>
          </p:cNvSpPr>
          <p:nvPr/>
        </p:nvSpPr>
        <p:spPr>
          <a:xfrm>
            <a:off x="0" y="0"/>
            <a:ext cx="3219450" cy="5143500"/>
          </a:xfrm>
          <a:prstGeom prst="rect">
            <a:avLst/>
          </a:prstGeom>
          <a:solidFill>
            <a:srgbClr val="2C5F2D"/>
          </a:solidFill>
          <a:ln w="0">
            <a:noFill/>
          </a:ln>
        </p:spPr>
        <p:txBody>
          <a:bodyPr>
            <a:noAutofit/>
          </a:bodyPr>
          <a:lstStyle/>
          <a:p>
            <a:endParaRPr/>
          </a:p>
        </p:txBody>
      </p:sp>
      <p:sp>
        <p:nvSpPr>
          <p:cNvPr id="2" name="context">
            <a:extLst>
              <a:ext uri="{FF2B5EF4-FFF2-40B4-BE49-F238E27FC236}">
                <a16:creationId xmlns:a16="http://schemas.microsoft.com/office/drawing/2014/main" id="{7C56D60E-F3D1-4763-B5CD-40CE0606F7AA}"/>
              </a:ext>
            </a:extLst>
          </p:cNvPr>
          <p:cNvSpPr>
            <a:spLocks noGrp="1"/>
          </p:cNvSpPr>
          <p:nvPr/>
        </p:nvSpPr>
        <p:spPr>
          <a:xfrm>
            <a:off x="342900" y="295275"/>
            <a:ext cx="2705100" cy="266700"/>
          </a:xfrm>
          <a:prstGeom prst="rect">
            <a:avLst/>
          </a:prstGeom>
          <a:noFill/>
          <a:ln w="0">
            <a:noFill/>
          </a:ln>
        </p:spPr>
        <p:txBody>
          <a:bodyPr>
            <a:noAutofit/>
          </a:bodyPr>
          <a:lstStyle/>
          <a:p>
            <a:pPr>
              <a:defRPr sz="975" b="1">
                <a:solidFill>
                  <a:srgbClr val="97BC62"/>
                </a:solidFill>
                <a:latin typeface="Calibri"/>
                <a:ea typeface="Calibri"/>
                <a:cs typeface="Calibri"/>
              </a:defRPr>
            </a:pPr>
            <a:r>
              <a:rPr sz="975" b="1">
                <a:solidFill>
                  <a:srgbClr val="97BC62"/>
                </a:solidFill>
                <a:latin typeface="Calibri"/>
                <a:ea typeface="Calibri"/>
                <a:cs typeface="Calibri"/>
              </a:rPr>
              <a:t>THM · FACHBEREICH MND</a:t>
            </a:r>
          </a:p>
        </p:txBody>
      </p:sp>
      <p:sp>
        <p:nvSpPr>
          <p:cNvPr id="3" name="project-name">
            <a:extLst>
              <a:ext uri="{FF2B5EF4-FFF2-40B4-BE49-F238E27FC236}">
                <a16:creationId xmlns:a16="http://schemas.microsoft.com/office/drawing/2014/main" id="{889DFEA7-9461-477C-BE54-79028FBA0BE5}"/>
              </a:ext>
            </a:extLst>
          </p:cNvPr>
          <p:cNvSpPr>
            <a:spLocks noGrp="1"/>
          </p:cNvSpPr>
          <p:nvPr/>
        </p:nvSpPr>
        <p:spPr>
          <a:xfrm>
            <a:off x="304800" y="666750"/>
            <a:ext cx="2819400" cy="666750"/>
          </a:xfrm>
          <a:prstGeom prst="rect">
            <a:avLst/>
          </a:prstGeom>
          <a:noFill/>
          <a:ln w="0">
            <a:noFill/>
          </a:ln>
        </p:spPr>
        <p:txBody>
          <a:bodyPr>
            <a:noAutofit/>
          </a:bodyPr>
          <a:lstStyle/>
          <a:p>
            <a:pPr>
              <a:defRPr sz="3300" b="1">
                <a:solidFill>
                  <a:srgbClr val="FFFFFF"/>
                </a:solidFill>
                <a:latin typeface="Cambria"/>
                <a:ea typeface="Cambria"/>
                <a:cs typeface="Cambria"/>
              </a:defRPr>
            </a:pPr>
            <a:r>
              <a:rPr sz="3300" b="1">
                <a:solidFill>
                  <a:srgbClr val="FFFFFF"/>
                </a:solidFill>
                <a:latin typeface="Cambria"/>
                <a:ea typeface="Cambria"/>
                <a:cs typeface="Cambria"/>
              </a:rPr>
              <a:t>ThesisFlow</a:t>
            </a:r>
          </a:p>
        </p:txBody>
      </p:sp>
      <p:sp>
        <p:nvSpPr>
          <p:cNvPr id="4" name="team-tagline">
            <a:extLst>
              <a:ext uri="{FF2B5EF4-FFF2-40B4-BE49-F238E27FC236}">
                <a16:creationId xmlns:a16="http://schemas.microsoft.com/office/drawing/2014/main" id="{04334630-A1C0-4A18-B502-588872789591}"/>
              </a:ext>
            </a:extLst>
          </p:cNvPr>
          <p:cNvSpPr>
            <a:spLocks noGrp="1"/>
          </p:cNvSpPr>
          <p:nvPr/>
        </p:nvSpPr>
        <p:spPr>
          <a:xfrm>
            <a:off x="342900" y="1457325"/>
            <a:ext cx="2647950" cy="1028700"/>
          </a:xfrm>
          <a:prstGeom prst="rect">
            <a:avLst/>
          </a:prstGeom>
          <a:noFill/>
          <a:ln w="0">
            <a:noFill/>
          </a:ln>
        </p:spPr>
        <p:txBody>
          <a:bodyPr>
            <a:noAutofit/>
          </a:bodyPr>
          <a:lstStyle/>
          <a:p>
            <a:pPr>
              <a:defRPr sz="1875" b="0" i="1">
                <a:solidFill>
                  <a:srgbClr val="97BC62"/>
                </a:solidFill>
                <a:latin typeface="Cambria"/>
                <a:ea typeface="Cambria"/>
                <a:cs typeface="Cambria"/>
              </a:defRPr>
            </a:pPr>
            <a:r>
              <a:rPr sz="1875" b="0" i="1">
                <a:solidFill>
                  <a:srgbClr val="97BC62"/>
                </a:solidFill>
                <a:latin typeface="Cambria"/>
                <a:ea typeface="Cambria"/>
                <a:cs typeface="Cambria"/>
              </a:rPr>
              <a:t>Anmelden.</a:t>
            </a:r>
          </a:p>
          <a:p>
            <a:pPr>
              <a:defRPr sz="1875" b="0" i="1">
                <a:solidFill>
                  <a:srgbClr val="97BC62"/>
                </a:solidFill>
                <a:latin typeface="Cambria"/>
                <a:ea typeface="Cambria"/>
                <a:cs typeface="Cambria"/>
              </a:defRPr>
            </a:pPr>
            <a:r>
              <a:rPr sz="1875" b="0" i="1">
                <a:solidFill>
                  <a:srgbClr val="97BC62"/>
                </a:solidFill>
                <a:latin typeface="Cambria"/>
                <a:ea typeface="Cambria"/>
                <a:cs typeface="Cambria"/>
              </a:rPr>
              <a:t>Betreuen.</a:t>
            </a:r>
          </a:p>
          <a:p>
            <a:pPr>
              <a:defRPr sz="1875" b="0" i="1">
                <a:solidFill>
                  <a:srgbClr val="97BC62"/>
                </a:solidFill>
                <a:latin typeface="Cambria"/>
                <a:ea typeface="Cambria"/>
                <a:cs typeface="Cambria"/>
              </a:defRPr>
            </a:pPr>
            <a:r>
              <a:rPr sz="1875" b="0" i="1">
                <a:solidFill>
                  <a:srgbClr val="97BC62"/>
                </a:solidFill>
                <a:latin typeface="Cambria"/>
                <a:ea typeface="Cambria"/>
                <a:cs typeface="Cambria"/>
              </a:rPr>
              <a:t>Abschließen.</a:t>
            </a:r>
          </a:p>
        </p:txBody>
      </p:sp>
      <p:sp>
        <p:nvSpPr>
          <p:cNvPr id="5" name="vision-label">
            <a:extLst>
              <a:ext uri="{FF2B5EF4-FFF2-40B4-BE49-F238E27FC236}">
                <a16:creationId xmlns:a16="http://schemas.microsoft.com/office/drawing/2014/main" id="{01201D04-D692-4608-AE8D-BA6318C1FE44}"/>
              </a:ext>
            </a:extLst>
          </p:cNvPr>
          <p:cNvSpPr>
            <a:spLocks noGrp="1"/>
          </p:cNvSpPr>
          <p:nvPr/>
        </p:nvSpPr>
        <p:spPr>
          <a:xfrm>
            <a:off x="342900" y="2657475"/>
            <a:ext cx="2705100" cy="219075"/>
          </a:xfrm>
          <a:prstGeom prst="rect">
            <a:avLst/>
          </a:prstGeom>
          <a:noFill/>
          <a:ln w="0">
            <a:noFill/>
          </a:ln>
        </p:spPr>
        <p:txBody>
          <a:bodyPr>
            <a:noAutofit/>
          </a:bodyPr>
          <a:lstStyle/>
          <a:p>
            <a:pPr>
              <a:defRPr sz="975" b="1">
                <a:solidFill>
                  <a:srgbClr val="97BC62"/>
                </a:solidFill>
                <a:latin typeface="Calibri"/>
                <a:ea typeface="Calibri"/>
                <a:cs typeface="Calibri"/>
              </a:defRPr>
            </a:pPr>
            <a:r>
              <a:rPr sz="975" b="1">
                <a:solidFill>
                  <a:srgbClr val="97BC62"/>
                </a:solidFill>
                <a:latin typeface="Calibri"/>
                <a:ea typeface="Calibri"/>
                <a:cs typeface="Calibri"/>
              </a:rPr>
              <a:t>UNSERE VISION</a:t>
            </a:r>
          </a:p>
        </p:txBody>
      </p:sp>
      <p:sp>
        <p:nvSpPr>
          <p:cNvPr id="6" name="vision">
            <a:extLst>
              <a:ext uri="{FF2B5EF4-FFF2-40B4-BE49-F238E27FC236}">
                <a16:creationId xmlns:a16="http://schemas.microsoft.com/office/drawing/2014/main" id="{5EDB1689-8CE1-466B-B750-FFB55D7C64E4}"/>
              </a:ext>
            </a:extLst>
          </p:cNvPr>
          <p:cNvSpPr>
            <a:spLocks noGrp="1"/>
          </p:cNvSpPr>
          <p:nvPr/>
        </p:nvSpPr>
        <p:spPr>
          <a:xfrm>
            <a:off x="342900" y="2952750"/>
            <a:ext cx="2686050" cy="1104900"/>
          </a:xfrm>
          <a:prstGeom prst="rect">
            <a:avLst/>
          </a:prstGeom>
          <a:noFill/>
          <a:ln w="0">
            <a:noFill/>
          </a:ln>
        </p:spPr>
        <p:txBody>
          <a:bodyPr>
            <a:noAutofit/>
          </a:bodyPr>
          <a:lstStyle/>
          <a:p>
            <a:pPr>
              <a:defRPr sz="1425" b="0">
                <a:solidFill>
                  <a:srgbClr val="FFFFFF"/>
                </a:solidFill>
                <a:latin typeface="Calibri"/>
                <a:ea typeface="Calibri"/>
                <a:cs typeface="Calibri"/>
              </a:defRPr>
            </a:pPr>
            <a:r>
              <a:rPr sz="1425" b="0">
                <a:solidFill>
                  <a:srgbClr val="FFFFFF"/>
                </a:solidFill>
                <a:latin typeface="Calibri"/>
                <a:ea typeface="Calibri"/>
                <a:cs typeface="Calibri"/>
              </a:rPr>
              <a:t>Jede Abschlussarbeit im</a:t>
            </a:r>
          </a:p>
          <a:p>
            <a:pPr>
              <a:defRPr sz="1425" b="0">
                <a:solidFill>
                  <a:srgbClr val="FFFFFF"/>
                </a:solidFill>
                <a:latin typeface="Calibri"/>
                <a:ea typeface="Calibri"/>
                <a:cs typeface="Calibri"/>
              </a:defRPr>
            </a:pPr>
            <a:r>
              <a:rPr sz="1425" b="0">
                <a:solidFill>
                  <a:srgbClr val="FFFFFF"/>
                </a:solidFill>
                <a:latin typeface="Calibri"/>
                <a:ea typeface="Calibri"/>
                <a:cs typeface="Calibri"/>
              </a:rPr>
              <a:t>Fachbereich MND wird</a:t>
            </a:r>
          </a:p>
          <a:p>
            <a:pPr>
              <a:defRPr sz="1425" b="0">
                <a:solidFill>
                  <a:srgbClr val="FFFFFF"/>
                </a:solidFill>
                <a:latin typeface="Calibri"/>
                <a:ea typeface="Calibri"/>
                <a:cs typeface="Calibri"/>
              </a:defRPr>
            </a:pPr>
            <a:r>
              <a:rPr sz="1425" b="0">
                <a:solidFill>
                  <a:srgbClr val="FFFFFF"/>
                </a:solidFill>
                <a:latin typeface="Calibri"/>
                <a:ea typeface="Calibri"/>
                <a:cs typeface="Calibri"/>
              </a:rPr>
              <a:t>vollständig digital angemeldet,</a:t>
            </a:r>
          </a:p>
          <a:p>
            <a:pPr>
              <a:defRPr sz="1425" b="0">
                <a:solidFill>
                  <a:srgbClr val="FFFFFF"/>
                </a:solidFill>
                <a:latin typeface="Calibri"/>
                <a:ea typeface="Calibri"/>
                <a:cs typeface="Calibri"/>
              </a:defRPr>
            </a:pPr>
            <a:r>
              <a:rPr sz="1425" b="0">
                <a:solidFill>
                  <a:srgbClr val="FFFFFF"/>
                </a:solidFill>
                <a:latin typeface="Calibri"/>
                <a:ea typeface="Calibri"/>
                <a:cs typeface="Calibri"/>
              </a:rPr>
              <a:t>freigegeben und verwaltet.</a:t>
            </a:r>
          </a:p>
        </p:txBody>
      </p:sp>
      <p:sp>
        <p:nvSpPr>
          <p:cNvPr id="7" name="platform">
            <a:extLst>
              <a:ext uri="{FF2B5EF4-FFF2-40B4-BE49-F238E27FC236}">
                <a16:creationId xmlns:a16="http://schemas.microsoft.com/office/drawing/2014/main" id="{3B72A749-6103-4446-819B-8E9C676BC2F3}"/>
              </a:ext>
            </a:extLst>
          </p:cNvPr>
          <p:cNvSpPr>
            <a:spLocks noGrp="1"/>
          </p:cNvSpPr>
          <p:nvPr/>
        </p:nvSpPr>
        <p:spPr>
          <a:xfrm>
            <a:off x="342900" y="4076700"/>
            <a:ext cx="2705100" cy="361950"/>
          </a:xfrm>
          <a:prstGeom prst="rect">
            <a:avLst/>
          </a:prstGeom>
          <a:noFill/>
          <a:ln w="0">
            <a:noFill/>
          </a:ln>
        </p:spPr>
        <p:txBody>
          <a:bodyPr>
            <a:noAutofit/>
          </a:bodyPr>
          <a:lstStyle/>
          <a:p>
            <a:pPr>
              <a:defRPr sz="1050" b="0">
                <a:solidFill>
                  <a:srgbClr val="D9E6CF"/>
                </a:solidFill>
                <a:latin typeface="Calibri"/>
                <a:ea typeface="Calibri"/>
                <a:cs typeface="Calibri"/>
              </a:defRPr>
            </a:pPr>
            <a:r>
              <a:rPr sz="1050" b="0">
                <a:solidFill>
                  <a:srgbClr val="D9E6CF"/>
                </a:solidFill>
                <a:latin typeface="Calibri"/>
                <a:ea typeface="Calibri"/>
                <a:cs typeface="Calibri"/>
              </a:rPr>
              <a:t>Webportal für B.Sc. und M.Sc.</a:t>
            </a:r>
          </a:p>
          <a:p>
            <a:pPr>
              <a:defRPr sz="1050" b="0">
                <a:solidFill>
                  <a:srgbClr val="D9E6CF"/>
                </a:solidFill>
                <a:latin typeface="Calibri"/>
                <a:ea typeface="Calibri"/>
                <a:cs typeface="Calibri"/>
              </a:defRPr>
            </a:pPr>
            <a:r>
              <a:rPr sz="1050" b="0">
                <a:solidFill>
                  <a:srgbClr val="D9E6CF"/>
                </a:solidFill>
                <a:latin typeface="Calibri"/>
                <a:ea typeface="Calibri"/>
                <a:cs typeface="Calibri"/>
              </a:rPr>
              <a:t>Am Desktop und Smartphone</a:t>
            </a:r>
          </a:p>
        </p:txBody>
      </p:sp>
      <p:sp>
        <p:nvSpPr>
          <p:cNvPr id="8" name="commission">
            <a:extLst>
              <a:ext uri="{FF2B5EF4-FFF2-40B4-BE49-F238E27FC236}">
                <a16:creationId xmlns:a16="http://schemas.microsoft.com/office/drawing/2014/main" id="{2A18BC41-ED3E-40F0-8623-C723AD79D3AA}"/>
              </a:ext>
            </a:extLst>
          </p:cNvPr>
          <p:cNvSpPr>
            <a:spLocks noGrp="1"/>
          </p:cNvSpPr>
          <p:nvPr/>
        </p:nvSpPr>
        <p:spPr>
          <a:xfrm>
            <a:off x="342900" y="4581525"/>
            <a:ext cx="2705100" cy="466725"/>
          </a:xfrm>
          <a:prstGeom prst="rect">
            <a:avLst/>
          </a:prstGeom>
          <a:noFill/>
          <a:ln w="0">
            <a:noFill/>
          </a:ln>
        </p:spPr>
        <p:txBody>
          <a:bodyPr>
            <a:noAutofit/>
          </a:bodyPr>
          <a:lstStyle/>
          <a:p>
            <a:pPr>
              <a:defRPr sz="900" b="0">
                <a:solidFill>
                  <a:srgbClr val="D9E6CF"/>
                </a:solidFill>
                <a:latin typeface="Calibri"/>
                <a:ea typeface="Calibri"/>
                <a:cs typeface="Calibri"/>
              </a:defRPr>
            </a:pPr>
            <a:r>
              <a:rPr sz="900" b="0">
                <a:solidFill>
                  <a:srgbClr val="D9E6CF"/>
                </a:solidFill>
                <a:latin typeface="Calibri"/>
                <a:ea typeface="Calibri"/>
                <a:cs typeface="Calibri"/>
              </a:rPr>
              <a:t>Auftraggeber: Fachbereich MND</a:t>
            </a:r>
          </a:p>
          <a:p>
            <a:pPr>
              <a:defRPr sz="900" b="0">
                <a:solidFill>
                  <a:srgbClr val="D9E6CF"/>
                </a:solidFill>
                <a:latin typeface="Calibri"/>
                <a:ea typeface="Calibri"/>
                <a:cs typeface="Calibri"/>
              </a:defRPr>
            </a:pPr>
            <a:r>
              <a:rPr sz="900" b="0">
                <a:solidFill>
                  <a:srgbClr val="D9E6CF"/>
                </a:solidFill>
                <a:latin typeface="Calibri"/>
                <a:ea typeface="Calibri"/>
                <a:cs typeface="Calibri"/>
              </a:rPr>
              <a:t>Prof. Dr. Carsten Lucke</a:t>
            </a:r>
          </a:p>
          <a:p>
            <a:pPr>
              <a:defRPr sz="900" b="0">
                <a:solidFill>
                  <a:srgbClr val="D9E6CF"/>
                </a:solidFill>
                <a:latin typeface="Calibri"/>
                <a:ea typeface="Calibri"/>
                <a:cs typeface="Calibri"/>
              </a:defRPr>
            </a:pPr>
            <a:r>
              <a:rPr sz="900" b="0">
                <a:solidFill>
                  <a:srgbClr val="D9E6CF"/>
                </a:solidFill>
                <a:latin typeface="Calibri"/>
                <a:ea typeface="Calibri"/>
                <a:cs typeface="Calibri"/>
              </a:rPr>
              <a:t>Auftragnehmer: Gruppe Grün</a:t>
            </a:r>
          </a:p>
        </p:txBody>
      </p:sp>
      <p:sp>
        <p:nvSpPr>
          <p:cNvPr id="9" name="page-title">
            <a:extLst>
              <a:ext uri="{FF2B5EF4-FFF2-40B4-BE49-F238E27FC236}">
                <a16:creationId xmlns:a16="http://schemas.microsoft.com/office/drawing/2014/main" id="{46E206E2-0A5C-4F59-B1AA-7B15F7990BFE}"/>
              </a:ext>
            </a:extLst>
          </p:cNvPr>
          <p:cNvSpPr>
            <a:spLocks noGrp="1"/>
          </p:cNvSpPr>
          <p:nvPr/>
        </p:nvSpPr>
        <p:spPr>
          <a:xfrm>
            <a:off x="3524250" y="285750"/>
            <a:ext cx="5276850" cy="447675"/>
          </a:xfrm>
          <a:prstGeom prst="rect">
            <a:avLst/>
          </a:prstGeom>
          <a:noFill/>
          <a:ln w="0">
            <a:noFill/>
          </a:ln>
        </p:spPr>
        <p:txBody>
          <a:bodyPr>
            <a:noAutofit/>
          </a:bodyPr>
          <a:lstStyle/>
          <a:p>
            <a:pPr>
              <a:defRPr sz="2100" b="1">
                <a:solidFill>
                  <a:srgbClr val="1F2A1F"/>
                </a:solidFill>
                <a:latin typeface="Cambria"/>
                <a:ea typeface="Cambria"/>
                <a:cs typeface="Cambria"/>
              </a:defRPr>
            </a:pPr>
            <a:r>
              <a:rPr sz="2100" b="1">
                <a:solidFill>
                  <a:srgbClr val="1F2A1F"/>
                </a:solidFill>
                <a:latin typeface="Cambria"/>
                <a:ea typeface="Cambria"/>
                <a:cs typeface="Cambria"/>
              </a:rPr>
              <a:t>Überblick und Produktvision</a:t>
            </a:r>
          </a:p>
        </p:txBody>
      </p:sp>
      <p:sp>
        <p:nvSpPr>
          <p:cNvPr id="10" name="problem-title">
            <a:extLst>
              <a:ext uri="{FF2B5EF4-FFF2-40B4-BE49-F238E27FC236}">
                <a16:creationId xmlns:a16="http://schemas.microsoft.com/office/drawing/2014/main" id="{43FFD0CD-C5B3-455E-9512-12ABF65EA771}"/>
              </a:ext>
            </a:extLst>
          </p:cNvPr>
          <p:cNvSpPr>
            <a:spLocks noGrp="1"/>
          </p:cNvSpPr>
          <p:nvPr/>
        </p:nvSpPr>
        <p:spPr>
          <a:xfrm>
            <a:off x="3524250" y="942975"/>
            <a:ext cx="5276850" cy="295275"/>
          </a:xfrm>
          <a:prstGeom prst="rect">
            <a:avLst/>
          </a:prstGeom>
          <a:noFill/>
          <a:ln w="0">
            <a:noFill/>
          </a:ln>
        </p:spPr>
        <p:txBody>
          <a:bodyPr>
            <a:noAutofit/>
          </a:bodyPr>
          <a:lstStyle/>
          <a:p>
            <a:pPr>
              <a:defRPr sz="1650" b="1">
                <a:solidFill>
                  <a:srgbClr val="2C5F2D"/>
                </a:solidFill>
                <a:latin typeface="Cambria"/>
                <a:ea typeface="Cambria"/>
                <a:cs typeface="Cambria"/>
              </a:defRPr>
            </a:pPr>
            <a:r>
              <a:rPr sz="1650" b="1">
                <a:solidFill>
                  <a:srgbClr val="2C5F2D"/>
                </a:solidFill>
                <a:latin typeface="Cambria"/>
                <a:ea typeface="Cambria"/>
                <a:cs typeface="Cambria"/>
              </a:rPr>
              <a:t>Die Ausgangslage</a:t>
            </a:r>
          </a:p>
        </p:txBody>
      </p:sp>
      <p:sp>
        <p:nvSpPr>
          <p:cNvPr id="11" name="problem-body">
            <a:extLst>
              <a:ext uri="{FF2B5EF4-FFF2-40B4-BE49-F238E27FC236}">
                <a16:creationId xmlns:a16="http://schemas.microsoft.com/office/drawing/2014/main" id="{94BCB43B-BAF9-48A2-87A0-A1C30BE40CE6}"/>
              </a:ext>
            </a:extLst>
          </p:cNvPr>
          <p:cNvSpPr>
            <a:spLocks noGrp="1"/>
          </p:cNvSpPr>
          <p:nvPr/>
        </p:nvSpPr>
        <p:spPr>
          <a:xfrm>
            <a:off x="3524250" y="1304925"/>
            <a:ext cx="5276850" cy="514350"/>
          </a:xfrm>
          <a:prstGeom prst="rect">
            <a:avLst/>
          </a:prstGeom>
          <a:noFill/>
          <a:ln w="0">
            <a:noFill/>
          </a:ln>
        </p:spPr>
        <p:txBody>
          <a:bodyPr>
            <a:noAutofit/>
          </a:bodyPr>
          <a:lstStyle/>
          <a:p>
            <a:pPr>
              <a:defRPr sz="1388" b="0">
                <a:solidFill>
                  <a:srgbClr val="1F2A1F"/>
                </a:solidFill>
                <a:latin typeface="Calibri"/>
                <a:ea typeface="Calibri"/>
                <a:cs typeface="Calibri"/>
              </a:defRPr>
            </a:pPr>
            <a:r>
              <a:rPr sz="1388" b="0">
                <a:solidFill>
                  <a:srgbClr val="1F2A1F"/>
                </a:solidFill>
                <a:latin typeface="Calibri"/>
                <a:ea typeface="Calibri"/>
                <a:cs typeface="Calibri"/>
              </a:rPr>
              <a:t>PDF-Anträge und E-Mail-Umläufe erzeugen Rückfragen.</a:t>
            </a:r>
          </a:p>
          <a:p>
            <a:pPr>
              <a:defRPr sz="1388" b="0">
                <a:solidFill>
                  <a:srgbClr val="1F2A1F"/>
                </a:solidFill>
                <a:latin typeface="Calibri"/>
                <a:ea typeface="Calibri"/>
                <a:cs typeface="Calibri"/>
              </a:defRPr>
            </a:pPr>
            <a:r>
              <a:rPr sz="1388" b="0">
                <a:solidFill>
                  <a:srgbClr val="1F2A1F"/>
                </a:solidFill>
                <a:latin typeface="Calibri"/>
                <a:ea typeface="Calibri"/>
                <a:cs typeface="Calibri"/>
              </a:rPr>
              <a:t>Ein gemeinsamer Überblick über den Bearbeitungsstand fehlt.</a:t>
            </a:r>
          </a:p>
        </p:txBody>
      </p:sp>
      <p:sp>
        <p:nvSpPr>
          <p:cNvPr id="12" name="solution-title">
            <a:extLst>
              <a:ext uri="{FF2B5EF4-FFF2-40B4-BE49-F238E27FC236}">
                <a16:creationId xmlns:a16="http://schemas.microsoft.com/office/drawing/2014/main" id="{A7B49ECF-530B-4A69-AE6E-4C78086A3875}"/>
              </a:ext>
            </a:extLst>
          </p:cNvPr>
          <p:cNvSpPr>
            <a:spLocks noGrp="1"/>
          </p:cNvSpPr>
          <p:nvPr/>
        </p:nvSpPr>
        <p:spPr>
          <a:xfrm>
            <a:off x="3524250" y="1857375"/>
            <a:ext cx="5276850" cy="295275"/>
          </a:xfrm>
          <a:prstGeom prst="rect">
            <a:avLst/>
          </a:prstGeom>
          <a:noFill/>
          <a:ln w="0">
            <a:noFill/>
          </a:ln>
        </p:spPr>
        <p:txBody>
          <a:bodyPr>
            <a:noAutofit/>
          </a:bodyPr>
          <a:lstStyle/>
          <a:p>
            <a:pPr>
              <a:defRPr sz="1650" b="1">
                <a:solidFill>
                  <a:srgbClr val="2C5F2D"/>
                </a:solidFill>
                <a:latin typeface="Cambria"/>
                <a:ea typeface="Cambria"/>
                <a:cs typeface="Cambria"/>
              </a:defRPr>
            </a:pPr>
            <a:r>
              <a:rPr sz="1650" b="1">
                <a:solidFill>
                  <a:srgbClr val="2C5F2D"/>
                </a:solidFill>
                <a:latin typeface="Cambria"/>
                <a:ea typeface="Cambria"/>
                <a:cs typeface="Cambria"/>
              </a:rPr>
              <a:t>Ein gemeinsamer Vorgang</a:t>
            </a:r>
          </a:p>
        </p:txBody>
      </p:sp>
      <p:sp>
        <p:nvSpPr>
          <p:cNvPr id="13" name="solution-body">
            <a:extLst>
              <a:ext uri="{FF2B5EF4-FFF2-40B4-BE49-F238E27FC236}">
                <a16:creationId xmlns:a16="http://schemas.microsoft.com/office/drawing/2014/main" id="{79BB0F2E-BB87-496E-9BBC-A772F0E5F4C1}"/>
              </a:ext>
            </a:extLst>
          </p:cNvPr>
          <p:cNvSpPr>
            <a:spLocks noGrp="1"/>
          </p:cNvSpPr>
          <p:nvPr/>
        </p:nvSpPr>
        <p:spPr>
          <a:xfrm>
            <a:off x="3524250" y="2228850"/>
            <a:ext cx="5276850" cy="742950"/>
          </a:xfrm>
          <a:prstGeom prst="rect">
            <a:avLst/>
          </a:prstGeom>
          <a:noFill/>
          <a:ln w="0">
            <a:noFill/>
          </a:ln>
        </p:spPr>
        <p:txBody>
          <a:bodyPr>
            <a:noAutofit/>
          </a:bodyPr>
          <a:lstStyle/>
          <a:p>
            <a:pPr>
              <a:defRPr sz="1388" b="0">
                <a:solidFill>
                  <a:srgbClr val="1F2A1F"/>
                </a:solidFill>
                <a:latin typeface="Calibri"/>
                <a:ea typeface="Calibri"/>
                <a:cs typeface="Calibri"/>
              </a:defRPr>
            </a:pPr>
            <a:r>
              <a:rPr sz="1388" b="0">
                <a:solidFill>
                  <a:srgbClr val="1F2A1F"/>
                </a:solidFill>
                <a:latin typeface="Calibri"/>
                <a:ea typeface="Calibri"/>
                <a:cs typeface="Calibri"/>
              </a:rPr>
              <a:t>ThesisFlow führt Anträge, Nachweise und Freigaben zusammen.</a:t>
            </a:r>
          </a:p>
          <a:p>
            <a:pPr>
              <a:defRPr sz="1388" b="0">
                <a:solidFill>
                  <a:srgbClr val="1F2A1F"/>
                </a:solidFill>
                <a:latin typeface="Calibri"/>
                <a:ea typeface="Calibri"/>
                <a:cs typeface="Calibri"/>
              </a:defRPr>
            </a:pPr>
            <a:r>
              <a:rPr sz="1388" b="0">
                <a:solidFill>
                  <a:srgbClr val="1F2A1F"/>
                </a:solidFill>
                <a:latin typeface="Calibri"/>
                <a:ea typeface="Calibri"/>
                <a:cs typeface="Calibri"/>
              </a:rPr>
              <a:t>Studierende, interne und externe Prüfende sowie die Verwaltung</a:t>
            </a:r>
          </a:p>
          <a:p>
            <a:pPr>
              <a:defRPr sz="1388" b="0">
                <a:solidFill>
                  <a:srgbClr val="1F2A1F"/>
                </a:solidFill>
                <a:latin typeface="Calibri"/>
                <a:ea typeface="Calibri"/>
                <a:cs typeface="Calibri"/>
              </a:defRPr>
            </a:pPr>
            <a:r>
              <a:rPr sz="1388" b="0">
                <a:solidFill>
                  <a:srgbClr val="1F2A1F"/>
                </a:solidFill>
                <a:latin typeface="Calibri"/>
                <a:ea typeface="Calibri"/>
                <a:cs typeface="Calibri"/>
              </a:rPr>
              <a:t>sehen den Status und ihre nächsten Schritte.</a:t>
            </a:r>
          </a:p>
        </p:txBody>
      </p:sp>
      <p:sp>
        <p:nvSpPr>
          <p:cNvPr id="14" name="value-title">
            <a:extLst>
              <a:ext uri="{FF2B5EF4-FFF2-40B4-BE49-F238E27FC236}">
                <a16:creationId xmlns:a16="http://schemas.microsoft.com/office/drawing/2014/main" id="{A3CABF6D-A3A0-448A-BE2B-D48F9FF9F4FB}"/>
              </a:ext>
            </a:extLst>
          </p:cNvPr>
          <p:cNvSpPr>
            <a:spLocks noGrp="1"/>
          </p:cNvSpPr>
          <p:nvPr/>
        </p:nvSpPr>
        <p:spPr>
          <a:xfrm>
            <a:off x="3524250" y="3048000"/>
            <a:ext cx="5276850" cy="295275"/>
          </a:xfrm>
          <a:prstGeom prst="rect">
            <a:avLst/>
          </a:prstGeom>
          <a:noFill/>
          <a:ln w="0">
            <a:noFill/>
          </a:ln>
        </p:spPr>
        <p:txBody>
          <a:bodyPr>
            <a:noAutofit/>
          </a:bodyPr>
          <a:lstStyle/>
          <a:p>
            <a:pPr>
              <a:defRPr sz="1650" b="1">
                <a:solidFill>
                  <a:srgbClr val="2C5F2D"/>
                </a:solidFill>
                <a:latin typeface="Cambria"/>
                <a:ea typeface="Cambria"/>
                <a:cs typeface="Cambria"/>
              </a:defRPr>
            </a:pPr>
            <a:r>
              <a:rPr sz="1650" b="1">
                <a:solidFill>
                  <a:srgbClr val="2C5F2D"/>
                </a:solidFill>
                <a:latin typeface="Cambria"/>
                <a:ea typeface="Cambria"/>
                <a:cs typeface="Cambria"/>
              </a:rPr>
              <a:t>Der Nutzen</a:t>
            </a:r>
          </a:p>
        </p:txBody>
      </p:sp>
      <p:sp>
        <p:nvSpPr>
          <p:cNvPr id="15" name="value-body">
            <a:extLst>
              <a:ext uri="{FF2B5EF4-FFF2-40B4-BE49-F238E27FC236}">
                <a16:creationId xmlns:a16="http://schemas.microsoft.com/office/drawing/2014/main" id="{96AF02C6-6B02-4D2A-B25C-7DF22621CF7E}"/>
              </a:ext>
            </a:extLst>
          </p:cNvPr>
          <p:cNvSpPr>
            <a:spLocks noGrp="1"/>
          </p:cNvSpPr>
          <p:nvPr/>
        </p:nvSpPr>
        <p:spPr>
          <a:xfrm>
            <a:off x="3524250" y="3409950"/>
            <a:ext cx="5276850" cy="457200"/>
          </a:xfrm>
          <a:prstGeom prst="rect">
            <a:avLst/>
          </a:prstGeom>
          <a:noFill/>
          <a:ln w="0">
            <a:noFill/>
          </a:ln>
        </p:spPr>
        <p:txBody>
          <a:bodyPr>
            <a:noAutofit/>
          </a:bodyPr>
          <a:lstStyle/>
          <a:p>
            <a:pPr>
              <a:defRPr sz="1388" b="0">
                <a:solidFill>
                  <a:srgbClr val="1F2A1F"/>
                </a:solidFill>
                <a:latin typeface="Calibri"/>
                <a:ea typeface="Calibri"/>
                <a:cs typeface="Calibri"/>
              </a:defRPr>
            </a:pPr>
            <a:r>
              <a:rPr sz="1388" b="0">
                <a:solidFill>
                  <a:srgbClr val="1F2A1F"/>
                </a:solidFill>
                <a:latin typeface="Calibri"/>
                <a:ea typeface="Calibri"/>
                <a:cs typeface="Calibri"/>
              </a:rPr>
              <a:t>Weniger Rückfragen und Verwaltungsaufwand.</a:t>
            </a:r>
          </a:p>
          <a:p>
            <a:pPr>
              <a:defRPr sz="1388" b="0">
                <a:solidFill>
                  <a:srgbClr val="1F2A1F"/>
                </a:solidFill>
                <a:latin typeface="Calibri"/>
                <a:ea typeface="Calibri"/>
                <a:cs typeface="Calibri"/>
              </a:defRPr>
            </a:pPr>
            <a:r>
              <a:rPr sz="1388" b="0">
                <a:solidFill>
                  <a:srgbClr val="1F2A1F"/>
                </a:solidFill>
                <a:latin typeface="Calibri"/>
                <a:ea typeface="Calibri"/>
                <a:cs typeface="Calibri"/>
              </a:rPr>
              <a:t>Mehr Zeit für die fachliche Betreuung.</a:t>
            </a:r>
          </a:p>
        </p:txBody>
      </p:sp>
      <p:sp>
        <p:nvSpPr>
          <p:cNvPr id="16" name="release-heading">
            <a:extLst>
              <a:ext uri="{FF2B5EF4-FFF2-40B4-BE49-F238E27FC236}">
                <a16:creationId xmlns:a16="http://schemas.microsoft.com/office/drawing/2014/main" id="{EAFB3BCC-42DE-4FBA-852E-99D186CCACC9}"/>
              </a:ext>
            </a:extLst>
          </p:cNvPr>
          <p:cNvSpPr>
            <a:spLocks noGrp="1"/>
          </p:cNvSpPr>
          <p:nvPr/>
        </p:nvSpPr>
        <p:spPr>
          <a:xfrm>
            <a:off x="3524250" y="4076700"/>
            <a:ext cx="5276850" cy="209550"/>
          </a:xfrm>
          <a:prstGeom prst="rect">
            <a:avLst/>
          </a:prstGeom>
          <a:noFill/>
          <a:ln w="0">
            <a:noFill/>
          </a:ln>
        </p:spPr>
        <p:txBody>
          <a:bodyPr>
            <a:noAutofit/>
          </a:bodyPr>
          <a:lstStyle/>
          <a:p>
            <a:pPr>
              <a:defRPr sz="1275" b="1">
                <a:solidFill>
                  <a:srgbClr val="2C5F2D"/>
                </a:solidFill>
                <a:latin typeface="Cambria"/>
                <a:ea typeface="Cambria"/>
                <a:cs typeface="Cambria"/>
              </a:defRPr>
            </a:pPr>
            <a:r>
              <a:rPr sz="1275" b="1">
                <a:solidFill>
                  <a:srgbClr val="2C5F2D"/>
                </a:solidFill>
                <a:latin typeface="Cambria"/>
                <a:ea typeface="Cambria"/>
                <a:cs typeface="Cambria"/>
              </a:rPr>
              <a:t>Geplanter Ausbau</a:t>
            </a:r>
          </a:p>
        </p:txBody>
      </p:sp>
      <p:sp>
        <p:nvSpPr>
          <p:cNvPr id="17" name="release-1-label">
            <a:extLst>
              <a:ext uri="{FF2B5EF4-FFF2-40B4-BE49-F238E27FC236}">
                <a16:creationId xmlns:a16="http://schemas.microsoft.com/office/drawing/2014/main" id="{51BF89CE-50E4-46A4-8D5F-B161F79DDBCA}"/>
              </a:ext>
            </a:extLst>
          </p:cNvPr>
          <p:cNvSpPr>
            <a:spLocks noGrp="1"/>
          </p:cNvSpPr>
          <p:nvPr/>
        </p:nvSpPr>
        <p:spPr>
          <a:xfrm>
            <a:off x="3524250" y="4352925"/>
            <a:ext cx="1524000" cy="219075"/>
          </a:xfrm>
          <a:prstGeom prst="rect">
            <a:avLst/>
          </a:prstGeom>
          <a:noFill/>
          <a:ln w="0">
            <a:noFill/>
          </a:ln>
        </p:spPr>
        <p:txBody>
          <a:bodyPr>
            <a:noAutofit/>
          </a:bodyPr>
          <a:lstStyle/>
          <a:p>
            <a:pPr>
              <a:defRPr sz="1200" b="1">
                <a:solidFill>
                  <a:srgbClr val="2C5F2D"/>
                </a:solidFill>
                <a:latin typeface="Calibri"/>
                <a:ea typeface="Calibri"/>
                <a:cs typeface="Calibri"/>
              </a:defRPr>
            </a:pPr>
            <a:r>
              <a:rPr sz="1200" b="1">
                <a:solidFill>
                  <a:srgbClr val="2C5F2D"/>
                </a:solidFill>
                <a:latin typeface="Calibri"/>
                <a:ea typeface="Calibri"/>
                <a:cs typeface="Calibri"/>
              </a:rPr>
              <a:t>Release 1</a:t>
            </a:r>
          </a:p>
        </p:txBody>
      </p:sp>
      <p:sp>
        <p:nvSpPr>
          <p:cNvPr id="18" name="release-1-scope">
            <a:extLst>
              <a:ext uri="{FF2B5EF4-FFF2-40B4-BE49-F238E27FC236}">
                <a16:creationId xmlns:a16="http://schemas.microsoft.com/office/drawing/2014/main" id="{F480FBB0-B68A-4F16-845A-C521ED39DCB0}"/>
              </a:ext>
            </a:extLst>
          </p:cNvPr>
          <p:cNvSpPr>
            <a:spLocks noGrp="1"/>
          </p:cNvSpPr>
          <p:nvPr/>
        </p:nvSpPr>
        <p:spPr>
          <a:xfrm>
            <a:off x="3524250" y="4610100"/>
            <a:ext cx="1524000" cy="361950"/>
          </a:xfrm>
          <a:prstGeom prst="rect">
            <a:avLst/>
          </a:prstGeom>
          <a:noFill/>
          <a:ln w="0">
            <a:noFill/>
          </a:ln>
        </p:spPr>
        <p:txBody>
          <a:bodyPr>
            <a:noAutofit/>
          </a:bodyPr>
          <a:lstStyle/>
          <a:p>
            <a:pPr>
              <a:defRPr sz="1050" b="0">
                <a:solidFill>
                  <a:srgbClr val="5C6B5C"/>
                </a:solidFill>
                <a:latin typeface="Calibri"/>
                <a:ea typeface="Calibri"/>
                <a:cs typeface="Calibri"/>
              </a:defRPr>
            </a:pPr>
            <a:r>
              <a:rPr sz="1050" b="0">
                <a:solidFill>
                  <a:srgbClr val="5C6B5C"/>
                </a:solidFill>
                <a:latin typeface="Calibri"/>
                <a:ea typeface="Calibri"/>
                <a:cs typeface="Calibri"/>
              </a:rPr>
              <a:t>Anmeldung und</a:t>
            </a:r>
          </a:p>
          <a:p>
            <a:pPr>
              <a:defRPr sz="1050" b="0">
                <a:solidFill>
                  <a:srgbClr val="5C6B5C"/>
                </a:solidFill>
                <a:latin typeface="Calibri"/>
                <a:ea typeface="Calibri"/>
                <a:cs typeface="Calibri"/>
              </a:defRPr>
            </a:pPr>
            <a:r>
              <a:rPr sz="1050" b="0">
                <a:solidFill>
                  <a:srgbClr val="5C6B5C"/>
                </a:solidFill>
                <a:latin typeface="Calibri"/>
                <a:ea typeface="Calibri"/>
                <a:cs typeface="Calibri"/>
              </a:rPr>
              <a:t>Ausgabe</a:t>
            </a:r>
          </a:p>
        </p:txBody>
      </p:sp>
      <p:sp>
        <p:nvSpPr>
          <p:cNvPr id="19" name="release-2-label">
            <a:extLst>
              <a:ext uri="{FF2B5EF4-FFF2-40B4-BE49-F238E27FC236}">
                <a16:creationId xmlns:a16="http://schemas.microsoft.com/office/drawing/2014/main" id="{EFB87451-0156-411F-8AD4-CF22298E54BD}"/>
              </a:ext>
            </a:extLst>
          </p:cNvPr>
          <p:cNvSpPr>
            <a:spLocks noGrp="1"/>
          </p:cNvSpPr>
          <p:nvPr/>
        </p:nvSpPr>
        <p:spPr>
          <a:xfrm>
            <a:off x="5286375" y="4352925"/>
            <a:ext cx="1524000" cy="219075"/>
          </a:xfrm>
          <a:prstGeom prst="rect">
            <a:avLst/>
          </a:prstGeom>
          <a:noFill/>
          <a:ln w="0">
            <a:noFill/>
          </a:ln>
        </p:spPr>
        <p:txBody>
          <a:bodyPr>
            <a:noAutofit/>
          </a:bodyPr>
          <a:lstStyle/>
          <a:p>
            <a:pPr>
              <a:defRPr sz="1200" b="1">
                <a:solidFill>
                  <a:srgbClr val="2C5F2D"/>
                </a:solidFill>
                <a:latin typeface="Calibri"/>
                <a:ea typeface="Calibri"/>
                <a:cs typeface="Calibri"/>
              </a:defRPr>
            </a:pPr>
            <a:r>
              <a:rPr sz="1200" b="1">
                <a:solidFill>
                  <a:srgbClr val="2C5F2D"/>
                </a:solidFill>
                <a:latin typeface="Calibri"/>
                <a:ea typeface="Calibri"/>
                <a:cs typeface="Calibri"/>
              </a:rPr>
              <a:t>Release 2</a:t>
            </a:r>
          </a:p>
        </p:txBody>
      </p:sp>
      <p:sp>
        <p:nvSpPr>
          <p:cNvPr id="20" name="release-2-scope">
            <a:extLst>
              <a:ext uri="{FF2B5EF4-FFF2-40B4-BE49-F238E27FC236}">
                <a16:creationId xmlns:a16="http://schemas.microsoft.com/office/drawing/2014/main" id="{4D6BC910-9F63-4241-86D6-12C82F21CFFE}"/>
              </a:ext>
            </a:extLst>
          </p:cNvPr>
          <p:cNvSpPr>
            <a:spLocks noGrp="1"/>
          </p:cNvSpPr>
          <p:nvPr/>
        </p:nvSpPr>
        <p:spPr>
          <a:xfrm>
            <a:off x="5286375" y="4610100"/>
            <a:ext cx="1524000" cy="361950"/>
          </a:xfrm>
          <a:prstGeom prst="rect">
            <a:avLst/>
          </a:prstGeom>
          <a:noFill/>
          <a:ln w="0">
            <a:noFill/>
          </a:ln>
        </p:spPr>
        <p:txBody>
          <a:bodyPr>
            <a:noAutofit/>
          </a:bodyPr>
          <a:lstStyle/>
          <a:p>
            <a:pPr>
              <a:defRPr sz="1050" b="0">
                <a:solidFill>
                  <a:srgbClr val="5C6B5C"/>
                </a:solidFill>
                <a:latin typeface="Calibri"/>
                <a:ea typeface="Calibri"/>
                <a:cs typeface="Calibri"/>
              </a:defRPr>
            </a:pPr>
            <a:r>
              <a:rPr sz="1050" b="0">
                <a:solidFill>
                  <a:srgbClr val="5C6B5C"/>
                </a:solidFill>
                <a:latin typeface="Calibri"/>
                <a:ea typeface="Calibri"/>
                <a:cs typeface="Calibri"/>
              </a:rPr>
              <a:t>Fristen und</a:t>
            </a:r>
          </a:p>
          <a:p>
            <a:pPr>
              <a:defRPr sz="1050" b="0">
                <a:solidFill>
                  <a:srgbClr val="5C6B5C"/>
                </a:solidFill>
                <a:latin typeface="Calibri"/>
                <a:ea typeface="Calibri"/>
                <a:cs typeface="Calibri"/>
              </a:defRPr>
            </a:pPr>
            <a:r>
              <a:rPr sz="1050" b="0">
                <a:solidFill>
                  <a:srgbClr val="5C6B5C"/>
                </a:solidFill>
                <a:latin typeface="Calibri"/>
                <a:ea typeface="Calibri"/>
                <a:cs typeface="Calibri"/>
              </a:rPr>
              <a:t>Verlängerung</a:t>
            </a:r>
          </a:p>
        </p:txBody>
      </p:sp>
      <p:sp>
        <p:nvSpPr>
          <p:cNvPr id="21" name="release-3-label">
            <a:extLst>
              <a:ext uri="{FF2B5EF4-FFF2-40B4-BE49-F238E27FC236}">
                <a16:creationId xmlns:a16="http://schemas.microsoft.com/office/drawing/2014/main" id="{B4771B7B-3E8D-439D-A0F4-DABBED5D8D2B}"/>
              </a:ext>
            </a:extLst>
          </p:cNvPr>
          <p:cNvSpPr>
            <a:spLocks noGrp="1"/>
          </p:cNvSpPr>
          <p:nvPr/>
        </p:nvSpPr>
        <p:spPr>
          <a:xfrm>
            <a:off x="7029450" y="4352925"/>
            <a:ext cx="1762125" cy="219075"/>
          </a:xfrm>
          <a:prstGeom prst="rect">
            <a:avLst/>
          </a:prstGeom>
          <a:noFill/>
          <a:ln w="0">
            <a:noFill/>
          </a:ln>
        </p:spPr>
        <p:txBody>
          <a:bodyPr>
            <a:noAutofit/>
          </a:bodyPr>
          <a:lstStyle/>
          <a:p>
            <a:pPr>
              <a:defRPr sz="1200" b="1">
                <a:solidFill>
                  <a:srgbClr val="2C5F2D"/>
                </a:solidFill>
                <a:latin typeface="Calibri"/>
                <a:ea typeface="Calibri"/>
                <a:cs typeface="Calibri"/>
              </a:defRPr>
            </a:pPr>
            <a:r>
              <a:rPr sz="1200" b="1">
                <a:solidFill>
                  <a:srgbClr val="2C5F2D"/>
                </a:solidFill>
                <a:latin typeface="Calibri"/>
                <a:ea typeface="Calibri"/>
                <a:cs typeface="Calibri"/>
              </a:rPr>
              <a:t>Release 3</a:t>
            </a:r>
          </a:p>
        </p:txBody>
      </p:sp>
      <p:sp>
        <p:nvSpPr>
          <p:cNvPr id="22" name="release-3-scope">
            <a:extLst>
              <a:ext uri="{FF2B5EF4-FFF2-40B4-BE49-F238E27FC236}">
                <a16:creationId xmlns:a16="http://schemas.microsoft.com/office/drawing/2014/main" id="{13807109-C89E-4EDF-831B-1AB2C77F5716}"/>
              </a:ext>
            </a:extLst>
          </p:cNvPr>
          <p:cNvSpPr>
            <a:spLocks noGrp="1"/>
          </p:cNvSpPr>
          <p:nvPr/>
        </p:nvSpPr>
        <p:spPr>
          <a:xfrm>
            <a:off x="7029450" y="4610100"/>
            <a:ext cx="1762125" cy="361950"/>
          </a:xfrm>
          <a:prstGeom prst="rect">
            <a:avLst/>
          </a:prstGeom>
          <a:noFill/>
          <a:ln w="0">
            <a:noFill/>
          </a:ln>
        </p:spPr>
        <p:txBody>
          <a:bodyPr>
            <a:noAutofit/>
          </a:bodyPr>
          <a:lstStyle/>
          <a:p>
            <a:pPr>
              <a:defRPr sz="1050" b="0">
                <a:solidFill>
                  <a:srgbClr val="5C6B5C"/>
                </a:solidFill>
                <a:latin typeface="Calibri"/>
                <a:ea typeface="Calibri"/>
                <a:cs typeface="Calibri"/>
              </a:defRPr>
            </a:pPr>
            <a:r>
              <a:rPr sz="1050" b="0">
                <a:solidFill>
                  <a:srgbClr val="5C6B5C"/>
                </a:solidFill>
                <a:latin typeface="Calibri"/>
                <a:ea typeface="Calibri"/>
                <a:cs typeface="Calibri"/>
              </a:rPr>
              <a:t>Abgabe und Abschluss</a:t>
            </a:r>
          </a:p>
          <a:p>
            <a:pPr>
              <a:defRPr sz="1050" b="0">
                <a:solidFill>
                  <a:srgbClr val="5C6B5C"/>
                </a:solidFill>
                <a:latin typeface="Calibri"/>
                <a:ea typeface="Calibri"/>
                <a:cs typeface="Calibri"/>
              </a:defRPr>
            </a:pPr>
            <a:r>
              <a:rPr sz="1050" b="0">
                <a:solidFill>
                  <a:srgbClr val="5C6B5C"/>
                </a:solidFill>
                <a:latin typeface="Calibri"/>
                <a:ea typeface="Calibri"/>
                <a:cs typeface="Calibri"/>
              </a:rPr>
              <a:t>nach Abstimmung</a:t>
            </a:r>
          </a:p>
        </p:txBody>
      </p:sp>
    </p:spTree>
    <p:extLst>
      <p:ext uri="{BB962C8B-B14F-4D97-AF65-F5344CB8AC3E}">
        <p14:creationId xmlns:p14="http://schemas.microsoft.com/office/powerpoint/2010/main" val="1796154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detail-title">
            <a:extLst>
              <a:ext uri="{FF2B5EF4-FFF2-40B4-BE49-F238E27FC236}">
                <a16:creationId xmlns:a16="http://schemas.microsoft.com/office/drawing/2014/main" id="{71283E94-523C-4BFE-AAD8-F67A45FDD1F6}"/>
              </a:ext>
            </a:extLst>
          </p:cNvPr>
          <p:cNvSpPr>
            <a:spLocks noGrp="1"/>
          </p:cNvSpPr>
          <p:nvPr/>
        </p:nvSpPr>
        <p:spPr>
          <a:xfrm>
            <a:off x="247650" y="235008"/>
            <a:ext cx="7096125" cy="400050"/>
          </a:xfrm>
          <a:prstGeom prst="rect">
            <a:avLst/>
          </a:prstGeom>
          <a:noFill/>
          <a:ln w="0">
            <a:noFill/>
          </a:ln>
        </p:spPr>
        <p:txBody>
          <a:bodyPr>
            <a:noAutofit/>
          </a:bodyPr>
          <a:lstStyle/>
          <a:p>
            <a:pPr>
              <a:defRPr sz="2100" b="1">
                <a:solidFill>
                  <a:srgbClr val="1F2A1F"/>
                </a:solidFill>
                <a:latin typeface="Cambria"/>
                <a:ea typeface="Cambria"/>
                <a:cs typeface="Cambria"/>
              </a:defRPr>
            </a:pPr>
            <a:r>
              <a:rPr sz="2100" b="1">
                <a:solidFill>
                  <a:srgbClr val="1F2A1F"/>
                </a:solidFill>
                <a:latin typeface="Cambria"/>
                <a:ea typeface="Cambria"/>
                <a:cs typeface="Cambria"/>
              </a:rPr>
              <a:t>ThesisFlow – Projektüberblick</a:t>
            </a:r>
          </a:p>
        </p:txBody>
      </p:sp>
      <p:sp>
        <p:nvSpPr>
          <p:cNvPr id="2" name="detail-tagline">
            <a:extLst>
              <a:ext uri="{FF2B5EF4-FFF2-40B4-BE49-F238E27FC236}">
                <a16:creationId xmlns:a16="http://schemas.microsoft.com/office/drawing/2014/main" id="{48FC70EB-21D9-4C7B-BFFC-E976F3FDE4A3}"/>
              </a:ext>
            </a:extLst>
          </p:cNvPr>
          <p:cNvSpPr>
            <a:spLocks noGrp="1"/>
          </p:cNvSpPr>
          <p:nvPr/>
        </p:nvSpPr>
        <p:spPr>
          <a:xfrm>
            <a:off x="247650" y="552450"/>
            <a:ext cx="7477125" cy="266700"/>
          </a:xfrm>
          <a:prstGeom prst="rect">
            <a:avLst/>
          </a:prstGeom>
          <a:noFill/>
          <a:ln w="0">
            <a:noFill/>
          </a:ln>
        </p:spPr>
        <p:txBody>
          <a:bodyPr>
            <a:noAutofit/>
          </a:bodyPr>
          <a:lstStyle/>
          <a:p>
            <a:pPr>
              <a:defRPr sz="1350" b="0" i="1">
                <a:solidFill>
                  <a:srgbClr val="2C5F2D"/>
                </a:solidFill>
                <a:latin typeface="Cambria"/>
                <a:ea typeface="Cambria"/>
                <a:cs typeface="Cambria"/>
              </a:defRPr>
            </a:pPr>
            <a:r>
              <a:rPr sz="1350" b="0" i="1">
                <a:solidFill>
                  <a:srgbClr val="2C5F2D"/>
                </a:solidFill>
                <a:latin typeface="Cambria"/>
                <a:ea typeface="Cambria"/>
                <a:cs typeface="Cambria"/>
              </a:rPr>
              <a:t>Anmelden. Betreuen. Abschließen.</a:t>
            </a:r>
          </a:p>
        </p:txBody>
      </p:sp>
      <p:sp>
        <p:nvSpPr>
          <p:cNvPr id="3" name="detail-status">
            <a:extLst>
              <a:ext uri="{FF2B5EF4-FFF2-40B4-BE49-F238E27FC236}">
                <a16:creationId xmlns:a16="http://schemas.microsoft.com/office/drawing/2014/main" id="{DE2707CC-894F-4544-AD8E-DCB7DF5B8FFC}"/>
              </a:ext>
            </a:extLst>
          </p:cNvPr>
          <p:cNvSpPr>
            <a:spLocks noGrp="1"/>
          </p:cNvSpPr>
          <p:nvPr/>
        </p:nvSpPr>
        <p:spPr>
          <a:xfrm>
            <a:off x="7591425" y="247650"/>
            <a:ext cx="1304925" cy="209550"/>
          </a:xfrm>
          <a:prstGeom prst="rect">
            <a:avLst/>
          </a:prstGeom>
          <a:noFill/>
          <a:ln w="0">
            <a:noFill/>
          </a:ln>
        </p:spPr>
        <p:txBody>
          <a:bodyPr>
            <a:noAutofit/>
          </a:bodyPr>
          <a:lstStyle/>
          <a:p>
            <a:pPr>
              <a:defRPr sz="825" b="0">
                <a:solidFill>
                  <a:srgbClr val="5C6B5C"/>
                </a:solidFill>
                <a:latin typeface="Calibri"/>
                <a:ea typeface="Calibri"/>
                <a:cs typeface="Calibri"/>
              </a:defRPr>
            </a:pPr>
            <a:r>
              <a:rPr sz="825" b="0">
                <a:solidFill>
                  <a:srgbClr val="5C6B5C"/>
                </a:solidFill>
                <a:latin typeface="Calibri"/>
                <a:ea typeface="Calibri"/>
                <a:cs typeface="Calibri"/>
              </a:rPr>
              <a:t>Stand: 01.10.2026</a:t>
            </a:r>
          </a:p>
        </p:txBody>
      </p:sp>
      <p:graphicFrame>
        <p:nvGraphicFramePr>
          <p:cNvPr id="19" name="Tabelle 18"/>
          <p:cNvGraphicFramePr/>
          <p:nvPr/>
        </p:nvGraphicFramePr>
        <p:xfrm>
          <a:off x="247650" y="981075"/>
          <a:ext cx="1676400" cy="689737"/>
        </p:xfrm>
        <a:graphic>
          <a:graphicData uri="http://schemas.openxmlformats.org/drawingml/2006/table">
            <a:tbl>
              <a:tblPr/>
              <a:tblGrid>
                <a:gridCol w="1676400">
                  <a:extLst>
                    <a:ext uri="{9D8B030D-6E8A-4147-A177-3AD203B41FA5}">
                      <a16:colId xmlns:a16="http://schemas.microsoft.com/office/drawing/2014/main" val="20000"/>
                    </a:ext>
                  </a:extLst>
                </a:gridCol>
              </a:tblGrid>
              <a:tr h="247650">
                <a:tc>
                  <a:txBody>
                    <a:bodyPr/>
                    <a:lstStyle/>
                    <a:p>
                      <a:r>
                        <a:rPr sz="1050" b="1">
                          <a:solidFill>
                            <a:srgbClr val="FFFFFF"/>
                          </a:solidFill>
                          <a:latin typeface="Calibri"/>
                          <a:ea typeface="Calibri"/>
                          <a:cs typeface="Calibri"/>
                        </a:rPr>
                        <a:t>Auftraggeber</a:t>
                      </a:r>
                    </a:p>
                  </a:txBody>
                  <a:tcPr marL="95250" marR="95250" marT="47625" marB="28575" anchor="ctr">
                    <a:solidFill>
                      <a:srgbClr val="2C5F2D"/>
                    </a:solidFill>
                  </a:tcPr>
                </a:tc>
                <a:extLst>
                  <a:ext uri="{0D108BD9-81ED-4DB2-BD59-A6C34878D82A}">
                    <a16:rowId xmlns:a16="http://schemas.microsoft.com/office/drawing/2014/main" val="10000"/>
                  </a:ext>
                </a:extLst>
              </a:tr>
              <a:tr h="409575">
                <a:tc>
                  <a:txBody>
                    <a:bodyPr/>
                    <a:lstStyle/>
                    <a:p>
                      <a:r>
                        <a:rPr sz="1013">
                          <a:solidFill>
                            <a:srgbClr val="1F2A1F"/>
                          </a:solidFill>
                          <a:latin typeface="Calibri"/>
                          <a:ea typeface="Calibri"/>
                          <a:cs typeface="Calibri"/>
                        </a:rPr>
                        <a:t>Prof. Dr. Carsten Lucke</a:t>
                      </a:r>
                    </a:p>
                    <a:p>
                      <a:r>
                        <a:rPr sz="1013">
                          <a:solidFill>
                            <a:srgbClr val="1F2A1F"/>
                          </a:solidFill>
                          <a:latin typeface="Calibri"/>
                          <a:ea typeface="Calibri"/>
                          <a:cs typeface="Calibri"/>
                        </a:rPr>
                        <a:t>Fachbereich MND, THM</a:t>
                      </a:r>
                    </a:p>
                  </a:txBody>
                  <a:tcPr marL="95250" marR="95250" marT="76200" marB="57150">
                    <a:solidFill>
                      <a:srgbClr val="FFFFFF"/>
                    </a:solidFill>
                  </a:tcPr>
                </a:tc>
                <a:extLst>
                  <a:ext uri="{0D108BD9-81ED-4DB2-BD59-A6C34878D82A}">
                    <a16:rowId xmlns:a16="http://schemas.microsoft.com/office/drawing/2014/main" val="10001"/>
                  </a:ext>
                </a:extLst>
              </a:tr>
            </a:tbl>
          </a:graphicData>
        </a:graphic>
      </p:graphicFrame>
      <p:graphicFrame>
        <p:nvGraphicFramePr>
          <p:cNvPr id="20" name="Tabelle 19"/>
          <p:cNvGraphicFramePr/>
          <p:nvPr/>
        </p:nvGraphicFramePr>
        <p:xfrm>
          <a:off x="2000250" y="981075"/>
          <a:ext cx="1676400" cy="689737"/>
        </p:xfrm>
        <a:graphic>
          <a:graphicData uri="http://schemas.openxmlformats.org/drawingml/2006/table">
            <a:tbl>
              <a:tblPr/>
              <a:tblGrid>
                <a:gridCol w="1676400">
                  <a:extLst>
                    <a:ext uri="{9D8B030D-6E8A-4147-A177-3AD203B41FA5}">
                      <a16:colId xmlns:a16="http://schemas.microsoft.com/office/drawing/2014/main" val="20000"/>
                    </a:ext>
                  </a:extLst>
                </a:gridCol>
              </a:tblGrid>
              <a:tr h="247650">
                <a:tc>
                  <a:txBody>
                    <a:bodyPr/>
                    <a:lstStyle/>
                    <a:p>
                      <a:r>
                        <a:rPr sz="1050" b="1">
                          <a:solidFill>
                            <a:srgbClr val="FFFFFF"/>
                          </a:solidFill>
                          <a:latin typeface="Calibri"/>
                          <a:ea typeface="Calibri"/>
                          <a:cs typeface="Calibri"/>
                        </a:rPr>
                        <a:t>Auftragnehmer</a:t>
                      </a:r>
                    </a:p>
                  </a:txBody>
                  <a:tcPr marL="95250" marR="95250" marT="47625" marB="28575" anchor="ctr">
                    <a:solidFill>
                      <a:srgbClr val="2C5F2D"/>
                    </a:solidFill>
                  </a:tcPr>
                </a:tc>
                <a:extLst>
                  <a:ext uri="{0D108BD9-81ED-4DB2-BD59-A6C34878D82A}">
                    <a16:rowId xmlns:a16="http://schemas.microsoft.com/office/drawing/2014/main" val="10000"/>
                  </a:ext>
                </a:extLst>
              </a:tr>
              <a:tr h="409575">
                <a:tc>
                  <a:txBody>
                    <a:bodyPr/>
                    <a:lstStyle/>
                    <a:p>
                      <a:r>
                        <a:rPr sz="1013" dirty="0">
                          <a:solidFill>
                            <a:srgbClr val="1F2A1F"/>
                          </a:solidFill>
                          <a:latin typeface="Calibri"/>
                          <a:ea typeface="Calibri"/>
                          <a:cs typeface="Calibri"/>
                        </a:rPr>
                        <a:t>Gruppe Grün</a:t>
                      </a:r>
                    </a:p>
                    <a:p>
                      <a:r>
                        <a:rPr sz="1013" dirty="0">
                          <a:solidFill>
                            <a:srgbClr val="1F2A1F"/>
                          </a:solidFill>
                          <a:latin typeface="Calibri"/>
                          <a:ea typeface="Calibri"/>
                          <a:cs typeface="Calibri"/>
                        </a:rPr>
                        <a:t>Rolle: </a:t>
                      </a:r>
                      <a:r>
                        <a:rPr sz="1013" dirty="0" err="1">
                          <a:solidFill>
                            <a:srgbClr val="1F2A1F"/>
                          </a:solidFill>
                          <a:latin typeface="Calibri"/>
                          <a:ea typeface="Calibri"/>
                          <a:cs typeface="Calibri"/>
                        </a:rPr>
                        <a:t>Softwarefirma</a:t>
                      </a:r>
                      <a:endParaRPr sz="1013" dirty="0">
                        <a:solidFill>
                          <a:srgbClr val="1F2A1F"/>
                        </a:solidFill>
                        <a:latin typeface="Calibri"/>
                        <a:ea typeface="Calibri"/>
                        <a:cs typeface="Calibri"/>
                      </a:endParaRPr>
                    </a:p>
                  </a:txBody>
                  <a:tcPr marL="95250" marR="95250" marT="76200" marB="57150">
                    <a:solidFill>
                      <a:srgbClr val="FFFFFF"/>
                    </a:solidFill>
                  </a:tcPr>
                </a:tc>
                <a:extLst>
                  <a:ext uri="{0D108BD9-81ED-4DB2-BD59-A6C34878D82A}">
                    <a16:rowId xmlns:a16="http://schemas.microsoft.com/office/drawing/2014/main" val="10001"/>
                  </a:ext>
                </a:extLst>
              </a:tr>
            </a:tbl>
          </a:graphicData>
        </a:graphic>
      </p:graphicFrame>
      <p:graphicFrame>
        <p:nvGraphicFramePr>
          <p:cNvPr id="21" name="Tabelle 20"/>
          <p:cNvGraphicFramePr/>
          <p:nvPr/>
        </p:nvGraphicFramePr>
        <p:xfrm>
          <a:off x="3752850" y="981075"/>
          <a:ext cx="1676400" cy="657225"/>
        </p:xfrm>
        <a:graphic>
          <a:graphicData uri="http://schemas.openxmlformats.org/drawingml/2006/table">
            <a:tbl>
              <a:tblPr/>
              <a:tblGrid>
                <a:gridCol w="1676400">
                  <a:extLst>
                    <a:ext uri="{9D8B030D-6E8A-4147-A177-3AD203B41FA5}">
                      <a16:colId xmlns:a16="http://schemas.microsoft.com/office/drawing/2014/main" val="20000"/>
                    </a:ext>
                  </a:extLst>
                </a:gridCol>
              </a:tblGrid>
              <a:tr h="247650">
                <a:tc>
                  <a:txBody>
                    <a:bodyPr/>
                    <a:lstStyle/>
                    <a:p>
                      <a:r>
                        <a:rPr sz="1050" b="1">
                          <a:solidFill>
                            <a:srgbClr val="FFFFFF"/>
                          </a:solidFill>
                          <a:latin typeface="Calibri"/>
                          <a:ea typeface="Calibri"/>
                          <a:cs typeface="Calibri"/>
                        </a:rPr>
                        <a:t>Beginn (geschätzt)</a:t>
                      </a:r>
                    </a:p>
                  </a:txBody>
                  <a:tcPr marL="95250" marR="95250" marT="47625" marB="28575" anchor="ctr">
                    <a:solidFill>
                      <a:srgbClr val="2C5F2D"/>
                    </a:solidFill>
                  </a:tcPr>
                </a:tc>
                <a:extLst>
                  <a:ext uri="{0D108BD9-81ED-4DB2-BD59-A6C34878D82A}">
                    <a16:rowId xmlns:a16="http://schemas.microsoft.com/office/drawing/2014/main" val="10000"/>
                  </a:ext>
                </a:extLst>
              </a:tr>
              <a:tr h="409575">
                <a:tc>
                  <a:txBody>
                    <a:bodyPr/>
                    <a:lstStyle/>
                    <a:p>
                      <a:r>
                        <a:rPr sz="1013">
                          <a:solidFill>
                            <a:srgbClr val="1F2A1F"/>
                          </a:solidFill>
                          <a:latin typeface="Calibri"/>
                          <a:ea typeface="Calibri"/>
                          <a:cs typeface="Calibri"/>
                        </a:rPr>
                        <a:t>Oktober 2026</a:t>
                      </a:r>
                    </a:p>
                  </a:txBody>
                  <a:tcPr marL="95250" marR="95250" marT="76200" marB="57150">
                    <a:solidFill>
                      <a:srgbClr val="FFFFFF"/>
                    </a:solidFill>
                  </a:tcPr>
                </a:tc>
                <a:extLst>
                  <a:ext uri="{0D108BD9-81ED-4DB2-BD59-A6C34878D82A}">
                    <a16:rowId xmlns:a16="http://schemas.microsoft.com/office/drawing/2014/main" val="10001"/>
                  </a:ext>
                </a:extLst>
              </a:tr>
            </a:tbl>
          </a:graphicData>
        </a:graphic>
      </p:graphicFrame>
      <p:graphicFrame>
        <p:nvGraphicFramePr>
          <p:cNvPr id="22" name="Tabelle 21"/>
          <p:cNvGraphicFramePr/>
          <p:nvPr/>
        </p:nvGraphicFramePr>
        <p:xfrm>
          <a:off x="5505450" y="981075"/>
          <a:ext cx="1676400" cy="689737"/>
        </p:xfrm>
        <a:graphic>
          <a:graphicData uri="http://schemas.openxmlformats.org/drawingml/2006/table">
            <a:tbl>
              <a:tblPr/>
              <a:tblGrid>
                <a:gridCol w="1676400">
                  <a:extLst>
                    <a:ext uri="{9D8B030D-6E8A-4147-A177-3AD203B41FA5}">
                      <a16:colId xmlns:a16="http://schemas.microsoft.com/office/drawing/2014/main" val="20000"/>
                    </a:ext>
                  </a:extLst>
                </a:gridCol>
              </a:tblGrid>
              <a:tr h="247650">
                <a:tc>
                  <a:txBody>
                    <a:bodyPr/>
                    <a:lstStyle/>
                    <a:p>
                      <a:r>
                        <a:rPr sz="1050" b="1">
                          <a:solidFill>
                            <a:srgbClr val="FFFFFF"/>
                          </a:solidFill>
                          <a:latin typeface="Calibri"/>
                          <a:ea typeface="Calibri"/>
                          <a:cs typeface="Calibri"/>
                        </a:rPr>
                        <a:t>Ende (geschätzt)</a:t>
                      </a:r>
                    </a:p>
                  </a:txBody>
                  <a:tcPr marL="95250" marR="95250" marT="47625" marB="28575" anchor="ctr">
                    <a:solidFill>
                      <a:srgbClr val="2C5F2D"/>
                    </a:solidFill>
                  </a:tcPr>
                </a:tc>
                <a:extLst>
                  <a:ext uri="{0D108BD9-81ED-4DB2-BD59-A6C34878D82A}">
                    <a16:rowId xmlns:a16="http://schemas.microsoft.com/office/drawing/2014/main" val="10000"/>
                  </a:ext>
                </a:extLst>
              </a:tr>
              <a:tr h="409575">
                <a:tc>
                  <a:txBody>
                    <a:bodyPr/>
                    <a:lstStyle/>
                    <a:p>
                      <a:r>
                        <a:rPr sz="1013">
                          <a:solidFill>
                            <a:srgbClr val="1F2A1F"/>
                          </a:solidFill>
                          <a:latin typeface="Calibri"/>
                          <a:ea typeface="Calibri"/>
                          <a:cs typeface="Calibri"/>
                        </a:rPr>
                        <a:t>März 2027</a:t>
                      </a:r>
                    </a:p>
                    <a:p>
                      <a:r>
                        <a:rPr sz="1013">
                          <a:solidFill>
                            <a:srgbClr val="1F2A1F"/>
                          </a:solidFill>
                          <a:latin typeface="Calibri"/>
                          <a:ea typeface="Calibri"/>
                          <a:cs typeface="Calibri"/>
                        </a:rPr>
                        <a:t>Ausbaustufe 1</a:t>
                      </a:r>
                    </a:p>
                  </a:txBody>
                  <a:tcPr marL="95250" marR="95250" marT="76200" marB="57150">
                    <a:solidFill>
                      <a:srgbClr val="FFFFFF"/>
                    </a:solidFill>
                  </a:tcPr>
                </a:tc>
                <a:extLst>
                  <a:ext uri="{0D108BD9-81ED-4DB2-BD59-A6C34878D82A}">
                    <a16:rowId xmlns:a16="http://schemas.microsoft.com/office/drawing/2014/main" val="10001"/>
                  </a:ext>
                </a:extLst>
              </a:tr>
            </a:tbl>
          </a:graphicData>
        </a:graphic>
      </p:graphicFrame>
      <p:graphicFrame>
        <p:nvGraphicFramePr>
          <p:cNvPr id="23" name="Tabelle 22"/>
          <p:cNvGraphicFramePr/>
          <p:nvPr>
            <p:extLst>
              <p:ext uri="{D42A27DB-BD31-4B8C-83A1-F6EECF244321}">
                <p14:modId xmlns:p14="http://schemas.microsoft.com/office/powerpoint/2010/main" val="2430856054"/>
              </p:ext>
            </p:extLst>
          </p:nvPr>
        </p:nvGraphicFramePr>
        <p:xfrm>
          <a:off x="7258050" y="981075"/>
          <a:ext cx="1676400" cy="657225"/>
        </p:xfrm>
        <a:graphic>
          <a:graphicData uri="http://schemas.openxmlformats.org/drawingml/2006/table">
            <a:tbl>
              <a:tblPr/>
              <a:tblGrid>
                <a:gridCol w="1676400">
                  <a:extLst>
                    <a:ext uri="{9D8B030D-6E8A-4147-A177-3AD203B41FA5}">
                      <a16:colId xmlns:a16="http://schemas.microsoft.com/office/drawing/2014/main" val="20000"/>
                    </a:ext>
                  </a:extLst>
                </a:gridCol>
              </a:tblGrid>
              <a:tr h="247650">
                <a:tc>
                  <a:txBody>
                    <a:bodyPr/>
                    <a:lstStyle/>
                    <a:p>
                      <a:r>
                        <a:rPr sz="1050" b="1">
                          <a:solidFill>
                            <a:srgbClr val="FFFFFF"/>
                          </a:solidFill>
                          <a:latin typeface="Calibri"/>
                          <a:ea typeface="Calibri"/>
                          <a:cs typeface="Calibri"/>
                        </a:rPr>
                        <a:t>Budget</a:t>
                      </a:r>
                    </a:p>
                  </a:txBody>
                  <a:tcPr marL="95250" marR="95250" marT="47625" marB="28575" anchor="ctr">
                    <a:solidFill>
                      <a:srgbClr val="2C5F2D"/>
                    </a:solidFill>
                  </a:tcPr>
                </a:tc>
                <a:extLst>
                  <a:ext uri="{0D108BD9-81ED-4DB2-BD59-A6C34878D82A}">
                    <a16:rowId xmlns:a16="http://schemas.microsoft.com/office/drawing/2014/main" val="10000"/>
                  </a:ext>
                </a:extLst>
              </a:tr>
              <a:tr h="409575">
                <a:tc>
                  <a:txBody>
                    <a:bodyPr/>
                    <a:lstStyle/>
                    <a:p>
                      <a:r>
                        <a:rPr lang="de-DE" sz="1013" dirty="0">
                          <a:solidFill>
                            <a:srgbClr val="1F2A1F"/>
                          </a:solidFill>
                          <a:latin typeface="Calibri"/>
                          <a:ea typeface="Calibri"/>
                          <a:cs typeface="Calibri"/>
                        </a:rPr>
                        <a:t>----</a:t>
                      </a:r>
                      <a:endParaRPr sz="1013" dirty="0">
                        <a:solidFill>
                          <a:srgbClr val="1F2A1F"/>
                        </a:solidFill>
                        <a:latin typeface="Calibri"/>
                        <a:ea typeface="Calibri"/>
                        <a:cs typeface="Calibri"/>
                      </a:endParaRPr>
                    </a:p>
                  </a:txBody>
                  <a:tcPr marL="95250" marR="95250" marT="76200" marB="57150">
                    <a:solidFill>
                      <a:srgbClr val="FFFFFF"/>
                    </a:solidFill>
                  </a:tcPr>
                </a:tc>
                <a:extLst>
                  <a:ext uri="{0D108BD9-81ED-4DB2-BD59-A6C34878D82A}">
                    <a16:rowId xmlns:a16="http://schemas.microsoft.com/office/drawing/2014/main" val="10001"/>
                  </a:ext>
                </a:extLst>
              </a:tr>
            </a:tbl>
          </a:graphicData>
        </a:graphic>
      </p:graphicFrame>
      <p:graphicFrame>
        <p:nvGraphicFramePr>
          <p:cNvPr id="24" name="Tabelle 23"/>
          <p:cNvGraphicFramePr/>
          <p:nvPr/>
        </p:nvGraphicFramePr>
        <p:xfrm>
          <a:off x="247650" y="1781175"/>
          <a:ext cx="2781300" cy="1724025"/>
        </p:xfrm>
        <a:graphic>
          <a:graphicData uri="http://schemas.openxmlformats.org/drawingml/2006/table">
            <a:tbl>
              <a:tblPr/>
              <a:tblGrid>
                <a:gridCol w="2781300">
                  <a:extLst>
                    <a:ext uri="{9D8B030D-6E8A-4147-A177-3AD203B41FA5}">
                      <a16:colId xmlns:a16="http://schemas.microsoft.com/office/drawing/2014/main" val="20000"/>
                    </a:ext>
                  </a:extLst>
                </a:gridCol>
              </a:tblGrid>
              <a:tr h="247650">
                <a:tc>
                  <a:txBody>
                    <a:bodyPr/>
                    <a:lstStyle/>
                    <a:p>
                      <a:r>
                        <a:rPr sz="1050" b="1">
                          <a:solidFill>
                            <a:srgbClr val="FFFFFF"/>
                          </a:solidFill>
                          <a:latin typeface="Calibri"/>
                          <a:ea typeface="Calibri"/>
                          <a:cs typeface="Calibri"/>
                        </a:rPr>
                        <a:t>Begründung der Projekt-Notwendigkeit</a:t>
                      </a:r>
                    </a:p>
                  </a:txBody>
                  <a:tcPr marL="95250" marR="95250" marT="47625" marB="28575" anchor="ctr">
                    <a:solidFill>
                      <a:srgbClr val="2C5F2D"/>
                    </a:solidFill>
                  </a:tcPr>
                </a:tc>
                <a:extLst>
                  <a:ext uri="{0D108BD9-81ED-4DB2-BD59-A6C34878D82A}">
                    <a16:rowId xmlns:a16="http://schemas.microsoft.com/office/drawing/2014/main" val="10000"/>
                  </a:ext>
                </a:extLst>
              </a:tr>
              <a:tr h="1476375">
                <a:tc>
                  <a:txBody>
                    <a:bodyPr/>
                    <a:lstStyle/>
                    <a:p>
                      <a:r>
                        <a:rPr sz="990">
                          <a:solidFill>
                            <a:srgbClr val="1F2A1F"/>
                          </a:solidFill>
                          <a:latin typeface="Calibri"/>
                          <a:ea typeface="Calibri"/>
                          <a:cs typeface="Calibri"/>
                        </a:rPr>
                        <a:t>PDF-Antrag, Ausdruck, Unterschriften und</a:t>
                      </a:r>
                    </a:p>
                    <a:p>
                      <a:r>
                        <a:rPr sz="990">
                          <a:solidFill>
                            <a:srgbClr val="1F2A1F"/>
                          </a:solidFill>
                          <a:latin typeface="Calibri"/>
                          <a:ea typeface="Calibri"/>
                          <a:cs typeface="Calibri"/>
                        </a:rPr>
                        <a:t>E-Mail-Umläufe: langsam und fehleranfällig.</a:t>
                      </a:r>
                    </a:p>
                    <a:p>
                      <a:r>
                        <a:rPr sz="990">
                          <a:solidFill>
                            <a:srgbClr val="1F2A1F"/>
                          </a:solidFill>
                          <a:latin typeface="Calibri"/>
                          <a:ea typeface="Calibri"/>
                          <a:cs typeface="Calibri"/>
                        </a:rPr>
                        <a:t>Kein gemeinsamer Status für Studierende,</a:t>
                      </a:r>
                    </a:p>
                    <a:p>
                      <a:r>
                        <a:rPr sz="990">
                          <a:solidFill>
                            <a:srgbClr val="1F2A1F"/>
                          </a:solidFill>
                          <a:latin typeface="Calibri"/>
                          <a:ea typeface="Calibri"/>
                          <a:cs typeface="Calibri"/>
                        </a:rPr>
                        <a:t>Prüfende und Prüfungsamt.</a:t>
                      </a:r>
                    </a:p>
                    <a:p>
                      <a:r>
                        <a:rPr sz="990">
                          <a:solidFill>
                            <a:srgbClr val="1F2A1F"/>
                          </a:solidFill>
                          <a:latin typeface="Calibri"/>
                          <a:ea typeface="Calibri"/>
                          <a:cs typeface="Calibri"/>
                        </a:rPr>
                        <a:t>Externe Korreferenten und Verlängerungen</a:t>
                      </a:r>
                    </a:p>
                    <a:p>
                      <a:r>
                        <a:rPr sz="990">
                          <a:solidFill>
                            <a:srgbClr val="1F2A1F"/>
                          </a:solidFill>
                          <a:latin typeface="Calibri"/>
                          <a:ea typeface="Calibri"/>
                          <a:cs typeface="Calibri"/>
                        </a:rPr>
                        <a:t>laufen über weitere Papierformulare.</a:t>
                      </a:r>
                    </a:p>
                    <a:p>
                      <a:r>
                        <a:rPr sz="990">
                          <a:solidFill>
                            <a:srgbClr val="1F2A1F"/>
                          </a:solidFill>
                          <a:latin typeface="Calibri"/>
                          <a:ea typeface="Calibri"/>
                          <a:cs typeface="Calibri"/>
                        </a:rPr>
                        <a:t>Der Fachbereich will die Abwicklung für</a:t>
                      </a:r>
                    </a:p>
                    <a:p>
                      <a:r>
                        <a:rPr sz="990">
                          <a:solidFill>
                            <a:srgbClr val="1F2A1F"/>
                          </a:solidFill>
                          <a:latin typeface="Calibri"/>
                          <a:ea typeface="Calibri"/>
                          <a:cs typeface="Calibri"/>
                        </a:rPr>
                        <a:t>alle Beteiligten effizienter gestalten.</a:t>
                      </a:r>
                    </a:p>
                  </a:txBody>
                  <a:tcPr marL="95250" marR="95250" marT="76200" marB="57150">
                    <a:solidFill>
                      <a:srgbClr val="FFFFFF"/>
                    </a:solidFill>
                  </a:tcPr>
                </a:tc>
                <a:extLst>
                  <a:ext uri="{0D108BD9-81ED-4DB2-BD59-A6C34878D82A}">
                    <a16:rowId xmlns:a16="http://schemas.microsoft.com/office/drawing/2014/main" val="10001"/>
                  </a:ext>
                </a:extLst>
              </a:tr>
            </a:tbl>
          </a:graphicData>
        </a:graphic>
      </p:graphicFrame>
      <p:graphicFrame>
        <p:nvGraphicFramePr>
          <p:cNvPr id="25" name="Tabelle 24"/>
          <p:cNvGraphicFramePr/>
          <p:nvPr/>
        </p:nvGraphicFramePr>
        <p:xfrm>
          <a:off x="3181350" y="1781175"/>
          <a:ext cx="2781300" cy="1724025"/>
        </p:xfrm>
        <a:graphic>
          <a:graphicData uri="http://schemas.openxmlformats.org/drawingml/2006/table">
            <a:tbl>
              <a:tblPr/>
              <a:tblGrid>
                <a:gridCol w="2781300">
                  <a:extLst>
                    <a:ext uri="{9D8B030D-6E8A-4147-A177-3AD203B41FA5}">
                      <a16:colId xmlns:a16="http://schemas.microsoft.com/office/drawing/2014/main" val="20000"/>
                    </a:ext>
                  </a:extLst>
                </a:gridCol>
              </a:tblGrid>
              <a:tr h="247650">
                <a:tc>
                  <a:txBody>
                    <a:bodyPr/>
                    <a:lstStyle/>
                    <a:p>
                      <a:r>
                        <a:rPr sz="1050" b="1">
                          <a:solidFill>
                            <a:srgbClr val="FFFFFF"/>
                          </a:solidFill>
                          <a:latin typeface="Calibri"/>
                          <a:ea typeface="Calibri"/>
                          <a:cs typeface="Calibri"/>
                        </a:rPr>
                        <a:t>Projektziel</a:t>
                      </a:r>
                    </a:p>
                  </a:txBody>
                  <a:tcPr marL="95250" marR="95250" marT="47625" marB="28575" anchor="ctr">
                    <a:solidFill>
                      <a:srgbClr val="2C5F2D"/>
                    </a:solidFill>
                  </a:tcPr>
                </a:tc>
                <a:extLst>
                  <a:ext uri="{0D108BD9-81ED-4DB2-BD59-A6C34878D82A}">
                    <a16:rowId xmlns:a16="http://schemas.microsoft.com/office/drawing/2014/main" val="10000"/>
                  </a:ext>
                </a:extLst>
              </a:tr>
              <a:tr h="1476375">
                <a:tc>
                  <a:txBody>
                    <a:bodyPr/>
                    <a:lstStyle/>
                    <a:p>
                      <a:r>
                        <a:rPr sz="975">
                          <a:solidFill>
                            <a:srgbClr val="1F2A1F"/>
                          </a:solidFill>
                          <a:latin typeface="Calibri"/>
                          <a:ea typeface="Calibri"/>
                          <a:cs typeface="Calibri"/>
                        </a:rPr>
                        <a:t>Für B.Sc./M.Sc. Wirtschaftsinformatik:</a:t>
                      </a:r>
                    </a:p>
                    <a:p>
                      <a:r>
                        <a:rPr sz="975">
                          <a:solidFill>
                            <a:srgbClr val="1F2A1F"/>
                          </a:solidFill>
                          <a:latin typeface="Calibri"/>
                          <a:ea typeface="Calibri"/>
                          <a:cs typeface="Calibri"/>
                        </a:rPr>
                        <a:t>Webportal für Anmeldung, Freigabe und</a:t>
                      </a:r>
                    </a:p>
                    <a:p>
                      <a:r>
                        <a:rPr sz="975">
                          <a:solidFill>
                            <a:srgbClr val="1F2A1F"/>
                          </a:solidFill>
                          <a:latin typeface="Calibri"/>
                          <a:ea typeface="Calibri"/>
                          <a:cs typeface="Calibri"/>
                        </a:rPr>
                        <a:t>Verwaltung von Abschlussarbeiten.</a:t>
                      </a:r>
                    </a:p>
                    <a:p>
                      <a:r>
                        <a:rPr sz="975">
                          <a:solidFill>
                            <a:srgbClr val="1F2A1F"/>
                          </a:solidFill>
                          <a:latin typeface="Calibri"/>
                          <a:ea typeface="Calibri"/>
                          <a:cs typeface="Calibri"/>
                        </a:rPr>
                        <a:t>Komfortabel im Browser am Desktop</a:t>
                      </a:r>
                    </a:p>
                    <a:p>
                      <a:r>
                        <a:rPr sz="975">
                          <a:solidFill>
                            <a:srgbClr val="1F2A1F"/>
                          </a:solidFill>
                          <a:latin typeface="Calibri"/>
                          <a:ea typeface="Calibri"/>
                          <a:cs typeface="Calibri"/>
                        </a:rPr>
                        <a:t>und Smartphone nutzbar.</a:t>
                      </a:r>
                    </a:p>
                    <a:p>
                      <a:r>
                        <a:rPr sz="975">
                          <a:solidFill>
                            <a:srgbClr val="1F2A1F"/>
                          </a:solidFill>
                          <a:latin typeface="Calibri"/>
                          <a:ea typeface="Calibri"/>
                          <a:cs typeface="Calibri"/>
                        </a:rPr>
                        <a:t>Externe Korreferenten direkt im</a:t>
                      </a:r>
                    </a:p>
                    <a:p>
                      <a:r>
                        <a:rPr sz="975">
                          <a:solidFill>
                            <a:srgbClr val="1F2A1F"/>
                          </a:solidFill>
                          <a:latin typeface="Calibri"/>
                          <a:ea typeface="Calibri"/>
                          <a:cs typeface="Calibri"/>
                        </a:rPr>
                        <a:t>Anmeldeprozess einbinden.</a:t>
                      </a:r>
                    </a:p>
                    <a:p>
                      <a:r>
                        <a:rPr sz="975">
                          <a:solidFill>
                            <a:srgbClr val="1F2A1F"/>
                          </a:solidFill>
                          <a:latin typeface="Calibri"/>
                          <a:ea typeface="Calibri"/>
                          <a:cs typeface="Calibri"/>
                        </a:rPr>
                        <a:t>Prüfungsordnungen im Antrag prüfen.</a:t>
                      </a:r>
                    </a:p>
                    <a:p>
                      <a:r>
                        <a:rPr sz="975">
                          <a:solidFill>
                            <a:srgbClr val="1F2A1F"/>
                          </a:solidFill>
                          <a:latin typeface="Calibri"/>
                          <a:ea typeface="Calibri"/>
                          <a:cs typeface="Calibri"/>
                        </a:rPr>
                        <a:t>Stufe 2: Verlängerungsanträge digital.</a:t>
                      </a:r>
                    </a:p>
                  </a:txBody>
                  <a:tcPr marL="95250" marR="95250" marT="76200" marB="57150">
                    <a:solidFill>
                      <a:srgbClr val="FFFFFF"/>
                    </a:solidFill>
                  </a:tcPr>
                </a:tc>
                <a:extLst>
                  <a:ext uri="{0D108BD9-81ED-4DB2-BD59-A6C34878D82A}">
                    <a16:rowId xmlns:a16="http://schemas.microsoft.com/office/drawing/2014/main" val="10001"/>
                  </a:ext>
                </a:extLst>
              </a:tr>
            </a:tbl>
          </a:graphicData>
        </a:graphic>
      </p:graphicFrame>
      <p:graphicFrame>
        <p:nvGraphicFramePr>
          <p:cNvPr id="26" name="Tabelle 25"/>
          <p:cNvGraphicFramePr/>
          <p:nvPr/>
        </p:nvGraphicFramePr>
        <p:xfrm>
          <a:off x="6115050" y="1781175"/>
          <a:ext cx="2781300" cy="1724025"/>
        </p:xfrm>
        <a:graphic>
          <a:graphicData uri="http://schemas.openxmlformats.org/drawingml/2006/table">
            <a:tbl>
              <a:tblPr/>
              <a:tblGrid>
                <a:gridCol w="2781300">
                  <a:extLst>
                    <a:ext uri="{9D8B030D-6E8A-4147-A177-3AD203B41FA5}">
                      <a16:colId xmlns:a16="http://schemas.microsoft.com/office/drawing/2014/main" val="20000"/>
                    </a:ext>
                  </a:extLst>
                </a:gridCol>
              </a:tblGrid>
              <a:tr h="247650">
                <a:tc>
                  <a:txBody>
                    <a:bodyPr/>
                    <a:lstStyle/>
                    <a:p>
                      <a:r>
                        <a:rPr sz="1050" b="1">
                          <a:solidFill>
                            <a:srgbClr val="FFFFFF"/>
                          </a:solidFill>
                          <a:latin typeface="Calibri"/>
                          <a:ea typeface="Calibri"/>
                          <a:cs typeface="Calibri"/>
                        </a:rPr>
                        <a:t>Projektergebnis und Meilensteine</a:t>
                      </a:r>
                    </a:p>
                  </a:txBody>
                  <a:tcPr marL="95250" marR="95250" marT="47625" marB="28575" anchor="ctr">
                    <a:solidFill>
                      <a:srgbClr val="2C5F2D"/>
                    </a:solidFill>
                  </a:tcPr>
                </a:tc>
                <a:extLst>
                  <a:ext uri="{0D108BD9-81ED-4DB2-BD59-A6C34878D82A}">
                    <a16:rowId xmlns:a16="http://schemas.microsoft.com/office/drawing/2014/main" val="10000"/>
                  </a:ext>
                </a:extLst>
              </a:tr>
              <a:tr h="1476375">
                <a:tc>
                  <a:txBody>
                    <a:bodyPr/>
                    <a:lstStyle/>
                    <a:p>
                      <a:r>
                        <a:rPr sz="990">
                          <a:solidFill>
                            <a:srgbClr val="1F2A1F"/>
                          </a:solidFill>
                          <a:latin typeface="Calibri"/>
                          <a:ea typeface="Calibri"/>
                          <a:cs typeface="Calibri"/>
                        </a:rPr>
                        <a:t>Anforderungsspezifikation mit FB MND</a:t>
                      </a:r>
                    </a:p>
                    <a:p>
                      <a:r>
                        <a:rPr sz="990">
                          <a:solidFill>
                            <a:srgbClr val="1F2A1F"/>
                          </a:solidFill>
                          <a:latin typeface="Calibri"/>
                          <a:ea typeface="Calibri"/>
                          <a:cs typeface="Calibri"/>
                        </a:rPr>
                        <a:t>abstimmen.</a:t>
                      </a:r>
                    </a:p>
                    <a:p>
                      <a:r>
                        <a:rPr sz="990">
                          <a:solidFill>
                            <a:srgbClr val="1F2A1F"/>
                          </a:solidFill>
                          <a:latin typeface="Calibri"/>
                          <a:ea typeface="Calibri"/>
                          <a:cs typeface="Calibri"/>
                        </a:rPr>
                        <a:t>Klickprototyp des Anmeldeprozesses</a:t>
                      </a:r>
                    </a:p>
                    <a:p>
                      <a:r>
                        <a:rPr sz="990">
                          <a:solidFill>
                            <a:srgbClr val="1F2A1F"/>
                          </a:solidFill>
                          <a:latin typeface="Calibri"/>
                          <a:ea typeface="Calibri"/>
                          <a:cs typeface="Calibri"/>
                        </a:rPr>
                        <a:t>für Desktop und Smartphone.</a:t>
                      </a:r>
                    </a:p>
                    <a:p>
                      <a:r>
                        <a:rPr sz="990">
                          <a:solidFill>
                            <a:srgbClr val="1F2A1F"/>
                          </a:solidFill>
                          <a:latin typeface="Calibri"/>
                          <a:ea typeface="Calibri"/>
                          <a:cs typeface="Calibri"/>
                        </a:rPr>
                        <a:t>Stufe 1 produktiv: digitale Anmeldung</a:t>
                      </a:r>
                    </a:p>
                    <a:p>
                      <a:r>
                        <a:rPr sz="990">
                          <a:solidFill>
                            <a:srgbClr val="1F2A1F"/>
                          </a:solidFill>
                          <a:latin typeface="Calibri"/>
                          <a:ea typeface="Calibri"/>
                          <a:cs typeface="Calibri"/>
                        </a:rPr>
                        <a:t>inklusive externer Korreferenten.</a:t>
                      </a:r>
                    </a:p>
                    <a:p>
                      <a:r>
                        <a:rPr sz="990">
                          <a:solidFill>
                            <a:srgbClr val="1F2A1F"/>
                          </a:solidFill>
                          <a:latin typeface="Calibri"/>
                          <a:ea typeface="Calibri"/>
                          <a:cs typeface="Calibri"/>
                        </a:rPr>
                        <a:t>Stufe 2: Verlängerungsanträge digital.</a:t>
                      </a:r>
                    </a:p>
                    <a:p>
                      <a:r>
                        <a:rPr sz="990">
                          <a:solidFill>
                            <a:srgbClr val="1F2A1F"/>
                          </a:solidFill>
                          <a:latin typeface="Calibri"/>
                          <a:ea typeface="Calibri"/>
                          <a:cs typeface="Calibri"/>
                        </a:rPr>
                        <a:t>Ergebnis: ein Portal statt drei PDF-Formulare.</a:t>
                      </a:r>
                    </a:p>
                  </a:txBody>
                  <a:tcPr marL="95250" marR="95250" marT="76200" marB="57150">
                    <a:solidFill>
                      <a:srgbClr val="FFFFFF"/>
                    </a:solidFill>
                  </a:tcPr>
                </a:tc>
                <a:extLst>
                  <a:ext uri="{0D108BD9-81ED-4DB2-BD59-A6C34878D82A}">
                    <a16:rowId xmlns:a16="http://schemas.microsoft.com/office/drawing/2014/main" val="10001"/>
                  </a:ext>
                </a:extLst>
              </a:tr>
            </a:tbl>
          </a:graphicData>
        </a:graphic>
      </p:graphicFrame>
      <p:graphicFrame>
        <p:nvGraphicFramePr>
          <p:cNvPr id="27" name="Tabelle 26"/>
          <p:cNvGraphicFramePr/>
          <p:nvPr/>
        </p:nvGraphicFramePr>
        <p:xfrm>
          <a:off x="247650" y="3648075"/>
          <a:ext cx="2781300" cy="1162050"/>
        </p:xfrm>
        <a:graphic>
          <a:graphicData uri="http://schemas.openxmlformats.org/drawingml/2006/table">
            <a:tbl>
              <a:tblPr/>
              <a:tblGrid>
                <a:gridCol w="2781300">
                  <a:extLst>
                    <a:ext uri="{9D8B030D-6E8A-4147-A177-3AD203B41FA5}">
                      <a16:colId xmlns:a16="http://schemas.microsoft.com/office/drawing/2014/main" val="20000"/>
                    </a:ext>
                  </a:extLst>
                </a:gridCol>
              </a:tblGrid>
              <a:tr h="247650">
                <a:tc>
                  <a:txBody>
                    <a:bodyPr/>
                    <a:lstStyle/>
                    <a:p>
                      <a:r>
                        <a:rPr sz="1050" b="1">
                          <a:solidFill>
                            <a:srgbClr val="FFFFFF"/>
                          </a:solidFill>
                          <a:latin typeface="Calibri"/>
                          <a:ea typeface="Calibri"/>
                          <a:cs typeface="Calibri"/>
                        </a:rPr>
                        <a:t>Projektrisiken und Umgang</a:t>
                      </a:r>
                    </a:p>
                  </a:txBody>
                  <a:tcPr marL="95250" marR="95250" marT="47625" marB="28575" anchor="ctr">
                    <a:solidFill>
                      <a:srgbClr val="2C5F2D"/>
                    </a:solidFill>
                  </a:tcPr>
                </a:tc>
                <a:extLst>
                  <a:ext uri="{0D108BD9-81ED-4DB2-BD59-A6C34878D82A}">
                    <a16:rowId xmlns:a16="http://schemas.microsoft.com/office/drawing/2014/main" val="10000"/>
                  </a:ext>
                </a:extLst>
              </a:tr>
              <a:tr h="914400">
                <a:tc>
                  <a:txBody>
                    <a:bodyPr/>
                    <a:lstStyle/>
                    <a:p>
                      <a:r>
                        <a:rPr sz="990">
                          <a:solidFill>
                            <a:srgbClr val="1F2A1F"/>
                          </a:solidFill>
                          <a:latin typeface="Calibri"/>
                          <a:ea typeface="Calibri"/>
                          <a:cs typeface="Calibri"/>
                        </a:rPr>
                        <a:t>Unklare oder sich ändernde Vorgaben</a:t>
                      </a:r>
                    </a:p>
                    <a:p>
                      <a:r>
                        <a:rPr sz="990">
                          <a:solidFill>
                            <a:srgbClr val="1F2A1F"/>
                          </a:solidFill>
                          <a:latin typeface="Calibri"/>
                          <a:ea typeface="Calibri"/>
                          <a:cs typeface="Calibri"/>
                        </a:rPr>
                        <a:t>der Prüfungsordnungen.</a:t>
                      </a:r>
                    </a:p>
                    <a:p>
                      <a:r>
                        <a:rPr sz="990">
                          <a:solidFill>
                            <a:srgbClr val="1F2A1F"/>
                          </a:solidFill>
                          <a:latin typeface="Calibri"/>
                          <a:ea typeface="Calibri"/>
                          <a:cs typeface="Calibri"/>
                        </a:rPr>
                        <a:t>Akzeptanz bei Prüfenden und Prüfungsamt.</a:t>
                      </a:r>
                    </a:p>
                    <a:p>
                      <a:r>
                        <a:rPr sz="990">
                          <a:solidFill>
                            <a:srgbClr val="1F2A1F"/>
                          </a:solidFill>
                          <a:latin typeface="Calibri"/>
                          <a:ea typeface="Calibri"/>
                          <a:cs typeface="Calibri"/>
                        </a:rPr>
                        <a:t>Datenschutz bei externen Beteiligten.</a:t>
                      </a:r>
                    </a:p>
                    <a:p>
                      <a:r>
                        <a:rPr sz="990">
                          <a:solidFill>
                            <a:srgbClr val="1F2A1F"/>
                          </a:solidFill>
                          <a:latin typeface="Calibri"/>
                          <a:ea typeface="Calibri"/>
                          <a:cs typeface="Calibri"/>
                        </a:rPr>
                        <a:t>Umgang: AG-Interview und Prototyp-Tests.</a:t>
                      </a:r>
                    </a:p>
                  </a:txBody>
                  <a:tcPr marL="95250" marR="95250" marT="76200" marB="57150">
                    <a:solidFill>
                      <a:srgbClr val="FFFFFF"/>
                    </a:solidFill>
                  </a:tcPr>
                </a:tc>
                <a:extLst>
                  <a:ext uri="{0D108BD9-81ED-4DB2-BD59-A6C34878D82A}">
                    <a16:rowId xmlns:a16="http://schemas.microsoft.com/office/drawing/2014/main" val="10001"/>
                  </a:ext>
                </a:extLst>
              </a:tr>
            </a:tbl>
          </a:graphicData>
        </a:graphic>
      </p:graphicFrame>
      <p:graphicFrame>
        <p:nvGraphicFramePr>
          <p:cNvPr id="28" name="Tabelle 27"/>
          <p:cNvGraphicFramePr/>
          <p:nvPr/>
        </p:nvGraphicFramePr>
        <p:xfrm>
          <a:off x="3181350" y="3648075"/>
          <a:ext cx="2781300" cy="1162050"/>
        </p:xfrm>
        <a:graphic>
          <a:graphicData uri="http://schemas.openxmlformats.org/drawingml/2006/table">
            <a:tbl>
              <a:tblPr/>
              <a:tblGrid>
                <a:gridCol w="2781300">
                  <a:extLst>
                    <a:ext uri="{9D8B030D-6E8A-4147-A177-3AD203B41FA5}">
                      <a16:colId xmlns:a16="http://schemas.microsoft.com/office/drawing/2014/main" val="20000"/>
                    </a:ext>
                  </a:extLst>
                </a:gridCol>
              </a:tblGrid>
              <a:tr h="247650">
                <a:tc>
                  <a:txBody>
                    <a:bodyPr/>
                    <a:lstStyle/>
                    <a:p>
                      <a:r>
                        <a:rPr sz="1050" b="1">
                          <a:solidFill>
                            <a:srgbClr val="FFFFFF"/>
                          </a:solidFill>
                          <a:latin typeface="Calibri"/>
                          <a:ea typeface="Calibri"/>
                          <a:cs typeface="Calibri"/>
                        </a:rPr>
                        <a:t>Abhängigkeiten und offene Punkte</a:t>
                      </a:r>
                    </a:p>
                  </a:txBody>
                  <a:tcPr marL="95250" marR="95250" marT="47625" marB="28575" anchor="ctr">
                    <a:solidFill>
                      <a:srgbClr val="2C5F2D"/>
                    </a:solidFill>
                  </a:tcPr>
                </a:tc>
                <a:extLst>
                  <a:ext uri="{0D108BD9-81ED-4DB2-BD59-A6C34878D82A}">
                    <a16:rowId xmlns:a16="http://schemas.microsoft.com/office/drawing/2014/main" val="10000"/>
                  </a:ext>
                </a:extLst>
              </a:tr>
              <a:tr h="914400">
                <a:tc>
                  <a:txBody>
                    <a:bodyPr/>
                    <a:lstStyle/>
                    <a:p>
                      <a:r>
                        <a:rPr sz="990">
                          <a:solidFill>
                            <a:srgbClr val="1F2A1F"/>
                          </a:solidFill>
                          <a:latin typeface="Calibri"/>
                          <a:ea typeface="Calibri"/>
                          <a:cs typeface="Calibri"/>
                        </a:rPr>
                        <a:t>THM-Login und Rollenmodell.</a:t>
                      </a:r>
                    </a:p>
                    <a:p>
                      <a:r>
                        <a:rPr sz="990">
                          <a:solidFill>
                            <a:srgbClr val="1F2A1F"/>
                          </a:solidFill>
                          <a:latin typeface="Calibri"/>
                          <a:ea typeface="Calibri"/>
                          <a:cs typeface="Calibri"/>
                        </a:rPr>
                        <a:t>Datenschutz für personenbezogene Daten.</a:t>
                      </a:r>
                    </a:p>
                    <a:p>
                      <a:r>
                        <a:rPr sz="990">
                          <a:solidFill>
                            <a:srgbClr val="1F2A1F"/>
                          </a:solidFill>
                          <a:latin typeface="Calibri"/>
                          <a:ea typeface="Calibri"/>
                          <a:cs typeface="Calibri"/>
                        </a:rPr>
                        <a:t>Offene Fragen im Interview mit AG klären.</a:t>
                      </a:r>
                    </a:p>
                    <a:p>
                      <a:r>
                        <a:rPr sz="990">
                          <a:solidFill>
                            <a:srgbClr val="1F2A1F"/>
                          </a:solidFill>
                          <a:latin typeface="Calibri"/>
                          <a:ea typeface="Calibri"/>
                          <a:cs typeface="Calibri"/>
                        </a:rPr>
                        <a:t>Benachrichtigung/Schnittstellen abstimmen.</a:t>
                      </a:r>
                    </a:p>
                  </a:txBody>
                  <a:tcPr marL="95250" marR="95250" marT="76200" marB="57150">
                    <a:solidFill>
                      <a:srgbClr val="FFFFFF"/>
                    </a:solidFill>
                  </a:tcPr>
                </a:tc>
                <a:extLst>
                  <a:ext uri="{0D108BD9-81ED-4DB2-BD59-A6C34878D82A}">
                    <a16:rowId xmlns:a16="http://schemas.microsoft.com/office/drawing/2014/main" val="10001"/>
                  </a:ext>
                </a:extLst>
              </a:tr>
            </a:tbl>
          </a:graphicData>
        </a:graphic>
      </p:graphicFrame>
      <p:graphicFrame>
        <p:nvGraphicFramePr>
          <p:cNvPr id="29" name="Tabelle 28"/>
          <p:cNvGraphicFramePr/>
          <p:nvPr/>
        </p:nvGraphicFramePr>
        <p:xfrm>
          <a:off x="6115050" y="3648075"/>
          <a:ext cx="2781300" cy="1162050"/>
        </p:xfrm>
        <a:graphic>
          <a:graphicData uri="http://schemas.openxmlformats.org/drawingml/2006/table">
            <a:tbl>
              <a:tblPr/>
              <a:tblGrid>
                <a:gridCol w="2781300">
                  <a:extLst>
                    <a:ext uri="{9D8B030D-6E8A-4147-A177-3AD203B41FA5}">
                      <a16:colId xmlns:a16="http://schemas.microsoft.com/office/drawing/2014/main" val="20000"/>
                    </a:ext>
                  </a:extLst>
                </a:gridCol>
              </a:tblGrid>
              <a:tr h="247650">
                <a:tc>
                  <a:txBody>
                    <a:bodyPr/>
                    <a:lstStyle/>
                    <a:p>
                      <a:r>
                        <a:rPr sz="1050" b="1">
                          <a:solidFill>
                            <a:srgbClr val="FFFFFF"/>
                          </a:solidFill>
                          <a:latin typeface="Calibri"/>
                          <a:ea typeface="Calibri"/>
                          <a:cs typeface="Calibri"/>
                        </a:rPr>
                        <a:t>Projektteam und Beteiligte</a:t>
                      </a:r>
                    </a:p>
                  </a:txBody>
                  <a:tcPr marL="95250" marR="95250" marT="47625" marB="28575" anchor="ctr">
                    <a:solidFill>
                      <a:srgbClr val="2C5F2D"/>
                    </a:solidFill>
                  </a:tcPr>
                </a:tc>
                <a:extLst>
                  <a:ext uri="{0D108BD9-81ED-4DB2-BD59-A6C34878D82A}">
                    <a16:rowId xmlns:a16="http://schemas.microsoft.com/office/drawing/2014/main" val="10000"/>
                  </a:ext>
                </a:extLst>
              </a:tr>
              <a:tr h="914400">
                <a:tc>
                  <a:txBody>
                    <a:bodyPr/>
                    <a:lstStyle/>
                    <a:p>
                      <a:r>
                        <a:rPr sz="990">
                          <a:solidFill>
                            <a:srgbClr val="1F2A1F"/>
                          </a:solidFill>
                          <a:latin typeface="Calibri"/>
                          <a:ea typeface="Calibri"/>
                          <a:cs typeface="Calibri"/>
                        </a:rPr>
                        <a:t>Auftraggeber: FB MND, Prof. Dr. Lucke.</a:t>
                      </a:r>
                    </a:p>
                    <a:p>
                      <a:r>
                        <a:rPr sz="990">
                          <a:solidFill>
                            <a:srgbClr val="1F2A1F"/>
                          </a:solidFill>
                          <a:latin typeface="Calibri"/>
                          <a:ea typeface="Calibri"/>
                          <a:cs typeface="Calibri"/>
                        </a:rPr>
                        <a:t>Auftragnehmer: Projektteam RE</a:t>
                      </a:r>
                    </a:p>
                    <a:p>
                      <a:r>
                        <a:rPr sz="990">
                          <a:solidFill>
                            <a:srgbClr val="1F2A1F"/>
                          </a:solidFill>
                          <a:latin typeface="Calibri"/>
                          <a:ea typeface="Calibri"/>
                          <a:cs typeface="Calibri"/>
                        </a:rPr>
                        <a:t>(Gruppe Grün).</a:t>
                      </a:r>
                    </a:p>
                    <a:p>
                      <a:r>
                        <a:rPr sz="990">
                          <a:solidFill>
                            <a:srgbClr val="1F2A1F"/>
                          </a:solidFill>
                          <a:latin typeface="Calibri"/>
                          <a:ea typeface="Calibri"/>
                          <a:cs typeface="Calibri"/>
                        </a:rPr>
                        <a:t>Stakeholder: Studierende, Prüfende,</a:t>
                      </a:r>
                    </a:p>
                    <a:p>
                      <a:r>
                        <a:rPr sz="990">
                          <a:solidFill>
                            <a:srgbClr val="1F2A1F"/>
                          </a:solidFill>
                          <a:latin typeface="Calibri"/>
                          <a:ea typeface="Calibri"/>
                          <a:cs typeface="Calibri"/>
                        </a:rPr>
                        <a:t>Prüfungsamt, Dekanat und Ausschuss.</a:t>
                      </a:r>
                    </a:p>
                  </a:txBody>
                  <a:tcPr marL="95250" marR="95250" marT="76200" marB="57150">
                    <a:solidFill>
                      <a:srgbClr val="FFFFFF"/>
                    </a:solidFill>
                  </a:tcPr>
                </a:tc>
                <a:extLst>
                  <a:ext uri="{0D108BD9-81ED-4DB2-BD59-A6C34878D82A}">
                    <a16:rowId xmlns:a16="http://schemas.microsoft.com/office/drawing/2014/main" val="10001"/>
                  </a:ext>
                </a:extLst>
              </a:tr>
            </a:tbl>
          </a:graphicData>
        </a:graphic>
      </p:graphicFrame>
      <p:sp>
        <p:nvSpPr>
          <p:cNvPr id="15" name="plan-note">
            <a:extLst>
              <a:ext uri="{FF2B5EF4-FFF2-40B4-BE49-F238E27FC236}">
                <a16:creationId xmlns:a16="http://schemas.microsoft.com/office/drawing/2014/main" id="{7539E61F-620C-424B-9E28-078BEBCB985F}"/>
              </a:ext>
            </a:extLst>
          </p:cNvPr>
          <p:cNvSpPr>
            <a:spLocks noGrp="1"/>
          </p:cNvSpPr>
          <p:nvPr/>
        </p:nvSpPr>
        <p:spPr>
          <a:xfrm>
            <a:off x="247650" y="4933950"/>
            <a:ext cx="8648700" cy="180975"/>
          </a:xfrm>
          <a:prstGeom prst="rect">
            <a:avLst/>
          </a:prstGeom>
          <a:noFill/>
          <a:ln w="0">
            <a:noFill/>
          </a:ln>
        </p:spPr>
        <p:txBody>
          <a:bodyPr>
            <a:noAutofit/>
          </a:bodyPr>
          <a:lstStyle/>
          <a:p>
            <a:pPr>
              <a:defRPr sz="788" b="0">
                <a:solidFill>
                  <a:srgbClr val="5C6B5C"/>
                </a:solidFill>
                <a:latin typeface="Calibri"/>
                <a:ea typeface="Calibri"/>
                <a:cs typeface="Calibri"/>
              </a:defRPr>
            </a:pPr>
            <a:r>
              <a:rPr sz="788" b="0">
                <a:solidFill>
                  <a:srgbClr val="5C6B5C"/>
                </a:solidFill>
                <a:latin typeface="Calibri"/>
                <a:ea typeface="Calibri"/>
                <a:cs typeface="Calibri"/>
              </a:rPr>
              <a:t>Planungsstand: Termine geschätzt, Budget offen. Der produktive Start ist ein geplanter Meilenstein; Release 3 erfordert AG-Abstimmung.</a:t>
            </a:r>
          </a:p>
        </p:txBody>
      </p:sp>
    </p:spTree>
    <p:extLst>
      <p:ext uri="{BB962C8B-B14F-4D97-AF65-F5344CB8AC3E}">
        <p14:creationId xmlns:p14="http://schemas.microsoft.com/office/powerpoint/2010/main" val="185828691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1567</Words>
  <Application>Microsoft Macintosh PowerPoint</Application>
  <DocSecurity>0</DocSecurity>
  <PresentationFormat>Bildschirmpräsentation (16:9)</PresentationFormat>
  <Paragraphs>146</Paragraphs>
  <Slides>2</Slides>
  <Notes>2</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2</vt:i4>
      </vt:variant>
    </vt:vector>
  </HeadingPairs>
  <TitlesOfParts>
    <vt:vector size="6" baseType="lpstr">
      <vt:lpstr>Aptos</vt:lpstr>
      <vt:lpstr>Calibri</vt:lpstr>
      <vt:lpstr>Cambria</vt:lpstr>
      <vt:lpstr>ChatGPT</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Souhaib  Boujemaoui</cp:lastModifiedBy>
  <cp:revision>1</cp:revision>
  <dcterms:created xsi:type="dcterms:W3CDTF">2026-10-01T16:11:51Z</dcterms:created>
  <dcterms:modified xsi:type="dcterms:W3CDTF">2026-10-01T19:59:43Z</dcterms:modified>
</cp:coreProperties>
</file>