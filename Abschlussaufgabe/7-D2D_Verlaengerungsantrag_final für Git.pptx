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6" r:id="rId3"/>
    <p:sldId id="260" r:id="rId4"/>
    <p:sldId id="262" r:id="rId5"/>
    <p:sldId id="263" r:id="rId6"/>
    <p:sldId id="264" r:id="rId7"/>
    <p:sldId id="267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54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Jonas Rosamann – Student Wirtschaftsinformatik, kurz vor der Abschlussarbeit
„Ich will einfach wissen, ob mein Antrag angekommen ist und was noch fehlt.“
Aufbau nach Vorgabe: Ziele (spezifisch und allgemein), Eigenschaften, Frustrationen, Nutzungsüberwindung.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3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7 Dimensionen im Überblick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solidFill>
            <a:srgbClr val="A97C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 (Persona Tarek), Erstprüfer:in, Prüfungsausschuss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9272" y="132588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502152" y="1508760"/>
            <a:ext cx="411480" cy="411480"/>
          </a:xfrm>
          <a:prstGeom prst="rect">
            <a:avLst/>
          </a:prstGeom>
          <a:solidFill>
            <a:srgbClr val="7B2D9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350215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50792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103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Webanwendung mit THM-Login; Wireframes und Kontextdiagramm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32588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6364224" y="1508760"/>
            <a:ext cx="411480" cy="411480"/>
          </a:xfrm>
          <a:prstGeom prst="rect">
            <a:avLst/>
          </a:prstGeom>
          <a:solidFill>
            <a:srgbClr val="2E8B4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 txBox="1"/>
          <p:nvPr/>
        </p:nvSpPr>
        <p:spPr>
          <a:xfrm>
            <a:off x="6364224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12864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103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starten, Dokument anhängen, absenden; Antragseingang verarbeiten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43416" y="132588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9226296" y="1508760"/>
            <a:ext cx="411480" cy="411480"/>
          </a:xfrm>
          <a:prstGeom prst="rect">
            <a:avLst/>
          </a:prstGeom>
          <a:solidFill>
            <a:srgbClr val="2A74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 txBox="1"/>
          <p:nvPr/>
        </p:nvSpPr>
        <p:spPr>
          <a:xfrm>
            <a:off x="9226296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774936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2103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Abschlussarbeit und Verlängerungsantrag mit altem und neuem Abgabetermin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721608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40080" y="3904488"/>
            <a:ext cx="411480" cy="41148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 txBox="1"/>
          <p:nvPr/>
        </p:nvSpPr>
        <p:spPr>
          <a:xfrm>
            <a:off x="640080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904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49884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 nur mit THM-Login; neuer Abgabetermin = alter Abgabetermin + Verlängerungsdauer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19272" y="3721608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3502152" y="3904488"/>
            <a:ext cx="411480" cy="41148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 txBox="1"/>
          <p:nvPr/>
        </p:nvSpPr>
        <p:spPr>
          <a:xfrm>
            <a:off x="3502152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050792" y="3904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3502152" y="449884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auf Handy, Laptop und Desktop; E-Mail-Dienst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81344" y="3721608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6364224" y="3904488"/>
            <a:ext cx="411480" cy="411480"/>
          </a:xfrm>
          <a:prstGeom prst="rect">
            <a:avLst/>
          </a:prstGeom>
          <a:solidFill>
            <a:srgbClr val="6B737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 txBox="1"/>
          <p:nvPr/>
        </p:nvSpPr>
        <p:spPr>
          <a:xfrm>
            <a:off x="6364224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912864" y="3904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Attributes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449884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Benutzbarkeit, Verfügbarkeit, Transparenz, Datenschutz, Pflegbarkeit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1376"/>
            <a:ext cx="792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Studierende:r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426720"/>
            <a:ext cx="4328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1 VON 4  ·  THESISFLOW</a:t>
            </a:r>
            <a:endParaRPr lang="en-US" sz="1067" dirty="0"/>
          </a:p>
        </p:txBody>
      </p:sp>
      <p:sp>
        <p:nvSpPr>
          <p:cNvPr id="4" name="Shape 2"/>
          <p:cNvSpPr/>
          <p:nvPr/>
        </p:nvSpPr>
        <p:spPr>
          <a:xfrm>
            <a:off x="548640" y="1158240"/>
            <a:ext cx="3352800" cy="5242560"/>
          </a:xfrm>
          <a:prstGeom prst="roundRect">
            <a:avLst>
              <a:gd name="adj" fmla="val 4364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5" name="Shape 3"/>
          <p:cNvSpPr/>
          <p:nvPr/>
        </p:nvSpPr>
        <p:spPr>
          <a:xfrm>
            <a:off x="1341120" y="1341120"/>
            <a:ext cx="1767840" cy="17678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6" name="Image 0" descr="photos/u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80" y="1402080"/>
            <a:ext cx="1645920" cy="1645920"/>
          </a:xfrm>
          <a:prstGeom prst="ellipse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413760"/>
            <a:ext cx="2987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Jonas Rosamann</a:t>
            </a:r>
            <a:endParaRPr lang="en-US" sz="2133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840480"/>
            <a:ext cx="2987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Wirtschaftsinformatik, kurz vor der Abschlussarbeit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92480" y="432816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„Ich will einfach wissen, ob mein Antrag angekommen ist und was noch fehlt.“</a:t>
            </a:r>
            <a:endParaRPr lang="en-US" sz="1333" dirty="0"/>
          </a:p>
        </p:txBody>
      </p:sp>
      <p:sp>
        <p:nvSpPr>
          <p:cNvPr id="10" name="Text 7"/>
          <p:cNvSpPr txBox="1"/>
          <p:nvPr/>
        </p:nvSpPr>
        <p:spPr>
          <a:xfrm>
            <a:off x="792480" y="5120640"/>
            <a:ext cx="28651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23 Jahre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Wohnort: Gießen, WG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Familienstand: ledig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Nebenjob: Werkstudent, 12 h/Woche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Smartphone, Laptop zu Hause</a:t>
            </a:r>
            <a:endParaRPr lang="en-US" sz="1133" dirty="0"/>
          </a:p>
        </p:txBody>
      </p:sp>
      <p:sp>
        <p:nvSpPr>
          <p:cNvPr id="11" name="Shape 8"/>
          <p:cNvSpPr/>
          <p:nvPr/>
        </p:nvSpPr>
        <p:spPr>
          <a:xfrm>
            <a:off x="4267200" y="1194816"/>
            <a:ext cx="316992" cy="31699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2" name="Text 9"/>
          <p:cNvSpPr txBox="1"/>
          <p:nvPr/>
        </p:nvSpPr>
        <p:spPr>
          <a:xfrm>
            <a:off x="4267200" y="1194816"/>
            <a:ext cx="316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706112" y="1158240"/>
            <a:ext cx="315772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667" dirty="0"/>
          </a:p>
        </p:txBody>
      </p:sp>
      <p:sp>
        <p:nvSpPr>
          <p:cNvPr id="14" name="Text 11"/>
          <p:cNvSpPr txBox="1"/>
          <p:nvPr/>
        </p:nvSpPr>
        <p:spPr>
          <a:xfrm>
            <a:off x="4328160" y="1621536"/>
            <a:ext cx="353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in einem Durchgang korrekt einreichen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Bearbeitungsstand jederzeit am Handy sehen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Prüfende ohne Unterschriftenlauf bestätigen lassen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Studium in Regelstudienzeit abschließen</a:t>
            </a:r>
            <a:endParaRPr lang="en-US" sz="1267" dirty="0"/>
          </a:p>
        </p:txBody>
      </p:sp>
      <p:sp>
        <p:nvSpPr>
          <p:cNvPr id="15" name="Shape 12"/>
          <p:cNvSpPr/>
          <p:nvPr/>
        </p:nvSpPr>
        <p:spPr>
          <a:xfrm>
            <a:off x="8046720" y="1194816"/>
            <a:ext cx="316992" cy="31699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6" name="Text 13"/>
          <p:cNvSpPr txBox="1"/>
          <p:nvPr/>
        </p:nvSpPr>
        <p:spPr>
          <a:xfrm>
            <a:off x="8046720" y="1194816"/>
            <a:ext cx="316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485632" y="1158240"/>
            <a:ext cx="315772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667" dirty="0"/>
          </a:p>
        </p:txBody>
      </p:sp>
      <p:sp>
        <p:nvSpPr>
          <p:cNvPr id="18" name="Text 15"/>
          <p:cNvSpPr txBox="1"/>
          <p:nvPr/>
        </p:nvSpPr>
        <p:spPr>
          <a:xfrm>
            <a:off x="8107680" y="1621536"/>
            <a:ext cx="353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Abschlussarbeit, unsicher bei Formalien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Digital-native, erwartet App-Komfort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knapp, reagiert auf Erinnerungen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Volleyball, Serien, wenig Geduld mit Papier</a:t>
            </a:r>
            <a:endParaRPr lang="en-US" sz="1267" dirty="0"/>
          </a:p>
        </p:txBody>
      </p:sp>
      <p:sp>
        <p:nvSpPr>
          <p:cNvPr id="19" name="Shape 16"/>
          <p:cNvSpPr/>
          <p:nvPr/>
        </p:nvSpPr>
        <p:spPr>
          <a:xfrm>
            <a:off x="4267200" y="3450336"/>
            <a:ext cx="316992" cy="31699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0" name="Text 17"/>
          <p:cNvSpPr txBox="1"/>
          <p:nvPr/>
        </p:nvSpPr>
        <p:spPr>
          <a:xfrm>
            <a:off x="4267200" y="3450336"/>
            <a:ext cx="316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06112" y="3413760"/>
            <a:ext cx="315772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667" dirty="0"/>
          </a:p>
        </p:txBody>
      </p:sp>
      <p:sp>
        <p:nvSpPr>
          <p:cNvPr id="22" name="Text 19"/>
          <p:cNvSpPr txBox="1"/>
          <p:nvPr/>
        </p:nvSpPr>
        <p:spPr>
          <a:xfrm>
            <a:off x="4328160" y="3877056"/>
            <a:ext cx="353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ausdrucken, unterschreiben, scannen, mailen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Wochenlang keine Rückmeldung zum Antrag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Unsicher, ob alles vollständig ist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Sekretariat nur zu Öffnungszeiten erreichbar</a:t>
            </a:r>
            <a:endParaRPr lang="en-US" sz="1267" dirty="0"/>
          </a:p>
        </p:txBody>
      </p:sp>
      <p:sp>
        <p:nvSpPr>
          <p:cNvPr id="23" name="Shape 20"/>
          <p:cNvSpPr/>
          <p:nvPr/>
        </p:nvSpPr>
        <p:spPr>
          <a:xfrm>
            <a:off x="8046720" y="3450336"/>
            <a:ext cx="316992" cy="31699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4" name="Text 21"/>
          <p:cNvSpPr txBox="1"/>
          <p:nvPr/>
        </p:nvSpPr>
        <p:spPr>
          <a:xfrm>
            <a:off x="8046720" y="3450336"/>
            <a:ext cx="316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485632" y="3413760"/>
            <a:ext cx="315772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667" dirty="0"/>
          </a:p>
        </p:txBody>
      </p:sp>
      <p:sp>
        <p:nvSpPr>
          <p:cNvPr id="26" name="Text 23"/>
          <p:cNvSpPr txBox="1"/>
          <p:nvPr/>
        </p:nvSpPr>
        <p:spPr>
          <a:xfrm>
            <a:off x="8107680" y="3877056"/>
            <a:ext cx="353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Schritt-für-Schritt-Führung mit Pflichtfeldprüfung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mit THM-Konto, keine neue Registrierung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 oder Mail-Benachrichtigung bei Statuswechsel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genauso komfortabel wie am Desktop</a:t>
            </a:r>
            <a:endParaRPr lang="en-US" sz="1267" dirty="0"/>
          </a:p>
        </p:txBody>
      </p:sp>
      <p:sp>
        <p:nvSpPr>
          <p:cNvPr id="27" name="Text 24"/>
          <p:cNvSpPr txBox="1"/>
          <p:nvPr/>
        </p:nvSpPr>
        <p:spPr>
          <a:xfrm>
            <a:off x="4267200" y="5754624"/>
            <a:ext cx="1341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Technikaffinität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632704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9" name="Shape 26"/>
          <p:cNvSpPr/>
          <p:nvPr/>
        </p:nvSpPr>
        <p:spPr>
          <a:xfrm>
            <a:off x="5864352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0" name="Shape 27"/>
          <p:cNvSpPr/>
          <p:nvPr/>
        </p:nvSpPr>
        <p:spPr>
          <a:xfrm>
            <a:off x="6096000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1" name="Shape 28"/>
          <p:cNvSpPr/>
          <p:nvPr/>
        </p:nvSpPr>
        <p:spPr>
          <a:xfrm>
            <a:off x="6327648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2" name="Shape 29"/>
          <p:cNvSpPr/>
          <p:nvPr/>
        </p:nvSpPr>
        <p:spPr>
          <a:xfrm>
            <a:off x="6559296" y="5815584"/>
            <a:ext cx="182880" cy="18288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3" name="Text 30"/>
          <p:cNvSpPr txBox="1"/>
          <p:nvPr/>
        </p:nvSpPr>
        <p:spPr>
          <a:xfrm>
            <a:off x="6766560" y="5754624"/>
            <a:ext cx="1341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Prozesskenntnis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132064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5" name="Shape 32"/>
          <p:cNvSpPr/>
          <p:nvPr/>
        </p:nvSpPr>
        <p:spPr>
          <a:xfrm>
            <a:off x="8363712" y="5815584"/>
            <a:ext cx="182880" cy="18288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6" name="Shape 33"/>
          <p:cNvSpPr/>
          <p:nvPr/>
        </p:nvSpPr>
        <p:spPr>
          <a:xfrm>
            <a:off x="8595360" y="5815584"/>
            <a:ext cx="182880" cy="18288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7" name="Shape 34"/>
          <p:cNvSpPr/>
          <p:nvPr/>
        </p:nvSpPr>
        <p:spPr>
          <a:xfrm>
            <a:off x="8827008" y="5815584"/>
            <a:ext cx="182880" cy="18288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8" name="Shape 35"/>
          <p:cNvSpPr/>
          <p:nvPr/>
        </p:nvSpPr>
        <p:spPr>
          <a:xfrm>
            <a:off x="9058656" y="5815584"/>
            <a:ext cx="182880" cy="18288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9" name="Text 36"/>
          <p:cNvSpPr txBox="1"/>
          <p:nvPr/>
        </p:nvSpPr>
        <p:spPr>
          <a:xfrm>
            <a:off x="9265920" y="5754624"/>
            <a:ext cx="1341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Zeitbudget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10631424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1" name="Shape 38"/>
          <p:cNvSpPr/>
          <p:nvPr/>
        </p:nvSpPr>
        <p:spPr>
          <a:xfrm>
            <a:off x="10863072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2" name="Shape 39"/>
          <p:cNvSpPr/>
          <p:nvPr/>
        </p:nvSpPr>
        <p:spPr>
          <a:xfrm>
            <a:off x="11094720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3" name="Shape 40"/>
          <p:cNvSpPr/>
          <p:nvPr/>
        </p:nvSpPr>
        <p:spPr>
          <a:xfrm>
            <a:off x="11326368" y="5815584"/>
            <a:ext cx="182880" cy="18288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4" name="Shape 41"/>
          <p:cNvSpPr/>
          <p:nvPr/>
        </p:nvSpPr>
        <p:spPr>
          <a:xfrm>
            <a:off x="11558016" y="5815584"/>
            <a:ext cx="182880" cy="18288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5" name="Text 42"/>
          <p:cNvSpPr txBox="1"/>
          <p:nvPr/>
        </p:nvSpPr>
        <p:spPr>
          <a:xfrm>
            <a:off x="4267200" y="6278880"/>
            <a:ext cx="7376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00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– Praxisteil  ·  Personas  ·  Skala 1 = niedrig, 5 = hoch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7B2D9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Interface: Bedienoberfläche (Wireframes, Smartphone)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2743200" cy="5074920"/>
          </a:xfrm>
          <a:prstGeom prst="roundRect">
            <a:avLst>
              <a:gd name="adj" fmla="val 8333"/>
            </a:avLst>
          </a:prstGeom>
          <a:solidFill>
            <a:srgbClr val="E6EAE8"/>
          </a:solidFill>
          <a:ln w="2540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1005840" y="1508760"/>
            <a:ext cx="2377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 txBox="1"/>
          <p:nvPr/>
        </p:nvSpPr>
        <p:spPr>
          <a:xfrm>
            <a:off x="1097280" y="1572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Meine Abschlussarbeit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1965960"/>
            <a:ext cx="2194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1170432" y="196596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Arbeit: Masterarbeit  ▾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242316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 txBox="1"/>
          <p:nvPr/>
        </p:nvSpPr>
        <p:spPr>
          <a:xfrm>
            <a:off x="1170432" y="242316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Thema: &lt;Thema&gt;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0" y="283464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 txBox="1"/>
          <p:nvPr/>
        </p:nvSpPr>
        <p:spPr>
          <a:xfrm>
            <a:off x="1170432" y="283464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Firma: &lt;Firma&gt;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324612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 txBox="1"/>
          <p:nvPr/>
        </p:nvSpPr>
        <p:spPr>
          <a:xfrm>
            <a:off x="1170432" y="324612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Beginn: &lt;TT.MM.JJJJ&gt;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 txBox="1"/>
          <p:nvPr/>
        </p:nvSpPr>
        <p:spPr>
          <a:xfrm>
            <a:off x="1170432" y="365760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Abgabetermin: &lt;TT.MM.JJJJ&gt;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7280" y="406908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 txBox="1"/>
          <p:nvPr/>
        </p:nvSpPr>
        <p:spPr>
          <a:xfrm>
            <a:off x="1170432" y="406908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 Bearbeitung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97280" y="4919472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80BC00"/>
          </a:solidFill>
          <a:ln w="12700">
            <a:solidFill>
              <a:srgbClr val="80BC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 txBox="1"/>
          <p:nvPr/>
        </p:nvSpPr>
        <p:spPr>
          <a:xfrm>
            <a:off x="1152144" y="491947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 beantragen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 auswählen (5.3.1)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1143000"/>
            <a:ext cx="2743200" cy="5074920"/>
          </a:xfrm>
          <a:prstGeom prst="roundRect">
            <a:avLst>
              <a:gd name="adj" fmla="val 8333"/>
            </a:avLst>
          </a:prstGeom>
          <a:solidFill>
            <a:srgbClr val="E6EAE8"/>
          </a:solidFill>
          <a:ln w="2540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754880" y="1508760"/>
            <a:ext cx="2377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 txBox="1"/>
          <p:nvPr/>
        </p:nvSpPr>
        <p:spPr>
          <a:xfrm>
            <a:off x="4846320" y="1572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Verlängerungsantrag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1965960"/>
            <a:ext cx="2194560" cy="310896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 txBox="1"/>
          <p:nvPr/>
        </p:nvSpPr>
        <p:spPr>
          <a:xfrm>
            <a:off x="4919472" y="196596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[aus THM-Konto]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22576"/>
            <a:ext cx="2194560" cy="310896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 txBox="1"/>
          <p:nvPr/>
        </p:nvSpPr>
        <p:spPr>
          <a:xfrm>
            <a:off x="4919472" y="232257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 [aus Arbeit]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679192"/>
            <a:ext cx="2194560" cy="310896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 txBox="1"/>
          <p:nvPr/>
        </p:nvSpPr>
        <p:spPr>
          <a:xfrm>
            <a:off x="4919472" y="2679192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 [aus Arbeit]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035808"/>
            <a:ext cx="2194560" cy="310896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 txBox="1"/>
          <p:nvPr/>
        </p:nvSpPr>
        <p:spPr>
          <a:xfrm>
            <a:off x="4919472" y="303580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Abgabetermin  [aus Arbeit]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392424"/>
            <a:ext cx="2194560" cy="310896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 txBox="1"/>
          <p:nvPr/>
        </p:nvSpPr>
        <p:spPr>
          <a:xfrm>
            <a:off x="4919472" y="339242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Neuer Abgabetermin  [automatisch berechnet]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767328"/>
            <a:ext cx="2194560" cy="530352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 txBox="1"/>
          <p:nvPr/>
        </p:nvSpPr>
        <p:spPr>
          <a:xfrm>
            <a:off x="4919472" y="3767328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  [Textfeld, mehrzeilig]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38912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 txBox="1"/>
          <p:nvPr/>
        </p:nvSpPr>
        <p:spPr>
          <a:xfrm>
            <a:off x="4919472" y="438912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Dokument hochladen (optional)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919472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80BC00"/>
          </a:solidFill>
          <a:ln w="12700">
            <a:solidFill>
              <a:srgbClr val="80BC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 txBox="1"/>
          <p:nvPr/>
        </p:nvSpPr>
        <p:spPr>
          <a:xfrm>
            <a:off x="4901184" y="491947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absenden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prüfen, absenden (5.3.2)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321040" y="1143000"/>
            <a:ext cx="2743200" cy="5074920"/>
          </a:xfrm>
          <a:prstGeom prst="roundRect">
            <a:avLst>
              <a:gd name="adj" fmla="val 8333"/>
            </a:avLst>
          </a:prstGeom>
          <a:solidFill>
            <a:srgbClr val="E6EAE8"/>
          </a:solidFill>
          <a:ln w="2540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8503920" y="1508760"/>
            <a:ext cx="2377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 txBox="1"/>
          <p:nvPr/>
        </p:nvSpPr>
        <p:spPr>
          <a:xfrm>
            <a:off x="8595360" y="1572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Ihres Antrags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595360" y="196596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 txBox="1"/>
          <p:nvPr/>
        </p:nvSpPr>
        <p:spPr>
          <a:xfrm>
            <a:off x="8668512" y="196596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Arbeit: &lt;Thema&gt;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595360" y="2350008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8"/>
          <p:cNvSpPr txBox="1"/>
          <p:nvPr/>
        </p:nvSpPr>
        <p:spPr>
          <a:xfrm>
            <a:off x="8668512" y="235000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Abgabetermin: &lt;TT.MM.JJJJ&gt;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595360" y="2734056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 txBox="1"/>
          <p:nvPr/>
        </p:nvSpPr>
        <p:spPr>
          <a:xfrm>
            <a:off x="8668512" y="273405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Neuer Abgabetermin: &lt;TT.MM.JJJJ&gt;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595360" y="324612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 txBox="1"/>
          <p:nvPr/>
        </p:nvSpPr>
        <p:spPr>
          <a:xfrm>
            <a:off x="8668512" y="324612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Antrag eingereicht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595360" y="3630168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Text 54"/>
          <p:cNvSpPr txBox="1"/>
          <p:nvPr/>
        </p:nvSpPr>
        <p:spPr>
          <a:xfrm>
            <a:off x="8668512" y="363016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Stellungnahme Erstprüfer:in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595360" y="4014216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Text 56"/>
          <p:cNvSpPr txBox="1"/>
          <p:nvPr/>
        </p:nvSpPr>
        <p:spPr>
          <a:xfrm>
            <a:off x="8668512" y="401421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Entscheidung Prüfungsausschuss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8595360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Benachrichtigung bei jedem Statuswechsel.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595360" y="4919472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80BC00"/>
          </a:solidFill>
          <a:ln w="12700">
            <a:solidFill>
              <a:srgbClr val="80BC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Text 59"/>
          <p:cNvSpPr txBox="1"/>
          <p:nvPr/>
        </p:nvSpPr>
        <p:spPr>
          <a:xfrm>
            <a:off x="8650224" y="491947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Zurück zur Übersicht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832104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sehen (5.3.3)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2E8B4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Action: Verlängerungsantrag stellen (Ablauf)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463040" cy="1554480"/>
          </a:xfrm>
          <a:prstGeom prst="rect">
            <a:avLst/>
          </a:prstGeom>
          <a:solidFill>
            <a:srgbClr val="4B5A63"/>
          </a:solidFill>
          <a:ln w="9525">
            <a:solidFill>
              <a:srgbClr val="4B5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 txBox="1"/>
          <p:nvPr/>
        </p:nvSpPr>
        <p:spPr>
          <a:xfrm>
            <a:off x="502920" y="118872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1274552" cy="1554480"/>
          </a:xfrm>
          <a:prstGeom prst="rect">
            <a:avLst/>
          </a:prstGeom>
          <a:solidFill>
            <a:srgbClr val="F7F9F8"/>
          </a:solidFill>
          <a:ln w="9525">
            <a:solidFill>
              <a:srgbClr val="C9D2C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463040" cy="1554480"/>
          </a:xfrm>
          <a:prstGeom prst="rect">
            <a:avLst/>
          </a:prstGeom>
          <a:solidFill>
            <a:srgbClr val="4B5A63"/>
          </a:solidFill>
          <a:ln w="9525">
            <a:solidFill>
              <a:srgbClr val="4B5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 txBox="1"/>
          <p:nvPr/>
        </p:nvSpPr>
        <p:spPr>
          <a:xfrm>
            <a:off x="502920" y="27432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(System)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1127455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1463040" cy="1554480"/>
          </a:xfrm>
          <a:prstGeom prst="rect">
            <a:avLst/>
          </a:prstGeom>
          <a:solidFill>
            <a:srgbClr val="4B5A63"/>
          </a:solidFill>
          <a:ln w="9525">
            <a:solidFill>
              <a:srgbClr val="4B5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 txBox="1"/>
          <p:nvPr/>
        </p:nvSpPr>
        <p:spPr>
          <a:xfrm>
            <a:off x="502920" y="42976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180136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 txBox="1"/>
          <p:nvPr/>
        </p:nvSpPr>
        <p:spPr>
          <a:xfrm>
            <a:off x="2130552" y="21671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94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 nötig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89504" y="1600200"/>
            <a:ext cx="960120" cy="731520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 txBox="1"/>
          <p:nvPr/>
        </p:nvSpPr>
        <p:spPr>
          <a:xfrm>
            <a:off x="2944368" y="1600200"/>
            <a:ext cx="850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 wählen, Antrag starten (5.3.1)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32504" y="1600200"/>
            <a:ext cx="960120" cy="731520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 txBox="1"/>
          <p:nvPr/>
        </p:nvSpPr>
        <p:spPr>
          <a:xfrm>
            <a:off x="4087368" y="1600200"/>
            <a:ext cx="850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prüfen, Grund angeben (5.3.2)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75504" y="1773936"/>
            <a:ext cx="384048" cy="3840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5276088" y="1874520"/>
            <a:ext cx="182880" cy="18288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 flipV="1">
            <a:off x="5276088" y="1874520"/>
            <a:ext cx="182880" cy="18288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 txBox="1"/>
          <p:nvPr/>
        </p:nvSpPr>
        <p:spPr>
          <a:xfrm>
            <a:off x="4818888" y="13441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94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 vorhanden?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42432" y="1600200"/>
            <a:ext cx="960120" cy="731520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 txBox="1"/>
          <p:nvPr/>
        </p:nvSpPr>
        <p:spPr>
          <a:xfrm>
            <a:off x="5797296" y="1600200"/>
            <a:ext cx="850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 hochladen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85432" y="1773936"/>
            <a:ext cx="384048" cy="3840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6986016" y="1874520"/>
            <a:ext cx="182880" cy="18288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 flipV="1">
            <a:off x="6986016" y="1874520"/>
            <a:ext cx="182880" cy="18288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7452360" y="1600200"/>
            <a:ext cx="960120" cy="731520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 txBox="1"/>
          <p:nvPr/>
        </p:nvSpPr>
        <p:spPr>
          <a:xfrm>
            <a:off x="7507224" y="1600200"/>
            <a:ext cx="850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absenden (5.3.3)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95360" y="1773936"/>
            <a:ext cx="384048" cy="3840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8677656" y="1965960"/>
            <a:ext cx="219456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8787384" y="1856232"/>
            <a:ext cx="0" cy="219456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9162288" y="1600200"/>
            <a:ext cx="960120" cy="731520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 txBox="1"/>
          <p:nvPr/>
        </p:nvSpPr>
        <p:spPr>
          <a:xfrm>
            <a:off x="9217152" y="1600200"/>
            <a:ext cx="850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im Portal sehen (5.3.3)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450324" y="3328416"/>
            <a:ext cx="384048" cy="3840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9532620" y="3520440"/>
            <a:ext cx="219456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7"/>
          <p:cNvSpPr/>
          <p:nvPr/>
        </p:nvSpPr>
        <p:spPr>
          <a:xfrm>
            <a:off x="9642348" y="3410712"/>
            <a:ext cx="0" cy="219456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10872216" y="3355848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 txBox="1"/>
          <p:nvPr/>
        </p:nvSpPr>
        <p:spPr>
          <a:xfrm>
            <a:off x="10488168" y="3739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94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im System bestätigt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06624" y="1965960"/>
            <a:ext cx="18288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3849624" y="1965960"/>
            <a:ext cx="18288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2"/>
          <p:cNvSpPr/>
          <p:nvPr/>
        </p:nvSpPr>
        <p:spPr>
          <a:xfrm>
            <a:off x="4992624" y="1965960"/>
            <a:ext cx="18288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5559552" y="1965960"/>
            <a:ext cx="18288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6" name="Shape 44"/>
          <p:cNvSpPr/>
          <p:nvPr/>
        </p:nvSpPr>
        <p:spPr>
          <a:xfrm>
            <a:off x="6702552" y="1965960"/>
            <a:ext cx="18288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7" name="Shape 45"/>
          <p:cNvSpPr/>
          <p:nvPr/>
        </p:nvSpPr>
        <p:spPr>
          <a:xfrm>
            <a:off x="7269480" y="1965960"/>
            <a:ext cx="18288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8" name="Shape 46"/>
          <p:cNvSpPr/>
          <p:nvPr/>
        </p:nvSpPr>
        <p:spPr>
          <a:xfrm>
            <a:off x="8412480" y="1965960"/>
            <a:ext cx="18288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9" name="Shape 47"/>
          <p:cNvSpPr/>
          <p:nvPr/>
        </p:nvSpPr>
        <p:spPr>
          <a:xfrm>
            <a:off x="8979408" y="1965960"/>
            <a:ext cx="18288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48"/>
          <p:cNvSpPr/>
          <p:nvPr/>
        </p:nvSpPr>
        <p:spPr>
          <a:xfrm>
            <a:off x="5367528" y="2157984"/>
            <a:ext cx="0" cy="374904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Shape 49"/>
          <p:cNvSpPr/>
          <p:nvPr/>
        </p:nvSpPr>
        <p:spPr>
          <a:xfrm>
            <a:off x="5367528" y="2532888"/>
            <a:ext cx="1709928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Shape 50"/>
          <p:cNvSpPr/>
          <p:nvPr/>
        </p:nvSpPr>
        <p:spPr>
          <a:xfrm flipV="1">
            <a:off x="7077456" y="2157984"/>
            <a:ext cx="0" cy="374904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51"/>
          <p:cNvSpPr txBox="1"/>
          <p:nvPr/>
        </p:nvSpPr>
        <p:spPr>
          <a:xfrm>
            <a:off x="5559552" y="17190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94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5394960" y="22585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94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307324" y="3154680"/>
            <a:ext cx="960120" cy="731520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Text 54"/>
          <p:cNvSpPr txBox="1"/>
          <p:nvPr/>
        </p:nvSpPr>
        <p:spPr>
          <a:xfrm>
            <a:off x="8362188" y="3154680"/>
            <a:ext cx="850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Antragseingang verarbeiten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307324" y="4709160"/>
            <a:ext cx="960120" cy="731520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Text 56"/>
          <p:cNvSpPr txBox="1"/>
          <p:nvPr/>
        </p:nvSpPr>
        <p:spPr>
          <a:xfrm>
            <a:off x="8362188" y="4709160"/>
            <a:ext cx="850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prüfen, Stellungnahme abgeben (5.4)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787384" y="2157984"/>
            <a:ext cx="0" cy="996696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60" name="Shape 58"/>
          <p:cNvSpPr/>
          <p:nvPr/>
        </p:nvSpPr>
        <p:spPr>
          <a:xfrm>
            <a:off x="8787384" y="3886200"/>
            <a:ext cx="0" cy="82296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61" name="Shape 59"/>
          <p:cNvSpPr/>
          <p:nvPr/>
        </p:nvSpPr>
        <p:spPr>
          <a:xfrm>
            <a:off x="9267444" y="5074920"/>
            <a:ext cx="374904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2" name="Shape 60"/>
          <p:cNvSpPr/>
          <p:nvPr/>
        </p:nvSpPr>
        <p:spPr>
          <a:xfrm flipV="1">
            <a:off x="9642348" y="3712464"/>
            <a:ext cx="0" cy="1362456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63" name="Shape 61"/>
          <p:cNvSpPr/>
          <p:nvPr/>
        </p:nvSpPr>
        <p:spPr>
          <a:xfrm>
            <a:off x="9642348" y="2331720"/>
            <a:ext cx="0" cy="996696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64" name="Shape 62"/>
          <p:cNvSpPr/>
          <p:nvPr/>
        </p:nvSpPr>
        <p:spPr>
          <a:xfrm>
            <a:off x="9834372" y="3520440"/>
            <a:ext cx="1037844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2A74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Datenmodell (Ausschnitt)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377440" y="1371600"/>
            <a:ext cx="3291840" cy="347472"/>
          </a:xfrm>
          <a:prstGeom prst="rect">
            <a:avLst/>
          </a:prstGeom>
          <a:solidFill>
            <a:srgbClr val="2A74C2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2377440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Abschlussarbeit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1719072"/>
            <a:ext cx="3291840" cy="1773936"/>
          </a:xfrm>
          <a:prstGeom prst="rect">
            <a:avLst/>
          </a:prstGeom>
          <a:solidFill>
            <a:srgbClr val="EAF2FB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 txBox="1"/>
          <p:nvPr/>
        </p:nvSpPr>
        <p:spPr>
          <a:xfrm>
            <a:off x="2468880" y="1783080"/>
            <a:ext cx="31546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1100" u="sng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matrikelnummer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1100" u="sng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arbeit_id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Integer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erstpruefer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abgabetermin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89520" y="1371600"/>
            <a:ext cx="4114800" cy="347472"/>
          </a:xfrm>
          <a:prstGeom prst="rect">
            <a:avLst/>
          </a:prstGeom>
          <a:solidFill>
            <a:srgbClr val="2A74C2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 txBox="1"/>
          <p:nvPr/>
        </p:nvSpPr>
        <p:spPr>
          <a:xfrm>
            <a:off x="7589520" y="1371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Verlängerungsantrag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0" y="1719072"/>
            <a:ext cx="4114800" cy="3008376"/>
          </a:xfrm>
          <a:prstGeom prst="rect">
            <a:avLst/>
          </a:prstGeom>
          <a:solidFill>
            <a:srgbClr val="EAF2FB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 txBox="1"/>
          <p:nvPr/>
        </p:nvSpPr>
        <p:spPr>
          <a:xfrm>
            <a:off x="7680960" y="1783080"/>
            <a:ext cx="397764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1100" u="sng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antrag_id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Integer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arbeit_id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Integer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Text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krankmeldung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Dokument (optional)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antragsdatum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alter_abgabetermin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neuer_abgabetermin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stellungnahme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Stellungnahme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pruefungsausschuss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entscheider_personalnummer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entscheider_name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entscheidungsergebnis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Entscheidungsergebnis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entscheidungsdatum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AntragStatus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2084832"/>
            <a:ext cx="192024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 txBox="1"/>
          <p:nvPr/>
        </p:nvSpPr>
        <p:spPr>
          <a:xfrm>
            <a:off x="5696712" y="1810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181051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gehört zu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5093208"/>
            <a:ext cx="1828800" cy="1088136"/>
          </a:xfrm>
          <a:prstGeom prst="rect">
            <a:avLst/>
          </a:prstGeom>
          <a:solidFill>
            <a:srgbClr val="FFFFFF"/>
          </a:solidFill>
          <a:ln w="254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 txBox="1"/>
          <p:nvPr/>
        </p:nvSpPr>
        <p:spPr>
          <a:xfrm>
            <a:off x="5120640" y="5148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«enumeration»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5330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Stellungnahme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120640" y="5596128"/>
            <a:ext cx="1828800" cy="0"/>
          </a:xfrm>
          <a:prstGeom prst="line">
            <a:avLst/>
          </a:prstGeom>
          <a:noFill/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 txBox="1"/>
          <p:nvPr/>
        </p:nvSpPr>
        <p:spPr>
          <a:xfrm>
            <a:off x="5230368" y="566013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befuerwortet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nicht_befuerwortet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01000" y="5093208"/>
            <a:ext cx="2011680" cy="1088136"/>
          </a:xfrm>
          <a:prstGeom prst="rect">
            <a:avLst/>
          </a:prstGeom>
          <a:solidFill>
            <a:srgbClr val="FFFFFF"/>
          </a:solidFill>
          <a:ln w="254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 txBox="1"/>
          <p:nvPr/>
        </p:nvSpPr>
        <p:spPr>
          <a:xfrm>
            <a:off x="8001000" y="5148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«enumeration»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53309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Entscheidungsergebnis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01000" y="5596128"/>
            <a:ext cx="2011680" cy="0"/>
          </a:xfrm>
          <a:prstGeom prst="line">
            <a:avLst/>
          </a:prstGeom>
          <a:noFill/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 txBox="1"/>
          <p:nvPr/>
        </p:nvSpPr>
        <p:spPr>
          <a:xfrm>
            <a:off x="8110728" y="566013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genehmigt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149840" y="5093208"/>
            <a:ext cx="1554480" cy="1316736"/>
          </a:xfrm>
          <a:prstGeom prst="rect">
            <a:avLst/>
          </a:prstGeom>
          <a:solidFill>
            <a:srgbClr val="FFFFFF"/>
          </a:solidFill>
          <a:ln w="254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 txBox="1"/>
          <p:nvPr/>
        </p:nvSpPr>
        <p:spPr>
          <a:xfrm>
            <a:off x="10149840" y="5148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«enumeration»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0149840" y="53309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AntragStatus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0149840" y="5596128"/>
            <a:ext cx="1554480" cy="0"/>
          </a:xfrm>
          <a:prstGeom prst="line">
            <a:avLst/>
          </a:prstGeom>
          <a:noFill/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 txBox="1"/>
          <p:nvPr/>
        </p:nvSpPr>
        <p:spPr>
          <a:xfrm>
            <a:off x="10259568" y="5660136"/>
            <a:ext cx="1371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eingereicht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in_pruefung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entschieden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06840" y="4910328"/>
            <a:ext cx="0" cy="18288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8915400" y="472744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8915400" y="4818888"/>
            <a:ext cx="182880" cy="0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9006840" y="4727448"/>
            <a:ext cx="0" cy="182880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5"/>
          <p:cNvSpPr/>
          <p:nvPr/>
        </p:nvSpPr>
        <p:spPr>
          <a:xfrm>
            <a:off x="10927080" y="4910328"/>
            <a:ext cx="0" cy="18288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10835640" y="472744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7"/>
          <p:cNvSpPr/>
          <p:nvPr/>
        </p:nvSpPr>
        <p:spPr>
          <a:xfrm>
            <a:off x="10835640" y="4818888"/>
            <a:ext cx="182880" cy="0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10927080" y="4727448"/>
            <a:ext cx="0" cy="182880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9"/>
          <p:cNvSpPr/>
          <p:nvPr/>
        </p:nvSpPr>
        <p:spPr>
          <a:xfrm>
            <a:off x="7909560" y="4910328"/>
            <a:ext cx="0" cy="9144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 flipH="1">
            <a:off x="6035040" y="5001768"/>
            <a:ext cx="187452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6035040" y="5001768"/>
            <a:ext cx="0" cy="9144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2"/>
          <p:cNvSpPr/>
          <p:nvPr/>
        </p:nvSpPr>
        <p:spPr>
          <a:xfrm>
            <a:off x="7818120" y="472744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7818120" y="4818888"/>
            <a:ext cx="182880" cy="0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Shape 44"/>
          <p:cNvSpPr/>
          <p:nvPr/>
        </p:nvSpPr>
        <p:spPr>
          <a:xfrm>
            <a:off x="7909560" y="4727448"/>
            <a:ext cx="0" cy="182880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Control: Regeln und Entscheidungslogik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680932"/>
              </p:ext>
            </p:extLst>
          </p:nvPr>
        </p:nvGraphicFramePr>
        <p:xfrm>
          <a:off x="457200" y="1280160"/>
          <a:ext cx="11274552" cy="2499360"/>
        </p:xfrm>
        <a:graphic>
          <a:graphicData uri="http://schemas.openxmlformats.org/drawingml/2006/table">
            <a:tbl>
              <a:tblPr/>
              <a:tblGrid>
                <a:gridCol w="7408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5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Durchsetzung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Zugriff nur nach THM-Login.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Login-Maske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Antrag enthält einen Grund. Die Krankmeldung ist optional.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Pflichtfeld im 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 </a:t>
                      </a:r>
                      <a:r>
                        <a:rPr lang="en-US" sz="1300" dirty="0" err="1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Erstprüfer</a:t>
                      </a: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300" dirty="0" err="1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bekommt</a:t>
                      </a: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automatische</a:t>
                      </a: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Benachrichtigung</a:t>
                      </a: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bekommt</a:t>
                      </a: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Prüfschritt im 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Neuer </a:t>
                      </a:r>
                      <a:r>
                        <a:rPr lang="en-US" sz="1300" dirty="0" err="1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abgabe</a:t>
                      </a: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</a:t>
                      </a: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</a:t>
                      </a: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formel</a:t>
                      </a:r>
                      <a:b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b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Entscheidungsdatum im 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6AEBE366-A7FD-56EC-7AA6-11A4F0EFCFC1}"/>
              </a:ext>
            </a:extLst>
          </p:cNvPr>
          <p:cNvGrpSpPr/>
          <p:nvPr/>
        </p:nvGrpSpPr>
        <p:grpSpPr>
          <a:xfrm>
            <a:off x="457201" y="3566160"/>
            <a:ext cx="11274552" cy="1097280"/>
            <a:chOff x="457200" y="4480560"/>
            <a:chExt cx="6400800" cy="1097280"/>
          </a:xfrm>
        </p:grpSpPr>
        <p:sp>
          <p:nvSpPr>
            <p:cNvPr id="7" name="Shape 4"/>
            <p:cNvSpPr/>
            <p:nvPr/>
          </p:nvSpPr>
          <p:spPr>
            <a:xfrm>
              <a:off x="457200" y="4480560"/>
              <a:ext cx="6400800" cy="1097280"/>
            </a:xfrm>
            <a:prstGeom prst="roundRect">
              <a:avLst>
                <a:gd name="adj" fmla="val 5000"/>
              </a:avLst>
            </a:prstGeom>
            <a:solidFill>
              <a:srgbClr val="FFF3CD"/>
            </a:solidFill>
            <a:ln w="12700">
              <a:solidFill>
                <a:srgbClr val="8FB04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 5"/>
            <p:cNvSpPr txBox="1"/>
            <p:nvPr/>
          </p:nvSpPr>
          <p:spPr>
            <a:xfrm>
              <a:off x="640080" y="4572000"/>
              <a:ext cx="6035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8230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Formel: Datum </a:t>
              </a:r>
              <a:r>
                <a:rPr lang="en-US" sz="1400" b="1" dirty="0" err="1">
                  <a:solidFill>
                    <a:srgbClr val="18230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wird</a:t>
              </a:r>
              <a:r>
                <a:rPr lang="en-US" sz="1400" b="1" dirty="0">
                  <a:solidFill>
                    <a:srgbClr val="18230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</a:t>
              </a:r>
              <a:r>
                <a:rPr lang="en-US" sz="1400" b="1" dirty="0" err="1">
                  <a:solidFill>
                    <a:srgbClr val="18230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automatisch</a:t>
              </a:r>
              <a:r>
                <a:rPr lang="en-US" sz="1400" b="1" dirty="0">
                  <a:solidFill>
                    <a:srgbClr val="18230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</a:t>
              </a:r>
              <a:r>
                <a:rPr lang="en-US" sz="1400" b="1" dirty="0" err="1">
                  <a:solidFill>
                    <a:srgbClr val="18230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berechnet</a:t>
              </a:r>
              <a:endParaRPr lang="en-US" sz="1400" dirty="0"/>
            </a:p>
          </p:txBody>
        </p:sp>
        <p:sp>
          <p:nvSpPr>
            <p:cNvPr id="9" name="Text 6"/>
            <p:cNvSpPr txBox="1"/>
            <p:nvPr/>
          </p:nvSpPr>
          <p:spPr>
            <a:xfrm>
              <a:off x="640080" y="4892040"/>
              <a:ext cx="6035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8230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Neuer Abgabetermin = alter Abgabetermin + Verlängerungsdauer</a:t>
              </a:r>
              <a:endParaRPr lang="en-US" sz="1500" dirty="0"/>
            </a:p>
          </p:txBody>
        </p:sp>
      </p:grpSp>
      <p:sp>
        <p:nvSpPr>
          <p:cNvPr id="24" name="Text 21"/>
          <p:cNvSpPr txBox="1"/>
          <p:nvPr/>
        </p:nvSpPr>
        <p:spPr>
          <a:xfrm>
            <a:off x="10771632" y="3520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Environment: Betriebs- und Entwicklungsumgebung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Environment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Technologieplattform: Webportal im Browser am Desktop und auf dem Smartphone, Anmeldung über THM-Login (One-Pager).</a:t>
            </a:r>
            <a:endParaRPr lang="en-US" sz="12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/>
        </p:nvGraphicFramePr>
        <p:xfrm>
          <a:off x="457200" y="4160520"/>
          <a:ext cx="11274552" cy="569976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Abschlussarbeiten-Portal (Webanwendung), E-Mail-Dienst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Handy, Laptop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THM-Login, </a:t>
                      </a:r>
                      <a:r>
                        <a:rPr lang="en-US" sz="1150" dirty="0" err="1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Datenschutz</a:t>
                      </a: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3753BF47-46EB-F3B1-0ADB-2B12F6D49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186567"/>
              </p:ext>
            </p:extLst>
          </p:nvPr>
        </p:nvGraphicFramePr>
        <p:xfrm>
          <a:off x="457200" y="1600200"/>
          <a:ext cx="11274552" cy="114757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Eigenschaften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Studierende:r (Tarek)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unterwegs, viel auf Reisen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Laptop, Handy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Studierende:r (Moritz)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 Hause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latin typeface="Calibri" charset="0"/>
                          <a:ea typeface="Calibri" charset="0"/>
                          <a:cs typeface="Calibri" charset="0"/>
                        </a:rPr>
                        <a:t>Laptop, Desktop, Handy</a:t>
                      </a: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err="1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Erstprüfer:in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Office, </a:t>
                      </a:r>
                      <a:r>
                        <a:rPr lang="en-US" sz="1150" dirty="0" err="1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Homeoffice</a:t>
                      </a:r>
                      <a:r>
                        <a:rPr lang="en-US" sz="1150" dirty="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latin typeface="Calibri" charset="0"/>
                          <a:ea typeface="Calibri" charset="0"/>
                          <a:cs typeface="Calibri" charset="0"/>
                        </a:rPr>
                        <a:t>Laptop, Handy, Desktop</a:t>
                      </a: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6B737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Attributes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772960"/>
              </p:ext>
            </p:extLst>
          </p:nvPr>
        </p:nvGraphicFramePr>
        <p:xfrm>
          <a:off x="457200" y="1234440"/>
          <a:ext cx="11274552" cy="397306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Anforderung aus den Unterlagen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Prüfbarkeit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Benutzbarkeit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Schritt-für-Schritt-Führung mit Pflichtfeldprüfung, keine neue Registrierung, kurze Einführung statt wochenlanger Schulung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Eine Testperson stellt den Antrag ohne Hilfe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Plattformunabhängigkeit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 genauso komfortabel wie am Desktop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am Desktop-Browser und am Smartphone mit gleichem Funktionsumfang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Verfügbarkeit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Rund um die Uhr verfügbar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Prüfung der Erreichbarkeit außerhalb der Bürozeiten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Zuverlässigkeit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Läuft zuverlässig und bildet die Prüfschritte 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Antrag</a:t>
                      </a: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durchläuft alle Prüfschritte fehlerfrei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jederzeit sichtbar, Fristen und Verlängerungsoptionen transparent, Benachrichtigung bei Statuswechsel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und Frist sind sichtbar, die Benachrichtigung kommt bei jedem Statuswechsel 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Datenschutz, Sicherheit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Personenbezogene Daten geschützt, THM-Login mit Rollen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Rollen- und Rechtetest, Abstimmung zum Datenschutz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Pflegbarkeit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Regeln und Fristen sind pflegbar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 oder Frist lässt sich ohne Entwickler ändern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Nachvollziehbarkeit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Rechtssichere Ablage ohne Papierstapel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Prüfung: Entscheidung und Antrag sind in der Akte auffindbar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972</Words>
  <Application>Microsoft Office PowerPoint</Application>
  <PresentationFormat>Breitbild</PresentationFormat>
  <Paragraphs>224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D2D Verlängerungsantrag stellen</dc:title>
  <dc:subject>PptxGenJS Presentation</dc:subject>
  <dc:creator>PptxGenJS</dc:creator>
  <cp:lastModifiedBy>Luca kohlstetter</cp:lastModifiedBy>
  <cp:revision>18</cp:revision>
  <dcterms:created xsi:type="dcterms:W3CDTF">2026-10-01T11:22:53Z</dcterms:created>
  <dcterms:modified xsi:type="dcterms:W3CDTF">2026-10-01T17:33:57Z</dcterms:modified>
</cp:coreProperties>
</file>