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94" d="100"/>
          <a:sy n="94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88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B8CF8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Story Map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94267" y="2057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Das Portal unterstützt die Beteiligten von der Vorbereitung des Antrags bis zur bestätigten Ausgabe der Abschlussarbeit.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834640" cy="2606040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0214" y="4251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0BC0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7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5217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EBE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Activities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9040" y="3429000"/>
            <a:ext cx="2834640" cy="2606040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901440" y="4251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0BC0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27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023360" y="51892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EBE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Tasks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3429000"/>
            <a:ext cx="2834640" cy="2606040"/>
          </a:xfrm>
          <a:prstGeom prst="roundRect">
            <a:avLst>
              <a:gd name="adj" fmla="val 4706"/>
            </a:avLst>
          </a:prstGeom>
          <a:solidFill>
            <a:srgbClr val="3A4851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074746" y="4251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0BC0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66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13232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EBE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Stories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3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Prozess in sieben Activities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Anmeldung der Abschlussarbeit vorbereiten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5 Stories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32588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502152" y="1508760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5021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Antragstellung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13 Stories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32588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364224" y="1508760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636422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Prüfung des Antrags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 · 5 Stories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43416" y="132588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9226296" y="1508760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92262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Ausgabe der Abschlussarbeit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971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 · 6 Stories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453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Durchführung der Arbeit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21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· 15 Stories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9272" y="3675888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502152" y="3858768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3502152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3502152" y="4453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Abgabe der Arbeit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5321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10 Stories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3675888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364224" y="3858768"/>
            <a:ext cx="457200" cy="457200"/>
          </a:xfrm>
          <a:prstGeom prst="rect">
            <a:avLst/>
          </a:prstGeom>
          <a:solidFill>
            <a:srgbClr val="80B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6364224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4453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Abschlussdokumentation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5321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5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· 12 Stories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043416" y="36758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043416" y="4041648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</a:t>
            </a:r>
            <a:r>
              <a:rPr lang="de-DE" sz="20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 </a:t>
            </a:r>
            <a:r>
              <a:rPr lang="de-DE" sz="20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Releaseplanung</a:t>
            </a: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Activity 1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27176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Anmeldung der Abschlussarbeit vorbereiten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2499360" cy="82296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Abschlussarbeitsthema abstimmen</a:t>
            </a:r>
          </a:p>
        </p:txBody>
      </p:sp>
      <p:sp>
        <p:nvSpPr>
          <p:cNvPr id="11" name="Shape 11"/>
          <p:cNvSpPr/>
          <p:nvPr/>
        </p:nvSpPr>
        <p:spPr>
          <a:xfrm>
            <a:off x="4236720" y="1224672"/>
            <a:ext cx="2499360" cy="82296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Geeignete Zweitprüfung vorschlagen</a:t>
            </a:r>
          </a:p>
        </p:txBody>
      </p:sp>
      <p:sp>
        <p:nvSpPr>
          <p:cNvPr id="12" name="Shape 12"/>
          <p:cNvSpPr/>
          <p:nvPr/>
        </p:nvSpPr>
        <p:spPr>
          <a:xfrm>
            <a:off x="6827520" y="1224672"/>
            <a:ext cx="2499360" cy="82296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Externes Korreferat klären</a:t>
            </a:r>
          </a:p>
        </p:txBody>
      </p:sp>
      <p:sp>
        <p:nvSpPr>
          <p:cNvPr id="13" name="Shape 13"/>
          <p:cNvSpPr/>
          <p:nvPr/>
        </p:nvSpPr>
        <p:spPr>
          <a:xfrm>
            <a:off x="9418320" y="1224672"/>
            <a:ext cx="2499360" cy="82296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Gewünschten Starttermin abstimmen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274320" y="212078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5" name="Text 15"/>
          <p:cNvSpPr txBox="1"/>
          <p:nvPr/>
        </p:nvSpPr>
        <p:spPr>
          <a:xfrm>
            <a:off x="274320" y="2175648"/>
            <a:ext cx="1280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6" name="Shape 16"/>
          <p:cNvSpPr/>
          <p:nvPr/>
        </p:nvSpPr>
        <p:spPr>
          <a:xfrm>
            <a:off x="1645920" y="217564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1.1.1 Thema mit Erstprüfer:in abstimmen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7" name="Shape 17"/>
          <p:cNvSpPr/>
          <p:nvPr/>
        </p:nvSpPr>
        <p:spPr>
          <a:xfrm>
            <a:off x="4236720" y="217564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1.2.1 Interne oder externe Zweitprüfung vorschlagen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8" name="Shape 18"/>
          <p:cNvSpPr/>
          <p:nvPr/>
        </p:nvSpPr>
        <p:spPr>
          <a:xfrm>
            <a:off x="6827520" y="217564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1.3.1 Einverständnis zum Korreferat bestätigen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B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19" name="Shape 19"/>
          <p:cNvSpPr/>
          <p:nvPr/>
        </p:nvSpPr>
        <p:spPr>
          <a:xfrm>
            <a:off x="6827520" y="2733432"/>
            <a:ext cx="2499360" cy="6858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1.3.2 Fachliche Qualifikation und Berufserfahrung nachweisen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B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20" name="Shape 20"/>
          <p:cNvSpPr/>
          <p:nvPr/>
        </p:nvSpPr>
        <p:spPr>
          <a:xfrm>
            <a:off x="9418320" y="217564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1.4.1 Wunschstarttermin mit Erstprüfer:in abstimmen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274320" y="3528960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2" name="Text 22"/>
          <p:cNvSpPr txBox="1"/>
          <p:nvPr/>
        </p:nvSpPr>
        <p:spPr>
          <a:xfrm>
            <a:off x="274320" y="3583824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274320" y="4238688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4" name="Text 24"/>
          <p:cNvSpPr txBox="1"/>
          <p:nvPr/>
        </p:nvSpPr>
        <p:spPr>
          <a:xfrm>
            <a:off x="274320" y="4293552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2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27176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Antragstellung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Antragsdaten erfassen</a:t>
            </a:r>
          </a:p>
        </p:txBody>
      </p:sp>
      <p:sp>
        <p:nvSpPr>
          <p:cNvPr id="11" name="Shape 11"/>
          <p:cNvSpPr/>
          <p:nvPr/>
        </p:nvSpPr>
        <p:spPr>
          <a:xfrm>
            <a:off x="42367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Unterlagen ergänzen</a:t>
            </a:r>
          </a:p>
        </p:txBody>
      </p:sp>
      <p:sp>
        <p:nvSpPr>
          <p:cNvPr id="12" name="Shape 12"/>
          <p:cNvSpPr/>
          <p:nvPr/>
        </p:nvSpPr>
        <p:spPr>
          <a:xfrm>
            <a:off x="68275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Unterschrift digital bestätigen</a:t>
            </a:r>
          </a:p>
        </p:txBody>
      </p:sp>
      <p:sp>
        <p:nvSpPr>
          <p:cNvPr id="13" name="Shape 13"/>
          <p:cNvSpPr/>
          <p:nvPr/>
        </p:nvSpPr>
        <p:spPr>
          <a:xfrm>
            <a:off x="94183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Antrag final absenden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274320" y="19074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5" name="Text 15"/>
          <p:cNvSpPr txBox="1"/>
          <p:nvPr/>
        </p:nvSpPr>
        <p:spPr>
          <a:xfrm>
            <a:off x="274320" y="1962288"/>
            <a:ext cx="12801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6" name="Shape 16"/>
          <p:cNvSpPr/>
          <p:nvPr/>
        </p:nvSpPr>
        <p:spPr>
          <a:xfrm>
            <a:off x="1645920" y="196228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 Persönliche Angaben eintragen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7" name="Shape 17"/>
          <p:cNvSpPr/>
          <p:nvPr/>
        </p:nvSpPr>
        <p:spPr>
          <a:xfrm>
            <a:off x="1645920" y="2520072"/>
            <a:ext cx="2499360" cy="380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2.1.2 Prüfer:in auswählen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8" name="Shape 18"/>
          <p:cNvSpPr/>
          <p:nvPr/>
        </p:nvSpPr>
        <p:spPr>
          <a:xfrm>
            <a:off x="1645920" y="2954936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2.1.3 Gewünschten Starttermin angeben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9" name="Shape 19"/>
          <p:cNvSpPr/>
          <p:nvPr/>
        </p:nvSpPr>
        <p:spPr>
          <a:xfrm>
            <a:off x="6827520" y="196228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2.3.1 Antrag digital bestätigen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0" name="Shape 20"/>
          <p:cNvSpPr/>
          <p:nvPr/>
        </p:nvSpPr>
        <p:spPr>
          <a:xfrm>
            <a:off x="6827520" y="2520072"/>
            <a:ext cx="2499360" cy="6858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2.3.2 Antrag der Studierenden digital bestätigen (Prüfer:in)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744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Prüfer:in</a:t>
            </a:r>
          </a:p>
        </p:txBody>
      </p:sp>
      <p:sp>
        <p:nvSpPr>
          <p:cNvPr id="21" name="Shape 21"/>
          <p:cNvSpPr/>
          <p:nvPr/>
        </p:nvSpPr>
        <p:spPr>
          <a:xfrm>
            <a:off x="9418320" y="1962288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2.4.1 Daten und Unterlagen vor dem Absenden prüfen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2" name="Shape 22"/>
          <p:cNvSpPr/>
          <p:nvPr/>
        </p:nvSpPr>
        <p:spPr>
          <a:xfrm>
            <a:off x="9418320" y="2520072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2.4.2 Antrag verbindlich einreichen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3" name="Shape 23"/>
          <p:cNvSpPr/>
          <p:nvPr/>
        </p:nvSpPr>
        <p:spPr>
          <a:xfrm>
            <a:off x="9418320" y="3077856"/>
            <a:ext cx="249936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2.4.3 Einreichungsbestätigung erhalten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4"/>
          <p:cNvSpPr/>
          <p:nvPr/>
        </p:nvSpPr>
        <p:spPr>
          <a:xfrm>
            <a:off x="9418320" y="3635640"/>
            <a:ext cx="2499360" cy="6858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2.4.4 Eingereichten Antrag automatisch zur Prüfung erhalten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274320" y="4431168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6" name="Text 26"/>
          <p:cNvSpPr txBox="1"/>
          <p:nvPr/>
        </p:nvSpPr>
        <p:spPr>
          <a:xfrm>
            <a:off x="274320" y="4486032"/>
            <a:ext cx="1280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27" name="Shape 27"/>
          <p:cNvSpPr/>
          <p:nvPr/>
        </p:nvSpPr>
        <p:spPr>
          <a:xfrm>
            <a:off x="4236720" y="4486032"/>
            <a:ext cx="2499360" cy="50292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 Nachweise im Portal hochladen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8" name="Shape 28"/>
          <p:cNvSpPr/>
          <p:nvPr/>
        </p:nvSpPr>
        <p:spPr>
          <a:xfrm>
            <a:off x="4236720" y="5043816"/>
            <a:ext cx="2499360" cy="50292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 Sehen, welche Dokumente vorliegen und welche fehlen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9" name="Shape 29"/>
          <p:cNvSpPr/>
          <p:nvPr/>
        </p:nvSpPr>
        <p:spPr>
          <a:xfrm>
            <a:off x="6827520" y="4486032"/>
            <a:ext cx="2499360" cy="50292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2.3.3 Sehen, ob alle Bestätigungen vorliegen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274320" y="565646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31" name="Text 31"/>
          <p:cNvSpPr txBox="1"/>
          <p:nvPr/>
        </p:nvSpPr>
        <p:spPr>
          <a:xfrm>
            <a:off x="274320" y="571132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32" name="Shape 32"/>
          <p:cNvSpPr/>
          <p:nvPr/>
        </p:nvSpPr>
        <p:spPr>
          <a:xfrm>
            <a:off x="4236720" y="5711328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 Nachweise zu externen Prüfungsleistungen hinzufügen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3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669144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Prüfung des Antrags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330000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Dekanat prüft Formalien</a:t>
            </a:r>
          </a:p>
        </p:txBody>
      </p:sp>
      <p:sp>
        <p:nvSpPr>
          <p:cNvPr id="11" name="Shape 11"/>
          <p:cNvSpPr/>
          <p:nvPr/>
        </p:nvSpPr>
        <p:spPr>
          <a:xfrm>
            <a:off x="5037360" y="1224672"/>
            <a:ext cx="330000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Entscheidung des Prüfungsausschusses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274320" y="19074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3" name="Text 13"/>
          <p:cNvSpPr txBox="1"/>
          <p:nvPr/>
        </p:nvSpPr>
        <p:spPr>
          <a:xfrm>
            <a:off x="274320" y="1962288"/>
            <a:ext cx="1280160" cy="142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4" name="Shape 14"/>
          <p:cNvSpPr/>
          <p:nvPr/>
        </p:nvSpPr>
        <p:spPr>
          <a:xfrm>
            <a:off x="1645920" y="1962288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3.1.1 Zulassungsvoraussetzungen der Studierenden prüfen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15" name="Shape 15"/>
          <p:cNvSpPr/>
          <p:nvPr/>
        </p:nvSpPr>
        <p:spPr>
          <a:xfrm>
            <a:off x="1645920" y="2520072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3.1.2 Zulassung des externen Prüfers prüfen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Dekanat/ Prüfungsamt</a:t>
            </a:r>
          </a:p>
        </p:txBody>
      </p:sp>
      <p:sp>
        <p:nvSpPr>
          <p:cNvPr id="16" name="Shape 16"/>
          <p:cNvSpPr/>
          <p:nvPr/>
        </p:nvSpPr>
        <p:spPr>
          <a:xfrm>
            <a:off x="5037360" y="1962288"/>
            <a:ext cx="3300000" cy="380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3.2.1 Antrag annehmen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3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17" name="Shape 17"/>
          <p:cNvSpPr/>
          <p:nvPr/>
        </p:nvSpPr>
        <p:spPr>
          <a:xfrm>
            <a:off x="5037360" y="2397152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3.2.2 Antrag ablehnen und Ablehnung begründen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3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18" name="Shape 18"/>
          <p:cNvSpPr/>
          <p:nvPr/>
        </p:nvSpPr>
        <p:spPr>
          <a:xfrm>
            <a:off x="5037360" y="2954936"/>
            <a:ext cx="3300000" cy="380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3.2.3 Entscheidung mitgeteilt bekommen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744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Prüfer:in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274320" y="344466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0" name="Text 20"/>
          <p:cNvSpPr txBox="1"/>
          <p:nvPr/>
        </p:nvSpPr>
        <p:spPr>
          <a:xfrm>
            <a:off x="274320" y="349952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274320" y="4154392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2" name="Text 22"/>
          <p:cNvSpPr txBox="1"/>
          <p:nvPr/>
        </p:nvSpPr>
        <p:spPr>
          <a:xfrm>
            <a:off x="274320" y="4209256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4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08288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Ausgabe der Abschlussarbeit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3300000" cy="5200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Thema bestätigen</a:t>
            </a:r>
          </a:p>
        </p:txBody>
      </p:sp>
      <p:sp>
        <p:nvSpPr>
          <p:cNvPr id="11" name="Shape 11"/>
          <p:cNvSpPr/>
          <p:nvPr/>
        </p:nvSpPr>
        <p:spPr>
          <a:xfrm>
            <a:off x="5037360" y="1224672"/>
            <a:ext cx="3300000" cy="5200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Bearbeitungszeit festlegen</a:t>
            </a:r>
          </a:p>
        </p:txBody>
      </p:sp>
      <p:sp>
        <p:nvSpPr>
          <p:cNvPr id="12" name="Shape 12"/>
          <p:cNvSpPr/>
          <p:nvPr/>
        </p:nvSpPr>
        <p:spPr>
          <a:xfrm>
            <a:off x="8428800" y="1224672"/>
            <a:ext cx="3300000" cy="5200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Ausgabe des Themas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274320" y="18178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4" name="Text 14"/>
          <p:cNvSpPr txBox="1"/>
          <p:nvPr/>
        </p:nvSpPr>
        <p:spPr>
          <a:xfrm>
            <a:off x="274320" y="1872688"/>
            <a:ext cx="1280160" cy="155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5" name="Shape 15"/>
          <p:cNvSpPr/>
          <p:nvPr/>
        </p:nvSpPr>
        <p:spPr>
          <a:xfrm>
            <a:off x="1645920" y="1872688"/>
            <a:ext cx="3300000" cy="380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4.1.1 Thema bestätigen und freigeben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6" name="Shape 16"/>
          <p:cNvSpPr/>
          <p:nvPr/>
        </p:nvSpPr>
        <p:spPr>
          <a:xfrm>
            <a:off x="5037360" y="1872688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4.2.1 Beginn der Bearbeitungszeit festlegen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7" name="Shape 17"/>
          <p:cNvSpPr/>
          <p:nvPr/>
        </p:nvSpPr>
        <p:spPr>
          <a:xfrm>
            <a:off x="5037360" y="2430472"/>
            <a:ext cx="3300000" cy="38000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4.2.2 Abgabedatum festlegen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18" name="Shape 18"/>
          <p:cNvSpPr/>
          <p:nvPr/>
        </p:nvSpPr>
        <p:spPr>
          <a:xfrm>
            <a:off x="5037360" y="2865336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4.2.3 Bearbeitungsfrist auf Konformität prüfen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19" name="Shape 19"/>
          <p:cNvSpPr/>
          <p:nvPr/>
        </p:nvSpPr>
        <p:spPr>
          <a:xfrm>
            <a:off x="8428800" y="1872688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4.3.1 Ausgabebestätigung über das Portal versenden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0" name="Shape 20"/>
          <p:cNvSpPr/>
          <p:nvPr/>
        </p:nvSpPr>
        <p:spPr>
          <a:xfrm>
            <a:off x="8428800" y="2430472"/>
            <a:ext cx="3300000" cy="50292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4.3.2 Über die Ausgabe des Themas informiert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274320" y="347798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2" name="Text 22"/>
          <p:cNvSpPr txBox="1"/>
          <p:nvPr/>
        </p:nvSpPr>
        <p:spPr>
          <a:xfrm>
            <a:off x="274320" y="353284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274320" y="4187712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4" name="Text 24"/>
          <p:cNvSpPr txBox="1"/>
          <p:nvPr/>
        </p:nvSpPr>
        <p:spPr>
          <a:xfrm>
            <a:off x="274320" y="4242576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5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27176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Durchführung der Arbeit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1981200" cy="9144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Bearbeitungszeitraum und Status einsehen</a:t>
            </a:r>
          </a:p>
        </p:txBody>
      </p:sp>
      <p:sp>
        <p:nvSpPr>
          <p:cNvPr id="11" name="Shape 11"/>
          <p:cNvSpPr/>
          <p:nvPr/>
        </p:nvSpPr>
        <p:spPr>
          <a:xfrm>
            <a:off x="3718560" y="1224672"/>
            <a:ext cx="1981200" cy="9144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Fristen verfolgen und Erinnerungen erhalten</a:t>
            </a:r>
          </a:p>
        </p:txBody>
      </p:sp>
      <p:sp>
        <p:nvSpPr>
          <p:cNvPr id="12" name="Shape 12"/>
          <p:cNvSpPr/>
          <p:nvPr/>
        </p:nvSpPr>
        <p:spPr>
          <a:xfrm>
            <a:off x="5791200" y="1224672"/>
            <a:ext cx="1981200" cy="9144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Verlängerungsantrag digital stellen</a:t>
            </a:r>
          </a:p>
        </p:txBody>
      </p:sp>
      <p:sp>
        <p:nvSpPr>
          <p:cNvPr id="13" name="Shape 13"/>
          <p:cNvSpPr/>
          <p:nvPr/>
        </p:nvSpPr>
        <p:spPr>
          <a:xfrm>
            <a:off x="7863840" y="1224672"/>
            <a:ext cx="1981200" cy="9144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Stellungnahme zur Verlängerung abgeben</a:t>
            </a:r>
          </a:p>
        </p:txBody>
      </p:sp>
      <p:sp>
        <p:nvSpPr>
          <p:cNvPr id="14" name="Shape 14"/>
          <p:cNvSpPr/>
          <p:nvPr/>
        </p:nvSpPr>
        <p:spPr>
          <a:xfrm>
            <a:off x="9936480" y="1224672"/>
            <a:ext cx="1981200" cy="9144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Verlängerungsantrag prüfen und entscheiden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274320" y="22122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6" name="Text 16"/>
          <p:cNvSpPr txBox="1"/>
          <p:nvPr/>
        </p:nvSpPr>
        <p:spPr>
          <a:xfrm>
            <a:off x="274320" y="2267088"/>
            <a:ext cx="1280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sp>
        <p:nvSpPr>
          <p:cNvPr id="17" name="Shape 17"/>
          <p:cNvSpPr/>
          <p:nvPr/>
        </p:nvSpPr>
        <p:spPr>
          <a:xfrm>
            <a:off x="1645920" y="2267088"/>
            <a:ext cx="1981200" cy="4419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5.1.1 Beginn der Bearbeitungszeit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8" name="Shape 18"/>
          <p:cNvSpPr/>
          <p:nvPr/>
        </p:nvSpPr>
        <p:spPr>
          <a:xfrm>
            <a:off x="1645920" y="2763912"/>
            <a:ext cx="1981200" cy="4419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5.1.2 Aktuellen Abgabetermin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19" name="Shape 19"/>
          <p:cNvSpPr/>
          <p:nvPr/>
        </p:nvSpPr>
        <p:spPr>
          <a:xfrm>
            <a:off x="1645920" y="3260736"/>
            <a:ext cx="1981200" cy="441960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5.1.3 Aktuellen Status der Arbeit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274320" y="38124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1" name="Text 21"/>
          <p:cNvSpPr txBox="1"/>
          <p:nvPr/>
        </p:nvSpPr>
        <p:spPr>
          <a:xfrm>
            <a:off x="274320" y="3867288"/>
            <a:ext cx="128016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22" name="Shape 22"/>
          <p:cNvSpPr/>
          <p:nvPr/>
        </p:nvSpPr>
        <p:spPr>
          <a:xfrm>
            <a:off x="3718560" y="3867288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5.2.1 Verbleibende Bearbeitungszeit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3" name="Shape 23"/>
          <p:cNvSpPr/>
          <p:nvPr/>
        </p:nvSpPr>
        <p:spPr>
          <a:xfrm>
            <a:off x="3718560" y="4364112"/>
            <a:ext cx="1981200" cy="594359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5.2.3 Über geänderten Abgabetermin informiert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4"/>
          <p:cNvSpPr/>
          <p:nvPr/>
        </p:nvSpPr>
        <p:spPr>
          <a:xfrm>
            <a:off x="5791200" y="3867288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5.3.1 Verlängerungsantrag im Portal starten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5" name="Shape 25"/>
          <p:cNvSpPr/>
          <p:nvPr/>
        </p:nvSpPr>
        <p:spPr>
          <a:xfrm>
            <a:off x="5791200" y="4364112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5.3.2 Grund der Verlängerung angeben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6" name="Shape 26"/>
          <p:cNvSpPr/>
          <p:nvPr/>
        </p:nvSpPr>
        <p:spPr>
          <a:xfrm>
            <a:off x="5791200" y="4860936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5.3.3 Antrag absenden und Bearbeitungsstatus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7" name="Shape 27"/>
          <p:cNvSpPr/>
          <p:nvPr/>
        </p:nvSpPr>
        <p:spPr>
          <a:xfrm>
            <a:off x="7863840" y="3867288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5.4.1 Verlängerungsantrag einsehen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28" name="Shape 28"/>
          <p:cNvSpPr/>
          <p:nvPr/>
        </p:nvSpPr>
        <p:spPr>
          <a:xfrm>
            <a:off x="7863840" y="4364112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5.4.2 Stellungnahme abgeben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29" name="Shape 29"/>
          <p:cNvSpPr/>
          <p:nvPr/>
        </p:nvSpPr>
        <p:spPr>
          <a:xfrm>
            <a:off x="7863840" y="4832841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5.4.3 Stellungnahme digital weiterleiten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30" name="Shape 30"/>
          <p:cNvSpPr/>
          <p:nvPr/>
        </p:nvSpPr>
        <p:spPr>
          <a:xfrm>
            <a:off x="9936480" y="3867288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5.5.1 Antrag und Stellungnahme einsehen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3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31" name="Shape 31"/>
          <p:cNvSpPr/>
          <p:nvPr/>
        </p:nvSpPr>
        <p:spPr>
          <a:xfrm>
            <a:off x="9936480" y="4364112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5.5.2 Verlängerung genehmigen oder ablehnen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3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sp>
        <p:nvSpPr>
          <p:cNvPr id="32" name="Shape 32"/>
          <p:cNvSpPr/>
          <p:nvPr/>
        </p:nvSpPr>
        <p:spPr>
          <a:xfrm>
            <a:off x="9936480" y="4860935"/>
            <a:ext cx="1981200" cy="649221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5.5.3 Entscheidung und neuen Abgabetermin hinterlegen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3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Prüfungsausschuss</a:t>
            </a:r>
          </a:p>
        </p:txBody>
      </p:sp>
      <p:cxnSp>
        <p:nvCxnSpPr>
          <p:cNvPr id="33" name="Line 33"/>
          <p:cNvCxnSpPr/>
          <p:nvPr/>
        </p:nvCxnSpPr>
        <p:spPr>
          <a:xfrm>
            <a:off x="274320" y="55650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34" name="Text 34"/>
          <p:cNvSpPr txBox="1"/>
          <p:nvPr/>
        </p:nvSpPr>
        <p:spPr>
          <a:xfrm>
            <a:off x="274320" y="561988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35" name="Shape 35"/>
          <p:cNvSpPr/>
          <p:nvPr/>
        </p:nvSpPr>
        <p:spPr>
          <a:xfrm>
            <a:off x="3718560" y="5619888"/>
            <a:ext cx="1981200" cy="4419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5.2.2 Vor wichtigen Fristen automatisch erinnert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6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27176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Abgabe der Arbeit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Arbeit abgeben</a:t>
            </a:r>
          </a:p>
        </p:txBody>
      </p:sp>
      <p:sp>
        <p:nvSpPr>
          <p:cNvPr id="11" name="Shape 11"/>
          <p:cNvSpPr/>
          <p:nvPr/>
        </p:nvSpPr>
        <p:spPr>
          <a:xfrm>
            <a:off x="42367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Abgabe erfassen</a:t>
            </a:r>
          </a:p>
        </p:txBody>
      </p:sp>
      <p:sp>
        <p:nvSpPr>
          <p:cNvPr id="12" name="Shape 12"/>
          <p:cNvSpPr/>
          <p:nvPr/>
        </p:nvSpPr>
        <p:spPr>
          <a:xfrm>
            <a:off x="68275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Eingang bestätigen</a:t>
            </a:r>
          </a:p>
        </p:txBody>
      </p:sp>
      <p:sp>
        <p:nvSpPr>
          <p:cNvPr id="13" name="Shape 13"/>
          <p:cNvSpPr/>
          <p:nvPr/>
        </p:nvSpPr>
        <p:spPr>
          <a:xfrm>
            <a:off x="9418320" y="1224672"/>
            <a:ext cx="2499360" cy="60960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Beteiligte informieren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274320" y="190742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5" name="Text 15"/>
          <p:cNvSpPr txBox="1"/>
          <p:nvPr/>
        </p:nvSpPr>
        <p:spPr>
          <a:xfrm>
            <a:off x="274320" y="196228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274320" y="2617152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7" name="Text 17"/>
          <p:cNvSpPr txBox="1"/>
          <p:nvPr/>
        </p:nvSpPr>
        <p:spPr>
          <a:xfrm>
            <a:off x="274320" y="2672016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274320" y="3326880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9" name="Text 19"/>
          <p:cNvSpPr txBox="1"/>
          <p:nvPr/>
        </p:nvSpPr>
        <p:spPr>
          <a:xfrm>
            <a:off x="274320" y="3381744"/>
            <a:ext cx="128016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20" name="Shape 20"/>
          <p:cNvSpPr/>
          <p:nvPr/>
        </p:nvSpPr>
        <p:spPr>
          <a:xfrm>
            <a:off x="1645920" y="3381744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6.1.1 Bachelorarbeit als PDF hochladen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1" name="Shape 21"/>
          <p:cNvSpPr/>
          <p:nvPr/>
        </p:nvSpPr>
        <p:spPr>
          <a:xfrm>
            <a:off x="1645920" y="3939528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6.1.2 Abgabefrist und Restzeit 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2" name="Shape 22"/>
          <p:cNvSpPr/>
          <p:nvPr/>
        </p:nvSpPr>
        <p:spPr>
          <a:xfrm>
            <a:off x="4236720" y="3381744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6.2.1 Dateityp und Größe jeder Abgabe prüfen lassen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3" name="Shape 23"/>
          <p:cNvSpPr/>
          <p:nvPr/>
        </p:nvSpPr>
        <p:spPr>
          <a:xfrm>
            <a:off x="4236720" y="3939528"/>
            <a:ext cx="2499360" cy="68580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6.2.2 Abgabezeitpunkt festhalten und mit Frist abgleichen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4" name="Shape 24"/>
          <p:cNvSpPr/>
          <p:nvPr/>
        </p:nvSpPr>
        <p:spPr>
          <a:xfrm>
            <a:off x="4236720" y="4680192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6.2.3 Abgegebene Arbeit unveränderbar sichern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5" name="Shape 25"/>
          <p:cNvSpPr/>
          <p:nvPr/>
        </p:nvSpPr>
        <p:spPr>
          <a:xfrm>
            <a:off x="6827520" y="3381744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6.3.1 Direkt nach Abgabe E-Mail-Bestätigung erhalten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6" name="Shape 26"/>
          <p:cNvSpPr/>
          <p:nvPr/>
        </p:nvSpPr>
        <p:spPr>
          <a:xfrm>
            <a:off x="6827520" y="3939528"/>
            <a:ext cx="2499360" cy="68580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6.3.2 Abgabequittung mit Zeitstempel und Vorgangsnummer speichern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7" name="Shape 27"/>
          <p:cNvSpPr/>
          <p:nvPr/>
        </p:nvSpPr>
        <p:spPr>
          <a:xfrm>
            <a:off x="9418320" y="3381744"/>
            <a:ext cx="2499360" cy="50292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6.4.1 Automatisch über die Abgabe benachrichtigt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7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Erstprüfer:in</a:t>
            </a:r>
          </a:p>
        </p:txBody>
      </p:sp>
      <p:sp>
        <p:nvSpPr>
          <p:cNvPr id="28" name="Shape 28"/>
          <p:cNvSpPr/>
          <p:nvPr/>
        </p:nvSpPr>
        <p:spPr>
          <a:xfrm>
            <a:off x="9418320" y="3939528"/>
            <a:ext cx="2499360" cy="68580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6.4.2 Per E-Mail informiert werden, Arbeit per Link einsehen (extern)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0B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Zweitprüfer:in</a:t>
            </a:r>
          </a:p>
        </p:txBody>
      </p:sp>
      <p:sp>
        <p:nvSpPr>
          <p:cNvPr id="29" name="Shape 29"/>
          <p:cNvSpPr/>
          <p:nvPr/>
        </p:nvSpPr>
        <p:spPr>
          <a:xfrm>
            <a:off x="9418320" y="4680192"/>
            <a:ext cx="2499360" cy="68580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6.4.3 Über jede Abgabe mit Name, Matrikelnummer und Thema benachrichtigt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274320" y="182880"/>
            <a:ext cx="82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0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Map mit Releaseplanung: Activity 7</a:t>
            </a:r>
          </a:p>
        </p:txBody>
      </p:sp>
      <p:sp>
        <p:nvSpPr>
          <p:cNvPr id="3" name="Shape 3"/>
          <p:cNvSpPr/>
          <p:nvPr/>
        </p:nvSpPr>
        <p:spPr>
          <a:xfrm>
            <a:off x="8138160" y="301752"/>
            <a:ext cx="164592" cy="164592"/>
          </a:xfrm>
          <a:prstGeom prst="rect">
            <a:avLst/>
          </a:prstGeom>
          <a:solidFill>
            <a:srgbClr val="FFF2B3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4" name="Text 4"/>
          <p:cNvSpPr txBox="1"/>
          <p:nvPr/>
        </p:nvSpPr>
        <p:spPr>
          <a:xfrm>
            <a:off x="8357616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</p:txBody>
      </p:sp>
      <p:sp>
        <p:nvSpPr>
          <p:cNvPr id="5" name="Shape 5"/>
          <p:cNvSpPr/>
          <p:nvPr/>
        </p:nvSpPr>
        <p:spPr>
          <a:xfrm>
            <a:off x="9400032" y="301752"/>
            <a:ext cx="164592" cy="164592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9619488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</p:txBody>
      </p:sp>
      <p:sp>
        <p:nvSpPr>
          <p:cNvPr id="7" name="Shape 7"/>
          <p:cNvSpPr/>
          <p:nvPr/>
        </p:nvSpPr>
        <p:spPr>
          <a:xfrm>
            <a:off x="10661904" y="301752"/>
            <a:ext cx="164592" cy="164592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endParaRPr lang="de-DE"/>
          </a:p>
        </p:txBody>
      </p:sp>
      <p:sp>
        <p:nvSpPr>
          <p:cNvPr id="8" name="Text 8"/>
          <p:cNvSpPr txBox="1"/>
          <p:nvPr/>
        </p:nvSpPr>
        <p:spPr>
          <a:xfrm>
            <a:off x="10881360" y="274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</p:txBody>
      </p:sp>
      <p:sp>
        <p:nvSpPr>
          <p:cNvPr id="9" name="Shape 9"/>
          <p:cNvSpPr/>
          <p:nvPr/>
        </p:nvSpPr>
        <p:spPr>
          <a:xfrm>
            <a:off x="1645920" y="731520"/>
            <a:ext cx="10271760" cy="420000"/>
          </a:xfrm>
          <a:prstGeom prst="rect">
            <a:avLst/>
          </a:prstGeom>
          <a:solidFill>
            <a:srgbClr val="4A5B66"/>
          </a:solidFill>
          <a:ln w="12700">
            <a:solidFill>
              <a:srgbClr val="4A5B6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Abschlussdokumentation</a:t>
            </a:r>
          </a:p>
        </p:txBody>
      </p:sp>
      <p:sp>
        <p:nvSpPr>
          <p:cNvPr id="10" name="Shape 10"/>
          <p:cNvSpPr/>
          <p:nvPr/>
        </p:nvSpPr>
        <p:spPr>
          <a:xfrm>
            <a:off x="1645920" y="1224672"/>
            <a:ext cx="1981200" cy="73152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Antragsstatus einsehen</a:t>
            </a:r>
          </a:p>
        </p:txBody>
      </p:sp>
      <p:sp>
        <p:nvSpPr>
          <p:cNvPr id="11" name="Shape 11"/>
          <p:cNvSpPr/>
          <p:nvPr/>
        </p:nvSpPr>
        <p:spPr>
          <a:xfrm>
            <a:off x="3718560" y="1224672"/>
            <a:ext cx="1981200" cy="73152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Rückmeldung zum Antrag erhalten</a:t>
            </a:r>
          </a:p>
        </p:txBody>
      </p:sp>
      <p:sp>
        <p:nvSpPr>
          <p:cNvPr id="12" name="Shape 12"/>
          <p:cNvSpPr/>
          <p:nvPr/>
        </p:nvSpPr>
        <p:spPr>
          <a:xfrm>
            <a:off x="5791200" y="1224672"/>
            <a:ext cx="1981200" cy="73152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Fehlende Unterlagen einreichen</a:t>
            </a:r>
          </a:p>
        </p:txBody>
      </p:sp>
      <p:sp>
        <p:nvSpPr>
          <p:cNvPr id="13" name="Shape 13"/>
          <p:cNvSpPr/>
          <p:nvPr/>
        </p:nvSpPr>
        <p:spPr>
          <a:xfrm>
            <a:off x="7863840" y="1224672"/>
            <a:ext cx="1981200" cy="73152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Abschlussbestätigung erhalten</a:t>
            </a:r>
          </a:p>
        </p:txBody>
      </p:sp>
      <p:sp>
        <p:nvSpPr>
          <p:cNvPr id="14" name="Shape 14"/>
          <p:cNvSpPr/>
          <p:nvPr/>
        </p:nvSpPr>
        <p:spPr>
          <a:xfrm>
            <a:off x="9936480" y="1224672"/>
            <a:ext cx="1981200" cy="731520"/>
          </a:xfrm>
          <a:prstGeom prst="rect">
            <a:avLst/>
          </a:prstGeom>
          <a:solidFill>
            <a:srgbClr val="E8F3D3"/>
          </a:solidFill>
          <a:ln w="12700">
            <a:solidFill>
              <a:srgbClr val="80BA2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Antragsdokumentation abrufen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274320" y="2029344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6" name="Text 16"/>
          <p:cNvSpPr txBox="1"/>
          <p:nvPr/>
        </p:nvSpPr>
        <p:spPr>
          <a:xfrm>
            <a:off x="274320" y="2084208"/>
            <a:ext cx="12801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und Ausgabe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274320" y="2739072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18" name="Text 18"/>
          <p:cNvSpPr txBox="1"/>
          <p:nvPr/>
        </p:nvSpPr>
        <p:spPr>
          <a:xfrm>
            <a:off x="274320" y="2793936"/>
            <a:ext cx="1280160" cy="179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 und Transparenz</a:t>
            </a:r>
          </a:p>
        </p:txBody>
      </p:sp>
      <p:sp>
        <p:nvSpPr>
          <p:cNvPr id="19" name="Shape 19"/>
          <p:cNvSpPr/>
          <p:nvPr/>
        </p:nvSpPr>
        <p:spPr>
          <a:xfrm>
            <a:off x="1645920" y="2793936"/>
            <a:ext cx="1981200" cy="635064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7.1.1 Aktuellen Status sehen, um den Fortschritt zu erkennen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0" name="Shape 20"/>
          <p:cNvSpPr/>
          <p:nvPr/>
        </p:nvSpPr>
        <p:spPr>
          <a:xfrm>
            <a:off x="1645920" y="3463479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7.1.2 Sehen, ob der Antrag noch bearbeitet wird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1" name="Shape 21"/>
          <p:cNvSpPr/>
          <p:nvPr/>
        </p:nvSpPr>
        <p:spPr>
          <a:xfrm>
            <a:off x="1645920" y="3960302"/>
            <a:ext cx="1981200" cy="628905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7.1.3 Status einsehen, um den Bearbeitungsstand nachzuvollziehen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  <p:sp>
        <p:nvSpPr>
          <p:cNvPr id="22" name="Shape 22"/>
          <p:cNvSpPr/>
          <p:nvPr/>
        </p:nvSpPr>
        <p:spPr>
          <a:xfrm>
            <a:off x="3718560" y="2793936"/>
            <a:ext cx="1981200" cy="654864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7.2.1 Rückmeldung erhalten, um offene Schritte zu kennen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3" name="Shape 23"/>
          <p:cNvSpPr/>
          <p:nvPr/>
        </p:nvSpPr>
        <p:spPr>
          <a:xfrm>
            <a:off x="3718560" y="3490570"/>
            <a:ext cx="1981200" cy="649223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7.2.2 Über neue Rückmeldung informiert werden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4" name="Shape 24"/>
          <p:cNvSpPr/>
          <p:nvPr/>
        </p:nvSpPr>
        <p:spPr>
          <a:xfrm>
            <a:off x="5791200" y="2793936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7.3.1 Fehlende Unterlagen einreichen können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5" name="Shape 25"/>
          <p:cNvSpPr/>
          <p:nvPr/>
        </p:nvSpPr>
        <p:spPr>
          <a:xfrm>
            <a:off x="5791200" y="3290760"/>
            <a:ext cx="1981200" cy="441960"/>
          </a:xfrm>
          <a:prstGeom prst="rect">
            <a:avLst/>
          </a:prstGeom>
          <a:solidFill>
            <a:srgbClr val="D6E9F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7.3.2 Einsehen, welche Unterlagen fehlen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274320" y="4644072"/>
            <a:ext cx="11643360" cy="0"/>
          </a:xfrm>
          <a:prstGeom prst="line">
            <a:avLst/>
          </a:prstGeom>
          <a:ln w="9525">
            <a:solidFill>
              <a:srgbClr val="C9D1D6"/>
            </a:solidFill>
            <a:prstDash val="solid"/>
          </a:ln>
        </p:spPr>
      </p:cxnSp>
      <p:sp>
        <p:nvSpPr>
          <p:cNvPr id="27" name="Text 27"/>
          <p:cNvSpPr txBox="1"/>
          <p:nvPr/>
        </p:nvSpPr>
        <p:spPr>
          <a:xfrm>
            <a:off x="274320" y="4698936"/>
            <a:ext cx="128016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</a:t>
            </a:r>
          </a:p>
          <a:p>
            <a:pPr marL="0" indent="0">
              <a:buNone/>
            </a:pPr>
            <a:r>
              <a:rPr lang="de-DE" sz="10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 und Dokumentation</a:t>
            </a:r>
          </a:p>
        </p:txBody>
      </p:sp>
      <p:sp>
        <p:nvSpPr>
          <p:cNvPr id="28" name="Shape 28"/>
          <p:cNvSpPr/>
          <p:nvPr/>
        </p:nvSpPr>
        <p:spPr>
          <a:xfrm>
            <a:off x="7863840" y="4698936"/>
            <a:ext cx="1981200" cy="5943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7.4.1 Bestätigung als Nachweis für den Abschluss erhalten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29" name="Shape 29"/>
          <p:cNvSpPr/>
          <p:nvPr/>
        </p:nvSpPr>
        <p:spPr>
          <a:xfrm>
            <a:off x="7863840" y="5348160"/>
            <a:ext cx="1981200" cy="4419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7.4.2 Bestätigung im Portal später abrufen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0" name="Shape 30"/>
          <p:cNvSpPr/>
          <p:nvPr/>
        </p:nvSpPr>
        <p:spPr>
          <a:xfrm>
            <a:off x="9936480" y="4698936"/>
            <a:ext cx="1981200" cy="4419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7.5.1 Antrag und Dokumente nach Abschluss einsehen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1" name="Shape 31"/>
          <p:cNvSpPr/>
          <p:nvPr/>
        </p:nvSpPr>
        <p:spPr>
          <a:xfrm>
            <a:off x="9936480" y="5195760"/>
            <a:ext cx="1981200" cy="4419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7.5.2 Relevante Dokumente herunterladen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Studierende:r</a:t>
            </a:r>
          </a:p>
        </p:txBody>
      </p:sp>
      <p:sp>
        <p:nvSpPr>
          <p:cNvPr id="32" name="Shape 32"/>
          <p:cNvSpPr/>
          <p:nvPr/>
        </p:nvSpPr>
        <p:spPr>
          <a:xfrm>
            <a:off x="9936480" y="5692584"/>
            <a:ext cx="1981200" cy="594360"/>
          </a:xfrm>
          <a:prstGeom prst="rect">
            <a:avLst/>
          </a:prstGeom>
          <a:solidFill>
            <a:srgbClr val="F3D9E8"/>
          </a:solidFill>
          <a:ln w="6350">
            <a:solidFill>
              <a:srgbClr val="C9D1D6"/>
            </a:solidFill>
            <a:prstDash val="solid"/>
          </a:ln>
        </p:spPr>
        <p:txBody>
          <a:bodyPr wrap="square" lIns="91440" tIns="18288" rIns="91440" bIns="18288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7.5.3 Antragsdokumentation einsehen, um Vorgänge nachzuvollziehen</a:t>
            </a:r>
          </a:p>
          <a:p>
            <a:pPr marL="0" indent="0">
              <a:buNone/>
            </a:pPr>
            <a:r>
              <a:rPr lang="de-DE" sz="900" b="1" dirty="0">
                <a:solidFill>
                  <a:srgbClr val="B86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Dekanat / Prüfungsamt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Releaseplanung</a:t>
            </a:r>
            <a:r>
              <a:rPr lang="en-US" sz="24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Begründung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657600" cy="2743200"/>
          </a:xfrm>
          <a:prstGeom prst="rect">
            <a:avLst/>
          </a:prstGeom>
          <a:solidFill>
            <a:srgbClr val="FFF2B3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 txBox="1"/>
          <p:nvPr/>
        </p:nvSpPr>
        <p:spPr>
          <a:xfrm>
            <a:off x="475488" y="914400"/>
            <a:ext cx="3438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1: Anmeldung und </a:t>
            </a:r>
            <a:r>
              <a:rPr lang="en-US" sz="13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</a:t>
            </a:r>
            <a:r>
              <a:rPr lang="en-US" sz="13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Kernprozess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vom Antrag bis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Antragserfassung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Bestätigung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Bearbeitungszeit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Status </a:t>
            </a:r>
            <a:b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pPr marL="0" indent="0">
              <a:buNone/>
            </a:pP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ersetzt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PDF-Formular und E-Mail-Weg</a:t>
            </a:r>
            <a:b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bringt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 größten Nutzen und ist Voraussetzung für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868680"/>
            <a:ext cx="3657600" cy="2743200"/>
          </a:xfrm>
          <a:prstGeom prst="rect">
            <a:avLst/>
          </a:prstGeom>
          <a:solidFill>
            <a:srgbClr val="D6E9F8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 txBox="1"/>
          <p:nvPr/>
        </p:nvSpPr>
        <p:spPr>
          <a:xfrm>
            <a:off x="4315968" y="914400"/>
            <a:ext cx="3438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2: Verlängerung und </a:t>
            </a:r>
            <a:r>
              <a:rPr lang="en-US" sz="13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</a:t>
            </a:r>
            <a:endParaRPr lang="en-US" sz="1300" b="1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Verlängerungsantrag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Fristen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Statustransparenz, 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Rückmeldungen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Nachreichungen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endParaRPr lang="en-US" sz="1050" dirty="0">
              <a:solidFill>
                <a:srgbClr val="2F3E46"/>
              </a:solidFill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pPr marL="0" indent="0">
              <a:buNone/>
            </a:pP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Baut auf Antragsdaten und Fristen aus Release 1 auf</a:t>
            </a:r>
          </a:p>
          <a:p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0" y="868680"/>
            <a:ext cx="3657600" cy="2743200"/>
          </a:xfrm>
          <a:prstGeom prst="rect">
            <a:avLst/>
          </a:prstGeom>
          <a:solidFill>
            <a:srgbClr val="F3D9E8"/>
          </a:solidFill>
          <a:ln w="9525">
            <a:solidFill>
              <a:srgbClr val="C9D1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 txBox="1"/>
          <p:nvPr/>
        </p:nvSpPr>
        <p:spPr>
          <a:xfrm>
            <a:off x="8156448" y="914400"/>
            <a:ext cx="3438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3: Abgabe und </a:t>
            </a:r>
            <a:r>
              <a:rPr lang="en-US" sz="1300" b="1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1300" b="1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Abgabe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Eingangsbestätigung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Benachrichtigung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Beteiligten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Fristerinnerungen</a:t>
            </a: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1050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Begründung: </a:t>
            </a:r>
          </a:p>
          <a:p>
            <a:pPr marL="0" indent="0">
              <a:buNone/>
            </a:pPr>
            <a:endParaRPr lang="en-US" sz="1050" b="1" dirty="0">
              <a:solidFill>
                <a:srgbClr val="2F3E4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Vor- und Nachbereitung des </a:t>
            </a:r>
            <a:r>
              <a:rPr lang="en-US" sz="1050" dirty="0" err="1">
                <a:solidFill>
                  <a:srgbClr val="2F3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Kernprozesses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ory-Map_Releaseplanung_mit_Rollen_Finale_Version" id="{9FF1E514-E2C5-3B48-83FB-7EA89DE2C965}" vid="{5E22B3FA-E699-B343-BB9F-89DE3B9592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Story-Map_Releaseplanung_mit_Rollen_Finale_Version</Template>
  <TotalTime>26</TotalTime>
  <Words>1165</Words>
  <Application>Microsoft Office PowerPoint</Application>
  <PresentationFormat>Breitbild</PresentationFormat>
  <Paragraphs>303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Melina Pandey</dc:creator>
  <cp:lastModifiedBy>Melina Pandey</cp:lastModifiedBy>
  <cp:revision>5</cp:revision>
  <dcterms:created xsi:type="dcterms:W3CDTF">2026-10-01T18:22:00Z</dcterms:created>
  <dcterms:modified xsi:type="dcterms:W3CDTF">2026-10-01T18:48:08Z</dcterms:modified>
</cp:coreProperties>
</file>