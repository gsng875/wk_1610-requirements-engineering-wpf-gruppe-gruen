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46" d="100"/>
          <a:sy n="146" d="100"/>
        </p:scale>
        <p:origin x="54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992769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Betrachtet wird genau eine User Story: US 4.1.1 aus dem Story Mapping (Activity 4 Ausgabe der Arbeit, User Task 4.1 Thema bestätigen und freigeben). Formulierung wörtlich aus dem Repository. Roter Faden: Thema aufrufen, prüfen, bestätigen, freigeben.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Persona A stammt aus der Aufgabe Personas (Aufgabe 2). Persona B ist aus dem Ist-Prozess im Zulassungsantrag abgeleitet (1. Prüfer(in) füllt den unteren Formularteil aus und sendet an das Dekanat); Name und Systemerfahrung sind fiktiv und zu validieren. Bezüge: US 1.1.1 (Thema abstimmen), US 3.2.3 (Entscheidung mitgeteilt bekommen), US 4.3.2 (über Ausgabe informiert werden).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Diese Dimension erstellt das Projektteam selbst. Hier bewusst kein UI, kein Mockup, keine Schaltflächen.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BPMN-Ausschnitt nur für US 4.1.1. Start: Antrag vom Prüfungsausschuss angenommen (US 3.2.1); Erstprüfer:in wird informiert (US 3.2.3). Der Nein-Zweig stammt aus dem Aktivitätsdiagramm des Teams (1. Prüfer:in: Änderungswunsch oder Ablehnung eintragen, danach Rückfrage, Studierende:r passt den Antrag an) und aus dem Formularfeld Bestätigung der Vorschläge des Kandidaten: Nein (siehe Anlage). Die Vorlesung nutzt für Abläufe UML-Aktivitätsdiagramme; BPMN wurde auf Wunsch des Teams gewählt. Editierbare Quelle: quellen/Action_Themenfreigabe.bpmn.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Minimales UML-Klassendiagramm nur für US 4.1.1. Attribute aus dem Zulassungsantrag: Name, Matrikelnummer, Studiengang, Studienabschluss (Bachelor/Master), gewünschter Starttermin, Thema, 1. Prüfer(in), Entscheidung des Prüfungsausschusses (angenommen/abgelehnt), Bestätigung der Vorschläge des Kandidaten, Zeitpunkt der Ausgabe. Zu validieren: Multiplizität Studierende:r zu Antrag (1..*: Bachelor und Master oder erneuter Antrag) und der Wertebereich des Antragsstatus. Editierbare Quelle: quellen/Data_Klassendiagramm_Themenfreigabe.puml.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Sechs Regeln, je eine Aussage, formuliert nach der Satzschablone der Vorlesung (Kap. 5). C1 bis C5 sind durch Repository-Artefakte belegt. C6 ist eine logische Ableitung aus der Reihenfolge der User Tasks 4.1 und 4.2 und noch zu validieren. Zu klären: Das Aktivitätsdiagramm des Teams zeigt die Freigabe der Prüfenden vor der Prüfung durch das Dekanat, das Story Mapping erst nach der Entscheidung des Prüfungsausschusses. C2 folgt dem Story Mapping und dem Zulassungsantrag.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Systemkontext in der Soll-Perspektive nach Kap. 2 der Vorlesung: Personen, Systeme im Betrieb, Prozesse, Ereignisse, Dokumente; ergänzt um die technische Umgebung aus dem Projektbriefing (webbasiert, Desktop und Smartphone). THM-Login und E-Mail-Dienst stehen im Kontextdiagramm des Teams (Aufgabe 3); das Aktivitätsdiagramm nennt die Anmeldung mit THM-Konto. Weitere Systeme werden nicht angenommen.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Vier Qualitätsattribute aus den Kategorien der Vorlesung (Sicherheit, Zuverlässigkeit, Benutzbarkeit, Effizienz). Bezug zum Projektbriefing: komfortabel nutzbar auf Desktop und Smartphone; Prozess für alle Beteiligten effizienter abwickeln. Es werden keine Grenzwerte erfunden.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383280" cy="5143500"/>
          </a:xfrm>
          <a:prstGeom prst="rect">
            <a:avLst/>
          </a:prstGeom>
          <a:solidFill>
            <a:srgbClr val="2C5F2D"/>
          </a:solidFill>
          <a:ln w="9525">
            <a:solidFill>
              <a:srgbClr val="2C5F2D"/>
            </a:solidFill>
            <a:prstDash val="solid"/>
          </a:ln>
        </p:spPr>
      </p:sp>
      <p:sp>
        <p:nvSpPr>
          <p:cNvPr id="3" name="Text 1"/>
          <p:cNvSpPr txBox="1"/>
          <p:nvPr/>
        </p:nvSpPr>
        <p:spPr>
          <a:xfrm>
            <a:off x="411480" y="384048"/>
            <a:ext cx="2743200" cy="228600"/>
          </a:xfrm>
          <a:prstGeom prst="rect">
            <a:avLst/>
          </a:prstGeom>
          <a:noFill/>
          <a:ln/>
        </p:spPr>
        <p:txBody>
          <a:bodyPr wrap="square" lIns="0" tIns="0" rIns="0" bIns="0" rtlCol="0" anchor="t"/>
          <a:lstStyle/>
          <a:p>
            <a:pPr marL="0" indent="0">
              <a:buNone/>
            </a:pPr>
            <a:r>
              <a:rPr lang="en-US" sz="800" b="1" kern="0" spc="150" dirty="0">
                <a:solidFill>
                  <a:srgbClr val="97BC62"/>
                </a:solidFill>
                <a:latin typeface="Calibri" pitchFamily="34" charset="0"/>
                <a:ea typeface="Calibri" pitchFamily="34" charset="-122"/>
                <a:cs typeface="Calibri" pitchFamily="34" charset="-120"/>
              </a:rPr>
              <a:t>7 DIMENSIONS  ·  DISCOVER TO DELIVER</a:t>
            </a:r>
            <a:endParaRPr lang="en-US" sz="800" dirty="0"/>
          </a:p>
        </p:txBody>
      </p:sp>
      <p:sp>
        <p:nvSpPr>
          <p:cNvPr id="4" name="Text 2"/>
          <p:cNvSpPr txBox="1"/>
          <p:nvPr/>
        </p:nvSpPr>
        <p:spPr>
          <a:xfrm>
            <a:off x="411480" y="713232"/>
            <a:ext cx="2743200" cy="45720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User Story 4.1.1</a:t>
            </a:r>
            <a:endParaRPr lang="en-US" sz="2600" dirty="0"/>
          </a:p>
        </p:txBody>
      </p:sp>
      <p:sp>
        <p:nvSpPr>
          <p:cNvPr id="5" name="Text 3"/>
          <p:cNvSpPr txBox="1"/>
          <p:nvPr/>
        </p:nvSpPr>
        <p:spPr>
          <a:xfrm>
            <a:off x="411480" y="1207008"/>
            <a:ext cx="2743200" cy="640080"/>
          </a:xfrm>
          <a:prstGeom prst="rect">
            <a:avLst/>
          </a:prstGeom>
          <a:noFill/>
          <a:ln/>
        </p:spPr>
        <p:txBody>
          <a:bodyPr wrap="square" lIns="0" tIns="0" rIns="0" bIns="0" rtlCol="0" anchor="t"/>
          <a:lstStyle/>
          <a:p>
            <a:pPr marL="0" indent="0">
              <a:buNone/>
            </a:pPr>
            <a:r>
              <a:rPr lang="en-US" sz="1700" i="1" dirty="0">
                <a:solidFill>
                  <a:srgbClr val="97BC62"/>
                </a:solidFill>
                <a:latin typeface="Cambria" pitchFamily="34" charset="0"/>
                <a:ea typeface="Cambria" pitchFamily="34" charset="-122"/>
                <a:cs typeface="Cambria" pitchFamily="34" charset="-120"/>
              </a:rPr>
              <a:t>Thema bestätigen und freigeben</a:t>
            </a:r>
            <a:endParaRPr lang="en-US" sz="1700" dirty="0"/>
          </a:p>
        </p:txBody>
      </p:sp>
      <p:sp>
        <p:nvSpPr>
          <p:cNvPr id="6" name="Text 4"/>
          <p:cNvSpPr txBox="1"/>
          <p:nvPr/>
        </p:nvSpPr>
        <p:spPr>
          <a:xfrm>
            <a:off x="411480" y="2331720"/>
            <a:ext cx="2743200" cy="201168"/>
          </a:xfrm>
          <a:prstGeom prst="rect">
            <a:avLst/>
          </a:prstGeom>
          <a:noFill/>
          <a:ln/>
        </p:spPr>
        <p:txBody>
          <a:bodyPr wrap="square" lIns="0" tIns="0" rIns="0" bIns="0" rtlCol="0" anchor="t"/>
          <a:lstStyle/>
          <a:p>
            <a:pPr marL="0" indent="0">
              <a:buNone/>
            </a:pPr>
            <a:r>
              <a:rPr lang="en-US" sz="800" b="1" kern="0" spc="150" dirty="0">
                <a:solidFill>
                  <a:srgbClr val="97BC62"/>
                </a:solidFill>
                <a:latin typeface="Calibri" pitchFamily="34" charset="0"/>
                <a:ea typeface="Calibri" pitchFamily="34" charset="-122"/>
                <a:cs typeface="Calibri" pitchFamily="34" charset="-120"/>
              </a:rPr>
              <a:t>EINORDNUNG IM STORY MAPPING</a:t>
            </a:r>
            <a:endParaRPr lang="en-US" sz="800" dirty="0"/>
          </a:p>
        </p:txBody>
      </p:sp>
      <p:sp>
        <p:nvSpPr>
          <p:cNvPr id="7" name="Text 5"/>
          <p:cNvSpPr txBox="1"/>
          <p:nvPr/>
        </p:nvSpPr>
        <p:spPr>
          <a:xfrm>
            <a:off x="411480" y="2578608"/>
            <a:ext cx="2743200" cy="777240"/>
          </a:xfrm>
          <a:prstGeom prst="rect">
            <a:avLst/>
          </a:prstGeom>
          <a:noFill/>
          <a:ln/>
        </p:spPr>
        <p:txBody>
          <a:bodyPr wrap="square" lIns="0" tIns="0" rIns="0" bIns="0" rtlCol="0" anchor="t"/>
          <a:lstStyle/>
          <a:p>
            <a:pPr marL="0" indent="0">
              <a:spcAft>
                <a:spcPts val="400"/>
              </a:spcAft>
              <a:buNone/>
            </a:pPr>
            <a:r>
              <a:rPr lang="en-US" sz="1000" b="1" dirty="0">
                <a:solidFill>
                  <a:srgbClr val="D9E6CF"/>
                </a:solidFill>
                <a:latin typeface="Calibri" pitchFamily="34" charset="0"/>
                <a:ea typeface="Calibri" pitchFamily="34" charset="-122"/>
                <a:cs typeface="Calibri" pitchFamily="34" charset="-120"/>
              </a:rPr>
              <a:t>Activity 4: </a:t>
            </a:r>
            <a:r>
              <a:rPr lang="en-US" sz="1000" dirty="0">
                <a:solidFill>
                  <a:srgbClr val="FFFFFF"/>
                </a:solidFill>
                <a:latin typeface="Calibri" pitchFamily="34" charset="0"/>
                <a:ea typeface="Calibri" pitchFamily="34" charset="-122"/>
                <a:cs typeface="Calibri" pitchFamily="34" charset="-120"/>
              </a:rPr>
              <a:t>Ausgabe der Arbeit</a:t>
            </a:r>
            <a:endParaRPr lang="en-US" sz="1000" dirty="0"/>
          </a:p>
          <a:p>
            <a:pPr marL="0" indent="0">
              <a:spcAft>
                <a:spcPts val="400"/>
              </a:spcAft>
              <a:buNone/>
            </a:pPr>
            <a:r>
              <a:rPr lang="en-US" sz="1000" b="1" dirty="0">
                <a:solidFill>
                  <a:srgbClr val="D9E6CF"/>
                </a:solidFill>
                <a:latin typeface="Calibri" pitchFamily="34" charset="0"/>
                <a:ea typeface="Calibri" pitchFamily="34" charset="-122"/>
                <a:cs typeface="Calibri" pitchFamily="34" charset="-120"/>
              </a:rPr>
              <a:t>User Task 4.1: </a:t>
            </a:r>
            <a:r>
              <a:rPr lang="en-US" sz="1000" dirty="0">
                <a:solidFill>
                  <a:srgbClr val="FFFFFF"/>
                </a:solidFill>
                <a:latin typeface="Calibri" pitchFamily="34" charset="0"/>
                <a:ea typeface="Calibri" pitchFamily="34" charset="-122"/>
                <a:cs typeface="Calibri" pitchFamily="34" charset="-120"/>
              </a:rPr>
              <a:t>Thema bestätigen und freigeben</a:t>
            </a:r>
            <a:endParaRPr lang="en-US" sz="1000" dirty="0"/>
          </a:p>
          <a:p>
            <a:pPr marL="0" indent="0">
              <a:spcAft>
                <a:spcPts val="400"/>
              </a:spcAft>
              <a:buNone/>
            </a:pPr>
            <a:r>
              <a:rPr lang="en-US" sz="1000" b="1" dirty="0">
                <a:solidFill>
                  <a:srgbClr val="D9E6CF"/>
                </a:solidFill>
                <a:latin typeface="Calibri" pitchFamily="34" charset="0"/>
                <a:ea typeface="Calibri" pitchFamily="34" charset="-122"/>
                <a:cs typeface="Calibri" pitchFamily="34" charset="-120"/>
              </a:rPr>
              <a:t>Rolle: </a:t>
            </a:r>
            <a:r>
              <a:rPr lang="en-US" sz="1000" dirty="0">
                <a:solidFill>
                  <a:srgbClr val="FFFFFF"/>
                </a:solidFill>
                <a:latin typeface="Calibri" pitchFamily="34" charset="0"/>
                <a:ea typeface="Calibri" pitchFamily="34" charset="-122"/>
                <a:cs typeface="Calibri" pitchFamily="34" charset="-120"/>
              </a:rPr>
              <a:t>Erstprüfer:in</a:t>
            </a:r>
            <a:endParaRPr lang="en-US" sz="1000" dirty="0"/>
          </a:p>
        </p:txBody>
      </p:sp>
      <p:sp>
        <p:nvSpPr>
          <p:cNvPr id="8" name="Text 6"/>
          <p:cNvSpPr txBox="1"/>
          <p:nvPr/>
        </p:nvSpPr>
        <p:spPr>
          <a:xfrm>
            <a:off x="411480" y="4434840"/>
            <a:ext cx="2743200" cy="411480"/>
          </a:xfrm>
          <a:prstGeom prst="rect">
            <a:avLst/>
          </a:prstGeom>
          <a:noFill/>
          <a:ln/>
        </p:spPr>
        <p:txBody>
          <a:bodyPr wrap="square" lIns="0" tIns="0" rIns="0" bIns="0" rtlCol="0" anchor="b"/>
          <a:lstStyle/>
          <a:p>
            <a:pPr marL="0" indent="0">
              <a:buNone/>
            </a:pPr>
            <a:r>
              <a:rPr lang="en-US" sz="800" dirty="0">
                <a:solidFill>
                  <a:srgbClr val="D9E6CF"/>
                </a:solidFill>
                <a:latin typeface="Calibri" pitchFamily="34" charset="0"/>
                <a:ea typeface="Calibri" pitchFamily="34" charset="-122"/>
                <a:cs typeface="Calibri" pitchFamily="34" charset="-120"/>
              </a:rPr>
              <a:t>ThesisFlow  ·  Abschlussarbeiten-Portal FB MND</a:t>
            </a:r>
            <a:endParaRPr lang="en-US" sz="800" dirty="0"/>
          </a:p>
          <a:p>
            <a:pPr marL="0" indent="0">
              <a:buNone/>
            </a:pPr>
            <a:r>
              <a:rPr lang="en-US" sz="800" dirty="0">
                <a:solidFill>
                  <a:srgbClr val="D9E6CF"/>
                </a:solidFill>
                <a:latin typeface="Calibri" pitchFamily="34" charset="0"/>
                <a:ea typeface="Calibri" pitchFamily="34" charset="-122"/>
                <a:cs typeface="Calibri" pitchFamily="34" charset="-120"/>
              </a:rPr>
              <a:t>Requirements Engineering, Gruppe Grün</a:t>
            </a:r>
            <a:endParaRPr lang="en-US" sz="800" dirty="0"/>
          </a:p>
        </p:txBody>
      </p:sp>
      <p:sp>
        <p:nvSpPr>
          <p:cNvPr id="9" name="Text 7"/>
          <p:cNvSpPr txBox="1"/>
          <p:nvPr/>
        </p:nvSpPr>
        <p:spPr>
          <a:xfrm>
            <a:off x="3657600" y="384048"/>
            <a:ext cx="5029200" cy="411480"/>
          </a:xfrm>
          <a:prstGeom prst="rect">
            <a:avLst/>
          </a:prstGeom>
          <a:noFill/>
          <a:ln/>
        </p:spPr>
        <p:txBody>
          <a:bodyPr wrap="square" lIns="0" tIns="0" rIns="0" bIns="0" rtlCol="0" anchor="ctr"/>
          <a:lstStyle/>
          <a:p>
            <a:pPr marL="0" indent="0">
              <a:buNone/>
            </a:pPr>
            <a:r>
              <a:rPr lang="en-US" sz="2200" b="1" dirty="0">
                <a:solidFill>
                  <a:srgbClr val="1F2A1F"/>
                </a:solidFill>
                <a:latin typeface="Cambria" pitchFamily="34" charset="0"/>
                <a:ea typeface="Cambria" pitchFamily="34" charset="-122"/>
                <a:cs typeface="Cambria" pitchFamily="34" charset="-120"/>
              </a:rPr>
              <a:t>Betrachtete User Story</a:t>
            </a:r>
            <a:endParaRPr lang="en-US" sz="2200" dirty="0"/>
          </a:p>
        </p:txBody>
      </p:sp>
      <p:sp>
        <p:nvSpPr>
          <p:cNvPr id="10" name="Shape 8"/>
          <p:cNvSpPr/>
          <p:nvPr/>
        </p:nvSpPr>
        <p:spPr>
          <a:xfrm>
            <a:off x="3657600" y="914400"/>
            <a:ext cx="5074920" cy="1143000"/>
          </a:xfrm>
          <a:prstGeom prst="roundRect">
            <a:avLst>
              <a:gd name="adj" fmla="val 6400"/>
            </a:avLst>
          </a:prstGeom>
          <a:solidFill>
            <a:srgbClr val="EEF4E8"/>
          </a:solidFill>
          <a:ln w="12700">
            <a:solidFill>
              <a:srgbClr val="EEF4E8"/>
            </a:solidFill>
            <a:prstDash val="solid"/>
          </a:ln>
        </p:spPr>
      </p:sp>
      <p:sp>
        <p:nvSpPr>
          <p:cNvPr id="11" name="Text 9"/>
          <p:cNvSpPr txBox="1"/>
          <p:nvPr/>
        </p:nvSpPr>
        <p:spPr>
          <a:xfrm>
            <a:off x="3840480" y="914400"/>
            <a:ext cx="4709160" cy="1143000"/>
          </a:xfrm>
          <a:prstGeom prst="rect">
            <a:avLst/>
          </a:prstGeom>
          <a:noFill/>
          <a:ln/>
        </p:spPr>
        <p:txBody>
          <a:bodyPr wrap="square" lIns="0" tIns="0" rIns="0" bIns="0" rtlCol="0" anchor="ctr"/>
          <a:lstStyle/>
          <a:p>
            <a:pPr marL="0" indent="0">
              <a:buNone/>
            </a:pPr>
            <a:r>
              <a:rPr lang="en-US" sz="1400" i="1" dirty="0">
                <a:solidFill>
                  <a:srgbClr val="2C5F2D"/>
                </a:solidFill>
                <a:latin typeface="Cambria" pitchFamily="34" charset="0"/>
                <a:ea typeface="Cambria" pitchFamily="34" charset="-122"/>
                <a:cs typeface="Cambria" pitchFamily="34" charset="-120"/>
              </a:rPr>
              <a:t>„Als Erstprüfer:in möchte ich das Thema der Abschlussarbeit bestätigen, damit die Arbeit mit dem abgestimmten Thema offiziell freigegeben wird.“</a:t>
            </a:r>
            <a:endParaRPr lang="en-US" sz="1400" dirty="0"/>
          </a:p>
        </p:txBody>
      </p:sp>
      <p:sp>
        <p:nvSpPr>
          <p:cNvPr id="12" name="Text 10"/>
          <p:cNvSpPr txBox="1"/>
          <p:nvPr/>
        </p:nvSpPr>
        <p:spPr>
          <a:xfrm>
            <a:off x="3657600" y="2103120"/>
            <a:ext cx="5074920" cy="182880"/>
          </a:xfrm>
          <a:prstGeom prst="rect">
            <a:avLst/>
          </a:prstGeom>
          <a:noFill/>
          <a:ln/>
        </p:spPr>
        <p:txBody>
          <a:bodyPr wrap="square" lIns="0" tIns="0" rIns="0" bIns="0" rtlCol="0" anchor="t"/>
          <a:lstStyle/>
          <a:p>
            <a:pPr marL="0" indent="0">
              <a:buNone/>
            </a:pPr>
            <a:r>
              <a:rPr lang="en-US" sz="750" i="1" dirty="0">
                <a:solidFill>
                  <a:srgbClr val="8A968A"/>
                </a:solidFill>
                <a:latin typeface="Calibri" pitchFamily="34" charset="0"/>
                <a:ea typeface="Calibri" pitchFamily="34" charset="-122"/>
                <a:cs typeface="Calibri" pitchFamily="34" charset="-120"/>
              </a:rPr>
              <a:t>Quelle: Story Mapping/4-Ausgabe-der-Arbeit.md</a:t>
            </a:r>
            <a:endParaRPr lang="en-US" sz="750" dirty="0"/>
          </a:p>
        </p:txBody>
      </p:sp>
      <p:sp>
        <p:nvSpPr>
          <p:cNvPr id="13" name="Text 11"/>
          <p:cNvSpPr txBox="1"/>
          <p:nvPr/>
        </p:nvSpPr>
        <p:spPr>
          <a:xfrm>
            <a:off x="3657600" y="2514600"/>
            <a:ext cx="5029200" cy="274320"/>
          </a:xfrm>
          <a:prstGeom prst="rect">
            <a:avLst/>
          </a:prstGeom>
          <a:noFill/>
          <a:ln/>
        </p:spPr>
        <p:txBody>
          <a:bodyPr wrap="square" lIns="0" tIns="0" rIns="0" bIns="0" rtlCol="0" anchor="ctr"/>
          <a:lstStyle/>
          <a:p>
            <a:pPr marL="0" indent="0">
              <a:buNone/>
            </a:pPr>
            <a:r>
              <a:rPr lang="en-US" sz="1100" b="1" dirty="0">
                <a:solidFill>
                  <a:srgbClr val="2C5F2D"/>
                </a:solidFill>
                <a:latin typeface="Calibri" pitchFamily="34" charset="0"/>
                <a:ea typeface="Calibri" pitchFamily="34" charset="-122"/>
                <a:cs typeface="Calibri" pitchFamily="34" charset="-120"/>
              </a:rPr>
              <a:t>Roter Faden der Präsentation</a:t>
            </a:r>
            <a:endParaRPr lang="en-US" sz="1100" dirty="0"/>
          </a:p>
        </p:txBody>
      </p:sp>
      <p:sp>
        <p:nvSpPr>
          <p:cNvPr id="14" name="Shape 12"/>
          <p:cNvSpPr/>
          <p:nvPr/>
        </p:nvSpPr>
        <p:spPr>
          <a:xfrm>
            <a:off x="3657600" y="2852928"/>
            <a:ext cx="1188720" cy="457200"/>
          </a:xfrm>
          <a:prstGeom prst="roundRect">
            <a:avLst>
              <a:gd name="adj" fmla="val 16000"/>
            </a:avLst>
          </a:prstGeom>
          <a:solidFill>
            <a:srgbClr val="2C5F2D"/>
          </a:solidFill>
          <a:ln w="12700">
            <a:solidFill>
              <a:srgbClr val="2C5F2D"/>
            </a:solidFill>
            <a:prstDash val="solid"/>
          </a:ln>
        </p:spPr>
      </p:sp>
      <p:sp>
        <p:nvSpPr>
          <p:cNvPr id="15" name="Text 13"/>
          <p:cNvSpPr txBox="1"/>
          <p:nvPr/>
        </p:nvSpPr>
        <p:spPr>
          <a:xfrm>
            <a:off x="3657600" y="2852928"/>
            <a:ext cx="1188720" cy="45720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Thema aufrufen</a:t>
            </a:r>
            <a:endParaRPr lang="en-US" sz="950" dirty="0"/>
          </a:p>
        </p:txBody>
      </p:sp>
      <p:sp>
        <p:nvSpPr>
          <p:cNvPr id="16" name="Shape 14"/>
          <p:cNvSpPr/>
          <p:nvPr/>
        </p:nvSpPr>
        <p:spPr>
          <a:xfrm>
            <a:off x="4846320" y="3081528"/>
            <a:ext cx="105156" cy="914"/>
          </a:xfrm>
          <a:prstGeom prst="line">
            <a:avLst/>
          </a:prstGeom>
          <a:noFill/>
          <a:ln w="19050">
            <a:solidFill>
              <a:srgbClr val="2C5F2D"/>
            </a:solidFill>
            <a:prstDash val="solid"/>
            <a:tailEnd type="triangle"/>
          </a:ln>
        </p:spPr>
      </p:sp>
      <p:sp>
        <p:nvSpPr>
          <p:cNvPr id="17" name="Shape 15"/>
          <p:cNvSpPr/>
          <p:nvPr/>
        </p:nvSpPr>
        <p:spPr>
          <a:xfrm>
            <a:off x="4951476" y="2852928"/>
            <a:ext cx="1188720" cy="457200"/>
          </a:xfrm>
          <a:prstGeom prst="roundRect">
            <a:avLst>
              <a:gd name="adj" fmla="val 16000"/>
            </a:avLst>
          </a:prstGeom>
          <a:solidFill>
            <a:srgbClr val="2C5F2D"/>
          </a:solidFill>
          <a:ln w="12700">
            <a:solidFill>
              <a:srgbClr val="2C5F2D"/>
            </a:solidFill>
            <a:prstDash val="solid"/>
          </a:ln>
        </p:spPr>
      </p:sp>
      <p:sp>
        <p:nvSpPr>
          <p:cNvPr id="18" name="Text 16"/>
          <p:cNvSpPr txBox="1"/>
          <p:nvPr/>
        </p:nvSpPr>
        <p:spPr>
          <a:xfrm>
            <a:off x="4951476" y="2852928"/>
            <a:ext cx="1188720" cy="45720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Thema prüfen</a:t>
            </a:r>
            <a:endParaRPr lang="en-US" sz="950" dirty="0"/>
          </a:p>
        </p:txBody>
      </p:sp>
      <p:sp>
        <p:nvSpPr>
          <p:cNvPr id="19" name="Shape 17"/>
          <p:cNvSpPr/>
          <p:nvPr/>
        </p:nvSpPr>
        <p:spPr>
          <a:xfrm>
            <a:off x="6140196" y="3081528"/>
            <a:ext cx="105156" cy="914"/>
          </a:xfrm>
          <a:prstGeom prst="line">
            <a:avLst/>
          </a:prstGeom>
          <a:noFill/>
          <a:ln w="19050">
            <a:solidFill>
              <a:srgbClr val="2C5F2D"/>
            </a:solidFill>
            <a:prstDash val="solid"/>
            <a:tailEnd type="triangle"/>
          </a:ln>
        </p:spPr>
      </p:sp>
      <p:sp>
        <p:nvSpPr>
          <p:cNvPr id="20" name="Shape 18"/>
          <p:cNvSpPr/>
          <p:nvPr/>
        </p:nvSpPr>
        <p:spPr>
          <a:xfrm>
            <a:off x="6245352" y="2852928"/>
            <a:ext cx="1188720" cy="457200"/>
          </a:xfrm>
          <a:prstGeom prst="roundRect">
            <a:avLst>
              <a:gd name="adj" fmla="val 16000"/>
            </a:avLst>
          </a:prstGeom>
          <a:solidFill>
            <a:srgbClr val="2C5F2D"/>
          </a:solidFill>
          <a:ln w="12700">
            <a:solidFill>
              <a:srgbClr val="2C5F2D"/>
            </a:solidFill>
            <a:prstDash val="solid"/>
          </a:ln>
        </p:spPr>
      </p:sp>
      <p:sp>
        <p:nvSpPr>
          <p:cNvPr id="21" name="Text 19"/>
          <p:cNvSpPr txBox="1"/>
          <p:nvPr/>
        </p:nvSpPr>
        <p:spPr>
          <a:xfrm>
            <a:off x="6245352" y="2852928"/>
            <a:ext cx="1188720" cy="45720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Thema bestätigen</a:t>
            </a:r>
            <a:endParaRPr lang="en-US" sz="950" dirty="0"/>
          </a:p>
        </p:txBody>
      </p:sp>
      <p:sp>
        <p:nvSpPr>
          <p:cNvPr id="22" name="Shape 20"/>
          <p:cNvSpPr/>
          <p:nvPr/>
        </p:nvSpPr>
        <p:spPr>
          <a:xfrm>
            <a:off x="7434072" y="3081528"/>
            <a:ext cx="105156" cy="914"/>
          </a:xfrm>
          <a:prstGeom prst="line">
            <a:avLst/>
          </a:prstGeom>
          <a:noFill/>
          <a:ln w="19050">
            <a:solidFill>
              <a:srgbClr val="2C5F2D"/>
            </a:solidFill>
            <a:prstDash val="solid"/>
            <a:tailEnd type="triangle"/>
          </a:ln>
        </p:spPr>
      </p:sp>
      <p:sp>
        <p:nvSpPr>
          <p:cNvPr id="23" name="Shape 21"/>
          <p:cNvSpPr/>
          <p:nvPr/>
        </p:nvSpPr>
        <p:spPr>
          <a:xfrm>
            <a:off x="7539228" y="2852928"/>
            <a:ext cx="1188720" cy="457200"/>
          </a:xfrm>
          <a:prstGeom prst="roundRect">
            <a:avLst>
              <a:gd name="adj" fmla="val 16000"/>
            </a:avLst>
          </a:prstGeom>
          <a:solidFill>
            <a:srgbClr val="2C5F2D"/>
          </a:solidFill>
          <a:ln w="12700">
            <a:solidFill>
              <a:srgbClr val="2C5F2D"/>
            </a:solidFill>
            <a:prstDash val="solid"/>
          </a:ln>
        </p:spPr>
      </p:sp>
      <p:sp>
        <p:nvSpPr>
          <p:cNvPr id="24" name="Text 22"/>
          <p:cNvSpPr txBox="1"/>
          <p:nvPr/>
        </p:nvSpPr>
        <p:spPr>
          <a:xfrm>
            <a:off x="7539228" y="2852928"/>
            <a:ext cx="1188720" cy="45720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Thema freigeben</a:t>
            </a:r>
            <a:endParaRPr lang="en-US" sz="950" dirty="0"/>
          </a:p>
        </p:txBody>
      </p:sp>
      <p:sp>
        <p:nvSpPr>
          <p:cNvPr id="25" name="Text 23"/>
          <p:cNvSpPr txBox="1"/>
          <p:nvPr/>
        </p:nvSpPr>
        <p:spPr>
          <a:xfrm>
            <a:off x="3657600" y="3611880"/>
            <a:ext cx="5029200" cy="274320"/>
          </a:xfrm>
          <a:prstGeom prst="rect">
            <a:avLst/>
          </a:prstGeom>
          <a:noFill/>
          <a:ln/>
        </p:spPr>
        <p:txBody>
          <a:bodyPr wrap="square" lIns="0" tIns="0" rIns="0" bIns="0" rtlCol="0" anchor="ctr"/>
          <a:lstStyle/>
          <a:p>
            <a:pPr marL="0" indent="0">
              <a:buNone/>
            </a:pPr>
            <a:r>
              <a:rPr lang="en-US" sz="1100" b="1" dirty="0">
                <a:solidFill>
                  <a:srgbClr val="2C5F2D"/>
                </a:solidFill>
                <a:latin typeface="Calibri" pitchFamily="34" charset="0"/>
                <a:ea typeface="Calibri" pitchFamily="34" charset="-122"/>
                <a:cs typeface="Calibri" pitchFamily="34" charset="-120"/>
              </a:rPr>
              <a:t>Die sieben Dimensionen</a:t>
            </a:r>
            <a:endParaRPr lang="en-US" sz="1100" dirty="0"/>
          </a:p>
        </p:txBody>
      </p:sp>
      <p:sp>
        <p:nvSpPr>
          <p:cNvPr id="26" name="Shape 24"/>
          <p:cNvSpPr/>
          <p:nvPr/>
        </p:nvSpPr>
        <p:spPr>
          <a:xfrm>
            <a:off x="3657600" y="3950208"/>
            <a:ext cx="530352" cy="329184"/>
          </a:xfrm>
          <a:prstGeom prst="roundRect">
            <a:avLst>
              <a:gd name="adj" fmla="val 13889"/>
            </a:avLst>
          </a:prstGeom>
          <a:solidFill>
            <a:srgbClr val="EEF4E8"/>
          </a:solidFill>
          <a:ln w="12700">
            <a:solidFill>
              <a:srgbClr val="97BC62"/>
            </a:solidFill>
            <a:prstDash val="solid"/>
          </a:ln>
        </p:spPr>
      </p:sp>
      <p:sp>
        <p:nvSpPr>
          <p:cNvPr id="27" name="Text 25"/>
          <p:cNvSpPr txBox="1"/>
          <p:nvPr/>
        </p:nvSpPr>
        <p:spPr>
          <a:xfrm>
            <a:off x="3657600" y="3950208"/>
            <a:ext cx="530352" cy="329184"/>
          </a:xfrm>
          <a:prstGeom prst="rect">
            <a:avLst/>
          </a:prstGeom>
          <a:noFill/>
          <a:ln/>
        </p:spPr>
        <p:txBody>
          <a:bodyPr wrap="square" lIns="0" tIns="0" rIns="0" bIns="0" rtlCol="0" anchor="ctr"/>
          <a:lstStyle/>
          <a:p>
            <a:pPr marL="0" indent="0" algn="ctr">
              <a:buNone/>
            </a:pPr>
            <a:r>
              <a:rPr lang="en-US" sz="800" b="1" dirty="0">
                <a:solidFill>
                  <a:srgbClr val="2C5F2D"/>
                </a:solidFill>
                <a:latin typeface="Calibri" pitchFamily="34" charset="0"/>
                <a:ea typeface="Calibri" pitchFamily="34" charset="-122"/>
                <a:cs typeface="Calibri" pitchFamily="34" charset="-120"/>
              </a:rPr>
              <a:t>1 </a:t>
            </a:r>
            <a:r>
              <a:rPr lang="en-US" sz="800" dirty="0">
                <a:solidFill>
                  <a:srgbClr val="1F2A1F"/>
                </a:solidFill>
                <a:latin typeface="Calibri" pitchFamily="34" charset="0"/>
                <a:ea typeface="Calibri" pitchFamily="34" charset="-122"/>
                <a:cs typeface="Calibri" pitchFamily="34" charset="-120"/>
              </a:rPr>
              <a:t>User</a:t>
            </a:r>
            <a:endParaRPr lang="en-US" sz="800" dirty="0"/>
          </a:p>
        </p:txBody>
      </p:sp>
      <p:sp>
        <p:nvSpPr>
          <p:cNvPr id="28" name="Shape 26"/>
          <p:cNvSpPr/>
          <p:nvPr/>
        </p:nvSpPr>
        <p:spPr>
          <a:xfrm>
            <a:off x="4233672" y="3950208"/>
            <a:ext cx="694944" cy="329184"/>
          </a:xfrm>
          <a:prstGeom prst="roundRect">
            <a:avLst>
              <a:gd name="adj" fmla="val 13889"/>
            </a:avLst>
          </a:prstGeom>
          <a:solidFill>
            <a:srgbClr val="EEF4E8"/>
          </a:solidFill>
          <a:ln w="12700">
            <a:solidFill>
              <a:srgbClr val="97BC62"/>
            </a:solidFill>
            <a:prstDash val="solid"/>
          </a:ln>
        </p:spPr>
      </p:sp>
      <p:sp>
        <p:nvSpPr>
          <p:cNvPr id="29" name="Text 27"/>
          <p:cNvSpPr txBox="1"/>
          <p:nvPr/>
        </p:nvSpPr>
        <p:spPr>
          <a:xfrm>
            <a:off x="4233672" y="3950208"/>
            <a:ext cx="694944" cy="329184"/>
          </a:xfrm>
          <a:prstGeom prst="rect">
            <a:avLst/>
          </a:prstGeom>
          <a:noFill/>
          <a:ln/>
        </p:spPr>
        <p:txBody>
          <a:bodyPr wrap="square" lIns="0" tIns="0" rIns="0" bIns="0" rtlCol="0" anchor="ctr"/>
          <a:lstStyle/>
          <a:p>
            <a:pPr marL="0" indent="0" algn="ctr">
              <a:buNone/>
            </a:pPr>
            <a:r>
              <a:rPr lang="en-US" sz="800" b="1" dirty="0">
                <a:solidFill>
                  <a:srgbClr val="2C5F2D"/>
                </a:solidFill>
                <a:latin typeface="Calibri" pitchFamily="34" charset="0"/>
                <a:ea typeface="Calibri" pitchFamily="34" charset="-122"/>
                <a:cs typeface="Calibri" pitchFamily="34" charset="-120"/>
              </a:rPr>
              <a:t>2 </a:t>
            </a:r>
            <a:r>
              <a:rPr lang="en-US" sz="800" dirty="0">
                <a:solidFill>
                  <a:srgbClr val="1F2A1F"/>
                </a:solidFill>
                <a:latin typeface="Calibri" pitchFamily="34" charset="0"/>
                <a:ea typeface="Calibri" pitchFamily="34" charset="-122"/>
                <a:cs typeface="Calibri" pitchFamily="34" charset="-120"/>
              </a:rPr>
              <a:t>Interface</a:t>
            </a:r>
            <a:endParaRPr lang="en-US" sz="800" dirty="0"/>
          </a:p>
        </p:txBody>
      </p:sp>
      <p:sp>
        <p:nvSpPr>
          <p:cNvPr id="30" name="Shape 28"/>
          <p:cNvSpPr/>
          <p:nvPr/>
        </p:nvSpPr>
        <p:spPr>
          <a:xfrm>
            <a:off x="4974336" y="3950208"/>
            <a:ext cx="585216" cy="329184"/>
          </a:xfrm>
          <a:prstGeom prst="roundRect">
            <a:avLst>
              <a:gd name="adj" fmla="val 13889"/>
            </a:avLst>
          </a:prstGeom>
          <a:solidFill>
            <a:srgbClr val="EEF4E8"/>
          </a:solidFill>
          <a:ln w="12700">
            <a:solidFill>
              <a:srgbClr val="97BC62"/>
            </a:solidFill>
            <a:prstDash val="solid"/>
          </a:ln>
        </p:spPr>
      </p:sp>
      <p:sp>
        <p:nvSpPr>
          <p:cNvPr id="31" name="Text 29"/>
          <p:cNvSpPr txBox="1"/>
          <p:nvPr/>
        </p:nvSpPr>
        <p:spPr>
          <a:xfrm>
            <a:off x="4974336" y="3950208"/>
            <a:ext cx="585216" cy="329184"/>
          </a:xfrm>
          <a:prstGeom prst="rect">
            <a:avLst/>
          </a:prstGeom>
          <a:noFill/>
          <a:ln/>
        </p:spPr>
        <p:txBody>
          <a:bodyPr wrap="square" lIns="0" tIns="0" rIns="0" bIns="0" rtlCol="0" anchor="ctr"/>
          <a:lstStyle/>
          <a:p>
            <a:pPr marL="0" indent="0" algn="ctr">
              <a:buNone/>
            </a:pPr>
            <a:r>
              <a:rPr lang="en-US" sz="800" b="1" dirty="0">
                <a:solidFill>
                  <a:srgbClr val="2C5F2D"/>
                </a:solidFill>
                <a:latin typeface="Calibri" pitchFamily="34" charset="0"/>
                <a:ea typeface="Calibri" pitchFamily="34" charset="-122"/>
                <a:cs typeface="Calibri" pitchFamily="34" charset="-120"/>
              </a:rPr>
              <a:t>3 </a:t>
            </a:r>
            <a:r>
              <a:rPr lang="en-US" sz="800" dirty="0">
                <a:solidFill>
                  <a:srgbClr val="1F2A1F"/>
                </a:solidFill>
                <a:latin typeface="Calibri" pitchFamily="34" charset="0"/>
                <a:ea typeface="Calibri" pitchFamily="34" charset="-122"/>
                <a:cs typeface="Calibri" pitchFamily="34" charset="-120"/>
              </a:rPr>
              <a:t>Action</a:t>
            </a:r>
            <a:endParaRPr lang="en-US" sz="800" dirty="0"/>
          </a:p>
        </p:txBody>
      </p:sp>
      <p:sp>
        <p:nvSpPr>
          <p:cNvPr id="32" name="Shape 30"/>
          <p:cNvSpPr/>
          <p:nvPr/>
        </p:nvSpPr>
        <p:spPr>
          <a:xfrm>
            <a:off x="5605272" y="3950208"/>
            <a:ext cx="512064" cy="329184"/>
          </a:xfrm>
          <a:prstGeom prst="roundRect">
            <a:avLst>
              <a:gd name="adj" fmla="val 13889"/>
            </a:avLst>
          </a:prstGeom>
          <a:solidFill>
            <a:srgbClr val="EEF4E8"/>
          </a:solidFill>
          <a:ln w="12700">
            <a:solidFill>
              <a:srgbClr val="97BC62"/>
            </a:solidFill>
            <a:prstDash val="solid"/>
          </a:ln>
        </p:spPr>
      </p:sp>
      <p:sp>
        <p:nvSpPr>
          <p:cNvPr id="33" name="Text 31"/>
          <p:cNvSpPr txBox="1"/>
          <p:nvPr/>
        </p:nvSpPr>
        <p:spPr>
          <a:xfrm>
            <a:off x="5605272" y="3950208"/>
            <a:ext cx="512064" cy="329184"/>
          </a:xfrm>
          <a:prstGeom prst="rect">
            <a:avLst/>
          </a:prstGeom>
          <a:noFill/>
          <a:ln/>
        </p:spPr>
        <p:txBody>
          <a:bodyPr wrap="square" lIns="0" tIns="0" rIns="0" bIns="0" rtlCol="0" anchor="ctr"/>
          <a:lstStyle/>
          <a:p>
            <a:pPr marL="0" indent="0" algn="ctr">
              <a:buNone/>
            </a:pPr>
            <a:r>
              <a:rPr lang="en-US" sz="800" b="1" dirty="0">
                <a:solidFill>
                  <a:srgbClr val="2C5F2D"/>
                </a:solidFill>
                <a:latin typeface="Calibri" pitchFamily="34" charset="0"/>
                <a:ea typeface="Calibri" pitchFamily="34" charset="-122"/>
                <a:cs typeface="Calibri" pitchFamily="34" charset="-120"/>
              </a:rPr>
              <a:t>4 </a:t>
            </a:r>
            <a:r>
              <a:rPr lang="en-US" sz="800" dirty="0">
                <a:solidFill>
                  <a:srgbClr val="1F2A1F"/>
                </a:solidFill>
                <a:latin typeface="Calibri" pitchFamily="34" charset="0"/>
                <a:ea typeface="Calibri" pitchFamily="34" charset="-122"/>
                <a:cs typeface="Calibri" pitchFamily="34" charset="-120"/>
              </a:rPr>
              <a:t>Data</a:t>
            </a:r>
            <a:endParaRPr lang="en-US" sz="800" dirty="0"/>
          </a:p>
        </p:txBody>
      </p:sp>
      <p:sp>
        <p:nvSpPr>
          <p:cNvPr id="34" name="Shape 32"/>
          <p:cNvSpPr/>
          <p:nvPr/>
        </p:nvSpPr>
        <p:spPr>
          <a:xfrm>
            <a:off x="6163056" y="3950208"/>
            <a:ext cx="621792" cy="329184"/>
          </a:xfrm>
          <a:prstGeom prst="roundRect">
            <a:avLst>
              <a:gd name="adj" fmla="val 13889"/>
            </a:avLst>
          </a:prstGeom>
          <a:solidFill>
            <a:srgbClr val="EEF4E8"/>
          </a:solidFill>
          <a:ln w="12700">
            <a:solidFill>
              <a:srgbClr val="97BC62"/>
            </a:solidFill>
            <a:prstDash val="solid"/>
          </a:ln>
        </p:spPr>
      </p:sp>
      <p:sp>
        <p:nvSpPr>
          <p:cNvPr id="35" name="Text 33"/>
          <p:cNvSpPr txBox="1"/>
          <p:nvPr/>
        </p:nvSpPr>
        <p:spPr>
          <a:xfrm>
            <a:off x="6163056" y="3950208"/>
            <a:ext cx="621792" cy="329184"/>
          </a:xfrm>
          <a:prstGeom prst="rect">
            <a:avLst/>
          </a:prstGeom>
          <a:noFill/>
          <a:ln/>
        </p:spPr>
        <p:txBody>
          <a:bodyPr wrap="square" lIns="0" tIns="0" rIns="0" bIns="0" rtlCol="0" anchor="ctr"/>
          <a:lstStyle/>
          <a:p>
            <a:pPr marL="0" indent="0" algn="ctr">
              <a:buNone/>
            </a:pPr>
            <a:r>
              <a:rPr lang="en-US" sz="800" b="1" dirty="0">
                <a:solidFill>
                  <a:srgbClr val="2C5F2D"/>
                </a:solidFill>
                <a:latin typeface="Calibri" pitchFamily="34" charset="0"/>
                <a:ea typeface="Calibri" pitchFamily="34" charset="-122"/>
                <a:cs typeface="Calibri" pitchFamily="34" charset="-120"/>
              </a:rPr>
              <a:t>5 </a:t>
            </a:r>
            <a:r>
              <a:rPr lang="en-US" sz="800" dirty="0">
                <a:solidFill>
                  <a:srgbClr val="1F2A1F"/>
                </a:solidFill>
                <a:latin typeface="Calibri" pitchFamily="34" charset="0"/>
                <a:ea typeface="Calibri" pitchFamily="34" charset="-122"/>
                <a:cs typeface="Calibri" pitchFamily="34" charset="-120"/>
              </a:rPr>
              <a:t>Control</a:t>
            </a:r>
            <a:endParaRPr lang="en-US" sz="800" dirty="0"/>
          </a:p>
        </p:txBody>
      </p:sp>
      <p:sp>
        <p:nvSpPr>
          <p:cNvPr id="36" name="Shape 34"/>
          <p:cNvSpPr/>
          <p:nvPr/>
        </p:nvSpPr>
        <p:spPr>
          <a:xfrm>
            <a:off x="6830568" y="3950208"/>
            <a:ext cx="859536" cy="329184"/>
          </a:xfrm>
          <a:prstGeom prst="roundRect">
            <a:avLst>
              <a:gd name="adj" fmla="val 13889"/>
            </a:avLst>
          </a:prstGeom>
          <a:solidFill>
            <a:srgbClr val="EEF4E8"/>
          </a:solidFill>
          <a:ln w="12700">
            <a:solidFill>
              <a:srgbClr val="97BC62"/>
            </a:solidFill>
            <a:prstDash val="solid"/>
          </a:ln>
        </p:spPr>
      </p:sp>
      <p:sp>
        <p:nvSpPr>
          <p:cNvPr id="37" name="Text 35"/>
          <p:cNvSpPr txBox="1"/>
          <p:nvPr/>
        </p:nvSpPr>
        <p:spPr>
          <a:xfrm>
            <a:off x="6830568" y="3950208"/>
            <a:ext cx="859536" cy="329184"/>
          </a:xfrm>
          <a:prstGeom prst="rect">
            <a:avLst/>
          </a:prstGeom>
          <a:noFill/>
          <a:ln/>
        </p:spPr>
        <p:txBody>
          <a:bodyPr wrap="square" lIns="0" tIns="0" rIns="0" bIns="0" rtlCol="0" anchor="ctr"/>
          <a:lstStyle/>
          <a:p>
            <a:pPr marL="0" indent="0" algn="ctr">
              <a:buNone/>
            </a:pPr>
            <a:r>
              <a:rPr lang="en-US" sz="800" b="1" dirty="0">
                <a:solidFill>
                  <a:srgbClr val="2C5F2D"/>
                </a:solidFill>
                <a:latin typeface="Calibri" pitchFamily="34" charset="0"/>
                <a:ea typeface="Calibri" pitchFamily="34" charset="-122"/>
                <a:cs typeface="Calibri" pitchFamily="34" charset="-120"/>
              </a:rPr>
              <a:t>6 </a:t>
            </a:r>
            <a:r>
              <a:rPr lang="en-US" sz="800" dirty="0">
                <a:solidFill>
                  <a:srgbClr val="1F2A1F"/>
                </a:solidFill>
                <a:latin typeface="Calibri" pitchFamily="34" charset="0"/>
                <a:ea typeface="Calibri" pitchFamily="34" charset="-122"/>
                <a:cs typeface="Calibri" pitchFamily="34" charset="-120"/>
              </a:rPr>
              <a:t>Environment</a:t>
            </a:r>
            <a:endParaRPr lang="en-US" sz="800" dirty="0"/>
          </a:p>
        </p:txBody>
      </p:sp>
      <p:sp>
        <p:nvSpPr>
          <p:cNvPr id="38" name="Shape 36"/>
          <p:cNvSpPr/>
          <p:nvPr/>
        </p:nvSpPr>
        <p:spPr>
          <a:xfrm>
            <a:off x="7735824" y="3950208"/>
            <a:ext cx="996696" cy="329184"/>
          </a:xfrm>
          <a:prstGeom prst="roundRect">
            <a:avLst>
              <a:gd name="adj" fmla="val 13889"/>
            </a:avLst>
          </a:prstGeom>
          <a:solidFill>
            <a:srgbClr val="EEF4E8"/>
          </a:solidFill>
          <a:ln w="12700">
            <a:solidFill>
              <a:srgbClr val="97BC62"/>
            </a:solidFill>
            <a:prstDash val="solid"/>
          </a:ln>
        </p:spPr>
      </p:sp>
      <p:sp>
        <p:nvSpPr>
          <p:cNvPr id="39" name="Text 37"/>
          <p:cNvSpPr txBox="1"/>
          <p:nvPr/>
        </p:nvSpPr>
        <p:spPr>
          <a:xfrm>
            <a:off x="7735824" y="3950208"/>
            <a:ext cx="996696" cy="329184"/>
          </a:xfrm>
          <a:prstGeom prst="rect">
            <a:avLst/>
          </a:prstGeom>
          <a:noFill/>
          <a:ln/>
        </p:spPr>
        <p:txBody>
          <a:bodyPr wrap="square" lIns="0" tIns="0" rIns="0" bIns="0" rtlCol="0" anchor="ctr"/>
          <a:lstStyle/>
          <a:p>
            <a:pPr marL="0" indent="0" algn="ctr">
              <a:buNone/>
            </a:pPr>
            <a:r>
              <a:rPr lang="en-US" sz="800" b="1" dirty="0">
                <a:solidFill>
                  <a:srgbClr val="2C5F2D"/>
                </a:solidFill>
                <a:latin typeface="Calibri" pitchFamily="34" charset="0"/>
                <a:ea typeface="Calibri" pitchFamily="34" charset="-122"/>
                <a:cs typeface="Calibri" pitchFamily="34" charset="-120"/>
              </a:rPr>
              <a:t>7 </a:t>
            </a:r>
            <a:r>
              <a:rPr lang="en-US" sz="800" dirty="0">
                <a:solidFill>
                  <a:srgbClr val="1F2A1F"/>
                </a:solidFill>
                <a:latin typeface="Calibri" pitchFamily="34" charset="0"/>
                <a:ea typeface="Calibri" pitchFamily="34" charset="-122"/>
                <a:cs typeface="Calibri" pitchFamily="34" charset="-120"/>
              </a:rPr>
              <a:t>Quality Attribute</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11480" y="201168"/>
            <a:ext cx="5943600" cy="457200"/>
          </a:xfrm>
          <a:prstGeom prst="rect">
            <a:avLst/>
          </a:prstGeom>
          <a:noFill/>
          <a:ln/>
        </p:spPr>
        <p:txBody>
          <a:bodyPr wrap="square" lIns="0" tIns="0" rIns="0" bIns="0" rtlCol="0" anchor="ctr"/>
          <a:lstStyle/>
          <a:p>
            <a:pPr marL="0" indent="0">
              <a:buNone/>
            </a:pPr>
            <a:r>
              <a:rPr lang="en-US" sz="2200" b="1" dirty="0">
                <a:solidFill>
                  <a:srgbClr val="1F2A1F"/>
                </a:solidFill>
                <a:latin typeface="Cambria" pitchFamily="34" charset="0"/>
                <a:ea typeface="Cambria" pitchFamily="34" charset="-122"/>
                <a:cs typeface="Cambria" pitchFamily="34" charset="-120"/>
              </a:rPr>
              <a:t>1. User</a:t>
            </a:r>
            <a:endParaRPr lang="en-US" sz="2200" dirty="0"/>
          </a:p>
        </p:txBody>
      </p:sp>
      <p:sp>
        <p:nvSpPr>
          <p:cNvPr id="3" name="Text 1"/>
          <p:cNvSpPr txBox="1"/>
          <p:nvPr/>
        </p:nvSpPr>
        <p:spPr>
          <a:xfrm>
            <a:off x="6035040" y="274320"/>
            <a:ext cx="2697480" cy="274320"/>
          </a:xfrm>
          <a:prstGeom prst="rect">
            <a:avLst/>
          </a:prstGeom>
          <a:noFill/>
          <a:ln/>
        </p:spPr>
        <p:txBody>
          <a:bodyPr wrap="square" lIns="0" tIns="0" rIns="0" bIns="0" rtlCol="0" anchor="ctr"/>
          <a:lstStyle/>
          <a:p>
            <a:pPr marL="0" indent="0" algn="r">
              <a:buNone/>
            </a:pPr>
            <a:r>
              <a:rPr lang="en-US" sz="800" b="1" kern="0" spc="150" dirty="0">
                <a:solidFill>
                  <a:srgbClr val="97BC62"/>
                </a:solidFill>
                <a:latin typeface="Calibri" pitchFamily="34" charset="0"/>
                <a:ea typeface="Calibri" pitchFamily="34" charset="-122"/>
                <a:cs typeface="Calibri" pitchFamily="34" charset="-120"/>
              </a:rPr>
              <a:t>7 DIMENSIONS  ·  1 VON 7</a:t>
            </a:r>
            <a:endParaRPr lang="en-US" sz="800" dirty="0"/>
          </a:p>
        </p:txBody>
      </p:sp>
      <p:sp>
        <p:nvSpPr>
          <p:cNvPr id="4" name="Text 2"/>
          <p:cNvSpPr txBox="1"/>
          <p:nvPr/>
        </p:nvSpPr>
        <p:spPr>
          <a:xfrm>
            <a:off x="411480" y="658368"/>
            <a:ext cx="8321040" cy="201168"/>
          </a:xfrm>
          <a:prstGeom prst="rect">
            <a:avLst/>
          </a:prstGeom>
          <a:noFill/>
          <a:ln/>
        </p:spPr>
        <p:txBody>
          <a:bodyPr wrap="square" lIns="0" tIns="0" rIns="0" bIns="0" rtlCol="0" anchor="t"/>
          <a:lstStyle/>
          <a:p>
            <a:pPr marL="0" indent="0">
              <a:buNone/>
            </a:pPr>
            <a:r>
              <a:rPr lang="en-US" sz="900" dirty="0">
                <a:solidFill>
                  <a:srgbClr val="5C6B5C"/>
                </a:solidFill>
                <a:latin typeface="Calibri" pitchFamily="34" charset="0"/>
                <a:ea typeface="Calibri" pitchFamily="34" charset="-122"/>
                <a:cs typeface="Calibri" pitchFamily="34" charset="-120"/>
              </a:rPr>
              <a:t>US 4.1.1  ·  Erstprüfer:in:  Thema aufrufen  ›  Thema prüfen  ›  Thema bestätigen  ›  Thema freigeben</a:t>
            </a:r>
            <a:endParaRPr lang="en-US" sz="900" dirty="0"/>
          </a:p>
        </p:txBody>
      </p:sp>
      <p:sp>
        <p:nvSpPr>
          <p:cNvPr id="5" name="Text 3"/>
          <p:cNvSpPr txBox="1"/>
          <p:nvPr/>
        </p:nvSpPr>
        <p:spPr>
          <a:xfrm>
            <a:off x="411480" y="4828032"/>
            <a:ext cx="3840480" cy="182880"/>
          </a:xfrm>
          <a:prstGeom prst="rect">
            <a:avLst/>
          </a:prstGeom>
          <a:noFill/>
          <a:ln/>
        </p:spPr>
        <p:txBody>
          <a:bodyPr wrap="square" lIns="0" tIns="0" rIns="0" bIns="0" rtlCol="0" anchor="t"/>
          <a:lstStyle/>
          <a:p>
            <a:pPr marL="0" indent="0">
              <a:buNone/>
            </a:pPr>
            <a:r>
              <a:rPr lang="en-US" sz="750" dirty="0">
                <a:solidFill>
                  <a:srgbClr val="8A968A"/>
                </a:solidFill>
                <a:latin typeface="Calibri" pitchFamily="34" charset="0"/>
                <a:ea typeface="Calibri" pitchFamily="34" charset="-122"/>
                <a:cs typeface="Calibri" pitchFamily="34" charset="-120"/>
              </a:rPr>
              <a:t>ThesisFlow  ·  Requirements Engineering, Gruppe Grün</a:t>
            </a:r>
            <a:endParaRPr lang="en-US" sz="750" dirty="0"/>
          </a:p>
        </p:txBody>
      </p:sp>
      <p:sp>
        <p:nvSpPr>
          <p:cNvPr id="6" name="Text 4"/>
          <p:cNvSpPr txBox="1"/>
          <p:nvPr/>
        </p:nvSpPr>
        <p:spPr>
          <a:xfrm>
            <a:off x="4206240" y="4828032"/>
            <a:ext cx="4526280" cy="182880"/>
          </a:xfrm>
          <a:prstGeom prst="rect">
            <a:avLst/>
          </a:prstGeom>
          <a:noFill/>
          <a:ln/>
        </p:spPr>
        <p:txBody>
          <a:bodyPr wrap="square" lIns="0" tIns="0" rIns="0" bIns="0" rtlCol="0" anchor="t"/>
          <a:lstStyle/>
          <a:p>
            <a:pPr marL="0" indent="0" algn="r">
              <a:buNone/>
            </a:pPr>
            <a:r>
              <a:rPr lang="en-US" sz="750" i="1" dirty="0">
                <a:solidFill>
                  <a:srgbClr val="8A968A"/>
                </a:solidFill>
                <a:latin typeface="Calibri" pitchFamily="34" charset="0"/>
                <a:ea typeface="Calibri" pitchFamily="34" charset="-122"/>
                <a:cs typeface="Calibri" pitchFamily="34" charset="-120"/>
              </a:rPr>
              <a:t>vgl. Vorlesung RE, Kap. 3 Stakeholder; Praxisteil, Personas</a:t>
            </a:r>
            <a:endParaRPr lang="en-US" sz="750" dirty="0"/>
          </a:p>
        </p:txBody>
      </p:sp>
      <p:sp>
        <p:nvSpPr>
          <p:cNvPr id="7" name="Shape 5"/>
          <p:cNvSpPr/>
          <p:nvPr/>
        </p:nvSpPr>
        <p:spPr>
          <a:xfrm>
            <a:off x="411480" y="987552"/>
            <a:ext cx="4105656" cy="3721608"/>
          </a:xfrm>
          <a:prstGeom prst="roundRect">
            <a:avLst>
              <a:gd name="adj" fmla="val 1966"/>
            </a:avLst>
          </a:prstGeom>
          <a:solidFill>
            <a:srgbClr val="EEF4E8"/>
          </a:solidFill>
          <a:ln w="12700">
            <a:solidFill>
              <a:srgbClr val="EEF4E8"/>
            </a:solidFill>
            <a:prstDash val="solid"/>
          </a:ln>
        </p:spPr>
      </p:sp>
      <p:sp>
        <p:nvSpPr>
          <p:cNvPr id="8" name="Shape 6"/>
          <p:cNvSpPr/>
          <p:nvPr/>
        </p:nvSpPr>
        <p:spPr>
          <a:xfrm>
            <a:off x="411480" y="987552"/>
            <a:ext cx="4105656" cy="566928"/>
          </a:xfrm>
          <a:prstGeom prst="roundRect">
            <a:avLst>
              <a:gd name="adj" fmla="val 12903"/>
            </a:avLst>
          </a:prstGeom>
          <a:solidFill>
            <a:srgbClr val="2C5F2D"/>
          </a:solidFill>
          <a:ln w="12700">
            <a:solidFill>
              <a:srgbClr val="2C5F2D"/>
            </a:solidFill>
            <a:prstDash val="solid"/>
          </a:ln>
        </p:spPr>
      </p:sp>
      <p:sp>
        <p:nvSpPr>
          <p:cNvPr id="9" name="Shape 7"/>
          <p:cNvSpPr/>
          <p:nvPr/>
        </p:nvSpPr>
        <p:spPr>
          <a:xfrm>
            <a:off x="411480" y="1261872"/>
            <a:ext cx="4105656" cy="292608"/>
          </a:xfrm>
          <a:prstGeom prst="rect">
            <a:avLst/>
          </a:prstGeom>
          <a:solidFill>
            <a:srgbClr val="2C5F2D"/>
          </a:solidFill>
          <a:ln w="9525">
            <a:solidFill>
              <a:srgbClr val="2C5F2D"/>
            </a:solidFill>
            <a:prstDash val="solid"/>
          </a:ln>
        </p:spPr>
      </p:sp>
      <p:sp>
        <p:nvSpPr>
          <p:cNvPr id="10" name="Text 8"/>
          <p:cNvSpPr txBox="1"/>
          <p:nvPr/>
        </p:nvSpPr>
        <p:spPr>
          <a:xfrm>
            <a:off x="548640" y="1024128"/>
            <a:ext cx="3831336" cy="292608"/>
          </a:xfrm>
          <a:prstGeom prst="rect">
            <a:avLst/>
          </a:prstGeom>
          <a:noFill/>
          <a:ln/>
        </p:spPr>
        <p:txBody>
          <a:bodyPr wrap="square" lIns="0" tIns="0" rIns="0" bIns="0"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Prof. Dr. Andreas Becker</a:t>
            </a:r>
            <a:endParaRPr lang="en-US" sz="1400" dirty="0"/>
          </a:p>
        </p:txBody>
      </p:sp>
      <p:sp>
        <p:nvSpPr>
          <p:cNvPr id="11" name="Text 9"/>
          <p:cNvSpPr txBox="1"/>
          <p:nvPr/>
        </p:nvSpPr>
        <p:spPr>
          <a:xfrm>
            <a:off x="548640" y="1298448"/>
            <a:ext cx="3831336" cy="219456"/>
          </a:xfrm>
          <a:prstGeom prst="rect">
            <a:avLst/>
          </a:prstGeom>
          <a:noFill/>
          <a:ln/>
        </p:spPr>
        <p:txBody>
          <a:bodyPr wrap="square" lIns="0" tIns="0" rIns="0" bIns="0" rtlCol="0" anchor="ctr"/>
          <a:lstStyle/>
          <a:p>
            <a:pPr marL="0" indent="0">
              <a:buNone/>
            </a:pPr>
            <a:r>
              <a:rPr lang="en-US" sz="900" dirty="0">
                <a:solidFill>
                  <a:srgbClr val="D9E6CF"/>
                </a:solidFill>
                <a:latin typeface="Calibri" pitchFamily="34" charset="0"/>
                <a:ea typeface="Calibri" pitchFamily="34" charset="-122"/>
                <a:cs typeface="Calibri" pitchFamily="34" charset="-120"/>
              </a:rPr>
              <a:t>Persona B  ·  Erstprüfer:in (THM), handelnde Rolle der Story</a:t>
            </a:r>
            <a:endParaRPr lang="en-US" sz="900" dirty="0"/>
          </a:p>
        </p:txBody>
      </p:sp>
      <p:sp>
        <p:nvSpPr>
          <p:cNvPr id="12" name="Text 10"/>
          <p:cNvSpPr txBox="1"/>
          <p:nvPr/>
        </p:nvSpPr>
        <p:spPr>
          <a:xfrm>
            <a:off x="548640" y="1645920"/>
            <a:ext cx="960120" cy="457200"/>
          </a:xfrm>
          <a:prstGeom prst="rect">
            <a:avLst/>
          </a:prstGeom>
          <a:noFill/>
          <a:ln/>
        </p:spPr>
        <p:txBody>
          <a:bodyPr wrap="square" lIns="0" tIns="0" rIns="0" bIns="0" rtlCol="0" anchor="t"/>
          <a:lstStyle/>
          <a:p>
            <a:pPr marL="0" indent="0">
              <a:buNone/>
            </a:pPr>
            <a:r>
              <a:rPr lang="en-US" sz="850" b="1" dirty="0">
                <a:solidFill>
                  <a:srgbClr val="2C5F2D"/>
                </a:solidFill>
                <a:latin typeface="Calibri" pitchFamily="34" charset="0"/>
                <a:ea typeface="Calibri" pitchFamily="34" charset="-122"/>
                <a:cs typeface="Calibri" pitchFamily="34" charset="-120"/>
              </a:rPr>
              <a:t>Kontext</a:t>
            </a:r>
            <a:endParaRPr lang="en-US" sz="850" dirty="0"/>
          </a:p>
        </p:txBody>
      </p:sp>
      <p:sp>
        <p:nvSpPr>
          <p:cNvPr id="13" name="Text 11"/>
          <p:cNvSpPr txBox="1"/>
          <p:nvPr/>
        </p:nvSpPr>
        <p:spPr>
          <a:xfrm>
            <a:off x="1527048" y="1645920"/>
            <a:ext cx="2852928" cy="457200"/>
          </a:xfrm>
          <a:prstGeom prst="rect">
            <a:avLst/>
          </a:prstGeom>
          <a:noFill/>
          <a:ln/>
        </p:spPr>
        <p:txBody>
          <a:bodyPr wrap="square" lIns="0" tIns="0" rIns="0" bIns="0" rtlCol="0" anchor="t"/>
          <a:lstStyle/>
          <a:p>
            <a:pPr marL="0" indent="0">
              <a:buNone/>
            </a:pPr>
            <a:r>
              <a:rPr lang="en-US" sz="850" dirty="0">
                <a:solidFill>
                  <a:srgbClr val="1F2A1F"/>
                </a:solidFill>
                <a:latin typeface="Calibri" pitchFamily="34" charset="0"/>
                <a:ea typeface="Calibri" pitchFamily="34" charset="-122"/>
                <a:cs typeface="Calibri" pitchFamily="34" charset="-120"/>
              </a:rPr>
              <a:t>Hat Thema und Starttermin mit der Studierenden abgestimmt. Der Antrag wurde vom Prüfungsausschuss angenommen.</a:t>
            </a:r>
            <a:endParaRPr lang="en-US" sz="850" dirty="0"/>
          </a:p>
        </p:txBody>
      </p:sp>
      <p:sp>
        <p:nvSpPr>
          <p:cNvPr id="14" name="Shape 12"/>
          <p:cNvSpPr/>
          <p:nvPr/>
        </p:nvSpPr>
        <p:spPr>
          <a:xfrm>
            <a:off x="548640" y="2112264"/>
            <a:ext cx="3831336" cy="914"/>
          </a:xfrm>
          <a:prstGeom prst="line">
            <a:avLst/>
          </a:prstGeom>
          <a:noFill/>
          <a:ln w="9525">
            <a:solidFill>
              <a:srgbClr val="D9E6CF"/>
            </a:solidFill>
            <a:prstDash val="solid"/>
          </a:ln>
        </p:spPr>
      </p:sp>
      <p:sp>
        <p:nvSpPr>
          <p:cNvPr id="15" name="Text 13"/>
          <p:cNvSpPr txBox="1"/>
          <p:nvPr/>
        </p:nvSpPr>
        <p:spPr>
          <a:xfrm>
            <a:off x="548640" y="2148840"/>
            <a:ext cx="960120" cy="457200"/>
          </a:xfrm>
          <a:prstGeom prst="rect">
            <a:avLst/>
          </a:prstGeom>
          <a:noFill/>
          <a:ln/>
        </p:spPr>
        <p:txBody>
          <a:bodyPr wrap="square" lIns="0" tIns="0" rIns="0" bIns="0" rtlCol="0" anchor="t"/>
          <a:lstStyle/>
          <a:p>
            <a:pPr marL="0" indent="0">
              <a:buNone/>
            </a:pPr>
            <a:r>
              <a:rPr lang="en-US" sz="850" b="1" dirty="0">
                <a:solidFill>
                  <a:srgbClr val="2C5F2D"/>
                </a:solidFill>
                <a:latin typeface="Calibri" pitchFamily="34" charset="0"/>
                <a:ea typeface="Calibri" pitchFamily="34" charset="-122"/>
                <a:cs typeface="Calibri" pitchFamily="34" charset="-120"/>
              </a:rPr>
              <a:t>Ziel</a:t>
            </a:r>
            <a:endParaRPr lang="en-US" sz="850" dirty="0"/>
          </a:p>
        </p:txBody>
      </p:sp>
      <p:sp>
        <p:nvSpPr>
          <p:cNvPr id="16" name="Text 14"/>
          <p:cNvSpPr txBox="1"/>
          <p:nvPr/>
        </p:nvSpPr>
        <p:spPr>
          <a:xfrm>
            <a:off x="1527048" y="2148840"/>
            <a:ext cx="2852928" cy="457200"/>
          </a:xfrm>
          <a:prstGeom prst="rect">
            <a:avLst/>
          </a:prstGeom>
          <a:noFill/>
          <a:ln/>
        </p:spPr>
        <p:txBody>
          <a:bodyPr wrap="square" lIns="0" tIns="0" rIns="0" bIns="0" rtlCol="0" anchor="t"/>
          <a:lstStyle/>
          <a:p>
            <a:pPr marL="0" indent="0">
              <a:buNone/>
            </a:pPr>
            <a:r>
              <a:rPr lang="en-US" sz="850" dirty="0">
                <a:solidFill>
                  <a:srgbClr val="1F2A1F"/>
                </a:solidFill>
                <a:latin typeface="Calibri" pitchFamily="34" charset="0"/>
                <a:ea typeface="Calibri" pitchFamily="34" charset="-122"/>
                <a:cs typeface="Calibri" pitchFamily="34" charset="-120"/>
              </a:rPr>
              <a:t>Das Thema bestätigen, damit die Arbeit mit dem abgestimmten Thema offiziell freigegeben wird.</a:t>
            </a:r>
            <a:endParaRPr lang="en-US" sz="850" dirty="0"/>
          </a:p>
        </p:txBody>
      </p:sp>
      <p:sp>
        <p:nvSpPr>
          <p:cNvPr id="17" name="Shape 15"/>
          <p:cNvSpPr/>
          <p:nvPr/>
        </p:nvSpPr>
        <p:spPr>
          <a:xfrm>
            <a:off x="548640" y="2615184"/>
            <a:ext cx="3831336" cy="914"/>
          </a:xfrm>
          <a:prstGeom prst="line">
            <a:avLst/>
          </a:prstGeom>
          <a:noFill/>
          <a:ln w="9525">
            <a:solidFill>
              <a:srgbClr val="D9E6CF"/>
            </a:solidFill>
            <a:prstDash val="solid"/>
          </a:ln>
        </p:spPr>
      </p:sp>
      <p:sp>
        <p:nvSpPr>
          <p:cNvPr id="18" name="Text 16"/>
          <p:cNvSpPr txBox="1"/>
          <p:nvPr/>
        </p:nvSpPr>
        <p:spPr>
          <a:xfrm>
            <a:off x="548640" y="2651760"/>
            <a:ext cx="960120" cy="457200"/>
          </a:xfrm>
          <a:prstGeom prst="rect">
            <a:avLst/>
          </a:prstGeom>
          <a:noFill/>
          <a:ln/>
        </p:spPr>
        <p:txBody>
          <a:bodyPr wrap="square" lIns="0" tIns="0" rIns="0" bIns="0" rtlCol="0" anchor="t"/>
          <a:lstStyle/>
          <a:p>
            <a:pPr marL="0" indent="0">
              <a:buNone/>
            </a:pPr>
            <a:r>
              <a:rPr lang="en-US" sz="850" b="1" dirty="0">
                <a:solidFill>
                  <a:srgbClr val="2C5F2D"/>
                </a:solidFill>
                <a:latin typeface="Calibri" pitchFamily="34" charset="0"/>
                <a:ea typeface="Calibri" pitchFamily="34" charset="-122"/>
                <a:cs typeface="Calibri" pitchFamily="34" charset="-120"/>
              </a:rPr>
              <a:t>Aufgaben</a:t>
            </a:r>
            <a:endParaRPr lang="en-US" sz="850" dirty="0"/>
          </a:p>
        </p:txBody>
      </p:sp>
      <p:sp>
        <p:nvSpPr>
          <p:cNvPr id="19" name="Text 17"/>
          <p:cNvSpPr txBox="1"/>
          <p:nvPr/>
        </p:nvSpPr>
        <p:spPr>
          <a:xfrm>
            <a:off x="1527048" y="2651760"/>
            <a:ext cx="2852928" cy="457200"/>
          </a:xfrm>
          <a:prstGeom prst="rect">
            <a:avLst/>
          </a:prstGeom>
          <a:noFill/>
          <a:ln/>
        </p:spPr>
        <p:txBody>
          <a:bodyPr wrap="square" lIns="0" tIns="0" rIns="0" bIns="0" rtlCol="0" anchor="t"/>
          <a:lstStyle/>
          <a:p>
            <a:pPr marL="0" indent="0">
              <a:buNone/>
            </a:pPr>
            <a:r>
              <a:rPr lang="en-US" sz="850" dirty="0">
                <a:solidFill>
                  <a:srgbClr val="1F2A1F"/>
                </a:solidFill>
                <a:latin typeface="Calibri" pitchFamily="34" charset="0"/>
                <a:ea typeface="Calibri" pitchFamily="34" charset="-122"/>
                <a:cs typeface="Calibri" pitchFamily="34" charset="-120"/>
              </a:rPr>
              <a:t>Antrag aufrufen, Thema prüfen, Thema bestätigen und freigeben.</a:t>
            </a:r>
            <a:endParaRPr lang="en-US" sz="850" dirty="0"/>
          </a:p>
        </p:txBody>
      </p:sp>
      <p:sp>
        <p:nvSpPr>
          <p:cNvPr id="20" name="Shape 18"/>
          <p:cNvSpPr/>
          <p:nvPr/>
        </p:nvSpPr>
        <p:spPr>
          <a:xfrm>
            <a:off x="548640" y="3118104"/>
            <a:ext cx="3831336" cy="914"/>
          </a:xfrm>
          <a:prstGeom prst="line">
            <a:avLst/>
          </a:prstGeom>
          <a:noFill/>
          <a:ln w="9525">
            <a:solidFill>
              <a:srgbClr val="D9E6CF"/>
            </a:solidFill>
            <a:prstDash val="solid"/>
          </a:ln>
        </p:spPr>
      </p:sp>
      <p:sp>
        <p:nvSpPr>
          <p:cNvPr id="21" name="Text 19"/>
          <p:cNvSpPr txBox="1"/>
          <p:nvPr/>
        </p:nvSpPr>
        <p:spPr>
          <a:xfrm>
            <a:off x="548640" y="3154680"/>
            <a:ext cx="960120" cy="457200"/>
          </a:xfrm>
          <a:prstGeom prst="rect">
            <a:avLst/>
          </a:prstGeom>
          <a:noFill/>
          <a:ln/>
        </p:spPr>
        <p:txBody>
          <a:bodyPr wrap="square" lIns="0" tIns="0" rIns="0" bIns="0" rtlCol="0" anchor="t"/>
          <a:lstStyle/>
          <a:p>
            <a:pPr marL="0" indent="0">
              <a:buNone/>
            </a:pPr>
            <a:r>
              <a:rPr lang="en-US" sz="850" b="1" dirty="0">
                <a:solidFill>
                  <a:srgbClr val="2C5F2D"/>
                </a:solidFill>
                <a:latin typeface="Calibri" pitchFamily="34" charset="0"/>
                <a:ea typeface="Calibri" pitchFamily="34" charset="-122"/>
                <a:cs typeface="Calibri" pitchFamily="34" charset="-120"/>
              </a:rPr>
              <a:t>Erwartungen</a:t>
            </a:r>
            <a:endParaRPr lang="en-US" sz="850" dirty="0"/>
          </a:p>
        </p:txBody>
      </p:sp>
      <p:sp>
        <p:nvSpPr>
          <p:cNvPr id="22" name="Text 20"/>
          <p:cNvSpPr txBox="1"/>
          <p:nvPr/>
        </p:nvSpPr>
        <p:spPr>
          <a:xfrm>
            <a:off x="1527048" y="3154680"/>
            <a:ext cx="2852928" cy="457200"/>
          </a:xfrm>
          <a:prstGeom prst="rect">
            <a:avLst/>
          </a:prstGeom>
          <a:noFill/>
          <a:ln/>
        </p:spPr>
        <p:txBody>
          <a:bodyPr wrap="square" lIns="0" tIns="0" rIns="0" bIns="0" rtlCol="0" anchor="t"/>
          <a:lstStyle/>
          <a:p>
            <a:pPr marL="0" indent="0">
              <a:buNone/>
            </a:pPr>
            <a:r>
              <a:rPr lang="en-US" sz="850" dirty="0">
                <a:solidFill>
                  <a:srgbClr val="1F2A1F"/>
                </a:solidFill>
                <a:latin typeface="Calibri" pitchFamily="34" charset="0"/>
                <a:ea typeface="Calibri" pitchFamily="34" charset="-122"/>
                <a:cs typeface="Calibri" pitchFamily="34" charset="-120"/>
              </a:rPr>
              <a:t>Thema eindeutig einem Antrag zugeordnet. Freigabe ohne Papierformular, am Desktop und am Smartphone.</a:t>
            </a:r>
            <a:endParaRPr lang="en-US" sz="850" dirty="0"/>
          </a:p>
        </p:txBody>
      </p:sp>
      <p:sp>
        <p:nvSpPr>
          <p:cNvPr id="23" name="Shape 21"/>
          <p:cNvSpPr/>
          <p:nvPr/>
        </p:nvSpPr>
        <p:spPr>
          <a:xfrm>
            <a:off x="548640" y="3621024"/>
            <a:ext cx="3831336" cy="914"/>
          </a:xfrm>
          <a:prstGeom prst="line">
            <a:avLst/>
          </a:prstGeom>
          <a:noFill/>
          <a:ln w="9525">
            <a:solidFill>
              <a:srgbClr val="D9E6CF"/>
            </a:solidFill>
            <a:prstDash val="solid"/>
          </a:ln>
        </p:spPr>
      </p:sp>
      <p:sp>
        <p:nvSpPr>
          <p:cNvPr id="24" name="Text 22"/>
          <p:cNvSpPr txBox="1"/>
          <p:nvPr/>
        </p:nvSpPr>
        <p:spPr>
          <a:xfrm>
            <a:off x="548640" y="3657600"/>
            <a:ext cx="960120" cy="457200"/>
          </a:xfrm>
          <a:prstGeom prst="rect">
            <a:avLst/>
          </a:prstGeom>
          <a:noFill/>
          <a:ln/>
        </p:spPr>
        <p:txBody>
          <a:bodyPr wrap="square" lIns="0" tIns="0" rIns="0" bIns="0" rtlCol="0" anchor="t"/>
          <a:lstStyle/>
          <a:p>
            <a:pPr marL="0" indent="0">
              <a:buNone/>
            </a:pPr>
            <a:r>
              <a:rPr lang="en-US" sz="850" b="1" dirty="0">
                <a:solidFill>
                  <a:srgbClr val="2C5F2D"/>
                </a:solidFill>
                <a:latin typeface="Calibri" pitchFamily="34" charset="0"/>
                <a:ea typeface="Calibri" pitchFamily="34" charset="-122"/>
                <a:cs typeface="Calibri" pitchFamily="34" charset="-120"/>
              </a:rPr>
              <a:t>Pain Points</a:t>
            </a:r>
            <a:endParaRPr lang="en-US" sz="850" dirty="0"/>
          </a:p>
        </p:txBody>
      </p:sp>
      <p:sp>
        <p:nvSpPr>
          <p:cNvPr id="25" name="Text 23"/>
          <p:cNvSpPr txBox="1"/>
          <p:nvPr/>
        </p:nvSpPr>
        <p:spPr>
          <a:xfrm>
            <a:off x="1527048" y="3657600"/>
            <a:ext cx="2852928" cy="457200"/>
          </a:xfrm>
          <a:prstGeom prst="rect">
            <a:avLst/>
          </a:prstGeom>
          <a:noFill/>
          <a:ln/>
        </p:spPr>
        <p:txBody>
          <a:bodyPr wrap="square" lIns="0" tIns="0" rIns="0" bIns="0" rtlCol="0" anchor="t"/>
          <a:lstStyle/>
          <a:p>
            <a:pPr marL="0" indent="0">
              <a:buNone/>
            </a:pPr>
            <a:r>
              <a:rPr lang="en-US" sz="850" dirty="0">
                <a:solidFill>
                  <a:srgbClr val="1F2A1F"/>
                </a:solidFill>
                <a:latin typeface="Calibri" pitchFamily="34" charset="0"/>
                <a:ea typeface="Calibri" pitchFamily="34" charset="-122"/>
                <a:cs typeface="Calibri" pitchFamily="34" charset="-120"/>
              </a:rPr>
              <a:t>Heute: unteren Formularteil ausfüllen, unterschreiben und per E-Mail an das Dekanat senden.</a:t>
            </a:r>
            <a:endParaRPr lang="en-US" sz="850" dirty="0"/>
          </a:p>
        </p:txBody>
      </p:sp>
      <p:sp>
        <p:nvSpPr>
          <p:cNvPr id="26" name="Shape 24"/>
          <p:cNvSpPr/>
          <p:nvPr/>
        </p:nvSpPr>
        <p:spPr>
          <a:xfrm>
            <a:off x="548640" y="4123944"/>
            <a:ext cx="3831336" cy="914"/>
          </a:xfrm>
          <a:prstGeom prst="line">
            <a:avLst/>
          </a:prstGeom>
          <a:noFill/>
          <a:ln w="9525">
            <a:solidFill>
              <a:srgbClr val="D9E6CF"/>
            </a:solidFill>
            <a:prstDash val="solid"/>
          </a:ln>
        </p:spPr>
      </p:sp>
      <p:sp>
        <p:nvSpPr>
          <p:cNvPr id="27" name="Text 25"/>
          <p:cNvSpPr txBox="1"/>
          <p:nvPr/>
        </p:nvSpPr>
        <p:spPr>
          <a:xfrm>
            <a:off x="548640" y="4160520"/>
            <a:ext cx="960120" cy="457200"/>
          </a:xfrm>
          <a:prstGeom prst="rect">
            <a:avLst/>
          </a:prstGeom>
          <a:noFill/>
          <a:ln/>
        </p:spPr>
        <p:txBody>
          <a:bodyPr wrap="square" lIns="0" tIns="0" rIns="0" bIns="0" rtlCol="0" anchor="t"/>
          <a:lstStyle/>
          <a:p>
            <a:pPr marL="0" indent="0">
              <a:buNone/>
            </a:pPr>
            <a:r>
              <a:rPr lang="en-US" sz="850" b="1" dirty="0">
                <a:solidFill>
                  <a:srgbClr val="2C5F2D"/>
                </a:solidFill>
                <a:latin typeface="Calibri" pitchFamily="34" charset="0"/>
                <a:ea typeface="Calibri" pitchFamily="34" charset="-122"/>
                <a:cs typeface="Calibri" pitchFamily="34" charset="-120"/>
              </a:rPr>
              <a:t>Wissen</a:t>
            </a:r>
            <a:endParaRPr lang="en-US" sz="850" dirty="0"/>
          </a:p>
        </p:txBody>
      </p:sp>
      <p:sp>
        <p:nvSpPr>
          <p:cNvPr id="28" name="Text 26"/>
          <p:cNvSpPr txBox="1"/>
          <p:nvPr/>
        </p:nvSpPr>
        <p:spPr>
          <a:xfrm>
            <a:off x="1527048" y="4160520"/>
            <a:ext cx="2852928" cy="457200"/>
          </a:xfrm>
          <a:prstGeom prst="rect">
            <a:avLst/>
          </a:prstGeom>
          <a:noFill/>
          <a:ln/>
        </p:spPr>
        <p:txBody>
          <a:bodyPr wrap="square" lIns="0" tIns="0" rIns="0" bIns="0" rtlCol="0" anchor="t"/>
          <a:lstStyle/>
          <a:p>
            <a:pPr marL="0" indent="0">
              <a:buNone/>
            </a:pPr>
            <a:r>
              <a:rPr lang="en-US" sz="850" dirty="0">
                <a:solidFill>
                  <a:srgbClr val="1F2A1F"/>
                </a:solidFill>
                <a:latin typeface="Calibri" pitchFamily="34" charset="0"/>
                <a:ea typeface="Calibri" pitchFamily="34" charset="-122"/>
                <a:cs typeface="Calibri" pitchFamily="34" charset="-120"/>
              </a:rPr>
              <a:t>Kennt Prüfungsordnung und Ablauf. Erfahrung mit dem Portal: noch zu validieren.</a:t>
            </a:r>
            <a:endParaRPr lang="en-US" sz="850" dirty="0"/>
          </a:p>
        </p:txBody>
      </p:sp>
      <p:sp>
        <p:nvSpPr>
          <p:cNvPr id="29" name="Shape 27"/>
          <p:cNvSpPr/>
          <p:nvPr/>
        </p:nvSpPr>
        <p:spPr>
          <a:xfrm>
            <a:off x="4626864" y="987552"/>
            <a:ext cx="4105656" cy="3721608"/>
          </a:xfrm>
          <a:prstGeom prst="roundRect">
            <a:avLst>
              <a:gd name="adj" fmla="val 1966"/>
            </a:avLst>
          </a:prstGeom>
          <a:solidFill>
            <a:srgbClr val="EEF4E8"/>
          </a:solidFill>
          <a:ln w="12700">
            <a:solidFill>
              <a:srgbClr val="EEF4E8"/>
            </a:solidFill>
            <a:prstDash val="solid"/>
          </a:ln>
        </p:spPr>
      </p:sp>
      <p:sp>
        <p:nvSpPr>
          <p:cNvPr id="30" name="Shape 28"/>
          <p:cNvSpPr/>
          <p:nvPr/>
        </p:nvSpPr>
        <p:spPr>
          <a:xfrm>
            <a:off x="4626864" y="987552"/>
            <a:ext cx="4105656" cy="566928"/>
          </a:xfrm>
          <a:prstGeom prst="roundRect">
            <a:avLst>
              <a:gd name="adj" fmla="val 12903"/>
            </a:avLst>
          </a:prstGeom>
          <a:solidFill>
            <a:srgbClr val="2C5F2D"/>
          </a:solidFill>
          <a:ln w="12700">
            <a:solidFill>
              <a:srgbClr val="2C5F2D"/>
            </a:solidFill>
            <a:prstDash val="solid"/>
          </a:ln>
        </p:spPr>
      </p:sp>
      <p:sp>
        <p:nvSpPr>
          <p:cNvPr id="31" name="Shape 29"/>
          <p:cNvSpPr/>
          <p:nvPr/>
        </p:nvSpPr>
        <p:spPr>
          <a:xfrm>
            <a:off x="4626864" y="1261872"/>
            <a:ext cx="4105656" cy="292608"/>
          </a:xfrm>
          <a:prstGeom prst="rect">
            <a:avLst/>
          </a:prstGeom>
          <a:solidFill>
            <a:srgbClr val="2C5F2D"/>
          </a:solidFill>
          <a:ln w="9525">
            <a:solidFill>
              <a:srgbClr val="2C5F2D"/>
            </a:solidFill>
            <a:prstDash val="solid"/>
          </a:ln>
        </p:spPr>
      </p:sp>
      <p:sp>
        <p:nvSpPr>
          <p:cNvPr id="32" name="Text 30"/>
          <p:cNvSpPr txBox="1"/>
          <p:nvPr/>
        </p:nvSpPr>
        <p:spPr>
          <a:xfrm>
            <a:off x="4764024" y="1024128"/>
            <a:ext cx="3831336" cy="292608"/>
          </a:xfrm>
          <a:prstGeom prst="rect">
            <a:avLst/>
          </a:prstGeom>
          <a:noFill/>
          <a:ln/>
        </p:spPr>
        <p:txBody>
          <a:bodyPr wrap="square" lIns="0" tIns="0" rIns="0" bIns="0"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Moritz Hoffmann</a:t>
            </a:r>
            <a:endParaRPr lang="en-US" sz="1400" dirty="0"/>
          </a:p>
        </p:txBody>
      </p:sp>
      <p:sp>
        <p:nvSpPr>
          <p:cNvPr id="33" name="Text 31"/>
          <p:cNvSpPr txBox="1"/>
          <p:nvPr/>
        </p:nvSpPr>
        <p:spPr>
          <a:xfrm>
            <a:off x="4764024" y="1298448"/>
            <a:ext cx="3831336" cy="219456"/>
          </a:xfrm>
          <a:prstGeom prst="rect">
            <a:avLst/>
          </a:prstGeom>
          <a:noFill/>
          <a:ln/>
        </p:spPr>
        <p:txBody>
          <a:bodyPr wrap="square" lIns="0" tIns="0" rIns="0" bIns="0" rtlCol="0" anchor="ctr"/>
          <a:lstStyle/>
          <a:p>
            <a:pPr marL="0" indent="0">
              <a:buNone/>
            </a:pPr>
            <a:r>
              <a:rPr lang="en-US" sz="900" dirty="0">
                <a:solidFill>
                  <a:srgbClr val="D9E6CF"/>
                </a:solidFill>
                <a:latin typeface="Calibri" pitchFamily="34" charset="0"/>
                <a:ea typeface="Calibri" pitchFamily="34" charset="-122"/>
                <a:cs typeface="Calibri" pitchFamily="34" charset="-120"/>
              </a:rPr>
              <a:t>Persona A  ·  Studierende:r B.Sc. Wirtschaftsinformatik, betroffene Rolle</a:t>
            </a:r>
            <a:endParaRPr lang="en-US" sz="900" dirty="0"/>
          </a:p>
        </p:txBody>
      </p:sp>
      <p:sp>
        <p:nvSpPr>
          <p:cNvPr id="34" name="Text 32"/>
          <p:cNvSpPr txBox="1"/>
          <p:nvPr/>
        </p:nvSpPr>
        <p:spPr>
          <a:xfrm>
            <a:off x="4764024" y="1645920"/>
            <a:ext cx="960120" cy="457200"/>
          </a:xfrm>
          <a:prstGeom prst="rect">
            <a:avLst/>
          </a:prstGeom>
          <a:noFill/>
          <a:ln/>
        </p:spPr>
        <p:txBody>
          <a:bodyPr wrap="square" lIns="0" tIns="0" rIns="0" bIns="0" rtlCol="0" anchor="t"/>
          <a:lstStyle/>
          <a:p>
            <a:pPr marL="0" indent="0">
              <a:buNone/>
            </a:pPr>
            <a:r>
              <a:rPr lang="en-US" sz="850" b="1" dirty="0">
                <a:solidFill>
                  <a:srgbClr val="2C5F2D"/>
                </a:solidFill>
                <a:latin typeface="Calibri" pitchFamily="34" charset="0"/>
                <a:ea typeface="Calibri" pitchFamily="34" charset="-122"/>
                <a:cs typeface="Calibri" pitchFamily="34" charset="-120"/>
              </a:rPr>
              <a:t>Kontext</a:t>
            </a:r>
            <a:endParaRPr lang="en-US" sz="850" dirty="0"/>
          </a:p>
        </p:txBody>
      </p:sp>
      <p:sp>
        <p:nvSpPr>
          <p:cNvPr id="35" name="Text 33"/>
          <p:cNvSpPr txBox="1"/>
          <p:nvPr/>
        </p:nvSpPr>
        <p:spPr>
          <a:xfrm>
            <a:off x="5742432" y="1645920"/>
            <a:ext cx="2852928" cy="457200"/>
          </a:xfrm>
          <a:prstGeom prst="rect">
            <a:avLst/>
          </a:prstGeom>
          <a:noFill/>
          <a:ln/>
        </p:spPr>
        <p:txBody>
          <a:bodyPr wrap="square" lIns="0" tIns="0" rIns="0" bIns="0" rtlCol="0" anchor="t"/>
          <a:lstStyle/>
          <a:p>
            <a:pPr marL="0" indent="0">
              <a:buNone/>
            </a:pPr>
            <a:r>
              <a:rPr lang="en-US" sz="850" dirty="0">
                <a:solidFill>
                  <a:srgbClr val="1F2A1F"/>
                </a:solidFill>
                <a:latin typeface="Calibri" pitchFamily="34" charset="0"/>
                <a:ea typeface="Calibri" pitchFamily="34" charset="-122"/>
                <a:cs typeface="Calibri" pitchFamily="34" charset="-120"/>
              </a:rPr>
              <a:t>Erste Abschlussarbeit. Hat das Thema mit der Erstprüfer:in abgestimmt und den Antrag eingereicht.</a:t>
            </a:r>
            <a:endParaRPr lang="en-US" sz="850" dirty="0"/>
          </a:p>
        </p:txBody>
      </p:sp>
      <p:sp>
        <p:nvSpPr>
          <p:cNvPr id="36" name="Shape 34"/>
          <p:cNvSpPr/>
          <p:nvPr/>
        </p:nvSpPr>
        <p:spPr>
          <a:xfrm>
            <a:off x="4764024" y="2112264"/>
            <a:ext cx="3831336" cy="914"/>
          </a:xfrm>
          <a:prstGeom prst="line">
            <a:avLst/>
          </a:prstGeom>
          <a:noFill/>
          <a:ln w="9525">
            <a:solidFill>
              <a:srgbClr val="D9E6CF"/>
            </a:solidFill>
            <a:prstDash val="solid"/>
          </a:ln>
        </p:spPr>
      </p:sp>
      <p:sp>
        <p:nvSpPr>
          <p:cNvPr id="37" name="Text 35"/>
          <p:cNvSpPr txBox="1"/>
          <p:nvPr/>
        </p:nvSpPr>
        <p:spPr>
          <a:xfrm>
            <a:off x="4764024" y="2148840"/>
            <a:ext cx="960120" cy="457200"/>
          </a:xfrm>
          <a:prstGeom prst="rect">
            <a:avLst/>
          </a:prstGeom>
          <a:noFill/>
          <a:ln/>
        </p:spPr>
        <p:txBody>
          <a:bodyPr wrap="square" lIns="0" tIns="0" rIns="0" bIns="0" rtlCol="0" anchor="t"/>
          <a:lstStyle/>
          <a:p>
            <a:pPr marL="0" indent="0">
              <a:buNone/>
            </a:pPr>
            <a:r>
              <a:rPr lang="en-US" sz="850" b="1" dirty="0">
                <a:solidFill>
                  <a:srgbClr val="2C5F2D"/>
                </a:solidFill>
                <a:latin typeface="Calibri" pitchFamily="34" charset="0"/>
                <a:ea typeface="Calibri" pitchFamily="34" charset="-122"/>
                <a:cs typeface="Calibri" pitchFamily="34" charset="-120"/>
              </a:rPr>
              <a:t>Ziel</a:t>
            </a:r>
            <a:endParaRPr lang="en-US" sz="850" dirty="0"/>
          </a:p>
        </p:txBody>
      </p:sp>
      <p:sp>
        <p:nvSpPr>
          <p:cNvPr id="38" name="Text 36"/>
          <p:cNvSpPr txBox="1"/>
          <p:nvPr/>
        </p:nvSpPr>
        <p:spPr>
          <a:xfrm>
            <a:off x="5742432" y="2148840"/>
            <a:ext cx="2852928" cy="457200"/>
          </a:xfrm>
          <a:prstGeom prst="rect">
            <a:avLst/>
          </a:prstGeom>
          <a:noFill/>
          <a:ln/>
        </p:spPr>
        <p:txBody>
          <a:bodyPr wrap="square" lIns="0" tIns="0" rIns="0" bIns="0" rtlCol="0" anchor="t"/>
          <a:lstStyle/>
          <a:p>
            <a:pPr marL="0" indent="0">
              <a:buNone/>
            </a:pPr>
            <a:r>
              <a:rPr lang="en-US" sz="850" dirty="0">
                <a:solidFill>
                  <a:srgbClr val="1F2A1F"/>
                </a:solidFill>
                <a:latin typeface="Calibri" pitchFamily="34" charset="0"/>
                <a:ea typeface="Calibri" pitchFamily="34" charset="-122"/>
                <a:cs typeface="Calibri" pitchFamily="34" charset="-120"/>
              </a:rPr>
              <a:t>Thema und Bearbeitungsfrist verbindlich kennen und mit der Arbeit beginnen.</a:t>
            </a:r>
            <a:endParaRPr lang="en-US" sz="850" dirty="0"/>
          </a:p>
        </p:txBody>
      </p:sp>
      <p:sp>
        <p:nvSpPr>
          <p:cNvPr id="39" name="Shape 37"/>
          <p:cNvSpPr/>
          <p:nvPr/>
        </p:nvSpPr>
        <p:spPr>
          <a:xfrm>
            <a:off x="4764024" y="2615184"/>
            <a:ext cx="3831336" cy="914"/>
          </a:xfrm>
          <a:prstGeom prst="line">
            <a:avLst/>
          </a:prstGeom>
          <a:noFill/>
          <a:ln w="9525">
            <a:solidFill>
              <a:srgbClr val="D9E6CF"/>
            </a:solidFill>
            <a:prstDash val="solid"/>
          </a:ln>
        </p:spPr>
      </p:sp>
      <p:sp>
        <p:nvSpPr>
          <p:cNvPr id="40" name="Text 38"/>
          <p:cNvSpPr txBox="1"/>
          <p:nvPr/>
        </p:nvSpPr>
        <p:spPr>
          <a:xfrm>
            <a:off x="4764024" y="2651760"/>
            <a:ext cx="960120" cy="457200"/>
          </a:xfrm>
          <a:prstGeom prst="rect">
            <a:avLst/>
          </a:prstGeom>
          <a:noFill/>
          <a:ln/>
        </p:spPr>
        <p:txBody>
          <a:bodyPr wrap="square" lIns="0" tIns="0" rIns="0" bIns="0" rtlCol="0" anchor="t"/>
          <a:lstStyle/>
          <a:p>
            <a:pPr marL="0" indent="0">
              <a:buNone/>
            </a:pPr>
            <a:r>
              <a:rPr lang="en-US" sz="850" b="1" dirty="0">
                <a:solidFill>
                  <a:srgbClr val="2C5F2D"/>
                </a:solidFill>
                <a:latin typeface="Calibri" pitchFamily="34" charset="0"/>
                <a:ea typeface="Calibri" pitchFamily="34" charset="-122"/>
                <a:cs typeface="Calibri" pitchFamily="34" charset="-120"/>
              </a:rPr>
              <a:t>Aufgaben</a:t>
            </a:r>
            <a:endParaRPr lang="en-US" sz="850" dirty="0"/>
          </a:p>
        </p:txBody>
      </p:sp>
      <p:sp>
        <p:nvSpPr>
          <p:cNvPr id="41" name="Text 39"/>
          <p:cNvSpPr txBox="1"/>
          <p:nvPr/>
        </p:nvSpPr>
        <p:spPr>
          <a:xfrm>
            <a:off x="5742432" y="2651760"/>
            <a:ext cx="2852928" cy="457200"/>
          </a:xfrm>
          <a:prstGeom prst="rect">
            <a:avLst/>
          </a:prstGeom>
          <a:noFill/>
          <a:ln/>
        </p:spPr>
        <p:txBody>
          <a:bodyPr wrap="square" lIns="0" tIns="0" rIns="0" bIns="0" rtlCol="0" anchor="t"/>
          <a:lstStyle/>
          <a:p>
            <a:pPr marL="0" indent="0">
              <a:buNone/>
            </a:pPr>
            <a:r>
              <a:rPr lang="en-US" sz="850" dirty="0">
                <a:solidFill>
                  <a:srgbClr val="1F2A1F"/>
                </a:solidFill>
                <a:latin typeface="Calibri" pitchFamily="34" charset="0"/>
                <a:ea typeface="Calibri" pitchFamily="34" charset="-122"/>
                <a:cs typeface="Calibri" pitchFamily="34" charset="-120"/>
              </a:rPr>
              <a:t>In dieser Story keine eigene Aktion. Wartet auf die Themenfreigabe.</a:t>
            </a:r>
            <a:endParaRPr lang="en-US" sz="850" dirty="0"/>
          </a:p>
        </p:txBody>
      </p:sp>
      <p:sp>
        <p:nvSpPr>
          <p:cNvPr id="42" name="Shape 40"/>
          <p:cNvSpPr/>
          <p:nvPr/>
        </p:nvSpPr>
        <p:spPr>
          <a:xfrm>
            <a:off x="4764024" y="3118104"/>
            <a:ext cx="3831336" cy="914"/>
          </a:xfrm>
          <a:prstGeom prst="line">
            <a:avLst/>
          </a:prstGeom>
          <a:noFill/>
          <a:ln w="9525">
            <a:solidFill>
              <a:srgbClr val="D9E6CF"/>
            </a:solidFill>
            <a:prstDash val="solid"/>
          </a:ln>
        </p:spPr>
      </p:sp>
      <p:sp>
        <p:nvSpPr>
          <p:cNvPr id="43" name="Text 41"/>
          <p:cNvSpPr txBox="1"/>
          <p:nvPr/>
        </p:nvSpPr>
        <p:spPr>
          <a:xfrm>
            <a:off x="4764024" y="3154680"/>
            <a:ext cx="960120" cy="457200"/>
          </a:xfrm>
          <a:prstGeom prst="rect">
            <a:avLst/>
          </a:prstGeom>
          <a:noFill/>
          <a:ln/>
        </p:spPr>
        <p:txBody>
          <a:bodyPr wrap="square" lIns="0" tIns="0" rIns="0" bIns="0" rtlCol="0" anchor="t"/>
          <a:lstStyle/>
          <a:p>
            <a:pPr marL="0" indent="0">
              <a:buNone/>
            </a:pPr>
            <a:r>
              <a:rPr lang="en-US" sz="850" b="1" dirty="0">
                <a:solidFill>
                  <a:srgbClr val="2C5F2D"/>
                </a:solidFill>
                <a:latin typeface="Calibri" pitchFamily="34" charset="0"/>
                <a:ea typeface="Calibri" pitchFamily="34" charset="-122"/>
                <a:cs typeface="Calibri" pitchFamily="34" charset="-120"/>
              </a:rPr>
              <a:t>Erwartungen</a:t>
            </a:r>
            <a:endParaRPr lang="en-US" sz="850" dirty="0"/>
          </a:p>
        </p:txBody>
      </p:sp>
      <p:sp>
        <p:nvSpPr>
          <p:cNvPr id="44" name="Text 42"/>
          <p:cNvSpPr txBox="1"/>
          <p:nvPr/>
        </p:nvSpPr>
        <p:spPr>
          <a:xfrm>
            <a:off x="5742432" y="3154680"/>
            <a:ext cx="2852928" cy="457200"/>
          </a:xfrm>
          <a:prstGeom prst="rect">
            <a:avLst/>
          </a:prstGeom>
          <a:noFill/>
          <a:ln/>
        </p:spPr>
        <p:txBody>
          <a:bodyPr wrap="square" lIns="0" tIns="0" rIns="0" bIns="0" rtlCol="0" anchor="t"/>
          <a:lstStyle/>
          <a:p>
            <a:pPr marL="0" indent="0">
              <a:buNone/>
            </a:pPr>
            <a:r>
              <a:rPr lang="en-US" sz="850" dirty="0">
                <a:solidFill>
                  <a:srgbClr val="1F2A1F"/>
                </a:solidFill>
                <a:latin typeface="Calibri" pitchFamily="34" charset="0"/>
                <a:ea typeface="Calibri" pitchFamily="34" charset="-122"/>
                <a:cs typeface="Calibri" pitchFamily="34" charset="-120"/>
              </a:rPr>
              <a:t>Bearbeitungsstand des Antrags jederzeit sehen. Über die Ausgabe des Themas informiert werden.</a:t>
            </a:r>
            <a:endParaRPr lang="en-US" sz="850" dirty="0"/>
          </a:p>
        </p:txBody>
      </p:sp>
      <p:sp>
        <p:nvSpPr>
          <p:cNvPr id="45" name="Shape 43"/>
          <p:cNvSpPr/>
          <p:nvPr/>
        </p:nvSpPr>
        <p:spPr>
          <a:xfrm>
            <a:off x="4764024" y="3621024"/>
            <a:ext cx="3831336" cy="914"/>
          </a:xfrm>
          <a:prstGeom prst="line">
            <a:avLst/>
          </a:prstGeom>
          <a:noFill/>
          <a:ln w="9525">
            <a:solidFill>
              <a:srgbClr val="D9E6CF"/>
            </a:solidFill>
            <a:prstDash val="solid"/>
          </a:ln>
        </p:spPr>
      </p:sp>
      <p:sp>
        <p:nvSpPr>
          <p:cNvPr id="46" name="Text 44"/>
          <p:cNvSpPr txBox="1"/>
          <p:nvPr/>
        </p:nvSpPr>
        <p:spPr>
          <a:xfrm>
            <a:off x="4764024" y="3657600"/>
            <a:ext cx="960120" cy="457200"/>
          </a:xfrm>
          <a:prstGeom prst="rect">
            <a:avLst/>
          </a:prstGeom>
          <a:noFill/>
          <a:ln/>
        </p:spPr>
        <p:txBody>
          <a:bodyPr wrap="square" lIns="0" tIns="0" rIns="0" bIns="0" rtlCol="0" anchor="t"/>
          <a:lstStyle/>
          <a:p>
            <a:pPr marL="0" indent="0">
              <a:buNone/>
            </a:pPr>
            <a:r>
              <a:rPr lang="en-US" sz="850" b="1" dirty="0">
                <a:solidFill>
                  <a:srgbClr val="2C5F2D"/>
                </a:solidFill>
                <a:latin typeface="Calibri" pitchFamily="34" charset="0"/>
                <a:ea typeface="Calibri" pitchFamily="34" charset="-122"/>
                <a:cs typeface="Calibri" pitchFamily="34" charset="-120"/>
              </a:rPr>
              <a:t>Pain Points</a:t>
            </a:r>
            <a:endParaRPr lang="en-US" sz="850" dirty="0"/>
          </a:p>
        </p:txBody>
      </p:sp>
      <p:sp>
        <p:nvSpPr>
          <p:cNvPr id="47" name="Text 45"/>
          <p:cNvSpPr txBox="1"/>
          <p:nvPr/>
        </p:nvSpPr>
        <p:spPr>
          <a:xfrm>
            <a:off x="5742432" y="3657600"/>
            <a:ext cx="2852928" cy="457200"/>
          </a:xfrm>
          <a:prstGeom prst="rect">
            <a:avLst/>
          </a:prstGeom>
          <a:noFill/>
          <a:ln/>
        </p:spPr>
        <p:txBody>
          <a:bodyPr wrap="square" lIns="0" tIns="0" rIns="0" bIns="0" rtlCol="0" anchor="t"/>
          <a:lstStyle/>
          <a:p>
            <a:pPr marL="0" indent="0">
              <a:buNone/>
            </a:pPr>
            <a:r>
              <a:rPr lang="en-US" sz="850" dirty="0">
                <a:solidFill>
                  <a:srgbClr val="1F2A1F"/>
                </a:solidFill>
                <a:latin typeface="Calibri" pitchFamily="34" charset="0"/>
                <a:ea typeface="Calibri" pitchFamily="34" charset="-122"/>
                <a:cs typeface="Calibri" pitchFamily="34" charset="-120"/>
              </a:rPr>
              <a:t>Heute: wochenlang keine Rückmeldung zum Antrag, unsicher, ob alles vollständig ist.</a:t>
            </a:r>
            <a:endParaRPr lang="en-US" sz="850" dirty="0"/>
          </a:p>
        </p:txBody>
      </p:sp>
      <p:sp>
        <p:nvSpPr>
          <p:cNvPr id="48" name="Shape 46"/>
          <p:cNvSpPr/>
          <p:nvPr/>
        </p:nvSpPr>
        <p:spPr>
          <a:xfrm>
            <a:off x="4764024" y="4123944"/>
            <a:ext cx="3831336" cy="914"/>
          </a:xfrm>
          <a:prstGeom prst="line">
            <a:avLst/>
          </a:prstGeom>
          <a:noFill/>
          <a:ln w="9525">
            <a:solidFill>
              <a:srgbClr val="D9E6CF"/>
            </a:solidFill>
            <a:prstDash val="solid"/>
          </a:ln>
        </p:spPr>
      </p:sp>
      <p:sp>
        <p:nvSpPr>
          <p:cNvPr id="49" name="Text 47"/>
          <p:cNvSpPr txBox="1"/>
          <p:nvPr/>
        </p:nvSpPr>
        <p:spPr>
          <a:xfrm>
            <a:off x="4764024" y="4160520"/>
            <a:ext cx="960120" cy="457200"/>
          </a:xfrm>
          <a:prstGeom prst="rect">
            <a:avLst/>
          </a:prstGeom>
          <a:noFill/>
          <a:ln/>
        </p:spPr>
        <p:txBody>
          <a:bodyPr wrap="square" lIns="0" tIns="0" rIns="0" bIns="0" rtlCol="0" anchor="t"/>
          <a:lstStyle/>
          <a:p>
            <a:pPr marL="0" indent="0">
              <a:buNone/>
            </a:pPr>
            <a:r>
              <a:rPr lang="en-US" sz="850" b="1" dirty="0">
                <a:solidFill>
                  <a:srgbClr val="2C5F2D"/>
                </a:solidFill>
                <a:latin typeface="Calibri" pitchFamily="34" charset="0"/>
                <a:ea typeface="Calibri" pitchFamily="34" charset="-122"/>
                <a:cs typeface="Calibri" pitchFamily="34" charset="-120"/>
              </a:rPr>
              <a:t>Wissen</a:t>
            </a:r>
            <a:endParaRPr lang="en-US" sz="850" dirty="0"/>
          </a:p>
        </p:txBody>
      </p:sp>
      <p:sp>
        <p:nvSpPr>
          <p:cNvPr id="50" name="Text 48"/>
          <p:cNvSpPr txBox="1"/>
          <p:nvPr/>
        </p:nvSpPr>
        <p:spPr>
          <a:xfrm>
            <a:off x="5742432" y="4160520"/>
            <a:ext cx="2852928" cy="457200"/>
          </a:xfrm>
          <a:prstGeom prst="rect">
            <a:avLst/>
          </a:prstGeom>
          <a:noFill/>
          <a:ln/>
        </p:spPr>
        <p:txBody>
          <a:bodyPr wrap="square" lIns="0" tIns="0" rIns="0" bIns="0" rtlCol="0" anchor="t"/>
          <a:lstStyle/>
          <a:p>
            <a:pPr marL="0" indent="0">
              <a:buNone/>
            </a:pPr>
            <a:r>
              <a:rPr lang="en-US" sz="850" dirty="0">
                <a:solidFill>
                  <a:srgbClr val="1F2A1F"/>
                </a:solidFill>
                <a:latin typeface="Calibri" pitchFamily="34" charset="0"/>
                <a:ea typeface="Calibri" pitchFamily="34" charset="-122"/>
                <a:cs typeface="Calibri" pitchFamily="34" charset="-120"/>
              </a:rPr>
              <a:t>Unsicher bei Formalien, im Umgang mit digitalen Anwendungen geübt.</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11480" y="201168"/>
            <a:ext cx="5943600" cy="457200"/>
          </a:xfrm>
          <a:prstGeom prst="rect">
            <a:avLst/>
          </a:prstGeom>
          <a:noFill/>
          <a:ln/>
        </p:spPr>
        <p:txBody>
          <a:bodyPr wrap="square" lIns="0" tIns="0" rIns="0" bIns="0" rtlCol="0" anchor="ctr"/>
          <a:lstStyle/>
          <a:p>
            <a:pPr marL="0" indent="0">
              <a:buNone/>
            </a:pPr>
            <a:r>
              <a:rPr lang="en-US" sz="2200" b="1" dirty="0">
                <a:solidFill>
                  <a:srgbClr val="1F2A1F"/>
                </a:solidFill>
                <a:latin typeface="Cambria" pitchFamily="34" charset="0"/>
                <a:ea typeface="Cambria" pitchFamily="34" charset="-122"/>
                <a:cs typeface="Cambria" pitchFamily="34" charset="-120"/>
              </a:rPr>
              <a:t>2. Interface</a:t>
            </a:r>
            <a:endParaRPr lang="en-US" sz="2200" dirty="0"/>
          </a:p>
        </p:txBody>
      </p:sp>
      <p:sp>
        <p:nvSpPr>
          <p:cNvPr id="3" name="Text 1"/>
          <p:cNvSpPr txBox="1"/>
          <p:nvPr/>
        </p:nvSpPr>
        <p:spPr>
          <a:xfrm>
            <a:off x="6035040" y="274320"/>
            <a:ext cx="2697480" cy="274320"/>
          </a:xfrm>
          <a:prstGeom prst="rect">
            <a:avLst/>
          </a:prstGeom>
          <a:noFill/>
          <a:ln/>
        </p:spPr>
        <p:txBody>
          <a:bodyPr wrap="square" lIns="0" tIns="0" rIns="0" bIns="0" rtlCol="0" anchor="ctr"/>
          <a:lstStyle/>
          <a:p>
            <a:pPr marL="0" indent="0" algn="r">
              <a:buNone/>
            </a:pPr>
            <a:r>
              <a:rPr lang="en-US" sz="800" b="1" kern="0" spc="150" dirty="0">
                <a:solidFill>
                  <a:srgbClr val="97BC62"/>
                </a:solidFill>
                <a:latin typeface="Calibri" pitchFamily="34" charset="0"/>
                <a:ea typeface="Calibri" pitchFamily="34" charset="-122"/>
                <a:cs typeface="Calibri" pitchFamily="34" charset="-120"/>
              </a:rPr>
              <a:t>7 DIMENSIONS  ·  2 VON 7</a:t>
            </a:r>
            <a:endParaRPr lang="en-US" sz="800" dirty="0"/>
          </a:p>
        </p:txBody>
      </p:sp>
      <p:sp>
        <p:nvSpPr>
          <p:cNvPr id="4" name="Text 2"/>
          <p:cNvSpPr txBox="1"/>
          <p:nvPr/>
        </p:nvSpPr>
        <p:spPr>
          <a:xfrm>
            <a:off x="411480" y="658368"/>
            <a:ext cx="8321040" cy="201168"/>
          </a:xfrm>
          <a:prstGeom prst="rect">
            <a:avLst/>
          </a:prstGeom>
          <a:noFill/>
          <a:ln/>
        </p:spPr>
        <p:txBody>
          <a:bodyPr wrap="square" lIns="0" tIns="0" rIns="0" bIns="0" rtlCol="0" anchor="t"/>
          <a:lstStyle/>
          <a:p>
            <a:pPr marL="0" indent="0">
              <a:buNone/>
            </a:pPr>
            <a:r>
              <a:rPr lang="en-US" sz="900" dirty="0">
                <a:solidFill>
                  <a:srgbClr val="5C6B5C"/>
                </a:solidFill>
                <a:latin typeface="Calibri" pitchFamily="34" charset="0"/>
                <a:ea typeface="Calibri" pitchFamily="34" charset="-122"/>
                <a:cs typeface="Calibri" pitchFamily="34" charset="-120"/>
              </a:rPr>
              <a:t>US 4.1.1  ·  Erstprüfer:in:  Thema aufrufen  ›  Thema prüfen  ›  Thema bestätigen  ›  Thema freigeben</a:t>
            </a:r>
            <a:endParaRPr lang="en-US" sz="900" dirty="0"/>
          </a:p>
        </p:txBody>
      </p:sp>
      <p:sp>
        <p:nvSpPr>
          <p:cNvPr id="5" name="Text 3"/>
          <p:cNvSpPr txBox="1"/>
          <p:nvPr/>
        </p:nvSpPr>
        <p:spPr>
          <a:xfrm>
            <a:off x="411480" y="4828032"/>
            <a:ext cx="3840480" cy="182880"/>
          </a:xfrm>
          <a:prstGeom prst="rect">
            <a:avLst/>
          </a:prstGeom>
          <a:noFill/>
          <a:ln/>
        </p:spPr>
        <p:txBody>
          <a:bodyPr wrap="square" lIns="0" tIns="0" rIns="0" bIns="0" rtlCol="0" anchor="t"/>
          <a:lstStyle/>
          <a:p>
            <a:pPr marL="0" indent="0">
              <a:buNone/>
            </a:pPr>
            <a:r>
              <a:rPr lang="en-US" sz="750" dirty="0">
                <a:solidFill>
                  <a:srgbClr val="8A968A"/>
                </a:solidFill>
                <a:latin typeface="Calibri" pitchFamily="34" charset="0"/>
                <a:ea typeface="Calibri" pitchFamily="34" charset="-122"/>
                <a:cs typeface="Calibri" pitchFamily="34" charset="-120"/>
              </a:rPr>
              <a:t>ThesisFlow  ·  Requirements Engineering, Gruppe Grün</a:t>
            </a:r>
            <a:endParaRPr lang="en-US" sz="750" dirty="0"/>
          </a:p>
        </p:txBody>
      </p:sp>
      <p:sp>
        <p:nvSpPr>
          <p:cNvPr id="6" name="Text 4"/>
          <p:cNvSpPr txBox="1"/>
          <p:nvPr/>
        </p:nvSpPr>
        <p:spPr>
          <a:xfrm>
            <a:off x="4206240" y="4828032"/>
            <a:ext cx="4526280" cy="182880"/>
          </a:xfrm>
          <a:prstGeom prst="rect">
            <a:avLst/>
          </a:prstGeom>
          <a:noFill/>
          <a:ln/>
        </p:spPr>
        <p:txBody>
          <a:bodyPr wrap="square" lIns="0" tIns="0" rIns="0" bIns="0" rtlCol="0" anchor="t"/>
          <a:lstStyle/>
          <a:p>
            <a:pPr marL="0" indent="0" algn="r">
              <a:buNone/>
            </a:pPr>
            <a:r>
              <a:rPr lang="en-US" sz="750" i="1" dirty="0">
                <a:solidFill>
                  <a:srgbClr val="8A968A"/>
                </a:solidFill>
                <a:latin typeface="Calibri" pitchFamily="34" charset="0"/>
                <a:ea typeface="Calibri" pitchFamily="34" charset="-122"/>
                <a:cs typeface="Calibri" pitchFamily="34" charset="-120"/>
              </a:rPr>
              <a:t>vgl. Praxisteil, D2D Interface: GUI-Design, Dialoglandkarte</a:t>
            </a:r>
            <a:endParaRPr lang="en-US" sz="750" dirty="0"/>
          </a:p>
        </p:txBody>
      </p:sp>
      <p:sp>
        <p:nvSpPr>
          <p:cNvPr id="7" name="Shape 5"/>
          <p:cNvSpPr/>
          <p:nvPr/>
        </p:nvSpPr>
        <p:spPr>
          <a:xfrm>
            <a:off x="411480" y="1005840"/>
            <a:ext cx="8321040" cy="3657600"/>
          </a:xfrm>
          <a:prstGeom prst="roundRect">
            <a:avLst>
              <a:gd name="adj" fmla="val 3000"/>
            </a:avLst>
          </a:prstGeom>
          <a:solidFill>
            <a:srgbClr val="F5F7F4"/>
          </a:solidFill>
          <a:ln w="15875">
            <a:solidFill>
              <a:srgbClr val="8A968A"/>
            </a:solidFill>
            <a:prstDash val="dash"/>
          </a:ln>
        </p:spPr>
      </p:sp>
      <p:sp>
        <p:nvSpPr>
          <p:cNvPr id="8" name="Text 6"/>
          <p:cNvSpPr txBox="1"/>
          <p:nvPr/>
        </p:nvSpPr>
        <p:spPr>
          <a:xfrm>
            <a:off x="411480" y="2331720"/>
            <a:ext cx="8321040" cy="457200"/>
          </a:xfrm>
          <a:prstGeom prst="rect">
            <a:avLst/>
          </a:prstGeom>
          <a:noFill/>
          <a:ln/>
        </p:spPr>
        <p:txBody>
          <a:bodyPr wrap="square" lIns="0" tIns="0" rIns="0" bIns="0" rtlCol="0" anchor="ctr"/>
          <a:lstStyle/>
          <a:p>
            <a:pPr marL="0" indent="0" algn="ctr">
              <a:buNone/>
            </a:pPr>
            <a:r>
              <a:rPr lang="en-US" sz="1800" b="1" dirty="0">
                <a:solidFill>
                  <a:srgbClr val="5C6B5C"/>
                </a:solidFill>
                <a:latin typeface="Cambria" pitchFamily="34" charset="0"/>
                <a:ea typeface="Cambria" pitchFamily="34" charset="-122"/>
                <a:cs typeface="Cambria" pitchFamily="34" charset="-120"/>
              </a:rPr>
              <a:t>Interface-Entwurf wird durch das Projektteam ergänzt.</a:t>
            </a:r>
            <a:endParaRPr lang="en-US" sz="1800" dirty="0"/>
          </a:p>
        </p:txBody>
      </p:sp>
      <p:sp>
        <p:nvSpPr>
          <p:cNvPr id="9" name="Text 7"/>
          <p:cNvSpPr txBox="1"/>
          <p:nvPr/>
        </p:nvSpPr>
        <p:spPr>
          <a:xfrm>
            <a:off x="411480" y="2834640"/>
            <a:ext cx="8321040" cy="320040"/>
          </a:xfrm>
          <a:prstGeom prst="rect">
            <a:avLst/>
          </a:prstGeom>
          <a:noFill/>
          <a:ln/>
        </p:spPr>
        <p:txBody>
          <a:bodyPr wrap="square" lIns="0" tIns="0" rIns="0" bIns="0" rtlCol="0" anchor="ctr"/>
          <a:lstStyle/>
          <a:p>
            <a:pPr marL="0" indent="0" algn="ctr">
              <a:buNone/>
            </a:pPr>
            <a:r>
              <a:rPr lang="en-US" sz="1050" dirty="0">
                <a:solidFill>
                  <a:srgbClr val="8A968A"/>
                </a:solidFill>
                <a:latin typeface="Calibri" pitchFamily="34" charset="0"/>
                <a:ea typeface="Calibri" pitchFamily="34" charset="-122"/>
                <a:cs typeface="Calibri" pitchFamily="34" charset="-120"/>
              </a:rPr>
              <a:t>Platzhalter für den Dialog, in dem die Erstprüfer:in das Thema aufruft, prüft, bestätigt und freigibt.</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11480" y="201168"/>
            <a:ext cx="5943600" cy="457200"/>
          </a:xfrm>
          <a:prstGeom prst="rect">
            <a:avLst/>
          </a:prstGeom>
          <a:noFill/>
          <a:ln/>
        </p:spPr>
        <p:txBody>
          <a:bodyPr wrap="square" lIns="0" tIns="0" rIns="0" bIns="0" rtlCol="0" anchor="ctr"/>
          <a:lstStyle/>
          <a:p>
            <a:pPr marL="0" indent="0">
              <a:buNone/>
            </a:pPr>
            <a:r>
              <a:rPr lang="en-US" sz="2200" b="1" dirty="0">
                <a:solidFill>
                  <a:srgbClr val="1F2A1F"/>
                </a:solidFill>
                <a:latin typeface="Cambria" pitchFamily="34" charset="0"/>
                <a:ea typeface="Cambria" pitchFamily="34" charset="-122"/>
                <a:cs typeface="Cambria" pitchFamily="34" charset="-120"/>
              </a:rPr>
              <a:t>3. Action</a:t>
            </a:r>
            <a:endParaRPr lang="en-US" sz="2200" dirty="0"/>
          </a:p>
        </p:txBody>
      </p:sp>
      <p:sp>
        <p:nvSpPr>
          <p:cNvPr id="3" name="Text 1"/>
          <p:cNvSpPr txBox="1"/>
          <p:nvPr/>
        </p:nvSpPr>
        <p:spPr>
          <a:xfrm>
            <a:off x="6035040" y="274320"/>
            <a:ext cx="2697480" cy="274320"/>
          </a:xfrm>
          <a:prstGeom prst="rect">
            <a:avLst/>
          </a:prstGeom>
          <a:noFill/>
          <a:ln/>
        </p:spPr>
        <p:txBody>
          <a:bodyPr wrap="square" lIns="0" tIns="0" rIns="0" bIns="0" rtlCol="0" anchor="ctr"/>
          <a:lstStyle/>
          <a:p>
            <a:pPr marL="0" indent="0" algn="r">
              <a:buNone/>
            </a:pPr>
            <a:r>
              <a:rPr lang="en-US" sz="800" b="1" kern="0" spc="150" dirty="0">
                <a:solidFill>
                  <a:srgbClr val="97BC62"/>
                </a:solidFill>
                <a:latin typeface="Calibri" pitchFamily="34" charset="0"/>
                <a:ea typeface="Calibri" pitchFamily="34" charset="-122"/>
                <a:cs typeface="Calibri" pitchFamily="34" charset="-120"/>
              </a:rPr>
              <a:t>7 DIMENSIONS  ·  3 VON 7</a:t>
            </a:r>
            <a:endParaRPr lang="en-US" sz="800" dirty="0"/>
          </a:p>
        </p:txBody>
      </p:sp>
      <p:sp>
        <p:nvSpPr>
          <p:cNvPr id="4" name="Text 2"/>
          <p:cNvSpPr txBox="1"/>
          <p:nvPr/>
        </p:nvSpPr>
        <p:spPr>
          <a:xfrm>
            <a:off x="411480" y="658368"/>
            <a:ext cx="8321040" cy="201168"/>
          </a:xfrm>
          <a:prstGeom prst="rect">
            <a:avLst/>
          </a:prstGeom>
          <a:noFill/>
          <a:ln/>
        </p:spPr>
        <p:txBody>
          <a:bodyPr wrap="square" lIns="0" tIns="0" rIns="0" bIns="0" rtlCol="0" anchor="t"/>
          <a:lstStyle/>
          <a:p>
            <a:pPr marL="0" indent="0">
              <a:buNone/>
            </a:pPr>
            <a:r>
              <a:rPr lang="en-US" sz="900" dirty="0">
                <a:solidFill>
                  <a:srgbClr val="5C6B5C"/>
                </a:solidFill>
                <a:latin typeface="Calibri" pitchFamily="34" charset="0"/>
                <a:ea typeface="Calibri" pitchFamily="34" charset="-122"/>
                <a:cs typeface="Calibri" pitchFamily="34" charset="-120"/>
              </a:rPr>
              <a:t>US 4.1.1  ·  Erstprüfer:in:  Thema aufrufen  ›  Thema prüfen  ›  Thema bestätigen  ›  Thema freigeben</a:t>
            </a:r>
            <a:endParaRPr lang="en-US" sz="900" dirty="0"/>
          </a:p>
        </p:txBody>
      </p:sp>
      <p:sp>
        <p:nvSpPr>
          <p:cNvPr id="5" name="Text 3"/>
          <p:cNvSpPr txBox="1"/>
          <p:nvPr/>
        </p:nvSpPr>
        <p:spPr>
          <a:xfrm>
            <a:off x="411480" y="4828032"/>
            <a:ext cx="3840480" cy="182880"/>
          </a:xfrm>
          <a:prstGeom prst="rect">
            <a:avLst/>
          </a:prstGeom>
          <a:noFill/>
          <a:ln/>
        </p:spPr>
        <p:txBody>
          <a:bodyPr wrap="square" lIns="0" tIns="0" rIns="0" bIns="0" rtlCol="0" anchor="t"/>
          <a:lstStyle/>
          <a:p>
            <a:pPr marL="0" indent="0">
              <a:buNone/>
            </a:pPr>
            <a:r>
              <a:rPr lang="en-US" sz="750" dirty="0">
                <a:solidFill>
                  <a:srgbClr val="8A968A"/>
                </a:solidFill>
                <a:latin typeface="Calibri" pitchFamily="34" charset="0"/>
                <a:ea typeface="Calibri" pitchFamily="34" charset="-122"/>
                <a:cs typeface="Calibri" pitchFamily="34" charset="-120"/>
              </a:rPr>
              <a:t>ThesisFlow  ·  Requirements Engineering, Gruppe Grün</a:t>
            </a:r>
            <a:endParaRPr lang="en-US" sz="750" dirty="0"/>
          </a:p>
        </p:txBody>
      </p:sp>
      <p:sp>
        <p:nvSpPr>
          <p:cNvPr id="6" name="Text 4"/>
          <p:cNvSpPr txBox="1"/>
          <p:nvPr/>
        </p:nvSpPr>
        <p:spPr>
          <a:xfrm>
            <a:off x="4206240" y="4828032"/>
            <a:ext cx="4526280" cy="182880"/>
          </a:xfrm>
          <a:prstGeom prst="rect">
            <a:avLst/>
          </a:prstGeom>
          <a:noFill/>
          <a:ln/>
        </p:spPr>
        <p:txBody>
          <a:bodyPr wrap="square" lIns="0" tIns="0" rIns="0" bIns="0" rtlCol="0" anchor="t"/>
          <a:lstStyle/>
          <a:p>
            <a:pPr marL="0" indent="0" algn="r">
              <a:buNone/>
            </a:pPr>
            <a:r>
              <a:rPr lang="en-US" sz="750" i="1" dirty="0">
                <a:solidFill>
                  <a:srgbClr val="8A968A"/>
                </a:solidFill>
                <a:latin typeface="Calibri" pitchFamily="34" charset="0"/>
                <a:ea typeface="Calibri" pitchFamily="34" charset="-122"/>
                <a:cs typeface="Calibri" pitchFamily="34" charset="-120"/>
              </a:rPr>
              <a:t>vgl. Vorlesung RE, Kap. 6 Funktionsperspektive; Darstellung als BPMN</a:t>
            </a:r>
            <a:endParaRPr lang="en-US" sz="750" dirty="0"/>
          </a:p>
        </p:txBody>
      </p:sp>
      <p:sp>
        <p:nvSpPr>
          <p:cNvPr id="7" name="Shape 5"/>
          <p:cNvSpPr/>
          <p:nvPr/>
        </p:nvSpPr>
        <p:spPr>
          <a:xfrm>
            <a:off x="411480" y="987552"/>
            <a:ext cx="8321040" cy="3108960"/>
          </a:xfrm>
          <a:prstGeom prst="rect">
            <a:avLst/>
          </a:prstGeom>
          <a:solidFill>
            <a:srgbClr val="FFFFFF"/>
          </a:solidFill>
          <a:ln w="15875">
            <a:solidFill>
              <a:srgbClr val="1F2A1F"/>
            </a:solidFill>
            <a:prstDash val="solid"/>
          </a:ln>
        </p:spPr>
      </p:sp>
      <p:sp>
        <p:nvSpPr>
          <p:cNvPr id="8" name="Shape 6"/>
          <p:cNvSpPr/>
          <p:nvPr/>
        </p:nvSpPr>
        <p:spPr>
          <a:xfrm>
            <a:off x="411480" y="987552"/>
            <a:ext cx="274320" cy="3108960"/>
          </a:xfrm>
          <a:prstGeom prst="rect">
            <a:avLst/>
          </a:prstGeom>
          <a:solidFill>
            <a:srgbClr val="EEF4E8"/>
          </a:solidFill>
          <a:ln w="15875">
            <a:solidFill>
              <a:srgbClr val="1F2A1F"/>
            </a:solidFill>
            <a:prstDash val="solid"/>
          </a:ln>
        </p:spPr>
      </p:sp>
      <p:sp>
        <p:nvSpPr>
          <p:cNvPr id="9" name="Shape 7"/>
          <p:cNvSpPr/>
          <p:nvPr/>
        </p:nvSpPr>
        <p:spPr>
          <a:xfrm>
            <a:off x="685800" y="987552"/>
            <a:ext cx="274320" cy="1783080"/>
          </a:xfrm>
          <a:prstGeom prst="rect">
            <a:avLst/>
          </a:prstGeom>
          <a:solidFill>
            <a:srgbClr val="EEF4E8"/>
          </a:solidFill>
          <a:ln w="12700">
            <a:solidFill>
              <a:srgbClr val="1F2A1F"/>
            </a:solidFill>
            <a:prstDash val="solid"/>
          </a:ln>
        </p:spPr>
      </p:sp>
      <p:sp>
        <p:nvSpPr>
          <p:cNvPr id="10" name="Shape 8"/>
          <p:cNvSpPr/>
          <p:nvPr/>
        </p:nvSpPr>
        <p:spPr>
          <a:xfrm>
            <a:off x="685800" y="2770632"/>
            <a:ext cx="274320" cy="1325880"/>
          </a:xfrm>
          <a:prstGeom prst="rect">
            <a:avLst/>
          </a:prstGeom>
          <a:solidFill>
            <a:srgbClr val="EEF4E8"/>
          </a:solidFill>
          <a:ln w="12700">
            <a:solidFill>
              <a:srgbClr val="1F2A1F"/>
            </a:solidFill>
            <a:prstDash val="solid"/>
          </a:ln>
        </p:spPr>
      </p:sp>
      <p:sp>
        <p:nvSpPr>
          <p:cNvPr id="11" name="Shape 9"/>
          <p:cNvSpPr/>
          <p:nvPr/>
        </p:nvSpPr>
        <p:spPr>
          <a:xfrm>
            <a:off x="685800" y="2770632"/>
            <a:ext cx="8046720" cy="914"/>
          </a:xfrm>
          <a:prstGeom prst="line">
            <a:avLst/>
          </a:prstGeom>
          <a:noFill/>
          <a:ln w="12700">
            <a:solidFill>
              <a:srgbClr val="1F2A1F"/>
            </a:solidFill>
            <a:prstDash val="solid"/>
          </a:ln>
        </p:spPr>
      </p:sp>
      <p:sp>
        <p:nvSpPr>
          <p:cNvPr id="12" name="Text 10"/>
          <p:cNvSpPr txBox="1"/>
          <p:nvPr/>
        </p:nvSpPr>
        <p:spPr>
          <a:xfrm rot="16200000">
            <a:off x="-1005840" y="2404872"/>
            <a:ext cx="3108960" cy="274320"/>
          </a:xfrm>
          <a:prstGeom prst="rect">
            <a:avLst/>
          </a:prstGeom>
          <a:noFill/>
          <a:ln/>
        </p:spPr>
        <p:txBody>
          <a:bodyPr wrap="square" lIns="0" tIns="0" rIns="0" bIns="0" rtlCol="0" anchor="ctr"/>
          <a:lstStyle/>
          <a:p>
            <a:pPr marL="0" indent="0" algn="ctr">
              <a:buNone/>
            </a:pPr>
            <a:r>
              <a:rPr lang="en-US" sz="900" b="1" dirty="0">
                <a:solidFill>
                  <a:srgbClr val="2C5F2D"/>
                </a:solidFill>
                <a:latin typeface="Calibri" pitchFamily="34" charset="0"/>
                <a:ea typeface="Calibri" pitchFamily="34" charset="-122"/>
                <a:cs typeface="Calibri" pitchFamily="34" charset="-120"/>
              </a:rPr>
              <a:t>ThesisFlow: Themenfreigabe</a:t>
            </a:r>
            <a:endParaRPr lang="en-US" sz="900" dirty="0"/>
          </a:p>
        </p:txBody>
      </p:sp>
      <p:sp>
        <p:nvSpPr>
          <p:cNvPr id="13" name="Text 11"/>
          <p:cNvSpPr txBox="1"/>
          <p:nvPr/>
        </p:nvSpPr>
        <p:spPr>
          <a:xfrm rot="16200000">
            <a:off x="-68580" y="1741932"/>
            <a:ext cx="1783080" cy="274320"/>
          </a:xfrm>
          <a:prstGeom prst="rect">
            <a:avLst/>
          </a:prstGeom>
          <a:noFill/>
          <a:ln/>
        </p:spPr>
        <p:txBody>
          <a:bodyPr wrap="square" lIns="0" tIns="0" rIns="0" bIns="0" rtlCol="0" anchor="ctr"/>
          <a:lstStyle/>
          <a:p>
            <a:pPr marL="0" indent="0" algn="ctr">
              <a:buNone/>
            </a:pPr>
            <a:r>
              <a:rPr lang="en-US" sz="900" dirty="0">
                <a:solidFill>
                  <a:srgbClr val="2C5F2D"/>
                </a:solidFill>
                <a:latin typeface="Calibri" pitchFamily="34" charset="0"/>
                <a:ea typeface="Calibri" pitchFamily="34" charset="-122"/>
                <a:cs typeface="Calibri" pitchFamily="34" charset="-120"/>
              </a:rPr>
              <a:t>Erstprüfer:in</a:t>
            </a:r>
            <a:endParaRPr lang="en-US" sz="900" dirty="0"/>
          </a:p>
        </p:txBody>
      </p:sp>
      <p:sp>
        <p:nvSpPr>
          <p:cNvPr id="14" name="Text 12"/>
          <p:cNvSpPr txBox="1"/>
          <p:nvPr/>
        </p:nvSpPr>
        <p:spPr>
          <a:xfrm rot="16200000">
            <a:off x="160020" y="3296412"/>
            <a:ext cx="1325880" cy="274320"/>
          </a:xfrm>
          <a:prstGeom prst="rect">
            <a:avLst/>
          </a:prstGeom>
          <a:noFill/>
          <a:ln/>
        </p:spPr>
        <p:txBody>
          <a:bodyPr wrap="square" lIns="0" tIns="0" rIns="0" bIns="0" rtlCol="0" anchor="ctr"/>
          <a:lstStyle/>
          <a:p>
            <a:pPr marL="0" indent="0" algn="ctr">
              <a:buNone/>
            </a:pPr>
            <a:r>
              <a:rPr lang="en-US" sz="900" dirty="0">
                <a:solidFill>
                  <a:srgbClr val="2C5F2D"/>
                </a:solidFill>
                <a:latin typeface="Calibri" pitchFamily="34" charset="0"/>
                <a:ea typeface="Calibri" pitchFamily="34" charset="-122"/>
                <a:cs typeface="Calibri" pitchFamily="34" charset="-120"/>
              </a:rPr>
              <a:t>Portal</a:t>
            </a:r>
            <a:endParaRPr lang="en-US" sz="900" dirty="0"/>
          </a:p>
        </p:txBody>
      </p:sp>
      <p:sp>
        <p:nvSpPr>
          <p:cNvPr id="15" name="Shape 13"/>
          <p:cNvSpPr/>
          <p:nvPr/>
        </p:nvSpPr>
        <p:spPr>
          <a:xfrm>
            <a:off x="1188720" y="3209544"/>
            <a:ext cx="256032" cy="256032"/>
          </a:xfrm>
          <a:prstGeom prst="ellipse">
            <a:avLst/>
          </a:prstGeom>
          <a:solidFill>
            <a:srgbClr val="FFFFFF"/>
          </a:solidFill>
          <a:ln w="15875">
            <a:solidFill>
              <a:srgbClr val="2C5F2D"/>
            </a:solidFill>
            <a:prstDash val="solid"/>
          </a:ln>
        </p:spPr>
      </p:sp>
      <p:sp>
        <p:nvSpPr>
          <p:cNvPr id="16" name="Text 14"/>
          <p:cNvSpPr txBox="1"/>
          <p:nvPr/>
        </p:nvSpPr>
        <p:spPr>
          <a:xfrm>
            <a:off x="1078992" y="3520440"/>
            <a:ext cx="868680" cy="411480"/>
          </a:xfrm>
          <a:prstGeom prst="rect">
            <a:avLst/>
          </a:prstGeom>
          <a:noFill/>
          <a:ln/>
        </p:spPr>
        <p:txBody>
          <a:bodyPr wrap="square" lIns="0" tIns="0" rIns="0" bIns="0" rtlCol="0" anchor="t"/>
          <a:lstStyle/>
          <a:p>
            <a:pPr marL="0" indent="0" algn="l">
              <a:buNone/>
            </a:pPr>
            <a:r>
              <a:rPr lang="en-US" sz="700" dirty="0"/>
              <a:t>Student </a:t>
            </a:r>
            <a:r>
              <a:rPr lang="en-US" sz="700" dirty="0" err="1"/>
              <a:t>schickt</a:t>
            </a:r>
            <a:r>
              <a:rPr lang="en-US" sz="700" dirty="0"/>
              <a:t> thema an </a:t>
            </a:r>
            <a:r>
              <a:rPr lang="en-US" sz="700" dirty="0" err="1"/>
              <a:t>Prüfer</a:t>
            </a:r>
            <a:endParaRPr lang="en-US" sz="700" dirty="0"/>
          </a:p>
        </p:txBody>
      </p:sp>
      <p:sp>
        <p:nvSpPr>
          <p:cNvPr id="17" name="Shape 15"/>
          <p:cNvSpPr/>
          <p:nvPr/>
        </p:nvSpPr>
        <p:spPr>
          <a:xfrm>
            <a:off x="1444752" y="3337560"/>
            <a:ext cx="521208" cy="914"/>
          </a:xfrm>
          <a:prstGeom prst="line">
            <a:avLst/>
          </a:prstGeom>
          <a:noFill/>
          <a:ln w="15875">
            <a:solidFill>
              <a:srgbClr val="1F2A1F"/>
            </a:solidFill>
            <a:prstDash val="solid"/>
            <a:tailEnd type="triangle"/>
          </a:ln>
        </p:spPr>
      </p:sp>
      <p:sp>
        <p:nvSpPr>
          <p:cNvPr id="18" name="Shape 16"/>
          <p:cNvSpPr/>
          <p:nvPr/>
        </p:nvSpPr>
        <p:spPr>
          <a:xfrm>
            <a:off x="1965960" y="3099816"/>
            <a:ext cx="1188720" cy="475488"/>
          </a:xfrm>
          <a:prstGeom prst="roundRect">
            <a:avLst>
              <a:gd name="adj" fmla="val 19231"/>
            </a:avLst>
          </a:prstGeom>
          <a:solidFill>
            <a:srgbClr val="FFFFFF"/>
          </a:solidFill>
          <a:ln w="15875">
            <a:solidFill>
              <a:srgbClr val="1F2A1F"/>
            </a:solidFill>
            <a:prstDash val="solid"/>
          </a:ln>
        </p:spPr>
      </p:sp>
      <p:sp>
        <p:nvSpPr>
          <p:cNvPr id="19" name="Text 17"/>
          <p:cNvSpPr txBox="1"/>
          <p:nvPr/>
        </p:nvSpPr>
        <p:spPr>
          <a:xfrm>
            <a:off x="2011680" y="3099816"/>
            <a:ext cx="1097280" cy="475488"/>
          </a:xfrm>
          <a:prstGeom prst="rect">
            <a:avLst/>
          </a:prstGeom>
          <a:noFill/>
          <a:ln/>
        </p:spPr>
        <p:txBody>
          <a:bodyPr wrap="square" lIns="0" tIns="0" rIns="0" bIns="0" rtlCol="0" anchor="ctr"/>
          <a:lstStyle/>
          <a:p>
            <a:pPr marL="0" indent="0" algn="ctr">
              <a:buNone/>
            </a:pPr>
            <a:r>
              <a:rPr lang="en-US" sz="850" dirty="0">
                <a:solidFill>
                  <a:srgbClr val="1F2A1F"/>
                </a:solidFill>
                <a:latin typeface="Calibri" pitchFamily="34" charset="0"/>
                <a:ea typeface="Calibri" pitchFamily="34" charset="-122"/>
                <a:cs typeface="Calibri" pitchFamily="34" charset="-120"/>
              </a:rPr>
              <a:t>Erstprüfer:in informieren</a:t>
            </a:r>
            <a:endParaRPr lang="en-US" sz="850" dirty="0"/>
          </a:p>
        </p:txBody>
      </p:sp>
      <p:sp>
        <p:nvSpPr>
          <p:cNvPr id="20" name="Shape 18"/>
          <p:cNvSpPr/>
          <p:nvPr/>
        </p:nvSpPr>
        <p:spPr>
          <a:xfrm>
            <a:off x="2560320" y="2414016"/>
            <a:ext cx="914" cy="685800"/>
          </a:xfrm>
          <a:prstGeom prst="line">
            <a:avLst/>
          </a:prstGeom>
          <a:noFill/>
          <a:ln w="15875">
            <a:solidFill>
              <a:srgbClr val="1F2A1F"/>
            </a:solidFill>
            <a:prstDash val="solid"/>
            <a:headEnd type="triangle"/>
          </a:ln>
        </p:spPr>
      </p:sp>
      <p:sp>
        <p:nvSpPr>
          <p:cNvPr id="21" name="Shape 19"/>
          <p:cNvSpPr/>
          <p:nvPr/>
        </p:nvSpPr>
        <p:spPr>
          <a:xfrm>
            <a:off x="1965960" y="1938528"/>
            <a:ext cx="1188720" cy="475488"/>
          </a:xfrm>
          <a:prstGeom prst="roundRect">
            <a:avLst>
              <a:gd name="adj" fmla="val 19231"/>
            </a:avLst>
          </a:prstGeom>
          <a:solidFill>
            <a:srgbClr val="FFFFFF"/>
          </a:solidFill>
          <a:ln w="15875">
            <a:solidFill>
              <a:srgbClr val="1F2A1F"/>
            </a:solidFill>
            <a:prstDash val="solid"/>
          </a:ln>
        </p:spPr>
      </p:sp>
      <p:sp>
        <p:nvSpPr>
          <p:cNvPr id="22" name="Text 20"/>
          <p:cNvSpPr txBox="1"/>
          <p:nvPr/>
        </p:nvSpPr>
        <p:spPr>
          <a:xfrm>
            <a:off x="2011680" y="1938528"/>
            <a:ext cx="1097280" cy="475488"/>
          </a:xfrm>
          <a:prstGeom prst="rect">
            <a:avLst/>
          </a:prstGeom>
          <a:noFill/>
          <a:ln/>
        </p:spPr>
        <p:txBody>
          <a:bodyPr wrap="square" lIns="0" tIns="0" rIns="0" bIns="0" rtlCol="0" anchor="ctr"/>
          <a:lstStyle/>
          <a:p>
            <a:pPr marL="0" indent="0" algn="ctr">
              <a:buNone/>
            </a:pPr>
            <a:r>
              <a:rPr lang="en-US" sz="850" dirty="0">
                <a:solidFill>
                  <a:srgbClr val="1F2A1F"/>
                </a:solidFill>
                <a:latin typeface="Calibri" pitchFamily="34" charset="0"/>
                <a:ea typeface="Calibri" pitchFamily="34" charset="-122"/>
                <a:cs typeface="Calibri" pitchFamily="34" charset="-120"/>
              </a:rPr>
              <a:t>Thema aufrufen</a:t>
            </a:r>
            <a:endParaRPr lang="en-US" sz="850" dirty="0"/>
          </a:p>
        </p:txBody>
      </p:sp>
      <p:sp>
        <p:nvSpPr>
          <p:cNvPr id="23" name="Shape 21"/>
          <p:cNvSpPr/>
          <p:nvPr/>
        </p:nvSpPr>
        <p:spPr>
          <a:xfrm>
            <a:off x="3154680" y="2176272"/>
            <a:ext cx="274320" cy="914"/>
          </a:xfrm>
          <a:prstGeom prst="line">
            <a:avLst/>
          </a:prstGeom>
          <a:noFill/>
          <a:ln w="15875">
            <a:solidFill>
              <a:srgbClr val="1F2A1F"/>
            </a:solidFill>
            <a:prstDash val="solid"/>
            <a:tailEnd type="triangle"/>
          </a:ln>
        </p:spPr>
      </p:sp>
      <p:sp>
        <p:nvSpPr>
          <p:cNvPr id="24" name="Shape 22"/>
          <p:cNvSpPr/>
          <p:nvPr/>
        </p:nvSpPr>
        <p:spPr>
          <a:xfrm>
            <a:off x="3429000" y="1938528"/>
            <a:ext cx="1188720" cy="475488"/>
          </a:xfrm>
          <a:prstGeom prst="roundRect">
            <a:avLst>
              <a:gd name="adj" fmla="val 19231"/>
            </a:avLst>
          </a:prstGeom>
          <a:solidFill>
            <a:srgbClr val="FFFFFF"/>
          </a:solidFill>
          <a:ln w="15875">
            <a:solidFill>
              <a:srgbClr val="1F2A1F"/>
            </a:solidFill>
            <a:prstDash val="solid"/>
          </a:ln>
        </p:spPr>
      </p:sp>
      <p:sp>
        <p:nvSpPr>
          <p:cNvPr id="25" name="Text 23"/>
          <p:cNvSpPr txBox="1"/>
          <p:nvPr/>
        </p:nvSpPr>
        <p:spPr>
          <a:xfrm>
            <a:off x="3474720" y="1938528"/>
            <a:ext cx="1097280" cy="475488"/>
          </a:xfrm>
          <a:prstGeom prst="rect">
            <a:avLst/>
          </a:prstGeom>
          <a:noFill/>
          <a:ln/>
        </p:spPr>
        <p:txBody>
          <a:bodyPr wrap="square" lIns="0" tIns="0" rIns="0" bIns="0" rtlCol="0" anchor="ctr"/>
          <a:lstStyle/>
          <a:p>
            <a:pPr marL="0" indent="0" algn="ctr">
              <a:buNone/>
            </a:pPr>
            <a:r>
              <a:rPr lang="en-US" sz="850" dirty="0">
                <a:solidFill>
                  <a:srgbClr val="1F2A1F"/>
                </a:solidFill>
                <a:latin typeface="Calibri" pitchFamily="34" charset="0"/>
                <a:ea typeface="Calibri" pitchFamily="34" charset="-122"/>
                <a:cs typeface="Calibri" pitchFamily="34" charset="-120"/>
              </a:rPr>
              <a:t>Thema prüfen</a:t>
            </a:r>
            <a:endParaRPr lang="en-US" sz="850" dirty="0"/>
          </a:p>
        </p:txBody>
      </p:sp>
      <p:sp>
        <p:nvSpPr>
          <p:cNvPr id="26" name="Shape 24"/>
          <p:cNvSpPr/>
          <p:nvPr/>
        </p:nvSpPr>
        <p:spPr>
          <a:xfrm>
            <a:off x="4617720" y="2176272"/>
            <a:ext cx="118872" cy="914"/>
          </a:xfrm>
          <a:prstGeom prst="line">
            <a:avLst/>
          </a:prstGeom>
          <a:noFill/>
          <a:ln w="15875">
            <a:solidFill>
              <a:srgbClr val="1F2A1F"/>
            </a:solidFill>
            <a:prstDash val="solid"/>
            <a:tailEnd type="triangle"/>
          </a:ln>
        </p:spPr>
      </p:sp>
      <p:sp>
        <p:nvSpPr>
          <p:cNvPr id="27" name="Shape 25"/>
          <p:cNvSpPr/>
          <p:nvPr/>
        </p:nvSpPr>
        <p:spPr>
          <a:xfrm>
            <a:off x="4736592" y="1975104"/>
            <a:ext cx="402336" cy="402336"/>
          </a:xfrm>
          <a:prstGeom prst="diamond">
            <a:avLst/>
          </a:prstGeom>
          <a:solidFill>
            <a:srgbClr val="FFF7E0"/>
          </a:solidFill>
          <a:ln w="15875">
            <a:solidFill>
              <a:srgbClr val="1F2A1F"/>
            </a:solidFill>
            <a:prstDash val="solid"/>
          </a:ln>
        </p:spPr>
      </p:sp>
      <p:sp>
        <p:nvSpPr>
          <p:cNvPr id="28" name="Text 26"/>
          <p:cNvSpPr txBox="1"/>
          <p:nvPr/>
        </p:nvSpPr>
        <p:spPr>
          <a:xfrm>
            <a:off x="4736592" y="1975104"/>
            <a:ext cx="402336" cy="402336"/>
          </a:xfrm>
          <a:prstGeom prst="rect">
            <a:avLst/>
          </a:prstGeom>
          <a:noFill/>
          <a:ln/>
        </p:spPr>
        <p:txBody>
          <a:bodyPr wrap="square" lIns="0" tIns="0" rIns="0" bIns="0" rtlCol="0" anchor="ctr"/>
          <a:lstStyle/>
          <a:p>
            <a:pPr marL="0" indent="0" algn="ctr">
              <a:buNone/>
            </a:pPr>
            <a:r>
              <a:rPr lang="en-US" sz="1100" b="1" dirty="0">
                <a:solidFill>
                  <a:srgbClr val="1F2A1F"/>
                </a:solidFill>
                <a:latin typeface="Calibri" pitchFamily="34" charset="0"/>
                <a:ea typeface="Calibri" pitchFamily="34" charset="-122"/>
                <a:cs typeface="Calibri" pitchFamily="34" charset="-120"/>
              </a:rPr>
              <a:t>X</a:t>
            </a:r>
            <a:endParaRPr lang="en-US" sz="1100" dirty="0"/>
          </a:p>
        </p:txBody>
      </p:sp>
      <p:sp>
        <p:nvSpPr>
          <p:cNvPr id="29" name="Text 27"/>
          <p:cNvSpPr txBox="1"/>
          <p:nvPr/>
        </p:nvSpPr>
        <p:spPr>
          <a:xfrm>
            <a:off x="4251960" y="2404872"/>
            <a:ext cx="1371600" cy="182880"/>
          </a:xfrm>
          <a:prstGeom prst="rect">
            <a:avLst/>
          </a:prstGeom>
          <a:noFill/>
          <a:ln/>
        </p:spPr>
        <p:txBody>
          <a:bodyPr wrap="square" lIns="0" tIns="0" rIns="0" bIns="0" rtlCol="0" anchor="t"/>
          <a:lstStyle/>
          <a:p>
            <a:pPr marL="0" indent="0" algn="ctr">
              <a:buNone/>
            </a:pPr>
            <a:r>
              <a:rPr lang="en-US" sz="750" i="1" dirty="0" err="1">
                <a:solidFill>
                  <a:srgbClr val="5C6B5C"/>
                </a:solidFill>
                <a:latin typeface="Calibri" pitchFamily="34" charset="0"/>
                <a:ea typeface="Calibri" pitchFamily="34" charset="-122"/>
                <a:cs typeface="Calibri" pitchFamily="34" charset="-120"/>
              </a:rPr>
              <a:t>Passt</a:t>
            </a:r>
            <a:r>
              <a:rPr lang="en-US" sz="750" i="1" dirty="0">
                <a:solidFill>
                  <a:srgbClr val="5C6B5C"/>
                </a:solidFill>
                <a:latin typeface="Calibri" pitchFamily="34" charset="0"/>
                <a:ea typeface="Calibri" pitchFamily="34" charset="-122"/>
                <a:cs typeface="Calibri" pitchFamily="34" charset="-120"/>
              </a:rPr>
              <a:t> das Thema?</a:t>
            </a:r>
            <a:endParaRPr lang="en-US" sz="750" dirty="0"/>
          </a:p>
        </p:txBody>
      </p:sp>
      <p:sp>
        <p:nvSpPr>
          <p:cNvPr id="30" name="Shape 28"/>
          <p:cNvSpPr/>
          <p:nvPr/>
        </p:nvSpPr>
        <p:spPr>
          <a:xfrm>
            <a:off x="5138928" y="2176272"/>
            <a:ext cx="301752" cy="914"/>
          </a:xfrm>
          <a:prstGeom prst="line">
            <a:avLst/>
          </a:prstGeom>
          <a:noFill/>
          <a:ln w="15875">
            <a:solidFill>
              <a:srgbClr val="1F2A1F"/>
            </a:solidFill>
            <a:prstDash val="solid"/>
            <a:tailEnd type="triangle"/>
          </a:ln>
        </p:spPr>
      </p:sp>
      <p:sp>
        <p:nvSpPr>
          <p:cNvPr id="31" name="Text 29"/>
          <p:cNvSpPr txBox="1"/>
          <p:nvPr/>
        </p:nvSpPr>
        <p:spPr>
          <a:xfrm>
            <a:off x="5157216" y="1993392"/>
            <a:ext cx="274320" cy="164592"/>
          </a:xfrm>
          <a:prstGeom prst="rect">
            <a:avLst/>
          </a:prstGeom>
          <a:noFill/>
          <a:ln/>
        </p:spPr>
        <p:txBody>
          <a:bodyPr wrap="square" lIns="0" tIns="0" rIns="0" bIns="0" rtlCol="0" anchor="t"/>
          <a:lstStyle/>
          <a:p>
            <a:pPr marL="0" indent="0">
              <a:buNone/>
            </a:pPr>
            <a:r>
              <a:rPr lang="en-US" sz="750" dirty="0">
                <a:solidFill>
                  <a:srgbClr val="5C6B5C"/>
                </a:solidFill>
                <a:latin typeface="Calibri" pitchFamily="34" charset="0"/>
                <a:ea typeface="Calibri" pitchFamily="34" charset="-122"/>
                <a:cs typeface="Calibri" pitchFamily="34" charset="-120"/>
              </a:rPr>
              <a:t>ja</a:t>
            </a:r>
            <a:endParaRPr lang="en-US" sz="750" dirty="0"/>
          </a:p>
        </p:txBody>
      </p:sp>
      <p:sp>
        <p:nvSpPr>
          <p:cNvPr id="32" name="Shape 30"/>
          <p:cNvSpPr/>
          <p:nvPr/>
        </p:nvSpPr>
        <p:spPr>
          <a:xfrm>
            <a:off x="5440680" y="1938528"/>
            <a:ext cx="1188720" cy="475488"/>
          </a:xfrm>
          <a:prstGeom prst="roundRect">
            <a:avLst>
              <a:gd name="adj" fmla="val 19231"/>
            </a:avLst>
          </a:prstGeom>
          <a:solidFill>
            <a:srgbClr val="FFFFFF"/>
          </a:solidFill>
          <a:ln w="15875">
            <a:solidFill>
              <a:srgbClr val="1F2A1F"/>
            </a:solidFill>
            <a:prstDash val="solid"/>
          </a:ln>
        </p:spPr>
      </p:sp>
      <p:sp>
        <p:nvSpPr>
          <p:cNvPr id="33" name="Text 31"/>
          <p:cNvSpPr txBox="1"/>
          <p:nvPr/>
        </p:nvSpPr>
        <p:spPr>
          <a:xfrm>
            <a:off x="5486400" y="1938528"/>
            <a:ext cx="1097280" cy="475488"/>
          </a:xfrm>
          <a:prstGeom prst="rect">
            <a:avLst/>
          </a:prstGeom>
          <a:noFill/>
          <a:ln/>
        </p:spPr>
        <p:txBody>
          <a:bodyPr wrap="square" lIns="0" tIns="0" rIns="0" bIns="0" rtlCol="0" anchor="ctr"/>
          <a:lstStyle/>
          <a:p>
            <a:pPr marL="0" indent="0" algn="ctr">
              <a:buNone/>
            </a:pPr>
            <a:r>
              <a:rPr lang="en-US" sz="850" dirty="0">
                <a:solidFill>
                  <a:srgbClr val="1F2A1F"/>
                </a:solidFill>
                <a:latin typeface="Calibri" pitchFamily="34" charset="0"/>
                <a:ea typeface="Calibri" pitchFamily="34" charset="-122"/>
                <a:cs typeface="Calibri" pitchFamily="34" charset="-120"/>
              </a:rPr>
              <a:t>Thema bestätigen und freigeben</a:t>
            </a:r>
            <a:endParaRPr lang="en-US" sz="850" dirty="0"/>
          </a:p>
        </p:txBody>
      </p:sp>
      <p:sp>
        <p:nvSpPr>
          <p:cNvPr id="34" name="Shape 32"/>
          <p:cNvSpPr/>
          <p:nvPr/>
        </p:nvSpPr>
        <p:spPr>
          <a:xfrm>
            <a:off x="6035040" y="2414016"/>
            <a:ext cx="914" cy="685800"/>
          </a:xfrm>
          <a:prstGeom prst="line">
            <a:avLst/>
          </a:prstGeom>
          <a:noFill/>
          <a:ln w="15875">
            <a:solidFill>
              <a:srgbClr val="1F2A1F"/>
            </a:solidFill>
            <a:prstDash val="solid"/>
            <a:tailEnd type="triangle"/>
          </a:ln>
        </p:spPr>
      </p:sp>
      <p:sp>
        <p:nvSpPr>
          <p:cNvPr id="35" name="Shape 33"/>
          <p:cNvSpPr/>
          <p:nvPr/>
        </p:nvSpPr>
        <p:spPr>
          <a:xfrm>
            <a:off x="5440680" y="3099816"/>
            <a:ext cx="1188720" cy="475488"/>
          </a:xfrm>
          <a:prstGeom prst="roundRect">
            <a:avLst>
              <a:gd name="adj" fmla="val 19231"/>
            </a:avLst>
          </a:prstGeom>
          <a:solidFill>
            <a:srgbClr val="FFFFFF"/>
          </a:solidFill>
          <a:ln w="15875">
            <a:solidFill>
              <a:srgbClr val="1F2A1F"/>
            </a:solidFill>
            <a:prstDash val="solid"/>
          </a:ln>
        </p:spPr>
      </p:sp>
      <p:sp>
        <p:nvSpPr>
          <p:cNvPr id="36" name="Text 34"/>
          <p:cNvSpPr txBox="1"/>
          <p:nvPr/>
        </p:nvSpPr>
        <p:spPr>
          <a:xfrm>
            <a:off x="5486400" y="3099816"/>
            <a:ext cx="1097280" cy="475488"/>
          </a:xfrm>
          <a:prstGeom prst="rect">
            <a:avLst/>
          </a:prstGeom>
          <a:noFill/>
          <a:ln/>
        </p:spPr>
        <p:txBody>
          <a:bodyPr wrap="square" lIns="0" tIns="0" rIns="0" bIns="0" rtlCol="0" anchor="ctr"/>
          <a:lstStyle/>
          <a:p>
            <a:pPr marL="0" indent="0" algn="ctr">
              <a:buNone/>
            </a:pPr>
            <a:r>
              <a:rPr lang="en-US" sz="850" dirty="0">
                <a:solidFill>
                  <a:srgbClr val="1F2A1F"/>
                </a:solidFill>
                <a:latin typeface="Calibri" pitchFamily="34" charset="0"/>
                <a:ea typeface="Calibri" pitchFamily="34" charset="-122"/>
                <a:cs typeface="Calibri" pitchFamily="34" charset="-120"/>
              </a:rPr>
              <a:t>Themenfreigabe speichern</a:t>
            </a:r>
            <a:endParaRPr lang="en-US" sz="850" dirty="0"/>
          </a:p>
        </p:txBody>
      </p:sp>
      <p:sp>
        <p:nvSpPr>
          <p:cNvPr id="37" name="Shape 35"/>
          <p:cNvSpPr/>
          <p:nvPr/>
        </p:nvSpPr>
        <p:spPr>
          <a:xfrm>
            <a:off x="6629400" y="3337560"/>
            <a:ext cx="457200" cy="914"/>
          </a:xfrm>
          <a:prstGeom prst="line">
            <a:avLst/>
          </a:prstGeom>
          <a:noFill/>
          <a:ln w="15875">
            <a:solidFill>
              <a:srgbClr val="1F2A1F"/>
            </a:solidFill>
            <a:prstDash val="solid"/>
            <a:tailEnd type="triangle"/>
          </a:ln>
        </p:spPr>
      </p:sp>
      <p:sp>
        <p:nvSpPr>
          <p:cNvPr id="38" name="Shape 36"/>
          <p:cNvSpPr/>
          <p:nvPr/>
        </p:nvSpPr>
        <p:spPr>
          <a:xfrm>
            <a:off x="7086600" y="3200400"/>
            <a:ext cx="274320" cy="274320"/>
          </a:xfrm>
          <a:prstGeom prst="ellipse">
            <a:avLst/>
          </a:prstGeom>
          <a:solidFill>
            <a:srgbClr val="FFFFFF"/>
          </a:solidFill>
          <a:ln w="38100">
            <a:solidFill>
              <a:srgbClr val="1F2A1F"/>
            </a:solidFill>
            <a:prstDash val="solid"/>
          </a:ln>
        </p:spPr>
      </p:sp>
      <p:sp>
        <p:nvSpPr>
          <p:cNvPr id="39" name="Text 37"/>
          <p:cNvSpPr txBox="1"/>
          <p:nvPr/>
        </p:nvSpPr>
        <p:spPr>
          <a:xfrm>
            <a:off x="7452360" y="3200400"/>
            <a:ext cx="1234440" cy="274320"/>
          </a:xfrm>
          <a:prstGeom prst="rect">
            <a:avLst/>
          </a:prstGeom>
          <a:noFill/>
          <a:ln/>
        </p:spPr>
        <p:txBody>
          <a:bodyPr wrap="square" lIns="0" tIns="0" rIns="0" bIns="0" rtlCol="0" anchor="ctr"/>
          <a:lstStyle/>
          <a:p>
            <a:pPr marL="0" indent="0">
              <a:buNone/>
            </a:pPr>
            <a:r>
              <a:rPr lang="en-US" sz="800" b="1" dirty="0">
                <a:solidFill>
                  <a:srgbClr val="1F2A1F"/>
                </a:solidFill>
                <a:latin typeface="Calibri" pitchFamily="34" charset="0"/>
                <a:ea typeface="Calibri" pitchFamily="34" charset="-122"/>
                <a:cs typeface="Calibri" pitchFamily="34" charset="-120"/>
              </a:rPr>
              <a:t>Thema freigegeben</a:t>
            </a:r>
            <a:endParaRPr lang="en-US" sz="800" dirty="0"/>
          </a:p>
        </p:txBody>
      </p:sp>
      <p:sp>
        <p:nvSpPr>
          <p:cNvPr id="40" name="Shape 38"/>
          <p:cNvSpPr/>
          <p:nvPr/>
        </p:nvSpPr>
        <p:spPr>
          <a:xfrm>
            <a:off x="4937760" y="1444752"/>
            <a:ext cx="914" cy="530352"/>
          </a:xfrm>
          <a:prstGeom prst="line">
            <a:avLst/>
          </a:prstGeom>
          <a:noFill/>
          <a:ln w="15875">
            <a:solidFill>
              <a:srgbClr val="1F2A1F"/>
            </a:solidFill>
            <a:prstDash val="solid"/>
          </a:ln>
        </p:spPr>
      </p:sp>
      <p:sp>
        <p:nvSpPr>
          <p:cNvPr id="41" name="Shape 39"/>
          <p:cNvSpPr/>
          <p:nvPr/>
        </p:nvSpPr>
        <p:spPr>
          <a:xfrm>
            <a:off x="4937760" y="1444752"/>
            <a:ext cx="502920" cy="914"/>
          </a:xfrm>
          <a:prstGeom prst="line">
            <a:avLst/>
          </a:prstGeom>
          <a:noFill/>
          <a:ln w="15875">
            <a:solidFill>
              <a:srgbClr val="1F2A1F"/>
            </a:solidFill>
            <a:prstDash val="solid"/>
            <a:tailEnd type="triangle"/>
          </a:ln>
        </p:spPr>
      </p:sp>
      <p:sp>
        <p:nvSpPr>
          <p:cNvPr id="42" name="Text 40"/>
          <p:cNvSpPr txBox="1"/>
          <p:nvPr/>
        </p:nvSpPr>
        <p:spPr>
          <a:xfrm>
            <a:off x="4983480" y="1261872"/>
            <a:ext cx="365760" cy="164592"/>
          </a:xfrm>
          <a:prstGeom prst="rect">
            <a:avLst/>
          </a:prstGeom>
          <a:noFill/>
          <a:ln/>
        </p:spPr>
        <p:txBody>
          <a:bodyPr wrap="square" lIns="0" tIns="0" rIns="0" bIns="0" rtlCol="0" anchor="t"/>
          <a:lstStyle/>
          <a:p>
            <a:pPr marL="0" indent="0">
              <a:buNone/>
            </a:pPr>
            <a:r>
              <a:rPr lang="en-US" sz="750" dirty="0">
                <a:solidFill>
                  <a:srgbClr val="5C6B5C"/>
                </a:solidFill>
                <a:latin typeface="Calibri" pitchFamily="34" charset="0"/>
                <a:ea typeface="Calibri" pitchFamily="34" charset="-122"/>
                <a:cs typeface="Calibri" pitchFamily="34" charset="-120"/>
              </a:rPr>
              <a:t>nein</a:t>
            </a:r>
            <a:endParaRPr lang="en-US" sz="750" dirty="0"/>
          </a:p>
        </p:txBody>
      </p:sp>
      <p:sp>
        <p:nvSpPr>
          <p:cNvPr id="43" name="Shape 41"/>
          <p:cNvSpPr/>
          <p:nvPr/>
        </p:nvSpPr>
        <p:spPr>
          <a:xfrm>
            <a:off x="5440680" y="1207008"/>
            <a:ext cx="1188720" cy="475488"/>
          </a:xfrm>
          <a:prstGeom prst="roundRect">
            <a:avLst>
              <a:gd name="adj" fmla="val 19231"/>
            </a:avLst>
          </a:prstGeom>
          <a:solidFill>
            <a:srgbClr val="FFFFFF"/>
          </a:solidFill>
          <a:ln w="15875">
            <a:solidFill>
              <a:srgbClr val="1F2A1F"/>
            </a:solidFill>
            <a:prstDash val="solid"/>
          </a:ln>
        </p:spPr>
      </p:sp>
      <p:sp>
        <p:nvSpPr>
          <p:cNvPr id="44" name="Text 42"/>
          <p:cNvSpPr txBox="1"/>
          <p:nvPr/>
        </p:nvSpPr>
        <p:spPr>
          <a:xfrm>
            <a:off x="5486400" y="1207008"/>
            <a:ext cx="1097280" cy="475488"/>
          </a:xfrm>
          <a:prstGeom prst="rect">
            <a:avLst/>
          </a:prstGeom>
          <a:noFill/>
          <a:ln/>
        </p:spPr>
        <p:txBody>
          <a:bodyPr wrap="square" lIns="0" tIns="0" rIns="0" bIns="0" rtlCol="0" anchor="ctr"/>
          <a:lstStyle/>
          <a:p>
            <a:pPr marL="0" indent="0" algn="ctr">
              <a:buNone/>
            </a:pPr>
            <a:r>
              <a:rPr lang="en-US" sz="850" dirty="0">
                <a:solidFill>
                  <a:srgbClr val="1F2A1F"/>
                </a:solidFill>
                <a:latin typeface="Calibri" pitchFamily="34" charset="0"/>
                <a:ea typeface="Calibri" pitchFamily="34" charset="-122"/>
                <a:cs typeface="Calibri" pitchFamily="34" charset="-120"/>
              </a:rPr>
              <a:t>Änderungswunsch eintragen</a:t>
            </a:r>
            <a:endParaRPr lang="en-US" sz="850" dirty="0"/>
          </a:p>
        </p:txBody>
      </p:sp>
      <p:sp>
        <p:nvSpPr>
          <p:cNvPr id="45" name="Shape 43"/>
          <p:cNvSpPr/>
          <p:nvPr/>
        </p:nvSpPr>
        <p:spPr>
          <a:xfrm>
            <a:off x="6629400" y="1444752"/>
            <a:ext cx="457200" cy="914"/>
          </a:xfrm>
          <a:prstGeom prst="line">
            <a:avLst/>
          </a:prstGeom>
          <a:noFill/>
          <a:ln w="15875">
            <a:solidFill>
              <a:srgbClr val="1F2A1F"/>
            </a:solidFill>
            <a:prstDash val="solid"/>
            <a:tailEnd type="triangle"/>
          </a:ln>
        </p:spPr>
      </p:sp>
      <p:sp>
        <p:nvSpPr>
          <p:cNvPr id="46" name="Shape 44"/>
          <p:cNvSpPr/>
          <p:nvPr/>
        </p:nvSpPr>
        <p:spPr>
          <a:xfrm>
            <a:off x="7086600" y="1307592"/>
            <a:ext cx="274320" cy="274320"/>
          </a:xfrm>
          <a:prstGeom prst="ellipse">
            <a:avLst/>
          </a:prstGeom>
          <a:solidFill>
            <a:srgbClr val="FFFFFF"/>
          </a:solidFill>
          <a:ln w="38100">
            <a:solidFill>
              <a:srgbClr val="1F2A1F"/>
            </a:solidFill>
            <a:prstDash val="solid"/>
          </a:ln>
        </p:spPr>
      </p:sp>
      <p:sp>
        <p:nvSpPr>
          <p:cNvPr id="47" name="Text 45"/>
          <p:cNvSpPr txBox="1"/>
          <p:nvPr/>
        </p:nvSpPr>
        <p:spPr>
          <a:xfrm>
            <a:off x="7452360" y="1261872"/>
            <a:ext cx="1234440" cy="365760"/>
          </a:xfrm>
          <a:prstGeom prst="rect">
            <a:avLst/>
          </a:prstGeom>
          <a:noFill/>
          <a:ln/>
        </p:spPr>
        <p:txBody>
          <a:bodyPr wrap="square" lIns="0" tIns="0" rIns="0" bIns="0" rtlCol="0" anchor="ctr"/>
          <a:lstStyle/>
          <a:p>
            <a:pPr marL="0" indent="0">
              <a:buNone/>
            </a:pPr>
            <a:r>
              <a:rPr lang="en-US" sz="800" b="1" dirty="0">
                <a:solidFill>
                  <a:srgbClr val="1F2A1F"/>
                </a:solidFill>
                <a:latin typeface="Calibri" pitchFamily="34" charset="0"/>
                <a:ea typeface="Calibri" pitchFamily="34" charset="-122"/>
                <a:cs typeface="Calibri" pitchFamily="34" charset="-120"/>
              </a:rPr>
              <a:t>Rückfrage an </a:t>
            </a:r>
            <a:r>
              <a:rPr lang="en-US" sz="800" b="1" dirty="0" err="1">
                <a:solidFill>
                  <a:srgbClr val="1F2A1F"/>
                </a:solidFill>
                <a:latin typeface="Calibri" pitchFamily="34" charset="0"/>
                <a:ea typeface="Calibri" pitchFamily="34" charset="-122"/>
                <a:cs typeface="Calibri" pitchFamily="34" charset="-120"/>
              </a:rPr>
              <a:t>Studierende:n</a:t>
            </a:r>
            <a:endParaRPr lang="en-US" sz="800" b="1" dirty="0">
              <a:solidFill>
                <a:srgbClr val="1F2A1F"/>
              </a:solidFill>
              <a:latin typeface="Calibri" pitchFamily="34" charset="0"/>
              <a:ea typeface="Calibri" pitchFamily="34" charset="-122"/>
              <a:cs typeface="Calibri" pitchFamily="34" charset="-120"/>
            </a:endParaRPr>
          </a:p>
          <a:p>
            <a:pPr marL="0" indent="0">
              <a:buNone/>
            </a:pPr>
            <a:r>
              <a:rPr lang="en-US" sz="800" b="1" dirty="0" err="1">
                <a:solidFill>
                  <a:srgbClr val="1F2A1F"/>
                </a:solidFill>
                <a:latin typeface="Calibri" pitchFamily="34" charset="0"/>
                <a:cs typeface="Calibri" pitchFamily="34" charset="-120"/>
              </a:rPr>
              <a:t>senden</a:t>
            </a:r>
            <a:endParaRPr lang="en-US" sz="800" dirty="0"/>
          </a:p>
        </p:txBody>
      </p:sp>
      <p:sp>
        <p:nvSpPr>
          <p:cNvPr id="48" name="Shape 46"/>
          <p:cNvSpPr/>
          <p:nvPr/>
        </p:nvSpPr>
        <p:spPr>
          <a:xfrm>
            <a:off x="411480" y="4224528"/>
            <a:ext cx="8321040" cy="457200"/>
          </a:xfrm>
          <a:prstGeom prst="roundRect">
            <a:avLst>
              <a:gd name="adj" fmla="val 16000"/>
            </a:avLst>
          </a:prstGeom>
          <a:solidFill>
            <a:srgbClr val="FFF7E0"/>
          </a:solidFill>
          <a:ln w="12700">
            <a:solidFill>
              <a:srgbClr val="C9A227"/>
            </a:solidFill>
            <a:prstDash val="solid"/>
          </a:ln>
        </p:spPr>
      </p:sp>
      <p:sp>
        <p:nvSpPr>
          <p:cNvPr id="49" name="Text 47"/>
          <p:cNvSpPr txBox="1"/>
          <p:nvPr/>
        </p:nvSpPr>
        <p:spPr>
          <a:xfrm>
            <a:off x="521208" y="4224528"/>
            <a:ext cx="8101584" cy="457200"/>
          </a:xfrm>
          <a:prstGeom prst="rect">
            <a:avLst/>
          </a:prstGeom>
          <a:noFill/>
          <a:ln/>
        </p:spPr>
        <p:txBody>
          <a:bodyPr wrap="square" lIns="0" tIns="0" rIns="0" bIns="0" rtlCol="0" anchor="ctr"/>
          <a:lstStyle/>
          <a:p>
            <a:pPr marL="0" indent="0">
              <a:buNone/>
            </a:pPr>
            <a:r>
              <a:rPr lang="en-US" sz="850" b="1" dirty="0">
                <a:solidFill>
                  <a:srgbClr val="7A5C00"/>
                </a:solidFill>
                <a:latin typeface="Calibri" pitchFamily="34" charset="0"/>
                <a:ea typeface="Calibri" pitchFamily="34" charset="-122"/>
                <a:cs typeface="Calibri" pitchFamily="34" charset="-120"/>
              </a:rPr>
              <a:t>Ausschnitt: </a:t>
            </a:r>
            <a:r>
              <a:rPr lang="en-US" sz="850" dirty="0">
                <a:solidFill>
                  <a:srgbClr val="1F2A1F"/>
                </a:solidFill>
                <a:latin typeface="Calibri" pitchFamily="34" charset="0"/>
                <a:ea typeface="Calibri" pitchFamily="34" charset="-122"/>
                <a:cs typeface="Calibri" pitchFamily="34" charset="-120"/>
              </a:rPr>
              <a:t>nur US 4.1.1.   </a:t>
            </a:r>
            <a:r>
              <a:rPr lang="en-US" sz="850" b="1" dirty="0">
                <a:solidFill>
                  <a:srgbClr val="7A5C00"/>
                </a:solidFill>
                <a:latin typeface="Calibri" pitchFamily="34" charset="0"/>
                <a:ea typeface="Calibri" pitchFamily="34" charset="-122"/>
                <a:cs typeface="Calibri" pitchFamily="34" charset="-120"/>
              </a:rPr>
              <a:t>Davor: </a:t>
            </a:r>
            <a:r>
              <a:rPr lang="en-US" sz="850" dirty="0">
                <a:solidFill>
                  <a:srgbClr val="1F2A1F"/>
                </a:solidFill>
                <a:latin typeface="Calibri" pitchFamily="34" charset="0"/>
                <a:ea typeface="Calibri" pitchFamily="34" charset="-122"/>
                <a:cs typeface="Calibri" pitchFamily="34" charset="-120"/>
              </a:rPr>
              <a:t>Entscheidung des Prüfungsausschusses (User Task 3.2).   </a:t>
            </a:r>
            <a:r>
              <a:rPr lang="en-US" sz="850" b="1" dirty="0">
                <a:solidFill>
                  <a:srgbClr val="7A5C00"/>
                </a:solidFill>
                <a:latin typeface="Calibri" pitchFamily="34" charset="0"/>
                <a:ea typeface="Calibri" pitchFamily="34" charset="-122"/>
                <a:cs typeface="Calibri" pitchFamily="34" charset="-120"/>
              </a:rPr>
              <a:t>Danach: </a:t>
            </a:r>
            <a:r>
              <a:rPr lang="en-US" sz="850" dirty="0">
                <a:solidFill>
                  <a:srgbClr val="1F2A1F"/>
                </a:solidFill>
                <a:latin typeface="Calibri" pitchFamily="34" charset="0"/>
                <a:ea typeface="Calibri" pitchFamily="34" charset="-122"/>
                <a:cs typeface="Calibri" pitchFamily="34" charset="-120"/>
              </a:rPr>
              <a:t>Bearbeitungszeit festlegen (User Task 4.2).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11480" y="201168"/>
            <a:ext cx="5943600" cy="457200"/>
          </a:xfrm>
          <a:prstGeom prst="rect">
            <a:avLst/>
          </a:prstGeom>
          <a:noFill/>
          <a:ln/>
        </p:spPr>
        <p:txBody>
          <a:bodyPr wrap="square" lIns="0" tIns="0" rIns="0" bIns="0" rtlCol="0" anchor="ctr"/>
          <a:lstStyle/>
          <a:p>
            <a:pPr marL="0" indent="0">
              <a:buNone/>
            </a:pPr>
            <a:r>
              <a:rPr lang="en-US" sz="2200" b="1" dirty="0">
                <a:solidFill>
                  <a:srgbClr val="1F2A1F"/>
                </a:solidFill>
                <a:latin typeface="Cambria" pitchFamily="34" charset="0"/>
                <a:ea typeface="Cambria" pitchFamily="34" charset="-122"/>
                <a:cs typeface="Cambria" pitchFamily="34" charset="-120"/>
              </a:rPr>
              <a:t>4. Data</a:t>
            </a:r>
            <a:endParaRPr lang="en-US" sz="2200" dirty="0"/>
          </a:p>
        </p:txBody>
      </p:sp>
      <p:sp>
        <p:nvSpPr>
          <p:cNvPr id="3" name="Text 1"/>
          <p:cNvSpPr txBox="1"/>
          <p:nvPr/>
        </p:nvSpPr>
        <p:spPr>
          <a:xfrm>
            <a:off x="6035040" y="274320"/>
            <a:ext cx="2697480" cy="274320"/>
          </a:xfrm>
          <a:prstGeom prst="rect">
            <a:avLst/>
          </a:prstGeom>
          <a:noFill/>
          <a:ln/>
        </p:spPr>
        <p:txBody>
          <a:bodyPr wrap="square" lIns="0" tIns="0" rIns="0" bIns="0" rtlCol="0" anchor="ctr"/>
          <a:lstStyle/>
          <a:p>
            <a:pPr marL="0" indent="0" algn="r">
              <a:buNone/>
            </a:pPr>
            <a:r>
              <a:rPr lang="en-US" sz="800" b="1" kern="0" spc="150" dirty="0">
                <a:solidFill>
                  <a:srgbClr val="97BC62"/>
                </a:solidFill>
                <a:latin typeface="Calibri" pitchFamily="34" charset="0"/>
                <a:ea typeface="Calibri" pitchFamily="34" charset="-122"/>
                <a:cs typeface="Calibri" pitchFamily="34" charset="-120"/>
              </a:rPr>
              <a:t>7 DIMENSIONS  ·  4 VON 7</a:t>
            </a:r>
            <a:endParaRPr lang="en-US" sz="800" dirty="0"/>
          </a:p>
        </p:txBody>
      </p:sp>
      <p:sp>
        <p:nvSpPr>
          <p:cNvPr id="4" name="Text 2"/>
          <p:cNvSpPr txBox="1"/>
          <p:nvPr/>
        </p:nvSpPr>
        <p:spPr>
          <a:xfrm>
            <a:off x="411480" y="658368"/>
            <a:ext cx="8321040" cy="201168"/>
          </a:xfrm>
          <a:prstGeom prst="rect">
            <a:avLst/>
          </a:prstGeom>
          <a:noFill/>
          <a:ln/>
        </p:spPr>
        <p:txBody>
          <a:bodyPr wrap="square" lIns="0" tIns="0" rIns="0" bIns="0" rtlCol="0" anchor="t"/>
          <a:lstStyle/>
          <a:p>
            <a:pPr marL="0" indent="0">
              <a:buNone/>
            </a:pPr>
            <a:r>
              <a:rPr lang="en-US" sz="900" dirty="0">
                <a:solidFill>
                  <a:srgbClr val="5C6B5C"/>
                </a:solidFill>
                <a:latin typeface="Calibri" pitchFamily="34" charset="0"/>
                <a:ea typeface="Calibri" pitchFamily="34" charset="-122"/>
                <a:cs typeface="Calibri" pitchFamily="34" charset="-120"/>
              </a:rPr>
              <a:t>US 4.1.1  ·  Erstprüfer:in:  Thema aufrufen  ›  Thema prüfen  ›  Thema bestätigen  ›  Thema freigeben</a:t>
            </a:r>
            <a:endParaRPr lang="en-US" sz="900" dirty="0"/>
          </a:p>
        </p:txBody>
      </p:sp>
      <p:sp>
        <p:nvSpPr>
          <p:cNvPr id="5" name="Text 3"/>
          <p:cNvSpPr txBox="1"/>
          <p:nvPr/>
        </p:nvSpPr>
        <p:spPr>
          <a:xfrm>
            <a:off x="411480" y="4828032"/>
            <a:ext cx="3840480" cy="182880"/>
          </a:xfrm>
          <a:prstGeom prst="rect">
            <a:avLst/>
          </a:prstGeom>
          <a:noFill/>
          <a:ln/>
        </p:spPr>
        <p:txBody>
          <a:bodyPr wrap="square" lIns="0" tIns="0" rIns="0" bIns="0" rtlCol="0" anchor="t"/>
          <a:lstStyle/>
          <a:p>
            <a:pPr marL="0" indent="0">
              <a:buNone/>
            </a:pPr>
            <a:r>
              <a:rPr lang="en-US" sz="750" dirty="0">
                <a:solidFill>
                  <a:srgbClr val="8A968A"/>
                </a:solidFill>
                <a:latin typeface="Calibri" pitchFamily="34" charset="0"/>
                <a:ea typeface="Calibri" pitchFamily="34" charset="-122"/>
                <a:cs typeface="Calibri" pitchFamily="34" charset="-120"/>
              </a:rPr>
              <a:t>ThesisFlow  ·  Requirements Engineering, Gruppe Grün</a:t>
            </a:r>
            <a:endParaRPr lang="en-US" sz="750" dirty="0"/>
          </a:p>
        </p:txBody>
      </p:sp>
      <p:sp>
        <p:nvSpPr>
          <p:cNvPr id="6" name="Text 4"/>
          <p:cNvSpPr txBox="1"/>
          <p:nvPr/>
        </p:nvSpPr>
        <p:spPr>
          <a:xfrm>
            <a:off x="4206240" y="4828032"/>
            <a:ext cx="4526280" cy="182880"/>
          </a:xfrm>
          <a:prstGeom prst="rect">
            <a:avLst/>
          </a:prstGeom>
          <a:noFill/>
          <a:ln/>
        </p:spPr>
        <p:txBody>
          <a:bodyPr wrap="square" lIns="0" tIns="0" rIns="0" bIns="0" rtlCol="0" anchor="t"/>
          <a:lstStyle/>
          <a:p>
            <a:pPr marL="0" indent="0" algn="r">
              <a:buNone/>
            </a:pPr>
            <a:r>
              <a:rPr lang="en-US" sz="750" i="1" dirty="0">
                <a:solidFill>
                  <a:srgbClr val="8A968A"/>
                </a:solidFill>
                <a:latin typeface="Calibri" pitchFamily="34" charset="0"/>
                <a:ea typeface="Calibri" pitchFamily="34" charset="-122"/>
                <a:cs typeface="Calibri" pitchFamily="34" charset="-120"/>
              </a:rPr>
              <a:t>vgl. Vorlesung RE, Kap. 6 Strukturperspektive, UML-Klassendiagramm</a:t>
            </a:r>
            <a:endParaRPr lang="en-US" sz="750" dirty="0"/>
          </a:p>
        </p:txBody>
      </p:sp>
      <p:sp>
        <p:nvSpPr>
          <p:cNvPr id="7" name="Shape 5"/>
          <p:cNvSpPr/>
          <p:nvPr/>
        </p:nvSpPr>
        <p:spPr>
          <a:xfrm>
            <a:off x="457200" y="1024128"/>
            <a:ext cx="2011680" cy="950976"/>
          </a:xfrm>
          <a:prstGeom prst="rect">
            <a:avLst/>
          </a:prstGeom>
          <a:solidFill>
            <a:srgbClr val="FFFFFF"/>
          </a:solidFill>
          <a:ln w="15875">
            <a:solidFill>
              <a:srgbClr val="1F2A1F"/>
            </a:solidFill>
            <a:prstDash val="solid"/>
          </a:ln>
        </p:spPr>
      </p:sp>
      <p:sp>
        <p:nvSpPr>
          <p:cNvPr id="8" name="Shape 6"/>
          <p:cNvSpPr/>
          <p:nvPr/>
        </p:nvSpPr>
        <p:spPr>
          <a:xfrm>
            <a:off x="457200" y="1024128"/>
            <a:ext cx="2011680" cy="292608"/>
          </a:xfrm>
          <a:prstGeom prst="rect">
            <a:avLst/>
          </a:prstGeom>
          <a:solidFill>
            <a:srgbClr val="EEF4E8"/>
          </a:solidFill>
          <a:ln w="15875">
            <a:solidFill>
              <a:srgbClr val="1F2A1F"/>
            </a:solidFill>
            <a:prstDash val="solid"/>
          </a:ln>
        </p:spPr>
      </p:sp>
      <p:sp>
        <p:nvSpPr>
          <p:cNvPr id="9" name="Text 7"/>
          <p:cNvSpPr txBox="1"/>
          <p:nvPr/>
        </p:nvSpPr>
        <p:spPr>
          <a:xfrm>
            <a:off x="457200" y="1024128"/>
            <a:ext cx="2011680" cy="292608"/>
          </a:xfrm>
          <a:prstGeom prst="rect">
            <a:avLst/>
          </a:prstGeom>
          <a:noFill/>
          <a:ln/>
        </p:spPr>
        <p:txBody>
          <a:bodyPr wrap="square" lIns="0" tIns="0" rIns="0" bIns="0" rtlCol="0" anchor="ctr"/>
          <a:lstStyle/>
          <a:p>
            <a:pPr marL="0" indent="0" algn="ctr">
              <a:buNone/>
            </a:pPr>
            <a:r>
              <a:rPr lang="en-US" sz="1000" b="1" dirty="0">
                <a:solidFill>
                  <a:srgbClr val="1F2A1F"/>
                </a:solidFill>
                <a:latin typeface="Calibri" pitchFamily="34" charset="0"/>
                <a:ea typeface="Calibri" pitchFamily="34" charset="-122"/>
                <a:cs typeface="Calibri" pitchFamily="34" charset="-120"/>
              </a:rPr>
              <a:t>Studierende:r</a:t>
            </a:r>
            <a:endParaRPr lang="en-US" sz="1000" dirty="0"/>
          </a:p>
        </p:txBody>
      </p:sp>
      <p:sp>
        <p:nvSpPr>
          <p:cNvPr id="10" name="Text 8"/>
          <p:cNvSpPr txBox="1"/>
          <p:nvPr/>
        </p:nvSpPr>
        <p:spPr>
          <a:xfrm>
            <a:off x="530352" y="1362456"/>
            <a:ext cx="1865376" cy="585216"/>
          </a:xfrm>
          <a:prstGeom prst="rect">
            <a:avLst/>
          </a:prstGeom>
          <a:noFill/>
          <a:ln/>
        </p:spPr>
        <p:txBody>
          <a:bodyPr wrap="square" lIns="0" tIns="0" rIns="0" bIns="0" rtlCol="0" anchor="t"/>
          <a:lstStyle/>
          <a:p>
            <a:pPr marL="0" indent="0">
              <a:buNone/>
            </a:pPr>
            <a:r>
              <a:rPr lang="en-US" sz="800" dirty="0">
                <a:solidFill>
                  <a:srgbClr val="1F2A1F"/>
                </a:solidFill>
                <a:latin typeface="Calibri" pitchFamily="34" charset="0"/>
                <a:ea typeface="Calibri" pitchFamily="34" charset="-122"/>
                <a:cs typeface="Calibri" pitchFamily="34" charset="-120"/>
              </a:rPr>
              <a:t>- name : String</a:t>
            </a:r>
            <a:endParaRPr lang="en-US" sz="800" dirty="0"/>
          </a:p>
          <a:p>
            <a:pPr marL="0" indent="0">
              <a:buNone/>
            </a:pPr>
            <a:r>
              <a:rPr lang="en-US" sz="800" dirty="0">
                <a:solidFill>
                  <a:srgbClr val="1F2A1F"/>
                </a:solidFill>
                <a:latin typeface="Calibri" pitchFamily="34" charset="0"/>
                <a:ea typeface="Calibri" pitchFamily="34" charset="-122"/>
                <a:cs typeface="Calibri" pitchFamily="34" charset="-120"/>
              </a:rPr>
              <a:t>- matrikelnummer : Int</a:t>
            </a:r>
            <a:endParaRPr lang="en-US" sz="800" dirty="0"/>
          </a:p>
          <a:p>
            <a:pPr marL="0" indent="0">
              <a:buNone/>
            </a:pPr>
            <a:r>
              <a:rPr lang="en-US" sz="800" dirty="0">
                <a:solidFill>
                  <a:srgbClr val="1F2A1F"/>
                </a:solidFill>
                <a:latin typeface="Calibri" pitchFamily="34" charset="0"/>
                <a:ea typeface="Calibri" pitchFamily="34" charset="-122"/>
                <a:cs typeface="Calibri" pitchFamily="34" charset="-120"/>
              </a:rPr>
              <a:t>- studiengang : String</a:t>
            </a:r>
            <a:endParaRPr lang="en-US" sz="800" dirty="0"/>
          </a:p>
        </p:txBody>
      </p:sp>
      <p:sp>
        <p:nvSpPr>
          <p:cNvPr id="11" name="Shape 9"/>
          <p:cNvSpPr/>
          <p:nvPr/>
        </p:nvSpPr>
        <p:spPr>
          <a:xfrm>
            <a:off x="3566160" y="1024128"/>
            <a:ext cx="2011680" cy="1133856"/>
          </a:xfrm>
          <a:prstGeom prst="rect">
            <a:avLst/>
          </a:prstGeom>
          <a:solidFill>
            <a:srgbClr val="FFFFFF"/>
          </a:solidFill>
          <a:ln w="15875">
            <a:solidFill>
              <a:srgbClr val="1F2A1F"/>
            </a:solidFill>
            <a:prstDash val="solid"/>
          </a:ln>
        </p:spPr>
      </p:sp>
      <p:sp>
        <p:nvSpPr>
          <p:cNvPr id="12" name="Shape 10"/>
          <p:cNvSpPr/>
          <p:nvPr/>
        </p:nvSpPr>
        <p:spPr>
          <a:xfrm>
            <a:off x="3566160" y="1024128"/>
            <a:ext cx="2011680" cy="292608"/>
          </a:xfrm>
          <a:prstGeom prst="rect">
            <a:avLst/>
          </a:prstGeom>
          <a:solidFill>
            <a:srgbClr val="EEF4E8"/>
          </a:solidFill>
          <a:ln w="15875">
            <a:solidFill>
              <a:srgbClr val="1F2A1F"/>
            </a:solidFill>
            <a:prstDash val="solid"/>
          </a:ln>
        </p:spPr>
      </p:sp>
      <p:sp>
        <p:nvSpPr>
          <p:cNvPr id="13" name="Text 11"/>
          <p:cNvSpPr txBox="1"/>
          <p:nvPr/>
        </p:nvSpPr>
        <p:spPr>
          <a:xfrm>
            <a:off x="3566160" y="1024128"/>
            <a:ext cx="2011680" cy="292608"/>
          </a:xfrm>
          <a:prstGeom prst="rect">
            <a:avLst/>
          </a:prstGeom>
          <a:noFill/>
          <a:ln/>
        </p:spPr>
        <p:txBody>
          <a:bodyPr wrap="square" lIns="0" tIns="0" rIns="0" bIns="0" rtlCol="0" anchor="ctr"/>
          <a:lstStyle/>
          <a:p>
            <a:pPr marL="0" indent="0" algn="ctr">
              <a:buNone/>
            </a:pPr>
            <a:r>
              <a:rPr lang="en-US" sz="1000" b="1" dirty="0">
                <a:solidFill>
                  <a:srgbClr val="1F2A1F"/>
                </a:solidFill>
                <a:latin typeface="Calibri" pitchFamily="34" charset="0"/>
                <a:ea typeface="Calibri" pitchFamily="34" charset="-122"/>
                <a:cs typeface="Calibri" pitchFamily="34" charset="-120"/>
              </a:rPr>
              <a:t>Antrag</a:t>
            </a:r>
            <a:endParaRPr lang="en-US" sz="1000" dirty="0"/>
          </a:p>
        </p:txBody>
      </p:sp>
      <p:sp>
        <p:nvSpPr>
          <p:cNvPr id="14" name="Text 12"/>
          <p:cNvSpPr txBox="1"/>
          <p:nvPr/>
        </p:nvSpPr>
        <p:spPr>
          <a:xfrm>
            <a:off x="3639312" y="1362456"/>
            <a:ext cx="1865376" cy="768096"/>
          </a:xfrm>
          <a:prstGeom prst="rect">
            <a:avLst/>
          </a:prstGeom>
          <a:noFill/>
          <a:ln/>
        </p:spPr>
        <p:txBody>
          <a:bodyPr wrap="square" lIns="0" tIns="0" rIns="0" bIns="0" rtlCol="0" anchor="t"/>
          <a:lstStyle/>
          <a:p>
            <a:pPr marL="0" indent="0">
              <a:buNone/>
            </a:pPr>
            <a:r>
              <a:rPr lang="en-US" sz="800" dirty="0">
                <a:solidFill>
                  <a:srgbClr val="1F2A1F"/>
                </a:solidFill>
                <a:latin typeface="Calibri" pitchFamily="34" charset="0"/>
                <a:ea typeface="Calibri" pitchFamily="34" charset="-122"/>
                <a:cs typeface="Calibri" pitchFamily="34" charset="-120"/>
              </a:rPr>
              <a:t>- studienabschluss : Abschlussart</a:t>
            </a:r>
            <a:endParaRPr lang="en-US" sz="800" dirty="0"/>
          </a:p>
          <a:p>
            <a:pPr marL="0" indent="0">
              <a:buNone/>
            </a:pPr>
            <a:r>
              <a:rPr lang="en-US" sz="800" dirty="0">
                <a:solidFill>
                  <a:srgbClr val="1F2A1F"/>
                </a:solidFill>
                <a:latin typeface="Calibri" pitchFamily="34" charset="0"/>
                <a:ea typeface="Calibri" pitchFamily="34" charset="-122"/>
                <a:cs typeface="Calibri" pitchFamily="34" charset="-120"/>
              </a:rPr>
              <a:t>- gewuenschterStarttermin : Datum</a:t>
            </a:r>
            <a:endParaRPr lang="en-US" sz="800" dirty="0"/>
          </a:p>
          <a:p>
            <a:pPr marL="0" indent="0">
              <a:buNone/>
            </a:pPr>
            <a:r>
              <a:rPr lang="en-US" sz="800" dirty="0">
                <a:solidFill>
                  <a:srgbClr val="1F2A1F"/>
                </a:solidFill>
                <a:latin typeface="Calibri" pitchFamily="34" charset="0"/>
                <a:ea typeface="Calibri" pitchFamily="34" charset="-122"/>
                <a:cs typeface="Calibri" pitchFamily="34" charset="-120"/>
              </a:rPr>
              <a:t>- zulassung : Entscheidung</a:t>
            </a:r>
            <a:endParaRPr lang="en-US" sz="800" dirty="0"/>
          </a:p>
          <a:p>
            <a:pPr marL="0" indent="0">
              <a:buNone/>
            </a:pPr>
            <a:r>
              <a:rPr lang="en-US" sz="800" dirty="0">
                <a:solidFill>
                  <a:srgbClr val="1F2A1F"/>
                </a:solidFill>
                <a:latin typeface="Calibri" pitchFamily="34" charset="0"/>
                <a:ea typeface="Calibri" pitchFamily="34" charset="-122"/>
                <a:cs typeface="Calibri" pitchFamily="34" charset="-120"/>
              </a:rPr>
              <a:t>- status : Antragsstatus</a:t>
            </a:r>
            <a:endParaRPr lang="en-US" sz="800" dirty="0"/>
          </a:p>
        </p:txBody>
      </p:sp>
      <p:sp>
        <p:nvSpPr>
          <p:cNvPr id="15" name="Shape 13"/>
          <p:cNvSpPr/>
          <p:nvPr/>
        </p:nvSpPr>
        <p:spPr>
          <a:xfrm>
            <a:off x="6675120" y="1024128"/>
            <a:ext cx="2011680" cy="658368"/>
          </a:xfrm>
          <a:prstGeom prst="rect">
            <a:avLst/>
          </a:prstGeom>
          <a:solidFill>
            <a:srgbClr val="FFFFFF"/>
          </a:solidFill>
          <a:ln w="15875">
            <a:solidFill>
              <a:srgbClr val="1F2A1F"/>
            </a:solidFill>
            <a:prstDash val="solid"/>
          </a:ln>
        </p:spPr>
      </p:sp>
      <p:sp>
        <p:nvSpPr>
          <p:cNvPr id="16" name="Shape 14"/>
          <p:cNvSpPr/>
          <p:nvPr/>
        </p:nvSpPr>
        <p:spPr>
          <a:xfrm>
            <a:off x="6675120" y="1024128"/>
            <a:ext cx="2011680" cy="292608"/>
          </a:xfrm>
          <a:prstGeom prst="rect">
            <a:avLst/>
          </a:prstGeom>
          <a:solidFill>
            <a:srgbClr val="EEF4E8"/>
          </a:solidFill>
          <a:ln w="15875">
            <a:solidFill>
              <a:srgbClr val="1F2A1F"/>
            </a:solidFill>
            <a:prstDash val="solid"/>
          </a:ln>
        </p:spPr>
      </p:sp>
      <p:sp>
        <p:nvSpPr>
          <p:cNvPr id="17" name="Text 15"/>
          <p:cNvSpPr txBox="1"/>
          <p:nvPr/>
        </p:nvSpPr>
        <p:spPr>
          <a:xfrm>
            <a:off x="6675120" y="1024128"/>
            <a:ext cx="2011680" cy="292608"/>
          </a:xfrm>
          <a:prstGeom prst="rect">
            <a:avLst/>
          </a:prstGeom>
          <a:noFill/>
          <a:ln/>
        </p:spPr>
        <p:txBody>
          <a:bodyPr wrap="square" lIns="0" tIns="0" rIns="0" bIns="0" rtlCol="0" anchor="ctr"/>
          <a:lstStyle/>
          <a:p>
            <a:pPr marL="0" indent="0" algn="ctr">
              <a:buNone/>
            </a:pPr>
            <a:r>
              <a:rPr lang="en-US" sz="1000" b="1" dirty="0">
                <a:solidFill>
                  <a:srgbClr val="1F2A1F"/>
                </a:solidFill>
                <a:latin typeface="Calibri" pitchFamily="34" charset="0"/>
                <a:ea typeface="Calibri" pitchFamily="34" charset="-122"/>
                <a:cs typeface="Calibri" pitchFamily="34" charset="-120"/>
              </a:rPr>
              <a:t>Erstprüfer:in</a:t>
            </a:r>
            <a:endParaRPr lang="en-US" sz="1000" dirty="0"/>
          </a:p>
        </p:txBody>
      </p:sp>
      <p:sp>
        <p:nvSpPr>
          <p:cNvPr id="18" name="Text 16"/>
          <p:cNvSpPr txBox="1"/>
          <p:nvPr/>
        </p:nvSpPr>
        <p:spPr>
          <a:xfrm>
            <a:off x="6748272" y="1362456"/>
            <a:ext cx="1865376" cy="292608"/>
          </a:xfrm>
          <a:prstGeom prst="rect">
            <a:avLst/>
          </a:prstGeom>
          <a:noFill/>
          <a:ln/>
        </p:spPr>
        <p:txBody>
          <a:bodyPr wrap="square" lIns="0" tIns="0" rIns="0" bIns="0" rtlCol="0" anchor="t"/>
          <a:lstStyle/>
          <a:p>
            <a:pPr marL="171450" indent="-171450">
              <a:buFontTx/>
              <a:buChar char="-"/>
            </a:pPr>
            <a:r>
              <a:rPr lang="en-US" sz="800" dirty="0">
                <a:solidFill>
                  <a:srgbClr val="1F2A1F"/>
                </a:solidFill>
                <a:latin typeface="Calibri" pitchFamily="34" charset="0"/>
                <a:ea typeface="Calibri" pitchFamily="34" charset="-122"/>
                <a:cs typeface="Calibri" pitchFamily="34" charset="-120"/>
              </a:rPr>
              <a:t>name : String</a:t>
            </a:r>
          </a:p>
          <a:p>
            <a:r>
              <a:rPr lang="en-US" sz="800" dirty="0">
                <a:solidFill>
                  <a:srgbClr val="1F2A1F"/>
                </a:solidFill>
                <a:latin typeface="Calibri" pitchFamily="34" charset="0"/>
                <a:cs typeface="Calibri" pitchFamily="34" charset="-120"/>
              </a:rPr>
              <a:t>-       THM </a:t>
            </a:r>
            <a:r>
              <a:rPr lang="en-US" sz="800" dirty="0" err="1">
                <a:solidFill>
                  <a:srgbClr val="1F2A1F"/>
                </a:solidFill>
                <a:latin typeface="Calibri" pitchFamily="34" charset="0"/>
                <a:cs typeface="Calibri" pitchFamily="34" charset="-120"/>
              </a:rPr>
              <a:t>Prüfernummer</a:t>
            </a:r>
            <a:r>
              <a:rPr lang="en-US" sz="800" dirty="0">
                <a:solidFill>
                  <a:srgbClr val="1F2A1F"/>
                </a:solidFill>
                <a:latin typeface="Calibri" pitchFamily="34" charset="0"/>
                <a:cs typeface="Calibri" pitchFamily="34" charset="-120"/>
              </a:rPr>
              <a:t>: Int</a:t>
            </a:r>
            <a:endParaRPr lang="en-US" sz="800" dirty="0"/>
          </a:p>
        </p:txBody>
      </p:sp>
      <p:sp>
        <p:nvSpPr>
          <p:cNvPr id="19" name="Shape 17"/>
          <p:cNvSpPr/>
          <p:nvPr/>
        </p:nvSpPr>
        <p:spPr>
          <a:xfrm>
            <a:off x="2103120" y="3154680"/>
            <a:ext cx="2011680" cy="658368"/>
          </a:xfrm>
          <a:prstGeom prst="rect">
            <a:avLst/>
          </a:prstGeom>
          <a:solidFill>
            <a:srgbClr val="FFFFFF"/>
          </a:solidFill>
          <a:ln w="15875">
            <a:solidFill>
              <a:srgbClr val="1F2A1F"/>
            </a:solidFill>
            <a:prstDash val="solid"/>
          </a:ln>
        </p:spPr>
      </p:sp>
      <p:sp>
        <p:nvSpPr>
          <p:cNvPr id="20" name="Shape 18"/>
          <p:cNvSpPr/>
          <p:nvPr/>
        </p:nvSpPr>
        <p:spPr>
          <a:xfrm>
            <a:off x="2103120" y="3154680"/>
            <a:ext cx="2011680" cy="292608"/>
          </a:xfrm>
          <a:prstGeom prst="rect">
            <a:avLst/>
          </a:prstGeom>
          <a:solidFill>
            <a:srgbClr val="EEF4E8"/>
          </a:solidFill>
          <a:ln w="15875">
            <a:solidFill>
              <a:srgbClr val="1F2A1F"/>
            </a:solidFill>
            <a:prstDash val="solid"/>
          </a:ln>
        </p:spPr>
      </p:sp>
      <p:sp>
        <p:nvSpPr>
          <p:cNvPr id="21" name="Text 19"/>
          <p:cNvSpPr txBox="1"/>
          <p:nvPr/>
        </p:nvSpPr>
        <p:spPr>
          <a:xfrm>
            <a:off x="2103120" y="3154680"/>
            <a:ext cx="2011680" cy="292608"/>
          </a:xfrm>
          <a:prstGeom prst="rect">
            <a:avLst/>
          </a:prstGeom>
          <a:noFill/>
          <a:ln/>
        </p:spPr>
        <p:txBody>
          <a:bodyPr wrap="square" lIns="0" tIns="0" rIns="0" bIns="0" rtlCol="0" anchor="ctr"/>
          <a:lstStyle/>
          <a:p>
            <a:pPr marL="0" indent="0" algn="ctr">
              <a:buNone/>
            </a:pPr>
            <a:r>
              <a:rPr lang="en-US" sz="1000" b="1" dirty="0">
                <a:solidFill>
                  <a:srgbClr val="1F2A1F"/>
                </a:solidFill>
                <a:latin typeface="Calibri" pitchFamily="34" charset="0"/>
                <a:ea typeface="Calibri" pitchFamily="34" charset="-122"/>
                <a:cs typeface="Calibri" pitchFamily="34" charset="-120"/>
              </a:rPr>
              <a:t>Thema</a:t>
            </a:r>
            <a:endParaRPr lang="en-US" sz="1000" dirty="0"/>
          </a:p>
        </p:txBody>
      </p:sp>
      <p:sp>
        <p:nvSpPr>
          <p:cNvPr id="22" name="Text 20"/>
          <p:cNvSpPr txBox="1"/>
          <p:nvPr/>
        </p:nvSpPr>
        <p:spPr>
          <a:xfrm>
            <a:off x="2176272" y="3493008"/>
            <a:ext cx="1865376" cy="292608"/>
          </a:xfrm>
          <a:prstGeom prst="rect">
            <a:avLst/>
          </a:prstGeom>
          <a:noFill/>
          <a:ln/>
        </p:spPr>
        <p:txBody>
          <a:bodyPr wrap="square" lIns="0" tIns="0" rIns="0" bIns="0" rtlCol="0" anchor="t"/>
          <a:lstStyle/>
          <a:p>
            <a:pPr marL="0" indent="0">
              <a:buNone/>
            </a:pPr>
            <a:r>
              <a:rPr lang="en-US" sz="800" dirty="0">
                <a:solidFill>
                  <a:srgbClr val="1F2A1F"/>
                </a:solidFill>
                <a:latin typeface="Calibri" pitchFamily="34" charset="0"/>
                <a:ea typeface="Calibri" pitchFamily="34" charset="-122"/>
                <a:cs typeface="Calibri" pitchFamily="34" charset="-120"/>
              </a:rPr>
              <a:t>- wortlaut : String</a:t>
            </a:r>
            <a:endParaRPr lang="en-US" sz="800" dirty="0"/>
          </a:p>
        </p:txBody>
      </p:sp>
      <p:sp>
        <p:nvSpPr>
          <p:cNvPr id="23" name="Shape 21"/>
          <p:cNvSpPr/>
          <p:nvPr/>
        </p:nvSpPr>
        <p:spPr>
          <a:xfrm>
            <a:off x="5029200" y="3154680"/>
            <a:ext cx="2011680" cy="768096"/>
          </a:xfrm>
          <a:prstGeom prst="rect">
            <a:avLst/>
          </a:prstGeom>
          <a:solidFill>
            <a:srgbClr val="FFFFFF"/>
          </a:solidFill>
          <a:ln w="15875">
            <a:solidFill>
              <a:srgbClr val="1F2A1F"/>
            </a:solidFill>
            <a:prstDash val="solid"/>
          </a:ln>
        </p:spPr>
      </p:sp>
      <p:sp>
        <p:nvSpPr>
          <p:cNvPr id="24" name="Shape 22"/>
          <p:cNvSpPr/>
          <p:nvPr/>
        </p:nvSpPr>
        <p:spPr>
          <a:xfrm>
            <a:off x="5029200" y="3154680"/>
            <a:ext cx="2011680" cy="292608"/>
          </a:xfrm>
          <a:prstGeom prst="rect">
            <a:avLst/>
          </a:prstGeom>
          <a:solidFill>
            <a:srgbClr val="EEF4E8"/>
          </a:solidFill>
          <a:ln w="15875">
            <a:solidFill>
              <a:srgbClr val="1F2A1F"/>
            </a:solidFill>
            <a:prstDash val="solid"/>
          </a:ln>
        </p:spPr>
      </p:sp>
      <p:sp>
        <p:nvSpPr>
          <p:cNvPr id="25" name="Text 23"/>
          <p:cNvSpPr txBox="1"/>
          <p:nvPr/>
        </p:nvSpPr>
        <p:spPr>
          <a:xfrm>
            <a:off x="5029200" y="3154680"/>
            <a:ext cx="2011680" cy="292608"/>
          </a:xfrm>
          <a:prstGeom prst="rect">
            <a:avLst/>
          </a:prstGeom>
          <a:noFill/>
          <a:ln/>
        </p:spPr>
        <p:txBody>
          <a:bodyPr wrap="square" lIns="0" tIns="0" rIns="0" bIns="0" rtlCol="0" anchor="ctr"/>
          <a:lstStyle/>
          <a:p>
            <a:pPr marL="0" indent="0" algn="ctr">
              <a:buNone/>
            </a:pPr>
            <a:r>
              <a:rPr lang="en-US" sz="1000" b="1" dirty="0">
                <a:solidFill>
                  <a:srgbClr val="1F2A1F"/>
                </a:solidFill>
                <a:latin typeface="Calibri" pitchFamily="34" charset="0"/>
                <a:ea typeface="Calibri" pitchFamily="34" charset="-122"/>
                <a:cs typeface="Calibri" pitchFamily="34" charset="-120"/>
              </a:rPr>
              <a:t>Themenfreigabe</a:t>
            </a:r>
            <a:endParaRPr lang="en-US" sz="1000" dirty="0"/>
          </a:p>
        </p:txBody>
      </p:sp>
      <p:sp>
        <p:nvSpPr>
          <p:cNvPr id="26" name="Text 24"/>
          <p:cNvSpPr txBox="1"/>
          <p:nvPr/>
        </p:nvSpPr>
        <p:spPr>
          <a:xfrm>
            <a:off x="5102352" y="3493008"/>
            <a:ext cx="1865376" cy="402336"/>
          </a:xfrm>
          <a:prstGeom prst="rect">
            <a:avLst/>
          </a:prstGeom>
          <a:noFill/>
          <a:ln/>
        </p:spPr>
        <p:txBody>
          <a:bodyPr wrap="square" lIns="0" tIns="0" rIns="0" bIns="0" rtlCol="0" anchor="t"/>
          <a:lstStyle/>
          <a:p>
            <a:pPr marL="0" indent="0">
              <a:buNone/>
            </a:pPr>
            <a:r>
              <a:rPr lang="en-US" sz="800" dirty="0">
                <a:solidFill>
                  <a:srgbClr val="1F2A1F"/>
                </a:solidFill>
                <a:latin typeface="Calibri" pitchFamily="34" charset="0"/>
                <a:ea typeface="Calibri" pitchFamily="34" charset="-122"/>
                <a:cs typeface="Calibri" pitchFamily="34" charset="-120"/>
              </a:rPr>
              <a:t>- zeitpunkt : Datum</a:t>
            </a:r>
            <a:endParaRPr lang="en-US" sz="800" dirty="0"/>
          </a:p>
          <a:p>
            <a:pPr marL="0" indent="0">
              <a:buNone/>
            </a:pPr>
            <a:r>
              <a:rPr lang="en-US" sz="800" dirty="0">
                <a:solidFill>
                  <a:srgbClr val="1F2A1F"/>
                </a:solidFill>
                <a:latin typeface="Calibri" pitchFamily="34" charset="0"/>
                <a:ea typeface="Calibri" pitchFamily="34" charset="-122"/>
                <a:cs typeface="Calibri" pitchFamily="34" charset="-120"/>
              </a:rPr>
              <a:t>- vorschlagBestaetigt : Boolean</a:t>
            </a:r>
            <a:endParaRPr lang="en-US" sz="800" dirty="0"/>
          </a:p>
        </p:txBody>
      </p:sp>
      <p:sp>
        <p:nvSpPr>
          <p:cNvPr id="27" name="Shape 25"/>
          <p:cNvSpPr/>
          <p:nvPr/>
        </p:nvSpPr>
        <p:spPr>
          <a:xfrm>
            <a:off x="2468880" y="1527048"/>
            <a:ext cx="1097280" cy="914"/>
          </a:xfrm>
          <a:prstGeom prst="line">
            <a:avLst/>
          </a:prstGeom>
          <a:noFill/>
          <a:ln w="15875">
            <a:solidFill>
              <a:srgbClr val="1F2A1F"/>
            </a:solidFill>
            <a:prstDash val="solid"/>
          </a:ln>
        </p:spPr>
      </p:sp>
      <p:sp>
        <p:nvSpPr>
          <p:cNvPr id="28" name="Text 26"/>
          <p:cNvSpPr txBox="1"/>
          <p:nvPr/>
        </p:nvSpPr>
        <p:spPr>
          <a:xfrm>
            <a:off x="2468880" y="1325880"/>
            <a:ext cx="1097280" cy="164592"/>
          </a:xfrm>
          <a:prstGeom prst="rect">
            <a:avLst/>
          </a:prstGeom>
          <a:noFill/>
          <a:ln/>
        </p:spPr>
        <p:txBody>
          <a:bodyPr wrap="square" lIns="0" tIns="0" rIns="0" bIns="0" rtlCol="0" anchor="ctr"/>
          <a:lstStyle/>
          <a:p>
            <a:pPr marL="0" indent="0" algn="ctr">
              <a:buNone/>
            </a:pPr>
            <a:r>
              <a:rPr lang="en-US" sz="800" i="1" dirty="0">
                <a:solidFill>
                  <a:srgbClr val="5C6B5C"/>
                </a:solidFill>
                <a:latin typeface="Calibri" pitchFamily="34" charset="0"/>
                <a:ea typeface="Calibri" pitchFamily="34" charset="-122"/>
                <a:cs typeface="Calibri" pitchFamily="34" charset="-120"/>
              </a:rPr>
              <a:t>stellt</a:t>
            </a:r>
            <a:endParaRPr lang="en-US" sz="800" dirty="0"/>
          </a:p>
        </p:txBody>
      </p:sp>
      <p:sp>
        <p:nvSpPr>
          <p:cNvPr id="29" name="Text 27"/>
          <p:cNvSpPr txBox="1"/>
          <p:nvPr/>
        </p:nvSpPr>
        <p:spPr>
          <a:xfrm>
            <a:off x="2514600" y="1554480"/>
            <a:ext cx="411480" cy="164592"/>
          </a:xfrm>
          <a:prstGeom prst="rect">
            <a:avLst/>
          </a:prstGeom>
          <a:noFill/>
          <a:ln/>
        </p:spPr>
        <p:txBody>
          <a:bodyPr wrap="square" lIns="0" tIns="0" rIns="0" bIns="0" rtlCol="0" anchor="ctr"/>
          <a:lstStyle/>
          <a:p>
            <a:pPr marL="0" indent="0" algn="l">
              <a:buNone/>
            </a:pPr>
            <a:r>
              <a:rPr lang="en-US" sz="850" b="1" dirty="0">
                <a:solidFill>
                  <a:srgbClr val="1F2A1F"/>
                </a:solidFill>
                <a:latin typeface="Calibri" pitchFamily="34" charset="0"/>
                <a:ea typeface="Calibri" pitchFamily="34" charset="-122"/>
                <a:cs typeface="Calibri" pitchFamily="34" charset="-120"/>
              </a:rPr>
              <a:t>1</a:t>
            </a:r>
            <a:endParaRPr lang="en-US" sz="850" dirty="0"/>
          </a:p>
        </p:txBody>
      </p:sp>
      <p:sp>
        <p:nvSpPr>
          <p:cNvPr id="30" name="Text 28"/>
          <p:cNvSpPr txBox="1"/>
          <p:nvPr/>
        </p:nvSpPr>
        <p:spPr>
          <a:xfrm>
            <a:off x="3108960" y="1554480"/>
            <a:ext cx="411480" cy="164592"/>
          </a:xfrm>
          <a:prstGeom prst="rect">
            <a:avLst/>
          </a:prstGeom>
          <a:noFill/>
          <a:ln/>
        </p:spPr>
        <p:txBody>
          <a:bodyPr wrap="square" lIns="0" tIns="0" rIns="0" bIns="0" rtlCol="0" anchor="ctr"/>
          <a:lstStyle/>
          <a:p>
            <a:pPr marL="0" indent="0" algn="r">
              <a:buNone/>
            </a:pPr>
            <a:r>
              <a:rPr lang="en-US" sz="850" b="1" dirty="0">
                <a:solidFill>
                  <a:srgbClr val="1F2A1F"/>
                </a:solidFill>
                <a:latin typeface="Calibri" pitchFamily="34" charset="0"/>
                <a:ea typeface="Calibri" pitchFamily="34" charset="-122"/>
                <a:cs typeface="Calibri" pitchFamily="34" charset="-120"/>
              </a:rPr>
              <a:t>1..*</a:t>
            </a:r>
            <a:endParaRPr lang="en-US" sz="850" dirty="0"/>
          </a:p>
        </p:txBody>
      </p:sp>
      <p:sp>
        <p:nvSpPr>
          <p:cNvPr id="31" name="Shape 29"/>
          <p:cNvSpPr/>
          <p:nvPr/>
        </p:nvSpPr>
        <p:spPr>
          <a:xfrm>
            <a:off x="5577840" y="1527048"/>
            <a:ext cx="1097280" cy="914"/>
          </a:xfrm>
          <a:prstGeom prst="line">
            <a:avLst/>
          </a:prstGeom>
          <a:noFill/>
          <a:ln w="15875">
            <a:solidFill>
              <a:srgbClr val="1F2A1F"/>
            </a:solidFill>
            <a:prstDash val="solid"/>
          </a:ln>
        </p:spPr>
      </p:sp>
      <p:sp>
        <p:nvSpPr>
          <p:cNvPr id="32" name="Text 30"/>
          <p:cNvSpPr txBox="1"/>
          <p:nvPr/>
        </p:nvSpPr>
        <p:spPr>
          <a:xfrm>
            <a:off x="5577840" y="1325880"/>
            <a:ext cx="1097280" cy="164592"/>
          </a:xfrm>
          <a:prstGeom prst="rect">
            <a:avLst/>
          </a:prstGeom>
          <a:noFill/>
          <a:ln/>
        </p:spPr>
        <p:txBody>
          <a:bodyPr wrap="square" lIns="0" tIns="0" rIns="0" bIns="0" rtlCol="0" anchor="ctr"/>
          <a:lstStyle/>
          <a:p>
            <a:pPr marL="0" indent="0" algn="ctr">
              <a:buNone/>
            </a:pPr>
            <a:r>
              <a:rPr lang="en-US" sz="800" i="1" dirty="0">
                <a:solidFill>
                  <a:srgbClr val="5C6B5C"/>
                </a:solidFill>
                <a:latin typeface="Calibri" pitchFamily="34" charset="0"/>
                <a:ea typeface="Calibri" pitchFamily="34" charset="-122"/>
                <a:cs typeface="Calibri" pitchFamily="34" charset="-120"/>
              </a:rPr>
              <a:t>ist zugeordnet</a:t>
            </a:r>
            <a:endParaRPr lang="en-US" sz="800" dirty="0"/>
          </a:p>
        </p:txBody>
      </p:sp>
      <p:sp>
        <p:nvSpPr>
          <p:cNvPr id="33" name="Text 31"/>
          <p:cNvSpPr txBox="1"/>
          <p:nvPr/>
        </p:nvSpPr>
        <p:spPr>
          <a:xfrm>
            <a:off x="5623560" y="1554480"/>
            <a:ext cx="411480" cy="164592"/>
          </a:xfrm>
          <a:prstGeom prst="rect">
            <a:avLst/>
          </a:prstGeom>
          <a:noFill/>
          <a:ln/>
        </p:spPr>
        <p:txBody>
          <a:bodyPr wrap="square" lIns="0" tIns="0" rIns="0" bIns="0" rtlCol="0" anchor="ctr"/>
          <a:lstStyle/>
          <a:p>
            <a:pPr marL="0" indent="0" algn="l">
              <a:buNone/>
            </a:pPr>
            <a:r>
              <a:rPr lang="en-US" sz="850" b="1" dirty="0">
                <a:solidFill>
                  <a:srgbClr val="1F2A1F"/>
                </a:solidFill>
                <a:latin typeface="Calibri" pitchFamily="34" charset="0"/>
                <a:ea typeface="Calibri" pitchFamily="34" charset="-122"/>
                <a:cs typeface="Calibri" pitchFamily="34" charset="-120"/>
              </a:rPr>
              <a:t>0..*</a:t>
            </a:r>
            <a:endParaRPr lang="en-US" sz="850" dirty="0"/>
          </a:p>
        </p:txBody>
      </p:sp>
      <p:sp>
        <p:nvSpPr>
          <p:cNvPr id="34" name="Text 32"/>
          <p:cNvSpPr txBox="1"/>
          <p:nvPr/>
        </p:nvSpPr>
        <p:spPr>
          <a:xfrm>
            <a:off x="6217920" y="1554480"/>
            <a:ext cx="411480" cy="164592"/>
          </a:xfrm>
          <a:prstGeom prst="rect">
            <a:avLst/>
          </a:prstGeom>
          <a:noFill/>
          <a:ln/>
        </p:spPr>
        <p:txBody>
          <a:bodyPr wrap="square" lIns="0" tIns="0" rIns="0" bIns="0" rtlCol="0" anchor="ctr"/>
          <a:lstStyle/>
          <a:p>
            <a:pPr marL="0" indent="0" algn="r">
              <a:buNone/>
            </a:pPr>
            <a:r>
              <a:rPr lang="en-US" sz="850" b="1" dirty="0">
                <a:solidFill>
                  <a:srgbClr val="1F2A1F"/>
                </a:solidFill>
                <a:latin typeface="Calibri" pitchFamily="34" charset="0"/>
                <a:ea typeface="Calibri" pitchFamily="34" charset="-122"/>
                <a:cs typeface="Calibri" pitchFamily="34" charset="-120"/>
              </a:rPr>
              <a:t>1</a:t>
            </a:r>
            <a:endParaRPr lang="en-US" sz="850" dirty="0"/>
          </a:p>
        </p:txBody>
      </p:sp>
      <p:sp>
        <p:nvSpPr>
          <p:cNvPr id="35" name="Shape 33"/>
          <p:cNvSpPr/>
          <p:nvPr/>
        </p:nvSpPr>
        <p:spPr>
          <a:xfrm>
            <a:off x="3840480" y="2340864"/>
            <a:ext cx="914" cy="813816"/>
          </a:xfrm>
          <a:prstGeom prst="line">
            <a:avLst/>
          </a:prstGeom>
          <a:noFill/>
          <a:ln w="15875">
            <a:solidFill>
              <a:srgbClr val="1F2A1F"/>
            </a:solidFill>
            <a:prstDash val="solid"/>
          </a:ln>
        </p:spPr>
      </p:sp>
      <p:sp>
        <p:nvSpPr>
          <p:cNvPr id="36" name="Shape 34"/>
          <p:cNvSpPr/>
          <p:nvPr/>
        </p:nvSpPr>
        <p:spPr>
          <a:xfrm>
            <a:off x="3767328" y="2157984"/>
            <a:ext cx="146304" cy="201168"/>
          </a:xfrm>
          <a:prstGeom prst="diamond">
            <a:avLst/>
          </a:prstGeom>
          <a:solidFill>
            <a:srgbClr val="1F2A1F"/>
          </a:solidFill>
          <a:ln w="12700">
            <a:solidFill>
              <a:srgbClr val="1F2A1F"/>
            </a:solidFill>
            <a:prstDash val="solid"/>
          </a:ln>
        </p:spPr>
      </p:sp>
      <p:sp>
        <p:nvSpPr>
          <p:cNvPr id="37" name="Text 35"/>
          <p:cNvSpPr txBox="1"/>
          <p:nvPr/>
        </p:nvSpPr>
        <p:spPr>
          <a:xfrm>
            <a:off x="3337560" y="2340864"/>
            <a:ext cx="411480" cy="164592"/>
          </a:xfrm>
          <a:prstGeom prst="rect">
            <a:avLst/>
          </a:prstGeom>
          <a:noFill/>
          <a:ln/>
        </p:spPr>
        <p:txBody>
          <a:bodyPr wrap="square" lIns="0" tIns="0" rIns="0" bIns="0" rtlCol="0" anchor="ctr"/>
          <a:lstStyle/>
          <a:p>
            <a:pPr marL="0" indent="0" algn="r">
              <a:buNone/>
            </a:pPr>
            <a:r>
              <a:rPr lang="en-US" sz="850" b="1" dirty="0">
                <a:solidFill>
                  <a:srgbClr val="1F2A1F"/>
                </a:solidFill>
                <a:latin typeface="Calibri" pitchFamily="34" charset="0"/>
                <a:ea typeface="Calibri" pitchFamily="34" charset="-122"/>
                <a:cs typeface="Calibri" pitchFamily="34" charset="-120"/>
              </a:rPr>
              <a:t>1</a:t>
            </a:r>
            <a:endParaRPr lang="en-US" sz="850" dirty="0"/>
          </a:p>
        </p:txBody>
      </p:sp>
      <p:sp>
        <p:nvSpPr>
          <p:cNvPr id="38" name="Text 36"/>
          <p:cNvSpPr txBox="1"/>
          <p:nvPr/>
        </p:nvSpPr>
        <p:spPr>
          <a:xfrm>
            <a:off x="3337560" y="2971800"/>
            <a:ext cx="411480" cy="164592"/>
          </a:xfrm>
          <a:prstGeom prst="rect">
            <a:avLst/>
          </a:prstGeom>
          <a:noFill/>
          <a:ln/>
        </p:spPr>
        <p:txBody>
          <a:bodyPr wrap="square" lIns="0" tIns="0" rIns="0" bIns="0" rtlCol="0" anchor="ctr"/>
          <a:lstStyle/>
          <a:p>
            <a:pPr marL="0" indent="0" algn="r">
              <a:buNone/>
            </a:pPr>
            <a:r>
              <a:rPr lang="en-US" sz="850" b="1" dirty="0">
                <a:solidFill>
                  <a:srgbClr val="1F2A1F"/>
                </a:solidFill>
                <a:latin typeface="Calibri" pitchFamily="34" charset="0"/>
                <a:ea typeface="Calibri" pitchFamily="34" charset="-122"/>
                <a:cs typeface="Calibri" pitchFamily="34" charset="-120"/>
              </a:rPr>
              <a:t>1</a:t>
            </a:r>
            <a:endParaRPr lang="en-US" sz="850" dirty="0"/>
          </a:p>
        </p:txBody>
      </p:sp>
      <p:sp>
        <p:nvSpPr>
          <p:cNvPr id="39" name="Text 37"/>
          <p:cNvSpPr txBox="1"/>
          <p:nvPr/>
        </p:nvSpPr>
        <p:spPr>
          <a:xfrm>
            <a:off x="2926080" y="2638044"/>
            <a:ext cx="822960" cy="164592"/>
          </a:xfrm>
          <a:prstGeom prst="rect">
            <a:avLst/>
          </a:prstGeom>
          <a:noFill/>
          <a:ln/>
        </p:spPr>
        <p:txBody>
          <a:bodyPr wrap="square" lIns="0" tIns="0" rIns="0" bIns="0" rtlCol="0" anchor="ctr"/>
          <a:lstStyle/>
          <a:p>
            <a:pPr marL="0" indent="0" algn="r">
              <a:buNone/>
            </a:pPr>
            <a:r>
              <a:rPr lang="en-US" sz="800" i="1" dirty="0">
                <a:solidFill>
                  <a:srgbClr val="5C6B5C"/>
                </a:solidFill>
                <a:latin typeface="Calibri" pitchFamily="34" charset="0"/>
                <a:ea typeface="Calibri" pitchFamily="34" charset="-122"/>
                <a:cs typeface="Calibri" pitchFamily="34" charset="-120"/>
              </a:rPr>
              <a:t>enthält</a:t>
            </a:r>
            <a:endParaRPr lang="en-US" sz="800" dirty="0"/>
          </a:p>
        </p:txBody>
      </p:sp>
      <p:sp>
        <p:nvSpPr>
          <p:cNvPr id="40" name="Shape 38"/>
          <p:cNvSpPr/>
          <p:nvPr/>
        </p:nvSpPr>
        <p:spPr>
          <a:xfrm>
            <a:off x="5303520" y="2157984"/>
            <a:ext cx="914" cy="996696"/>
          </a:xfrm>
          <a:prstGeom prst="line">
            <a:avLst/>
          </a:prstGeom>
          <a:noFill/>
          <a:ln w="15875">
            <a:solidFill>
              <a:srgbClr val="1F2A1F"/>
            </a:solidFill>
            <a:prstDash val="solid"/>
          </a:ln>
        </p:spPr>
      </p:sp>
      <p:sp>
        <p:nvSpPr>
          <p:cNvPr id="41" name="Text 39"/>
          <p:cNvSpPr txBox="1"/>
          <p:nvPr/>
        </p:nvSpPr>
        <p:spPr>
          <a:xfrm>
            <a:off x="5358384" y="2185416"/>
            <a:ext cx="411480" cy="164592"/>
          </a:xfrm>
          <a:prstGeom prst="rect">
            <a:avLst/>
          </a:prstGeom>
          <a:noFill/>
          <a:ln/>
        </p:spPr>
        <p:txBody>
          <a:bodyPr wrap="square" lIns="0" tIns="0" rIns="0" bIns="0" rtlCol="0" anchor="ctr"/>
          <a:lstStyle/>
          <a:p>
            <a:pPr marL="0" indent="0" algn="l">
              <a:buNone/>
            </a:pPr>
            <a:r>
              <a:rPr lang="en-US" sz="850" b="1" dirty="0">
                <a:solidFill>
                  <a:srgbClr val="1F2A1F"/>
                </a:solidFill>
                <a:latin typeface="Calibri" pitchFamily="34" charset="0"/>
                <a:ea typeface="Calibri" pitchFamily="34" charset="-122"/>
                <a:cs typeface="Calibri" pitchFamily="34" charset="-120"/>
              </a:rPr>
              <a:t>1</a:t>
            </a:r>
            <a:endParaRPr lang="en-US" sz="850" dirty="0"/>
          </a:p>
        </p:txBody>
      </p:sp>
      <p:sp>
        <p:nvSpPr>
          <p:cNvPr id="42" name="Text 40"/>
          <p:cNvSpPr txBox="1"/>
          <p:nvPr/>
        </p:nvSpPr>
        <p:spPr>
          <a:xfrm>
            <a:off x="5358384" y="2971800"/>
            <a:ext cx="411480" cy="164592"/>
          </a:xfrm>
          <a:prstGeom prst="rect">
            <a:avLst/>
          </a:prstGeom>
          <a:noFill/>
          <a:ln/>
        </p:spPr>
        <p:txBody>
          <a:bodyPr wrap="square" lIns="0" tIns="0" rIns="0" bIns="0" rtlCol="0" anchor="ctr"/>
          <a:lstStyle/>
          <a:p>
            <a:pPr marL="0" indent="0" algn="l">
              <a:buNone/>
            </a:pPr>
            <a:r>
              <a:rPr lang="en-US" sz="850" b="1" dirty="0">
                <a:solidFill>
                  <a:srgbClr val="1F2A1F"/>
                </a:solidFill>
                <a:latin typeface="Calibri" pitchFamily="34" charset="0"/>
                <a:ea typeface="Calibri" pitchFamily="34" charset="-122"/>
                <a:cs typeface="Calibri" pitchFamily="34" charset="-120"/>
              </a:rPr>
              <a:t>0..1</a:t>
            </a:r>
            <a:endParaRPr lang="en-US" sz="850" dirty="0"/>
          </a:p>
        </p:txBody>
      </p:sp>
      <p:sp>
        <p:nvSpPr>
          <p:cNvPr id="43" name="Text 41"/>
          <p:cNvSpPr txBox="1"/>
          <p:nvPr/>
        </p:nvSpPr>
        <p:spPr>
          <a:xfrm>
            <a:off x="5358384" y="2610612"/>
            <a:ext cx="457200" cy="164592"/>
          </a:xfrm>
          <a:prstGeom prst="rect">
            <a:avLst/>
          </a:prstGeom>
          <a:noFill/>
          <a:ln/>
        </p:spPr>
        <p:txBody>
          <a:bodyPr wrap="square" lIns="0" tIns="0" rIns="0" bIns="0" rtlCol="0" anchor="ctr"/>
          <a:lstStyle/>
          <a:p>
            <a:pPr marL="0" indent="0">
              <a:buNone/>
            </a:pPr>
            <a:r>
              <a:rPr lang="en-US" sz="800" i="1" dirty="0">
                <a:solidFill>
                  <a:srgbClr val="5C6B5C"/>
                </a:solidFill>
                <a:latin typeface="Calibri" pitchFamily="34" charset="0"/>
                <a:ea typeface="Calibri" pitchFamily="34" charset="-122"/>
                <a:cs typeface="Calibri" pitchFamily="34" charset="-120"/>
              </a:rPr>
              <a:t>hat</a:t>
            </a:r>
            <a:endParaRPr lang="en-US" sz="800" dirty="0"/>
          </a:p>
        </p:txBody>
      </p:sp>
      <p:sp>
        <p:nvSpPr>
          <p:cNvPr id="44" name="Shape 42"/>
          <p:cNvSpPr/>
          <p:nvPr/>
        </p:nvSpPr>
        <p:spPr>
          <a:xfrm>
            <a:off x="6858000" y="1682496"/>
            <a:ext cx="914" cy="1472184"/>
          </a:xfrm>
          <a:prstGeom prst="line">
            <a:avLst/>
          </a:prstGeom>
          <a:noFill/>
          <a:ln w="15875">
            <a:solidFill>
              <a:srgbClr val="1F2A1F"/>
            </a:solidFill>
            <a:prstDash val="solid"/>
          </a:ln>
        </p:spPr>
      </p:sp>
      <p:sp>
        <p:nvSpPr>
          <p:cNvPr id="45" name="Text 43"/>
          <p:cNvSpPr txBox="1"/>
          <p:nvPr/>
        </p:nvSpPr>
        <p:spPr>
          <a:xfrm>
            <a:off x="6912864" y="1709928"/>
            <a:ext cx="411480" cy="164592"/>
          </a:xfrm>
          <a:prstGeom prst="rect">
            <a:avLst/>
          </a:prstGeom>
          <a:noFill/>
          <a:ln/>
        </p:spPr>
        <p:txBody>
          <a:bodyPr wrap="square" lIns="0" tIns="0" rIns="0" bIns="0" rtlCol="0" anchor="ctr"/>
          <a:lstStyle/>
          <a:p>
            <a:pPr marL="0" indent="0" algn="l">
              <a:buNone/>
            </a:pPr>
            <a:r>
              <a:rPr lang="en-US" sz="850" b="1" dirty="0">
                <a:solidFill>
                  <a:srgbClr val="1F2A1F"/>
                </a:solidFill>
                <a:latin typeface="Calibri" pitchFamily="34" charset="0"/>
                <a:ea typeface="Calibri" pitchFamily="34" charset="-122"/>
                <a:cs typeface="Calibri" pitchFamily="34" charset="-120"/>
              </a:rPr>
              <a:t>1</a:t>
            </a:r>
            <a:endParaRPr lang="en-US" sz="850" dirty="0"/>
          </a:p>
        </p:txBody>
      </p:sp>
      <p:sp>
        <p:nvSpPr>
          <p:cNvPr id="46" name="Text 44"/>
          <p:cNvSpPr txBox="1"/>
          <p:nvPr/>
        </p:nvSpPr>
        <p:spPr>
          <a:xfrm>
            <a:off x="6912864" y="2971800"/>
            <a:ext cx="411480" cy="164592"/>
          </a:xfrm>
          <a:prstGeom prst="rect">
            <a:avLst/>
          </a:prstGeom>
          <a:noFill/>
          <a:ln/>
        </p:spPr>
        <p:txBody>
          <a:bodyPr wrap="square" lIns="0" tIns="0" rIns="0" bIns="0" rtlCol="0" anchor="ctr"/>
          <a:lstStyle/>
          <a:p>
            <a:pPr marL="0" indent="0" algn="l">
              <a:buNone/>
            </a:pPr>
            <a:r>
              <a:rPr lang="en-US" sz="850" b="1" dirty="0">
                <a:solidFill>
                  <a:srgbClr val="1F2A1F"/>
                </a:solidFill>
                <a:latin typeface="Calibri" pitchFamily="34" charset="0"/>
                <a:ea typeface="Calibri" pitchFamily="34" charset="-122"/>
                <a:cs typeface="Calibri" pitchFamily="34" charset="-120"/>
              </a:rPr>
              <a:t>0..*</a:t>
            </a:r>
            <a:endParaRPr lang="en-US" sz="850" dirty="0"/>
          </a:p>
        </p:txBody>
      </p:sp>
      <p:sp>
        <p:nvSpPr>
          <p:cNvPr id="47" name="Text 45"/>
          <p:cNvSpPr txBox="1"/>
          <p:nvPr/>
        </p:nvSpPr>
        <p:spPr>
          <a:xfrm>
            <a:off x="6912864" y="2372868"/>
            <a:ext cx="548640" cy="164592"/>
          </a:xfrm>
          <a:prstGeom prst="rect">
            <a:avLst/>
          </a:prstGeom>
          <a:noFill/>
          <a:ln/>
        </p:spPr>
        <p:txBody>
          <a:bodyPr wrap="square" lIns="0" tIns="0" rIns="0" bIns="0" rtlCol="0" anchor="ctr"/>
          <a:lstStyle/>
          <a:p>
            <a:pPr marL="0" indent="0">
              <a:buNone/>
            </a:pPr>
            <a:r>
              <a:rPr lang="en-US" sz="800" i="1" dirty="0">
                <a:solidFill>
                  <a:srgbClr val="5C6B5C"/>
                </a:solidFill>
                <a:latin typeface="Calibri" pitchFamily="34" charset="0"/>
                <a:ea typeface="Calibri" pitchFamily="34" charset="-122"/>
                <a:cs typeface="Calibri" pitchFamily="34" charset="-120"/>
              </a:rPr>
              <a:t>erteilt</a:t>
            </a:r>
            <a:endParaRPr lang="en-US" sz="800" dirty="0"/>
          </a:p>
        </p:txBody>
      </p:sp>
      <p:sp>
        <p:nvSpPr>
          <p:cNvPr id="48" name="Shape 46"/>
          <p:cNvSpPr/>
          <p:nvPr/>
        </p:nvSpPr>
        <p:spPr>
          <a:xfrm>
            <a:off x="411480" y="4114800"/>
            <a:ext cx="8321040" cy="566928"/>
          </a:xfrm>
          <a:prstGeom prst="roundRect">
            <a:avLst>
              <a:gd name="adj" fmla="val 12903"/>
            </a:avLst>
          </a:prstGeom>
          <a:solidFill>
            <a:srgbClr val="EEF4E8"/>
          </a:solidFill>
          <a:ln w="12700">
            <a:solidFill>
              <a:srgbClr val="EEF4E8"/>
            </a:solidFill>
            <a:prstDash val="solid"/>
          </a:ln>
        </p:spPr>
      </p:sp>
      <p:sp>
        <p:nvSpPr>
          <p:cNvPr id="49" name="Text 47"/>
          <p:cNvSpPr txBox="1"/>
          <p:nvPr/>
        </p:nvSpPr>
        <p:spPr>
          <a:xfrm>
            <a:off x="548640" y="4114800"/>
            <a:ext cx="8046720" cy="566928"/>
          </a:xfrm>
          <a:prstGeom prst="rect">
            <a:avLst/>
          </a:prstGeom>
          <a:noFill/>
          <a:ln/>
        </p:spPr>
        <p:txBody>
          <a:bodyPr wrap="square" lIns="0" tIns="0" rIns="0" bIns="0" rtlCol="0" anchor="ctr"/>
          <a:lstStyle/>
          <a:p>
            <a:pPr marL="0" indent="0">
              <a:buNone/>
            </a:pPr>
            <a:r>
              <a:rPr lang="en-US" sz="900" b="1" dirty="0">
                <a:solidFill>
                  <a:srgbClr val="2C5F2D"/>
                </a:solidFill>
                <a:latin typeface="Calibri" pitchFamily="34" charset="0"/>
                <a:ea typeface="Calibri" pitchFamily="34" charset="-122"/>
                <a:cs typeface="Calibri" pitchFamily="34" charset="-120"/>
              </a:rPr>
              <a:t>Lesart: </a:t>
            </a:r>
            <a:r>
              <a:rPr lang="en-US" sz="900" dirty="0">
                <a:solidFill>
                  <a:srgbClr val="1F2A1F"/>
                </a:solidFill>
                <a:latin typeface="Calibri" pitchFamily="34" charset="0"/>
                <a:ea typeface="Calibri" pitchFamily="34" charset="-122"/>
                <a:cs typeface="Calibri" pitchFamily="34" charset="-120"/>
              </a:rPr>
              <a:t>Ein Antrag enthält genau ein Thema (Komposition) und hat höchstens eine Themenfreigabe. Sie wird von genau einer Erstprüfer:in erteilt, die dem Antrag zugeordnet ist. Wertebereich von „status“ noch zu validieren.</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11480" y="201168"/>
            <a:ext cx="5943600" cy="457200"/>
          </a:xfrm>
          <a:prstGeom prst="rect">
            <a:avLst/>
          </a:prstGeom>
          <a:noFill/>
          <a:ln/>
        </p:spPr>
        <p:txBody>
          <a:bodyPr wrap="square" lIns="0" tIns="0" rIns="0" bIns="0" rtlCol="0" anchor="ctr"/>
          <a:lstStyle/>
          <a:p>
            <a:pPr marL="0" indent="0">
              <a:buNone/>
            </a:pPr>
            <a:r>
              <a:rPr lang="en-US" sz="2200" b="1" dirty="0">
                <a:solidFill>
                  <a:srgbClr val="1F2A1F"/>
                </a:solidFill>
                <a:latin typeface="Cambria" pitchFamily="34" charset="0"/>
                <a:ea typeface="Cambria" pitchFamily="34" charset="-122"/>
                <a:cs typeface="Cambria" pitchFamily="34" charset="-120"/>
              </a:rPr>
              <a:t>5. Control</a:t>
            </a:r>
            <a:endParaRPr lang="en-US" sz="2200" dirty="0"/>
          </a:p>
        </p:txBody>
      </p:sp>
      <p:sp>
        <p:nvSpPr>
          <p:cNvPr id="3" name="Text 1"/>
          <p:cNvSpPr txBox="1"/>
          <p:nvPr/>
        </p:nvSpPr>
        <p:spPr>
          <a:xfrm>
            <a:off x="6035040" y="274320"/>
            <a:ext cx="2697480" cy="274320"/>
          </a:xfrm>
          <a:prstGeom prst="rect">
            <a:avLst/>
          </a:prstGeom>
          <a:noFill/>
          <a:ln/>
        </p:spPr>
        <p:txBody>
          <a:bodyPr wrap="square" lIns="0" tIns="0" rIns="0" bIns="0" rtlCol="0" anchor="ctr"/>
          <a:lstStyle/>
          <a:p>
            <a:pPr marL="0" indent="0" algn="r">
              <a:buNone/>
            </a:pPr>
            <a:r>
              <a:rPr lang="en-US" sz="800" b="1" kern="0" spc="150" dirty="0">
                <a:solidFill>
                  <a:srgbClr val="97BC62"/>
                </a:solidFill>
                <a:latin typeface="Calibri" pitchFamily="34" charset="0"/>
                <a:ea typeface="Calibri" pitchFamily="34" charset="-122"/>
                <a:cs typeface="Calibri" pitchFamily="34" charset="-120"/>
              </a:rPr>
              <a:t>7 DIMENSIONS  ·  5 VON 7</a:t>
            </a:r>
            <a:endParaRPr lang="en-US" sz="800" dirty="0"/>
          </a:p>
        </p:txBody>
      </p:sp>
      <p:sp>
        <p:nvSpPr>
          <p:cNvPr id="4" name="Text 2"/>
          <p:cNvSpPr txBox="1"/>
          <p:nvPr/>
        </p:nvSpPr>
        <p:spPr>
          <a:xfrm>
            <a:off x="411480" y="658368"/>
            <a:ext cx="8321040" cy="201168"/>
          </a:xfrm>
          <a:prstGeom prst="rect">
            <a:avLst/>
          </a:prstGeom>
          <a:noFill/>
          <a:ln/>
        </p:spPr>
        <p:txBody>
          <a:bodyPr wrap="square" lIns="0" tIns="0" rIns="0" bIns="0" rtlCol="0" anchor="t"/>
          <a:lstStyle/>
          <a:p>
            <a:pPr marL="0" indent="0">
              <a:buNone/>
            </a:pPr>
            <a:r>
              <a:rPr lang="en-US" sz="900" dirty="0">
                <a:solidFill>
                  <a:srgbClr val="5C6B5C"/>
                </a:solidFill>
                <a:latin typeface="Calibri" pitchFamily="34" charset="0"/>
                <a:ea typeface="Calibri" pitchFamily="34" charset="-122"/>
                <a:cs typeface="Calibri" pitchFamily="34" charset="-120"/>
              </a:rPr>
              <a:t>US 4.1.1  ·  Erstprüfer:in:  Thema aufrufen  ›  Thema prüfen  ›  Thema bestätigen  ›  Thema freigeben</a:t>
            </a:r>
            <a:endParaRPr lang="en-US" sz="900" dirty="0"/>
          </a:p>
        </p:txBody>
      </p:sp>
      <p:sp>
        <p:nvSpPr>
          <p:cNvPr id="5" name="Text 3"/>
          <p:cNvSpPr txBox="1"/>
          <p:nvPr/>
        </p:nvSpPr>
        <p:spPr>
          <a:xfrm>
            <a:off x="411480" y="4828032"/>
            <a:ext cx="3840480" cy="182880"/>
          </a:xfrm>
          <a:prstGeom prst="rect">
            <a:avLst/>
          </a:prstGeom>
          <a:noFill/>
          <a:ln/>
        </p:spPr>
        <p:txBody>
          <a:bodyPr wrap="square" lIns="0" tIns="0" rIns="0" bIns="0" rtlCol="0" anchor="t"/>
          <a:lstStyle/>
          <a:p>
            <a:pPr marL="0" indent="0">
              <a:buNone/>
            </a:pPr>
            <a:r>
              <a:rPr lang="en-US" sz="750" dirty="0">
                <a:solidFill>
                  <a:srgbClr val="8A968A"/>
                </a:solidFill>
                <a:latin typeface="Calibri" pitchFamily="34" charset="0"/>
                <a:ea typeface="Calibri" pitchFamily="34" charset="-122"/>
                <a:cs typeface="Calibri" pitchFamily="34" charset="-120"/>
              </a:rPr>
              <a:t>ThesisFlow  ·  Requirements Engineering, Gruppe Grün</a:t>
            </a:r>
            <a:endParaRPr lang="en-US" sz="750" dirty="0"/>
          </a:p>
        </p:txBody>
      </p:sp>
      <p:sp>
        <p:nvSpPr>
          <p:cNvPr id="6" name="Text 4"/>
          <p:cNvSpPr txBox="1"/>
          <p:nvPr/>
        </p:nvSpPr>
        <p:spPr>
          <a:xfrm>
            <a:off x="4206240" y="4828032"/>
            <a:ext cx="4526280" cy="182880"/>
          </a:xfrm>
          <a:prstGeom prst="rect">
            <a:avLst/>
          </a:prstGeom>
          <a:noFill/>
          <a:ln/>
        </p:spPr>
        <p:txBody>
          <a:bodyPr wrap="square" lIns="0" tIns="0" rIns="0" bIns="0" rtlCol="0" anchor="t"/>
          <a:lstStyle/>
          <a:p>
            <a:pPr marL="0" indent="0" algn="r">
              <a:buNone/>
            </a:pPr>
            <a:r>
              <a:rPr lang="en-US" sz="750" i="1" dirty="0">
                <a:solidFill>
                  <a:srgbClr val="8A968A"/>
                </a:solidFill>
                <a:latin typeface="Calibri" pitchFamily="34" charset="0"/>
                <a:ea typeface="Calibri" pitchFamily="34" charset="-122"/>
                <a:cs typeface="Calibri" pitchFamily="34" charset="-120"/>
              </a:rPr>
              <a:t>vgl. Vorlesung RE, Kap. 5 Satzschablonen</a:t>
            </a:r>
            <a:endParaRPr lang="en-US" sz="750" dirty="0"/>
          </a:p>
        </p:txBody>
      </p:sp>
      <p:sp>
        <p:nvSpPr>
          <p:cNvPr id="7" name="Shape 5"/>
          <p:cNvSpPr/>
          <p:nvPr/>
        </p:nvSpPr>
        <p:spPr>
          <a:xfrm>
            <a:off x="411480" y="987552"/>
            <a:ext cx="8321040" cy="493776"/>
          </a:xfrm>
          <a:prstGeom prst="roundRect">
            <a:avLst>
              <a:gd name="adj" fmla="val 14815"/>
            </a:avLst>
          </a:prstGeom>
          <a:solidFill>
            <a:srgbClr val="EEF4E8"/>
          </a:solidFill>
          <a:ln w="12700">
            <a:solidFill>
              <a:srgbClr val="EEF4E8"/>
            </a:solidFill>
            <a:prstDash val="solid"/>
          </a:ln>
        </p:spPr>
      </p:sp>
      <p:sp>
        <p:nvSpPr>
          <p:cNvPr id="8" name="Shape 6"/>
          <p:cNvSpPr/>
          <p:nvPr/>
        </p:nvSpPr>
        <p:spPr>
          <a:xfrm>
            <a:off x="502920" y="1078992"/>
            <a:ext cx="457200" cy="310896"/>
          </a:xfrm>
          <a:prstGeom prst="roundRect">
            <a:avLst>
              <a:gd name="adj" fmla="val 14706"/>
            </a:avLst>
          </a:prstGeom>
          <a:solidFill>
            <a:srgbClr val="2C5F2D"/>
          </a:solidFill>
          <a:ln w="12700">
            <a:solidFill>
              <a:srgbClr val="2C5F2D"/>
            </a:solidFill>
            <a:prstDash val="solid"/>
          </a:ln>
        </p:spPr>
      </p:sp>
      <p:sp>
        <p:nvSpPr>
          <p:cNvPr id="9" name="Text 7"/>
          <p:cNvSpPr txBox="1"/>
          <p:nvPr/>
        </p:nvSpPr>
        <p:spPr>
          <a:xfrm>
            <a:off x="502920" y="1078992"/>
            <a:ext cx="457200"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C1</a:t>
            </a:r>
            <a:endParaRPr lang="en-US" sz="1050" dirty="0"/>
          </a:p>
        </p:txBody>
      </p:sp>
      <p:sp>
        <p:nvSpPr>
          <p:cNvPr id="10" name="Text 8"/>
          <p:cNvSpPr txBox="1"/>
          <p:nvPr/>
        </p:nvSpPr>
        <p:spPr>
          <a:xfrm>
            <a:off x="1097280" y="987552"/>
            <a:ext cx="5440680" cy="493776"/>
          </a:xfrm>
          <a:prstGeom prst="rect">
            <a:avLst/>
          </a:prstGeom>
          <a:noFill/>
          <a:ln/>
        </p:spPr>
        <p:txBody>
          <a:bodyPr wrap="square" lIns="0" tIns="0" rIns="0" bIns="0" rtlCol="0" anchor="ctr"/>
          <a:lstStyle/>
          <a:p>
            <a:pPr marL="0" indent="0">
              <a:buNone/>
            </a:pPr>
            <a:r>
              <a:rPr lang="en-US" sz="950" dirty="0">
                <a:solidFill>
                  <a:srgbClr val="1F2A1F"/>
                </a:solidFill>
                <a:latin typeface="Calibri" pitchFamily="34" charset="0"/>
                <a:ea typeface="Calibri" pitchFamily="34" charset="-122"/>
                <a:cs typeface="Calibri" pitchFamily="34" charset="-120"/>
              </a:rPr>
              <a:t>Das System muss der Erstprüfer:in die Möglichkeit bieten, den ihr zugeordneten Antrag mit dem Thema aufzurufen.</a:t>
            </a:r>
            <a:endParaRPr lang="en-US" sz="950" dirty="0"/>
          </a:p>
        </p:txBody>
      </p:sp>
      <p:sp>
        <p:nvSpPr>
          <p:cNvPr id="11" name="Text 9"/>
          <p:cNvSpPr txBox="1"/>
          <p:nvPr/>
        </p:nvSpPr>
        <p:spPr>
          <a:xfrm>
            <a:off x="6675120" y="987552"/>
            <a:ext cx="1965960" cy="493776"/>
          </a:xfrm>
          <a:prstGeom prst="rect">
            <a:avLst/>
          </a:prstGeom>
          <a:noFill/>
          <a:ln/>
        </p:spPr>
        <p:txBody>
          <a:bodyPr wrap="square" lIns="0" tIns="0" rIns="0" bIns="0" rtlCol="0" anchor="ctr"/>
          <a:lstStyle/>
          <a:p>
            <a:pPr marL="0" indent="0">
              <a:buNone/>
            </a:pPr>
            <a:r>
              <a:rPr lang="en-US" sz="750" i="1" dirty="0">
                <a:solidFill>
                  <a:srgbClr val="5C6B5C"/>
                </a:solidFill>
                <a:latin typeface="Calibri" pitchFamily="34" charset="0"/>
                <a:ea typeface="Calibri" pitchFamily="34" charset="-122"/>
                <a:cs typeface="Calibri" pitchFamily="34" charset="-120"/>
              </a:rPr>
              <a:t>User Story 4.1.1</a:t>
            </a:r>
            <a:endParaRPr lang="en-US" sz="750" dirty="0"/>
          </a:p>
        </p:txBody>
      </p:sp>
      <p:sp>
        <p:nvSpPr>
          <p:cNvPr id="12" name="Shape 10"/>
          <p:cNvSpPr/>
          <p:nvPr/>
        </p:nvSpPr>
        <p:spPr>
          <a:xfrm>
            <a:off x="411480" y="1536192"/>
            <a:ext cx="8321040" cy="493776"/>
          </a:xfrm>
          <a:prstGeom prst="roundRect">
            <a:avLst>
              <a:gd name="adj" fmla="val 14815"/>
            </a:avLst>
          </a:prstGeom>
          <a:solidFill>
            <a:srgbClr val="EEF4E8"/>
          </a:solidFill>
          <a:ln w="12700">
            <a:solidFill>
              <a:srgbClr val="EEF4E8"/>
            </a:solidFill>
            <a:prstDash val="solid"/>
          </a:ln>
        </p:spPr>
      </p:sp>
      <p:sp>
        <p:nvSpPr>
          <p:cNvPr id="13" name="Shape 11"/>
          <p:cNvSpPr/>
          <p:nvPr/>
        </p:nvSpPr>
        <p:spPr>
          <a:xfrm>
            <a:off x="502920" y="1627632"/>
            <a:ext cx="457200" cy="310896"/>
          </a:xfrm>
          <a:prstGeom prst="roundRect">
            <a:avLst>
              <a:gd name="adj" fmla="val 14706"/>
            </a:avLst>
          </a:prstGeom>
          <a:solidFill>
            <a:srgbClr val="2C5F2D"/>
          </a:solidFill>
          <a:ln w="12700">
            <a:solidFill>
              <a:srgbClr val="2C5F2D"/>
            </a:solidFill>
            <a:prstDash val="solid"/>
          </a:ln>
        </p:spPr>
      </p:sp>
      <p:sp>
        <p:nvSpPr>
          <p:cNvPr id="14" name="Text 12"/>
          <p:cNvSpPr txBox="1"/>
          <p:nvPr/>
        </p:nvSpPr>
        <p:spPr>
          <a:xfrm>
            <a:off x="502920" y="1627632"/>
            <a:ext cx="457200"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C2</a:t>
            </a:r>
            <a:endParaRPr lang="en-US" sz="1050" dirty="0"/>
          </a:p>
        </p:txBody>
      </p:sp>
      <p:sp>
        <p:nvSpPr>
          <p:cNvPr id="15" name="Text 13"/>
          <p:cNvSpPr txBox="1"/>
          <p:nvPr/>
        </p:nvSpPr>
        <p:spPr>
          <a:xfrm>
            <a:off x="1097280" y="1536192"/>
            <a:ext cx="5440680" cy="493776"/>
          </a:xfrm>
          <a:prstGeom prst="rect">
            <a:avLst/>
          </a:prstGeom>
          <a:noFill/>
          <a:ln/>
        </p:spPr>
        <p:txBody>
          <a:bodyPr wrap="square" lIns="0" tIns="0" rIns="0" bIns="0" rtlCol="0" anchor="ctr"/>
          <a:lstStyle/>
          <a:p>
            <a:pPr marL="0" indent="0">
              <a:buNone/>
            </a:pPr>
            <a:r>
              <a:rPr lang="en-US" sz="950" dirty="0">
                <a:solidFill>
                  <a:srgbClr val="1F2A1F"/>
                </a:solidFill>
                <a:latin typeface="Calibri" pitchFamily="34" charset="0"/>
                <a:ea typeface="Calibri" pitchFamily="34" charset="-122"/>
                <a:cs typeface="Calibri" pitchFamily="34" charset="-120"/>
              </a:rPr>
              <a:t>Falls der Prüfungsausschuss den Antrag angenommen hat, muss das System der Erstprüfer:in die Möglichkeit bieten, das Thema zu bestätigen und freizugeben.</a:t>
            </a:r>
            <a:endParaRPr lang="en-US" sz="950" dirty="0"/>
          </a:p>
        </p:txBody>
      </p:sp>
      <p:sp>
        <p:nvSpPr>
          <p:cNvPr id="16" name="Text 14"/>
          <p:cNvSpPr txBox="1"/>
          <p:nvPr/>
        </p:nvSpPr>
        <p:spPr>
          <a:xfrm>
            <a:off x="6675120" y="1536192"/>
            <a:ext cx="1965960" cy="493776"/>
          </a:xfrm>
          <a:prstGeom prst="rect">
            <a:avLst/>
          </a:prstGeom>
          <a:noFill/>
          <a:ln/>
        </p:spPr>
        <p:txBody>
          <a:bodyPr wrap="square" lIns="0" tIns="0" rIns="0" bIns="0" rtlCol="0" anchor="ctr"/>
          <a:lstStyle/>
          <a:p>
            <a:pPr marL="0" indent="0">
              <a:buNone/>
            </a:pPr>
            <a:r>
              <a:rPr lang="en-US" sz="750" i="1" dirty="0">
                <a:solidFill>
                  <a:srgbClr val="5C6B5C"/>
                </a:solidFill>
                <a:latin typeface="Calibri" pitchFamily="34" charset="0"/>
                <a:ea typeface="Calibri" pitchFamily="34" charset="-122"/>
                <a:cs typeface="Calibri" pitchFamily="34" charset="-120"/>
              </a:rPr>
              <a:t>Zulassungsantrag, Schritte 4 und 5; US 3.2.1</a:t>
            </a:r>
            <a:endParaRPr lang="en-US" sz="750" dirty="0"/>
          </a:p>
        </p:txBody>
      </p:sp>
      <p:sp>
        <p:nvSpPr>
          <p:cNvPr id="17" name="Shape 15"/>
          <p:cNvSpPr/>
          <p:nvPr/>
        </p:nvSpPr>
        <p:spPr>
          <a:xfrm>
            <a:off x="411480" y="2084832"/>
            <a:ext cx="8321040" cy="493776"/>
          </a:xfrm>
          <a:prstGeom prst="roundRect">
            <a:avLst>
              <a:gd name="adj" fmla="val 14815"/>
            </a:avLst>
          </a:prstGeom>
          <a:solidFill>
            <a:srgbClr val="EEF4E8"/>
          </a:solidFill>
          <a:ln w="12700">
            <a:solidFill>
              <a:srgbClr val="EEF4E8"/>
            </a:solidFill>
            <a:prstDash val="solid"/>
          </a:ln>
        </p:spPr>
      </p:sp>
      <p:sp>
        <p:nvSpPr>
          <p:cNvPr id="18" name="Shape 16"/>
          <p:cNvSpPr/>
          <p:nvPr/>
        </p:nvSpPr>
        <p:spPr>
          <a:xfrm>
            <a:off x="502920" y="2176272"/>
            <a:ext cx="457200" cy="310896"/>
          </a:xfrm>
          <a:prstGeom prst="roundRect">
            <a:avLst>
              <a:gd name="adj" fmla="val 14706"/>
            </a:avLst>
          </a:prstGeom>
          <a:solidFill>
            <a:srgbClr val="2C5F2D"/>
          </a:solidFill>
          <a:ln w="12700">
            <a:solidFill>
              <a:srgbClr val="2C5F2D"/>
            </a:solidFill>
            <a:prstDash val="solid"/>
          </a:ln>
        </p:spPr>
      </p:sp>
      <p:sp>
        <p:nvSpPr>
          <p:cNvPr id="19" name="Text 17"/>
          <p:cNvSpPr txBox="1"/>
          <p:nvPr/>
        </p:nvSpPr>
        <p:spPr>
          <a:xfrm>
            <a:off x="502920" y="2176272"/>
            <a:ext cx="457200"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C3</a:t>
            </a:r>
            <a:endParaRPr lang="en-US" sz="1050" dirty="0"/>
          </a:p>
        </p:txBody>
      </p:sp>
      <p:sp>
        <p:nvSpPr>
          <p:cNvPr id="20" name="Text 18"/>
          <p:cNvSpPr txBox="1"/>
          <p:nvPr/>
        </p:nvSpPr>
        <p:spPr>
          <a:xfrm>
            <a:off x="1097280" y="2084832"/>
            <a:ext cx="5440680" cy="493776"/>
          </a:xfrm>
          <a:prstGeom prst="rect">
            <a:avLst/>
          </a:prstGeom>
          <a:noFill/>
          <a:ln/>
        </p:spPr>
        <p:txBody>
          <a:bodyPr wrap="square" lIns="0" tIns="0" rIns="0" bIns="0" rtlCol="0" anchor="ctr"/>
          <a:lstStyle/>
          <a:p>
            <a:pPr marL="0" indent="0">
              <a:buNone/>
            </a:pPr>
            <a:r>
              <a:rPr lang="en-US" sz="950" dirty="0">
                <a:solidFill>
                  <a:srgbClr val="1F2A1F"/>
                </a:solidFill>
                <a:latin typeface="Calibri" pitchFamily="34" charset="0"/>
                <a:ea typeface="Calibri" pitchFamily="34" charset="-122"/>
                <a:cs typeface="Calibri" pitchFamily="34" charset="-120"/>
              </a:rPr>
              <a:t>Das System muss ausschließlich der dem Antrag zugeordneten Erstprüfer:in die Möglichkeit bieten, das Thema freizugeben.</a:t>
            </a:r>
            <a:endParaRPr lang="en-US" sz="950" dirty="0"/>
          </a:p>
        </p:txBody>
      </p:sp>
      <p:sp>
        <p:nvSpPr>
          <p:cNvPr id="21" name="Text 19"/>
          <p:cNvSpPr txBox="1"/>
          <p:nvPr/>
        </p:nvSpPr>
        <p:spPr>
          <a:xfrm>
            <a:off x="6675120" y="2084832"/>
            <a:ext cx="1965960" cy="493776"/>
          </a:xfrm>
          <a:prstGeom prst="rect">
            <a:avLst/>
          </a:prstGeom>
          <a:noFill/>
          <a:ln/>
        </p:spPr>
        <p:txBody>
          <a:bodyPr wrap="square" lIns="0" tIns="0" rIns="0" bIns="0" rtlCol="0" anchor="ctr"/>
          <a:lstStyle/>
          <a:p>
            <a:pPr marL="0" indent="0">
              <a:buNone/>
            </a:pPr>
            <a:r>
              <a:rPr lang="en-US" sz="750" i="1" dirty="0">
                <a:solidFill>
                  <a:srgbClr val="5C6B5C"/>
                </a:solidFill>
                <a:latin typeface="Calibri" pitchFamily="34" charset="0"/>
                <a:ea typeface="Calibri" pitchFamily="34" charset="-122"/>
                <a:cs typeface="Calibri" pitchFamily="34" charset="-120"/>
              </a:rPr>
              <a:t>Zulassungsantrag: 1. Prüfer(in) gibt aus</a:t>
            </a:r>
            <a:endParaRPr lang="en-US" sz="750" dirty="0"/>
          </a:p>
        </p:txBody>
      </p:sp>
      <p:sp>
        <p:nvSpPr>
          <p:cNvPr id="22" name="Shape 20"/>
          <p:cNvSpPr/>
          <p:nvPr/>
        </p:nvSpPr>
        <p:spPr>
          <a:xfrm>
            <a:off x="411480" y="2633472"/>
            <a:ext cx="8321040" cy="493776"/>
          </a:xfrm>
          <a:prstGeom prst="roundRect">
            <a:avLst>
              <a:gd name="adj" fmla="val 14815"/>
            </a:avLst>
          </a:prstGeom>
          <a:solidFill>
            <a:srgbClr val="EEF4E8"/>
          </a:solidFill>
          <a:ln w="12700">
            <a:solidFill>
              <a:srgbClr val="EEF4E8"/>
            </a:solidFill>
            <a:prstDash val="solid"/>
          </a:ln>
        </p:spPr>
      </p:sp>
      <p:sp>
        <p:nvSpPr>
          <p:cNvPr id="23" name="Shape 21"/>
          <p:cNvSpPr/>
          <p:nvPr/>
        </p:nvSpPr>
        <p:spPr>
          <a:xfrm>
            <a:off x="502920" y="2724912"/>
            <a:ext cx="457200" cy="310896"/>
          </a:xfrm>
          <a:prstGeom prst="roundRect">
            <a:avLst>
              <a:gd name="adj" fmla="val 14706"/>
            </a:avLst>
          </a:prstGeom>
          <a:solidFill>
            <a:srgbClr val="2C5F2D"/>
          </a:solidFill>
          <a:ln w="12700">
            <a:solidFill>
              <a:srgbClr val="2C5F2D"/>
            </a:solidFill>
            <a:prstDash val="solid"/>
          </a:ln>
        </p:spPr>
      </p:sp>
      <p:sp>
        <p:nvSpPr>
          <p:cNvPr id="24" name="Text 22"/>
          <p:cNvSpPr txBox="1"/>
          <p:nvPr/>
        </p:nvSpPr>
        <p:spPr>
          <a:xfrm>
            <a:off x="502920" y="2724912"/>
            <a:ext cx="457200"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C4</a:t>
            </a:r>
            <a:endParaRPr lang="en-US" sz="1050" dirty="0"/>
          </a:p>
        </p:txBody>
      </p:sp>
      <p:sp>
        <p:nvSpPr>
          <p:cNvPr id="25" name="Text 23"/>
          <p:cNvSpPr txBox="1"/>
          <p:nvPr/>
        </p:nvSpPr>
        <p:spPr>
          <a:xfrm>
            <a:off x="1097280" y="2633472"/>
            <a:ext cx="5440680" cy="493776"/>
          </a:xfrm>
          <a:prstGeom prst="rect">
            <a:avLst/>
          </a:prstGeom>
          <a:noFill/>
          <a:ln/>
        </p:spPr>
        <p:txBody>
          <a:bodyPr wrap="square" lIns="0" tIns="0" rIns="0" bIns="0" rtlCol="0" anchor="ctr"/>
          <a:lstStyle/>
          <a:p>
            <a:pPr marL="0" indent="0">
              <a:buNone/>
            </a:pPr>
            <a:r>
              <a:rPr lang="en-US" sz="950" dirty="0">
                <a:solidFill>
                  <a:srgbClr val="1F2A1F"/>
                </a:solidFill>
                <a:latin typeface="Calibri" pitchFamily="34" charset="0"/>
                <a:ea typeface="Calibri" pitchFamily="34" charset="-122"/>
                <a:cs typeface="Calibri" pitchFamily="34" charset="-120"/>
              </a:rPr>
              <a:t>Sobald die Erstprüfer:in das Thema freigegeben hat, muss das System die Themenfreigabe mit Thema und Zeitpunkt speichern.</a:t>
            </a:r>
            <a:endParaRPr lang="en-US" sz="950" dirty="0"/>
          </a:p>
        </p:txBody>
      </p:sp>
      <p:sp>
        <p:nvSpPr>
          <p:cNvPr id="26" name="Text 24"/>
          <p:cNvSpPr txBox="1"/>
          <p:nvPr/>
        </p:nvSpPr>
        <p:spPr>
          <a:xfrm>
            <a:off x="6675120" y="2633472"/>
            <a:ext cx="1965960" cy="493776"/>
          </a:xfrm>
          <a:prstGeom prst="rect">
            <a:avLst/>
          </a:prstGeom>
          <a:noFill/>
          <a:ln/>
        </p:spPr>
        <p:txBody>
          <a:bodyPr wrap="square" lIns="0" tIns="0" rIns="0" bIns="0" rtlCol="0" anchor="ctr"/>
          <a:lstStyle/>
          <a:p>
            <a:pPr marL="0" indent="0">
              <a:buNone/>
            </a:pPr>
            <a:r>
              <a:rPr lang="en-US" sz="750" i="1" dirty="0">
                <a:solidFill>
                  <a:srgbClr val="5C6B5C"/>
                </a:solidFill>
                <a:latin typeface="Calibri" pitchFamily="34" charset="0"/>
                <a:ea typeface="Calibri" pitchFamily="34" charset="-122"/>
                <a:cs typeface="Calibri" pitchFamily="34" charset="-120"/>
              </a:rPr>
              <a:t>Allg. PO THM § 17 (3), laut Zulassungsantrag</a:t>
            </a:r>
            <a:endParaRPr lang="en-US" sz="750" dirty="0"/>
          </a:p>
        </p:txBody>
      </p:sp>
      <p:sp>
        <p:nvSpPr>
          <p:cNvPr id="27" name="Shape 25"/>
          <p:cNvSpPr/>
          <p:nvPr/>
        </p:nvSpPr>
        <p:spPr>
          <a:xfrm>
            <a:off x="411480" y="3182112"/>
            <a:ext cx="8321040" cy="493776"/>
          </a:xfrm>
          <a:prstGeom prst="roundRect">
            <a:avLst>
              <a:gd name="adj" fmla="val 14815"/>
            </a:avLst>
          </a:prstGeom>
          <a:solidFill>
            <a:srgbClr val="EEF4E8"/>
          </a:solidFill>
          <a:ln w="12700">
            <a:solidFill>
              <a:srgbClr val="EEF4E8"/>
            </a:solidFill>
            <a:prstDash val="solid"/>
          </a:ln>
        </p:spPr>
      </p:sp>
      <p:sp>
        <p:nvSpPr>
          <p:cNvPr id="28" name="Shape 26"/>
          <p:cNvSpPr/>
          <p:nvPr/>
        </p:nvSpPr>
        <p:spPr>
          <a:xfrm>
            <a:off x="502920" y="3273552"/>
            <a:ext cx="457200" cy="310896"/>
          </a:xfrm>
          <a:prstGeom prst="roundRect">
            <a:avLst>
              <a:gd name="adj" fmla="val 14706"/>
            </a:avLst>
          </a:prstGeom>
          <a:solidFill>
            <a:srgbClr val="2C5F2D"/>
          </a:solidFill>
          <a:ln w="12700">
            <a:solidFill>
              <a:srgbClr val="2C5F2D"/>
            </a:solidFill>
            <a:prstDash val="solid"/>
          </a:ln>
        </p:spPr>
      </p:sp>
      <p:sp>
        <p:nvSpPr>
          <p:cNvPr id="29" name="Text 27"/>
          <p:cNvSpPr txBox="1"/>
          <p:nvPr/>
        </p:nvSpPr>
        <p:spPr>
          <a:xfrm>
            <a:off x="502920" y="3273552"/>
            <a:ext cx="457200"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C5</a:t>
            </a:r>
            <a:endParaRPr lang="en-US" sz="1050" dirty="0"/>
          </a:p>
        </p:txBody>
      </p:sp>
      <p:sp>
        <p:nvSpPr>
          <p:cNvPr id="30" name="Text 28"/>
          <p:cNvSpPr txBox="1"/>
          <p:nvPr/>
        </p:nvSpPr>
        <p:spPr>
          <a:xfrm>
            <a:off x="1097280" y="3182112"/>
            <a:ext cx="5440680" cy="493776"/>
          </a:xfrm>
          <a:prstGeom prst="rect">
            <a:avLst/>
          </a:prstGeom>
          <a:noFill/>
          <a:ln/>
        </p:spPr>
        <p:txBody>
          <a:bodyPr wrap="square" lIns="0" tIns="0" rIns="0" bIns="0" rtlCol="0" anchor="ctr"/>
          <a:lstStyle/>
          <a:p>
            <a:pPr marL="0" indent="0">
              <a:buNone/>
            </a:pPr>
            <a:r>
              <a:rPr lang="en-US" sz="950" dirty="0">
                <a:solidFill>
                  <a:srgbClr val="1F2A1F"/>
                </a:solidFill>
                <a:latin typeface="Calibri" pitchFamily="34" charset="0"/>
                <a:ea typeface="Calibri" pitchFamily="34" charset="-122"/>
                <a:cs typeface="Calibri" pitchFamily="34" charset="-120"/>
              </a:rPr>
              <a:t>Falls die Erstprüfer:in das Thema nicht bestätigt, muss das System ihr die Möglichkeit bieten, einen Änderungswunsch einzutragen.</a:t>
            </a:r>
            <a:endParaRPr lang="en-US" sz="950" dirty="0"/>
          </a:p>
        </p:txBody>
      </p:sp>
      <p:sp>
        <p:nvSpPr>
          <p:cNvPr id="31" name="Text 29"/>
          <p:cNvSpPr txBox="1"/>
          <p:nvPr/>
        </p:nvSpPr>
        <p:spPr>
          <a:xfrm>
            <a:off x="6675120" y="3182112"/>
            <a:ext cx="1965960" cy="493776"/>
          </a:xfrm>
          <a:prstGeom prst="rect">
            <a:avLst/>
          </a:prstGeom>
          <a:noFill/>
          <a:ln/>
        </p:spPr>
        <p:txBody>
          <a:bodyPr wrap="square" lIns="0" tIns="0" rIns="0" bIns="0" rtlCol="0" anchor="ctr"/>
          <a:lstStyle/>
          <a:p>
            <a:pPr marL="0" indent="0">
              <a:buNone/>
            </a:pPr>
            <a:r>
              <a:rPr lang="en-US" sz="750" i="1" dirty="0">
                <a:solidFill>
                  <a:srgbClr val="5C6B5C"/>
                </a:solidFill>
                <a:latin typeface="Calibri" pitchFamily="34" charset="0"/>
                <a:ea typeface="Calibri" pitchFamily="34" charset="-122"/>
                <a:cs typeface="Calibri" pitchFamily="34" charset="-120"/>
              </a:rPr>
              <a:t>Aktivitätsdiagramm des Teams</a:t>
            </a:r>
            <a:endParaRPr lang="en-US" sz="750" dirty="0"/>
          </a:p>
        </p:txBody>
      </p:sp>
      <p:sp>
        <p:nvSpPr>
          <p:cNvPr id="32" name="Shape 30"/>
          <p:cNvSpPr/>
          <p:nvPr/>
        </p:nvSpPr>
        <p:spPr>
          <a:xfrm>
            <a:off x="411480" y="3730752"/>
            <a:ext cx="8321040" cy="493776"/>
          </a:xfrm>
          <a:prstGeom prst="roundRect">
            <a:avLst>
              <a:gd name="adj" fmla="val 14815"/>
            </a:avLst>
          </a:prstGeom>
          <a:solidFill>
            <a:srgbClr val="EEF4E8"/>
          </a:solidFill>
          <a:ln w="12700">
            <a:solidFill>
              <a:srgbClr val="EEF4E8"/>
            </a:solidFill>
            <a:prstDash val="solid"/>
          </a:ln>
        </p:spPr>
      </p:sp>
      <p:sp>
        <p:nvSpPr>
          <p:cNvPr id="33" name="Shape 31"/>
          <p:cNvSpPr/>
          <p:nvPr/>
        </p:nvSpPr>
        <p:spPr>
          <a:xfrm>
            <a:off x="502920" y="3822192"/>
            <a:ext cx="457200" cy="310896"/>
          </a:xfrm>
          <a:prstGeom prst="roundRect">
            <a:avLst>
              <a:gd name="adj" fmla="val 14706"/>
            </a:avLst>
          </a:prstGeom>
          <a:solidFill>
            <a:srgbClr val="2C5F2D"/>
          </a:solidFill>
          <a:ln w="12700">
            <a:solidFill>
              <a:srgbClr val="2C5F2D"/>
            </a:solidFill>
            <a:prstDash val="solid"/>
          </a:ln>
        </p:spPr>
      </p:sp>
      <p:sp>
        <p:nvSpPr>
          <p:cNvPr id="34" name="Text 32"/>
          <p:cNvSpPr txBox="1"/>
          <p:nvPr/>
        </p:nvSpPr>
        <p:spPr>
          <a:xfrm>
            <a:off x="502920" y="3822192"/>
            <a:ext cx="457200"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C6</a:t>
            </a:r>
            <a:endParaRPr lang="en-US" sz="1050" dirty="0"/>
          </a:p>
        </p:txBody>
      </p:sp>
      <p:sp>
        <p:nvSpPr>
          <p:cNvPr id="35" name="Text 33"/>
          <p:cNvSpPr txBox="1"/>
          <p:nvPr/>
        </p:nvSpPr>
        <p:spPr>
          <a:xfrm>
            <a:off x="1097280" y="3730752"/>
            <a:ext cx="5440680" cy="493776"/>
          </a:xfrm>
          <a:prstGeom prst="rect">
            <a:avLst/>
          </a:prstGeom>
          <a:noFill/>
          <a:ln/>
        </p:spPr>
        <p:txBody>
          <a:bodyPr wrap="square" lIns="0" tIns="0" rIns="0" bIns="0" rtlCol="0" anchor="ctr"/>
          <a:lstStyle/>
          <a:p>
            <a:pPr marL="0" indent="0">
              <a:buNone/>
            </a:pPr>
            <a:r>
              <a:rPr lang="en-US" sz="950" dirty="0">
                <a:solidFill>
                  <a:srgbClr val="1F2A1F"/>
                </a:solidFill>
                <a:latin typeface="Calibri" pitchFamily="34" charset="0"/>
                <a:ea typeface="Calibri" pitchFamily="34" charset="-122"/>
                <a:cs typeface="Calibri" pitchFamily="34" charset="-120"/>
              </a:rPr>
              <a:t>Sobald die Themenfreigabe gespeichert ist, muss das System den Antrag für das Festlegen der Bearbeitungszeit bereitstellen.</a:t>
            </a:r>
            <a:endParaRPr lang="en-US" sz="950" dirty="0"/>
          </a:p>
        </p:txBody>
      </p:sp>
      <p:sp>
        <p:nvSpPr>
          <p:cNvPr id="36" name="Text 34"/>
          <p:cNvSpPr txBox="1"/>
          <p:nvPr/>
        </p:nvSpPr>
        <p:spPr>
          <a:xfrm>
            <a:off x="6675120" y="3730752"/>
            <a:ext cx="1965960" cy="493776"/>
          </a:xfrm>
          <a:prstGeom prst="rect">
            <a:avLst/>
          </a:prstGeom>
          <a:noFill/>
          <a:ln/>
        </p:spPr>
        <p:txBody>
          <a:bodyPr wrap="square" lIns="0" tIns="0" rIns="0" bIns="0" rtlCol="0" anchor="ctr"/>
          <a:lstStyle/>
          <a:p>
            <a:pPr marL="0" indent="0">
              <a:buNone/>
            </a:pPr>
            <a:r>
              <a:rPr lang="en-US" sz="750" i="1" dirty="0">
                <a:solidFill>
                  <a:srgbClr val="7A5C00"/>
                </a:solidFill>
                <a:latin typeface="Calibri" pitchFamily="34" charset="0"/>
                <a:ea typeface="Calibri" pitchFamily="34" charset="-122"/>
                <a:cs typeface="Calibri" pitchFamily="34" charset="-120"/>
              </a:rPr>
              <a:t>abgeleitet aus User Task 4.1 und 4.2, zu validieren</a:t>
            </a:r>
            <a:endParaRPr lang="en-US" sz="750" dirty="0"/>
          </a:p>
        </p:txBody>
      </p:sp>
      <p:sp>
        <p:nvSpPr>
          <p:cNvPr id="37" name="Text 35"/>
          <p:cNvSpPr txBox="1"/>
          <p:nvPr/>
        </p:nvSpPr>
        <p:spPr>
          <a:xfrm>
            <a:off x="411480" y="4315968"/>
            <a:ext cx="8321040" cy="365760"/>
          </a:xfrm>
          <a:prstGeom prst="rect">
            <a:avLst/>
          </a:prstGeom>
          <a:noFill/>
          <a:ln/>
        </p:spPr>
        <p:txBody>
          <a:bodyPr wrap="square" lIns="0" tIns="0" rIns="0" bIns="0" rtlCol="0" anchor="ctr"/>
          <a:lstStyle/>
          <a:p>
            <a:pPr marL="0" indent="0">
              <a:buNone/>
            </a:pPr>
            <a:r>
              <a:rPr lang="en-US" sz="900" b="1" dirty="0">
                <a:solidFill>
                  <a:srgbClr val="2C5F2D"/>
                </a:solidFill>
                <a:latin typeface="Calibri" pitchFamily="34" charset="0"/>
                <a:ea typeface="Calibri" pitchFamily="34" charset="-122"/>
                <a:cs typeface="Calibri" pitchFamily="34" charset="-120"/>
              </a:rPr>
              <a:t>Satzschablone:  </a:t>
            </a:r>
            <a:r>
              <a:rPr lang="en-US" sz="900" dirty="0">
                <a:solidFill>
                  <a:srgbClr val="5C6B5C"/>
                </a:solidFill>
                <a:latin typeface="Calibri" pitchFamily="34" charset="0"/>
                <a:ea typeface="Calibri" pitchFamily="34" charset="-122"/>
                <a:cs typeface="Calibri" pitchFamily="34" charset="-120"/>
              </a:rPr>
              <a:t>[Wann? Unter welcher Bedingung?]  muss das System  [wem?]  die Möglichkeit bieten,  [Objekt]  [Prozesswort].</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11480" y="201168"/>
            <a:ext cx="5943600" cy="457200"/>
          </a:xfrm>
          <a:prstGeom prst="rect">
            <a:avLst/>
          </a:prstGeom>
          <a:noFill/>
          <a:ln/>
        </p:spPr>
        <p:txBody>
          <a:bodyPr wrap="square" lIns="0" tIns="0" rIns="0" bIns="0" rtlCol="0" anchor="ctr"/>
          <a:lstStyle/>
          <a:p>
            <a:pPr marL="0" indent="0">
              <a:buNone/>
            </a:pPr>
            <a:r>
              <a:rPr lang="en-US" sz="2200" b="1" dirty="0">
                <a:solidFill>
                  <a:srgbClr val="1F2A1F"/>
                </a:solidFill>
                <a:latin typeface="Cambria" pitchFamily="34" charset="0"/>
                <a:ea typeface="Cambria" pitchFamily="34" charset="-122"/>
                <a:cs typeface="Cambria" pitchFamily="34" charset="-120"/>
              </a:rPr>
              <a:t>6. Environment</a:t>
            </a:r>
            <a:endParaRPr lang="en-US" sz="2200" dirty="0"/>
          </a:p>
        </p:txBody>
      </p:sp>
      <p:sp>
        <p:nvSpPr>
          <p:cNvPr id="3" name="Text 1"/>
          <p:cNvSpPr txBox="1"/>
          <p:nvPr/>
        </p:nvSpPr>
        <p:spPr>
          <a:xfrm>
            <a:off x="6035040" y="274320"/>
            <a:ext cx="2697480" cy="274320"/>
          </a:xfrm>
          <a:prstGeom prst="rect">
            <a:avLst/>
          </a:prstGeom>
          <a:noFill/>
          <a:ln/>
        </p:spPr>
        <p:txBody>
          <a:bodyPr wrap="square" lIns="0" tIns="0" rIns="0" bIns="0" rtlCol="0" anchor="ctr"/>
          <a:lstStyle/>
          <a:p>
            <a:pPr marL="0" indent="0" algn="r">
              <a:buNone/>
            </a:pPr>
            <a:r>
              <a:rPr lang="en-US" sz="800" b="1" kern="0" spc="150" dirty="0">
                <a:solidFill>
                  <a:srgbClr val="97BC62"/>
                </a:solidFill>
                <a:latin typeface="Calibri" pitchFamily="34" charset="0"/>
                <a:ea typeface="Calibri" pitchFamily="34" charset="-122"/>
                <a:cs typeface="Calibri" pitchFamily="34" charset="-120"/>
              </a:rPr>
              <a:t>7 DIMENSIONS  ·  6 VON 7</a:t>
            </a:r>
            <a:endParaRPr lang="en-US" sz="800" dirty="0"/>
          </a:p>
        </p:txBody>
      </p:sp>
      <p:sp>
        <p:nvSpPr>
          <p:cNvPr id="4" name="Text 2"/>
          <p:cNvSpPr txBox="1"/>
          <p:nvPr/>
        </p:nvSpPr>
        <p:spPr>
          <a:xfrm>
            <a:off x="411480" y="658368"/>
            <a:ext cx="8321040" cy="201168"/>
          </a:xfrm>
          <a:prstGeom prst="rect">
            <a:avLst/>
          </a:prstGeom>
          <a:noFill/>
          <a:ln/>
        </p:spPr>
        <p:txBody>
          <a:bodyPr wrap="square" lIns="0" tIns="0" rIns="0" bIns="0" rtlCol="0" anchor="t"/>
          <a:lstStyle/>
          <a:p>
            <a:pPr marL="0" indent="0">
              <a:buNone/>
            </a:pPr>
            <a:r>
              <a:rPr lang="en-US" sz="900" dirty="0">
                <a:solidFill>
                  <a:srgbClr val="5C6B5C"/>
                </a:solidFill>
                <a:latin typeface="Calibri" pitchFamily="34" charset="0"/>
                <a:ea typeface="Calibri" pitchFamily="34" charset="-122"/>
                <a:cs typeface="Calibri" pitchFamily="34" charset="-120"/>
              </a:rPr>
              <a:t>US 4.1.1  ·  Erstprüfer:in:  Thema aufrufen  ›  Thema prüfen  ›  Thema bestätigen  ›  Thema freigeben</a:t>
            </a:r>
            <a:endParaRPr lang="en-US" sz="900" dirty="0"/>
          </a:p>
        </p:txBody>
      </p:sp>
      <p:sp>
        <p:nvSpPr>
          <p:cNvPr id="5" name="Text 3"/>
          <p:cNvSpPr txBox="1"/>
          <p:nvPr/>
        </p:nvSpPr>
        <p:spPr>
          <a:xfrm>
            <a:off x="411480" y="4828032"/>
            <a:ext cx="3840480" cy="182880"/>
          </a:xfrm>
          <a:prstGeom prst="rect">
            <a:avLst/>
          </a:prstGeom>
          <a:noFill/>
          <a:ln/>
        </p:spPr>
        <p:txBody>
          <a:bodyPr wrap="square" lIns="0" tIns="0" rIns="0" bIns="0" rtlCol="0" anchor="t"/>
          <a:lstStyle/>
          <a:p>
            <a:pPr marL="0" indent="0">
              <a:buNone/>
            </a:pPr>
            <a:r>
              <a:rPr lang="en-US" sz="750" dirty="0">
                <a:solidFill>
                  <a:srgbClr val="8A968A"/>
                </a:solidFill>
                <a:latin typeface="Calibri" pitchFamily="34" charset="0"/>
                <a:ea typeface="Calibri" pitchFamily="34" charset="-122"/>
                <a:cs typeface="Calibri" pitchFamily="34" charset="-120"/>
              </a:rPr>
              <a:t>ThesisFlow  ·  Requirements Engineering, Gruppe Grün</a:t>
            </a:r>
            <a:endParaRPr lang="en-US" sz="750" dirty="0"/>
          </a:p>
        </p:txBody>
      </p:sp>
      <p:sp>
        <p:nvSpPr>
          <p:cNvPr id="6" name="Text 4"/>
          <p:cNvSpPr txBox="1"/>
          <p:nvPr/>
        </p:nvSpPr>
        <p:spPr>
          <a:xfrm>
            <a:off x="4206240" y="4828032"/>
            <a:ext cx="4526280" cy="182880"/>
          </a:xfrm>
          <a:prstGeom prst="rect">
            <a:avLst/>
          </a:prstGeom>
          <a:noFill/>
          <a:ln/>
        </p:spPr>
        <p:txBody>
          <a:bodyPr wrap="square" lIns="0" tIns="0" rIns="0" bIns="0" rtlCol="0" anchor="t"/>
          <a:lstStyle/>
          <a:p>
            <a:pPr marL="0" indent="0" algn="r">
              <a:buNone/>
            </a:pPr>
            <a:r>
              <a:rPr lang="en-US" sz="750" i="1" dirty="0">
                <a:solidFill>
                  <a:srgbClr val="8A968A"/>
                </a:solidFill>
                <a:latin typeface="Calibri" pitchFamily="34" charset="0"/>
                <a:ea typeface="Calibri" pitchFamily="34" charset="-122"/>
                <a:cs typeface="Calibri" pitchFamily="34" charset="-120"/>
              </a:rPr>
              <a:t>vgl. Vorlesung RE, Kap. 2 System und Systemkontext abgrenzen</a:t>
            </a:r>
            <a:endParaRPr lang="en-US" sz="750" dirty="0"/>
          </a:p>
        </p:txBody>
      </p:sp>
      <p:graphicFrame>
        <p:nvGraphicFramePr>
          <p:cNvPr id="8" name="Table 0"/>
          <p:cNvGraphicFramePr>
            <a:graphicFrameLocks noGrp="1"/>
          </p:cNvGraphicFramePr>
          <p:nvPr>
            <p:extLst>
              <p:ext uri="{D42A27DB-BD31-4B8C-83A1-F6EECF244321}">
                <p14:modId xmlns:p14="http://schemas.microsoft.com/office/powerpoint/2010/main" val="993417332"/>
              </p:ext>
            </p:extLst>
          </p:nvPr>
        </p:nvGraphicFramePr>
        <p:xfrm>
          <a:off x="411480" y="987552"/>
          <a:ext cx="8321040" cy="3474720"/>
        </p:xfrm>
        <a:graphic>
          <a:graphicData uri="http://schemas.openxmlformats.org/drawingml/2006/table">
            <a:tbl>
              <a:tblPr/>
              <a:tblGrid>
                <a:gridCol w="1051560">
                  <a:extLst>
                    <a:ext uri="{9D8B030D-6E8A-4147-A177-3AD203B41FA5}">
                      <a16:colId xmlns:a16="http://schemas.microsoft.com/office/drawing/2014/main" val="20000"/>
                    </a:ext>
                  </a:extLst>
                </a:gridCol>
                <a:gridCol w="3063240">
                  <a:extLst>
                    <a:ext uri="{9D8B030D-6E8A-4147-A177-3AD203B41FA5}">
                      <a16:colId xmlns:a16="http://schemas.microsoft.com/office/drawing/2014/main" val="20001"/>
                    </a:ext>
                  </a:extLst>
                </a:gridCol>
                <a:gridCol w="4206240">
                  <a:extLst>
                    <a:ext uri="{9D8B030D-6E8A-4147-A177-3AD203B41FA5}">
                      <a16:colId xmlns:a16="http://schemas.microsoft.com/office/drawing/2014/main" val="20002"/>
                    </a:ext>
                  </a:extLst>
                </a:gridCol>
              </a:tblGrid>
              <a:tr h="292608">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Bereich</a:t>
                      </a:r>
                      <a:endParaRPr lang="en-US" sz="900" dirty="0">
                        <a:latin typeface="Calibri" charset="0"/>
                        <a:ea typeface="Calibri" charset="0"/>
                        <a:cs typeface="Calibri" charset="0"/>
                      </a:endParaRPr>
                    </a:p>
                  </a:txBody>
                  <a:tcPr marL="76200" marR="76200" marT="38100" marB="38100" anchor="ctr">
                    <a:lnL w="9525" cap="flat" cmpd="sng" algn="ctr">
                      <a:solidFill>
                        <a:srgbClr val="C9D1C9"/>
                      </a:solidFill>
                      <a:prstDash val="solid"/>
                      <a:round/>
                      <a:headEnd type="none" w="med" len="med"/>
                      <a:tailEnd type="none" w="med" len="med"/>
                    </a:lnL>
                    <a:lnR w="9525" cap="flat" cmpd="sng" algn="ctr">
                      <a:solidFill>
                        <a:srgbClr val="C9D1C9"/>
                      </a:solidFill>
                      <a:prstDash val="solid"/>
                      <a:round/>
                      <a:headEnd type="none" w="med" len="med"/>
                      <a:tailEnd type="none" w="med" len="med"/>
                    </a:lnR>
                    <a:lnT w="9525" cap="flat" cmpd="sng" algn="ctr">
                      <a:solidFill>
                        <a:srgbClr val="C9D1C9"/>
                      </a:solidFill>
                      <a:prstDash val="solid"/>
                      <a:round/>
                      <a:headEnd type="none" w="med" len="med"/>
                      <a:tailEnd type="none" w="med" len="med"/>
                    </a:lnT>
                    <a:lnB w="9525" cap="flat" cmpd="sng" algn="ctr">
                      <a:solidFill>
                        <a:srgbClr val="C9D1C9"/>
                      </a:solidFill>
                      <a:prstDash val="solid"/>
                      <a:round/>
                      <a:headEnd type="none" w="med" len="med"/>
                      <a:tailEnd type="none" w="med" len="med"/>
                    </a:lnB>
                    <a:solidFill>
                      <a:srgbClr val="2C5F2D"/>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Relevante Umgebung</a:t>
                      </a:r>
                      <a:endParaRPr lang="en-US" sz="900" dirty="0">
                        <a:latin typeface="Calibri" charset="0"/>
                        <a:ea typeface="Calibri" charset="0"/>
                        <a:cs typeface="Calibri" charset="0"/>
                      </a:endParaRPr>
                    </a:p>
                  </a:txBody>
                  <a:tcPr marL="76200" marR="76200" marT="38100" marB="38100" anchor="ctr">
                    <a:lnL w="9525" cap="flat" cmpd="sng" algn="ctr">
                      <a:solidFill>
                        <a:srgbClr val="C9D1C9"/>
                      </a:solidFill>
                      <a:prstDash val="solid"/>
                      <a:round/>
                      <a:headEnd type="none" w="med" len="med"/>
                      <a:tailEnd type="none" w="med" len="med"/>
                    </a:lnL>
                    <a:lnR w="9525" cap="flat" cmpd="sng" algn="ctr">
                      <a:solidFill>
                        <a:srgbClr val="C9D1C9"/>
                      </a:solidFill>
                      <a:prstDash val="solid"/>
                      <a:round/>
                      <a:headEnd type="none" w="med" len="med"/>
                      <a:tailEnd type="none" w="med" len="med"/>
                    </a:lnR>
                    <a:lnT w="9525" cap="flat" cmpd="sng" algn="ctr">
                      <a:solidFill>
                        <a:srgbClr val="C9D1C9"/>
                      </a:solidFill>
                      <a:prstDash val="solid"/>
                      <a:round/>
                      <a:headEnd type="none" w="med" len="med"/>
                      <a:tailEnd type="none" w="med" len="med"/>
                    </a:lnT>
                    <a:lnB w="9525" cap="flat" cmpd="sng" algn="ctr">
                      <a:solidFill>
                        <a:srgbClr val="C9D1C9"/>
                      </a:solidFill>
                      <a:prstDash val="solid"/>
                      <a:round/>
                      <a:headEnd type="none" w="med" len="med"/>
                      <a:tailEnd type="none" w="med" len="med"/>
                    </a:lnB>
                    <a:solidFill>
                      <a:srgbClr val="2C5F2D"/>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Bedeutung für die User Story</a:t>
                      </a:r>
                      <a:endParaRPr lang="en-US" sz="900" dirty="0">
                        <a:latin typeface="Calibri" charset="0"/>
                        <a:ea typeface="Calibri" charset="0"/>
                        <a:cs typeface="Calibri" charset="0"/>
                      </a:endParaRPr>
                    </a:p>
                  </a:txBody>
                  <a:tcPr marL="76200" marR="76200" marT="38100" marB="38100" anchor="ctr">
                    <a:lnL w="9525" cap="flat" cmpd="sng" algn="ctr">
                      <a:solidFill>
                        <a:srgbClr val="C9D1C9"/>
                      </a:solidFill>
                      <a:prstDash val="solid"/>
                      <a:round/>
                      <a:headEnd type="none" w="med" len="med"/>
                      <a:tailEnd type="none" w="med" len="med"/>
                    </a:lnL>
                    <a:lnR w="9525" cap="flat" cmpd="sng" algn="ctr">
                      <a:solidFill>
                        <a:srgbClr val="C9D1C9"/>
                      </a:solidFill>
                      <a:prstDash val="solid"/>
                      <a:round/>
                      <a:headEnd type="none" w="med" len="med"/>
                      <a:tailEnd type="none" w="med" len="med"/>
                    </a:lnR>
                    <a:lnT w="9525" cap="flat" cmpd="sng" algn="ctr">
                      <a:solidFill>
                        <a:srgbClr val="C9D1C9"/>
                      </a:solidFill>
                      <a:prstDash val="solid"/>
                      <a:round/>
                      <a:headEnd type="none" w="med" len="med"/>
                      <a:tailEnd type="none" w="med" len="med"/>
                    </a:lnT>
                    <a:lnB w="9525" cap="flat" cmpd="sng" algn="ctr">
                      <a:solidFill>
                        <a:srgbClr val="C9D1C9"/>
                      </a:solidFill>
                      <a:prstDash val="solid"/>
                      <a:round/>
                      <a:headEnd type="none" w="med" len="med"/>
                      <a:tailEnd type="none" w="med" len="med"/>
                    </a:lnB>
                    <a:solidFill>
                      <a:srgbClr val="2C5F2D"/>
                    </a:solidFill>
                  </a:tcPr>
                </a:tc>
                <a:extLst>
                  <a:ext uri="{0D108BD9-81ED-4DB2-BD59-A6C34878D82A}">
                    <a16:rowId xmlns:a16="http://schemas.microsoft.com/office/drawing/2014/main" val="10000"/>
                  </a:ext>
                </a:extLst>
              </a:tr>
              <a:tr h="603504">
                <a:tc>
                  <a:txBody>
                    <a:bodyPr/>
                    <a:lstStyle/>
                    <a:p>
                      <a:pPr marL="0" indent="0">
                        <a:buNone/>
                      </a:pPr>
                      <a:r>
                        <a:rPr lang="en-US" sz="850" b="1" dirty="0">
                          <a:solidFill>
                            <a:srgbClr val="2C5F2D"/>
                          </a:solidFill>
                          <a:latin typeface="Calibri" pitchFamily="34" charset="0"/>
                          <a:ea typeface="Calibri" pitchFamily="34" charset="-122"/>
                          <a:cs typeface="Calibri" pitchFamily="34" charset="-120"/>
                        </a:rPr>
                        <a:t>Personen</a:t>
                      </a:r>
                      <a:endParaRPr lang="en-US" sz="850" dirty="0">
                        <a:latin typeface="Calibri" charset="0"/>
                        <a:ea typeface="Calibri" charset="0"/>
                        <a:cs typeface="Calibri" charset="0"/>
                      </a:endParaRPr>
                    </a:p>
                  </a:txBody>
                  <a:tcPr marL="76200" marR="76200" marT="38100" marB="38100" anchor="ctr">
                    <a:lnL w="9525" cap="flat" cmpd="sng" algn="ctr">
                      <a:solidFill>
                        <a:srgbClr val="C9D1C9"/>
                      </a:solidFill>
                      <a:prstDash val="solid"/>
                      <a:round/>
                      <a:headEnd type="none" w="med" len="med"/>
                      <a:tailEnd type="none" w="med" len="med"/>
                    </a:lnL>
                    <a:lnR w="9525" cap="flat" cmpd="sng" algn="ctr">
                      <a:solidFill>
                        <a:srgbClr val="C9D1C9"/>
                      </a:solidFill>
                      <a:prstDash val="solid"/>
                      <a:round/>
                      <a:headEnd type="none" w="med" len="med"/>
                      <a:tailEnd type="none" w="med" len="med"/>
                    </a:lnR>
                    <a:lnT w="9525" cap="flat" cmpd="sng" algn="ctr">
                      <a:solidFill>
                        <a:srgbClr val="C9D1C9"/>
                      </a:solidFill>
                      <a:prstDash val="solid"/>
                      <a:round/>
                      <a:headEnd type="none" w="med" len="med"/>
                      <a:tailEnd type="none" w="med" len="med"/>
                    </a:lnT>
                    <a:lnB w="9525" cap="flat" cmpd="sng" algn="ctr">
                      <a:solidFill>
                        <a:srgbClr val="C9D1C9"/>
                      </a:solidFill>
                      <a:prstDash val="solid"/>
                      <a:round/>
                      <a:headEnd type="none" w="med" len="med"/>
                      <a:tailEnd type="none" w="med" len="med"/>
                    </a:lnB>
                    <a:solidFill>
                      <a:srgbClr val="EEF4E8"/>
                    </a:solidFill>
                  </a:tcPr>
                </a:tc>
                <a:tc>
                  <a:txBody>
                    <a:bodyPr/>
                    <a:lstStyle/>
                    <a:p>
                      <a:pPr marL="0" indent="0">
                        <a:buNone/>
                      </a:pPr>
                      <a:r>
                        <a:rPr lang="en-US" sz="850" dirty="0">
                          <a:solidFill>
                            <a:srgbClr val="1F2A1F"/>
                          </a:solidFill>
                          <a:latin typeface="Calibri" pitchFamily="34" charset="0"/>
                          <a:ea typeface="Calibri" pitchFamily="34" charset="-122"/>
                          <a:cs typeface="Calibri" pitchFamily="34" charset="-120"/>
                        </a:rPr>
                        <a:t>Erstprüfer:in, Studierende:r, Prüfungsausschuss-Vorsitz, Sekretariat / Dekanat MND</a:t>
                      </a:r>
                      <a:endParaRPr lang="en-US" sz="850" dirty="0">
                        <a:latin typeface="Calibri" charset="0"/>
                        <a:ea typeface="Calibri" charset="0"/>
                        <a:cs typeface="Calibri" charset="0"/>
                      </a:endParaRPr>
                    </a:p>
                  </a:txBody>
                  <a:tcPr marL="76200" marR="76200" marT="38100" marB="38100" anchor="ctr">
                    <a:lnL w="9525" cap="flat" cmpd="sng" algn="ctr">
                      <a:solidFill>
                        <a:srgbClr val="C9D1C9"/>
                      </a:solidFill>
                      <a:prstDash val="solid"/>
                      <a:round/>
                      <a:headEnd type="none" w="med" len="med"/>
                      <a:tailEnd type="none" w="med" len="med"/>
                    </a:lnL>
                    <a:lnR w="9525" cap="flat" cmpd="sng" algn="ctr">
                      <a:solidFill>
                        <a:srgbClr val="C9D1C9"/>
                      </a:solidFill>
                      <a:prstDash val="solid"/>
                      <a:round/>
                      <a:headEnd type="none" w="med" len="med"/>
                      <a:tailEnd type="none" w="med" len="med"/>
                    </a:lnR>
                    <a:lnT w="9525" cap="flat" cmpd="sng" algn="ctr">
                      <a:solidFill>
                        <a:srgbClr val="C9D1C9"/>
                      </a:solidFill>
                      <a:prstDash val="solid"/>
                      <a:round/>
                      <a:headEnd type="none" w="med" len="med"/>
                      <a:tailEnd type="none" w="med" len="med"/>
                    </a:lnT>
                    <a:lnB w="9525" cap="flat" cmpd="sng" algn="ctr">
                      <a:solidFill>
                        <a:srgbClr val="C9D1C9"/>
                      </a:solidFill>
                      <a:prstDash val="solid"/>
                      <a:round/>
                      <a:headEnd type="none" w="med" len="med"/>
                      <a:tailEnd type="none" w="med" len="med"/>
                    </a:lnB>
                  </a:tcPr>
                </a:tc>
                <a:tc>
                  <a:txBody>
                    <a:bodyPr/>
                    <a:lstStyle/>
                    <a:p>
                      <a:pPr marL="0" indent="0">
                        <a:buNone/>
                      </a:pPr>
                      <a:r>
                        <a:rPr lang="en-US" sz="850" dirty="0">
                          <a:solidFill>
                            <a:srgbClr val="1F2A1F"/>
                          </a:solidFill>
                          <a:latin typeface="Calibri" pitchFamily="34" charset="0"/>
                          <a:ea typeface="Calibri" pitchFamily="34" charset="-122"/>
                          <a:cs typeface="Calibri" pitchFamily="34" charset="-120"/>
                        </a:rPr>
                        <a:t>Die Erstprüfer:in handelt. Die Studierende:r hat das Thema vorgeschlagen. Der Ausschuss entscheidet vorher, das Sekretariat prüft danach die Bearbeitungsfrist.</a:t>
                      </a:r>
                      <a:endParaRPr lang="en-US" sz="850" dirty="0">
                        <a:latin typeface="Calibri" charset="0"/>
                        <a:ea typeface="Calibri" charset="0"/>
                        <a:cs typeface="Calibri" charset="0"/>
                      </a:endParaRPr>
                    </a:p>
                  </a:txBody>
                  <a:tcPr marL="76200" marR="76200" marT="38100" marB="38100" anchor="ctr">
                    <a:lnL w="9525" cap="flat" cmpd="sng" algn="ctr">
                      <a:solidFill>
                        <a:srgbClr val="C9D1C9"/>
                      </a:solidFill>
                      <a:prstDash val="solid"/>
                      <a:round/>
                      <a:headEnd type="none" w="med" len="med"/>
                      <a:tailEnd type="none" w="med" len="med"/>
                    </a:lnL>
                    <a:lnR w="9525" cap="flat" cmpd="sng" algn="ctr">
                      <a:solidFill>
                        <a:srgbClr val="C9D1C9"/>
                      </a:solidFill>
                      <a:prstDash val="solid"/>
                      <a:round/>
                      <a:headEnd type="none" w="med" len="med"/>
                      <a:tailEnd type="none" w="med" len="med"/>
                    </a:lnR>
                    <a:lnT w="9525" cap="flat" cmpd="sng" algn="ctr">
                      <a:solidFill>
                        <a:srgbClr val="C9D1C9"/>
                      </a:solidFill>
                      <a:prstDash val="solid"/>
                      <a:round/>
                      <a:headEnd type="none" w="med" len="med"/>
                      <a:tailEnd type="none" w="med" len="med"/>
                    </a:lnT>
                    <a:lnB w="9525" cap="flat" cmpd="sng" algn="ctr">
                      <a:solidFill>
                        <a:srgbClr val="C9D1C9"/>
                      </a:solidFill>
                      <a:prstDash val="solid"/>
                      <a:round/>
                      <a:headEnd type="none" w="med" len="med"/>
                      <a:tailEnd type="none" w="med" len="med"/>
                    </a:lnB>
                  </a:tcPr>
                </a:tc>
                <a:extLst>
                  <a:ext uri="{0D108BD9-81ED-4DB2-BD59-A6C34878D82A}">
                    <a16:rowId xmlns:a16="http://schemas.microsoft.com/office/drawing/2014/main" val="10001"/>
                  </a:ext>
                </a:extLst>
              </a:tr>
              <a:tr h="530352">
                <a:tc>
                  <a:txBody>
                    <a:bodyPr/>
                    <a:lstStyle/>
                    <a:p>
                      <a:pPr marL="0" indent="0">
                        <a:buNone/>
                      </a:pPr>
                      <a:r>
                        <a:rPr lang="en-US" sz="850" b="1" dirty="0">
                          <a:solidFill>
                            <a:srgbClr val="2C5F2D"/>
                          </a:solidFill>
                          <a:latin typeface="Calibri" pitchFamily="34" charset="0"/>
                          <a:ea typeface="Calibri" pitchFamily="34" charset="-122"/>
                          <a:cs typeface="Calibri" pitchFamily="34" charset="-120"/>
                        </a:rPr>
                        <a:t>Systeme</a:t>
                      </a:r>
                      <a:endParaRPr lang="en-US" sz="850" dirty="0">
                        <a:latin typeface="Calibri" charset="0"/>
                        <a:ea typeface="Calibri" charset="0"/>
                        <a:cs typeface="Calibri" charset="0"/>
                      </a:endParaRPr>
                    </a:p>
                  </a:txBody>
                  <a:tcPr marL="76200" marR="76200" marT="38100" marB="38100" anchor="ctr">
                    <a:lnL w="9525" cap="flat" cmpd="sng" algn="ctr">
                      <a:solidFill>
                        <a:srgbClr val="C9D1C9"/>
                      </a:solidFill>
                      <a:prstDash val="solid"/>
                      <a:round/>
                      <a:headEnd type="none" w="med" len="med"/>
                      <a:tailEnd type="none" w="med" len="med"/>
                    </a:lnL>
                    <a:lnR w="9525" cap="flat" cmpd="sng" algn="ctr">
                      <a:solidFill>
                        <a:srgbClr val="C9D1C9"/>
                      </a:solidFill>
                      <a:prstDash val="solid"/>
                      <a:round/>
                      <a:headEnd type="none" w="med" len="med"/>
                      <a:tailEnd type="none" w="med" len="med"/>
                    </a:lnR>
                    <a:lnT w="9525" cap="flat" cmpd="sng" algn="ctr">
                      <a:solidFill>
                        <a:srgbClr val="C9D1C9"/>
                      </a:solidFill>
                      <a:prstDash val="solid"/>
                      <a:round/>
                      <a:headEnd type="none" w="med" len="med"/>
                      <a:tailEnd type="none" w="med" len="med"/>
                    </a:lnT>
                    <a:lnB w="9525" cap="flat" cmpd="sng" algn="ctr">
                      <a:solidFill>
                        <a:srgbClr val="C9D1C9"/>
                      </a:solidFill>
                      <a:prstDash val="solid"/>
                      <a:round/>
                      <a:headEnd type="none" w="med" len="med"/>
                      <a:tailEnd type="none" w="med" len="med"/>
                    </a:lnB>
                    <a:solidFill>
                      <a:srgbClr val="EEF4E8"/>
                    </a:solidFill>
                  </a:tcPr>
                </a:tc>
                <a:tc>
                  <a:txBody>
                    <a:bodyPr/>
                    <a:lstStyle/>
                    <a:p>
                      <a:pPr marL="0" indent="0">
                        <a:buNone/>
                      </a:pPr>
                      <a:r>
                        <a:rPr lang="en-US" sz="850" dirty="0">
                          <a:solidFill>
                            <a:srgbClr val="1F2A1F"/>
                          </a:solidFill>
                          <a:latin typeface="Calibri" pitchFamily="34" charset="0"/>
                          <a:ea typeface="Calibri" pitchFamily="34" charset="-122"/>
                          <a:cs typeface="Calibri" pitchFamily="34" charset="-120"/>
                        </a:rPr>
                        <a:t>THM-Login für die Anmeldung, E-Mail-Dienst der THM (beide laut Kontextdiagramm)</a:t>
                      </a:r>
                      <a:endParaRPr lang="en-US" sz="850" dirty="0">
                        <a:latin typeface="Calibri" charset="0"/>
                        <a:ea typeface="Calibri" charset="0"/>
                        <a:cs typeface="Calibri" charset="0"/>
                      </a:endParaRPr>
                    </a:p>
                  </a:txBody>
                  <a:tcPr marL="76200" marR="76200" marT="38100" marB="38100" anchor="ctr">
                    <a:lnL w="9525" cap="flat" cmpd="sng" algn="ctr">
                      <a:solidFill>
                        <a:srgbClr val="C9D1C9"/>
                      </a:solidFill>
                      <a:prstDash val="solid"/>
                      <a:round/>
                      <a:headEnd type="none" w="med" len="med"/>
                      <a:tailEnd type="none" w="med" len="med"/>
                    </a:lnL>
                    <a:lnR w="9525" cap="flat" cmpd="sng" algn="ctr">
                      <a:solidFill>
                        <a:srgbClr val="C9D1C9"/>
                      </a:solidFill>
                      <a:prstDash val="solid"/>
                      <a:round/>
                      <a:headEnd type="none" w="med" len="med"/>
                      <a:tailEnd type="none" w="med" len="med"/>
                    </a:lnR>
                    <a:lnT w="9525" cap="flat" cmpd="sng" algn="ctr">
                      <a:solidFill>
                        <a:srgbClr val="C9D1C9"/>
                      </a:solidFill>
                      <a:prstDash val="solid"/>
                      <a:round/>
                      <a:headEnd type="none" w="med" len="med"/>
                      <a:tailEnd type="none" w="med" len="med"/>
                    </a:lnT>
                    <a:lnB w="9525" cap="flat" cmpd="sng" algn="ctr">
                      <a:solidFill>
                        <a:srgbClr val="C9D1C9"/>
                      </a:solidFill>
                      <a:prstDash val="solid"/>
                      <a:round/>
                      <a:headEnd type="none" w="med" len="med"/>
                      <a:tailEnd type="none" w="med" len="med"/>
                    </a:lnB>
                  </a:tcPr>
                </a:tc>
                <a:tc>
                  <a:txBody>
                    <a:bodyPr/>
                    <a:lstStyle/>
                    <a:p>
                      <a:pPr marL="0" indent="0">
                        <a:buNone/>
                      </a:pPr>
                      <a:r>
                        <a:rPr lang="en-US" sz="850" dirty="0">
                          <a:solidFill>
                            <a:srgbClr val="1F2A1F"/>
                          </a:solidFill>
                          <a:latin typeface="Calibri" pitchFamily="34" charset="0"/>
                          <a:ea typeface="Calibri" pitchFamily="34" charset="-122"/>
                          <a:cs typeface="Calibri" pitchFamily="34" charset="-120"/>
                        </a:rPr>
                        <a:t>Die Anmeldung identifiziert die Erstprüfer:in. Der Weg der Benachrichtigung ist noch zu validieren.</a:t>
                      </a:r>
                      <a:endParaRPr lang="en-US" sz="850" dirty="0">
                        <a:latin typeface="Calibri" charset="0"/>
                        <a:ea typeface="Calibri" charset="0"/>
                        <a:cs typeface="Calibri" charset="0"/>
                      </a:endParaRPr>
                    </a:p>
                  </a:txBody>
                  <a:tcPr marL="76200" marR="76200" marT="38100" marB="38100" anchor="ctr">
                    <a:lnL w="9525" cap="flat" cmpd="sng" algn="ctr">
                      <a:solidFill>
                        <a:srgbClr val="C9D1C9"/>
                      </a:solidFill>
                      <a:prstDash val="solid"/>
                      <a:round/>
                      <a:headEnd type="none" w="med" len="med"/>
                      <a:tailEnd type="none" w="med" len="med"/>
                    </a:lnL>
                    <a:lnR w="9525" cap="flat" cmpd="sng" algn="ctr">
                      <a:solidFill>
                        <a:srgbClr val="C9D1C9"/>
                      </a:solidFill>
                      <a:prstDash val="solid"/>
                      <a:round/>
                      <a:headEnd type="none" w="med" len="med"/>
                      <a:tailEnd type="none" w="med" len="med"/>
                    </a:lnR>
                    <a:lnT w="9525" cap="flat" cmpd="sng" algn="ctr">
                      <a:solidFill>
                        <a:srgbClr val="C9D1C9"/>
                      </a:solidFill>
                      <a:prstDash val="solid"/>
                      <a:round/>
                      <a:headEnd type="none" w="med" len="med"/>
                      <a:tailEnd type="none" w="med" len="med"/>
                    </a:lnT>
                    <a:lnB w="9525" cap="flat" cmpd="sng" algn="ctr">
                      <a:solidFill>
                        <a:srgbClr val="C9D1C9"/>
                      </a:solidFill>
                      <a:prstDash val="solid"/>
                      <a:round/>
                      <a:headEnd type="none" w="med" len="med"/>
                      <a:tailEnd type="none" w="med" len="med"/>
                    </a:lnB>
                  </a:tcPr>
                </a:tc>
                <a:extLst>
                  <a:ext uri="{0D108BD9-81ED-4DB2-BD59-A6C34878D82A}">
                    <a16:rowId xmlns:a16="http://schemas.microsoft.com/office/drawing/2014/main" val="10002"/>
                  </a:ext>
                </a:extLst>
              </a:tr>
              <a:tr h="530352">
                <a:tc>
                  <a:txBody>
                    <a:bodyPr/>
                    <a:lstStyle/>
                    <a:p>
                      <a:pPr marL="0" indent="0">
                        <a:buNone/>
                      </a:pPr>
                      <a:r>
                        <a:rPr lang="en-US" sz="850" b="1" dirty="0">
                          <a:solidFill>
                            <a:srgbClr val="2C5F2D"/>
                          </a:solidFill>
                          <a:latin typeface="Calibri" pitchFamily="34" charset="0"/>
                          <a:ea typeface="Calibri" pitchFamily="34" charset="-122"/>
                          <a:cs typeface="Calibri" pitchFamily="34" charset="-120"/>
                        </a:rPr>
                        <a:t>Prozesse</a:t>
                      </a:r>
                      <a:endParaRPr lang="en-US" sz="850" dirty="0">
                        <a:latin typeface="Calibri" charset="0"/>
                        <a:ea typeface="Calibri" charset="0"/>
                        <a:cs typeface="Calibri" charset="0"/>
                      </a:endParaRPr>
                    </a:p>
                  </a:txBody>
                  <a:tcPr marL="76200" marR="76200" marT="38100" marB="38100" anchor="ctr">
                    <a:lnL w="9525" cap="flat" cmpd="sng" algn="ctr">
                      <a:solidFill>
                        <a:srgbClr val="C9D1C9"/>
                      </a:solidFill>
                      <a:prstDash val="solid"/>
                      <a:round/>
                      <a:headEnd type="none" w="med" len="med"/>
                      <a:tailEnd type="none" w="med" len="med"/>
                    </a:lnL>
                    <a:lnR w="9525" cap="flat" cmpd="sng" algn="ctr">
                      <a:solidFill>
                        <a:srgbClr val="C9D1C9"/>
                      </a:solidFill>
                      <a:prstDash val="solid"/>
                      <a:round/>
                      <a:headEnd type="none" w="med" len="med"/>
                      <a:tailEnd type="none" w="med" len="med"/>
                    </a:lnR>
                    <a:lnT w="9525" cap="flat" cmpd="sng" algn="ctr">
                      <a:solidFill>
                        <a:srgbClr val="C9D1C9"/>
                      </a:solidFill>
                      <a:prstDash val="solid"/>
                      <a:round/>
                      <a:headEnd type="none" w="med" len="med"/>
                      <a:tailEnd type="none" w="med" len="med"/>
                    </a:lnT>
                    <a:lnB w="9525" cap="flat" cmpd="sng" algn="ctr">
                      <a:solidFill>
                        <a:srgbClr val="C9D1C9"/>
                      </a:solidFill>
                      <a:prstDash val="solid"/>
                      <a:round/>
                      <a:headEnd type="none" w="med" len="med"/>
                      <a:tailEnd type="none" w="med" len="med"/>
                    </a:lnB>
                    <a:solidFill>
                      <a:srgbClr val="EEF4E8"/>
                    </a:solidFill>
                  </a:tcPr>
                </a:tc>
                <a:tc>
                  <a:txBody>
                    <a:bodyPr/>
                    <a:lstStyle/>
                    <a:p>
                      <a:pPr marL="0" indent="0">
                        <a:buNone/>
                      </a:pPr>
                      <a:r>
                        <a:rPr lang="en-US" sz="850" dirty="0">
                          <a:solidFill>
                            <a:srgbClr val="1F2A1F"/>
                          </a:solidFill>
                          <a:latin typeface="Calibri" pitchFamily="34" charset="0"/>
                          <a:ea typeface="Calibri" pitchFamily="34" charset="-122"/>
                          <a:cs typeface="Calibri" pitchFamily="34" charset="-120"/>
                        </a:rPr>
                        <a:t>Activity 4 „Ausgabe der Arbeit“ im Anmeldeprozess</a:t>
                      </a:r>
                      <a:endParaRPr lang="en-US" sz="850" dirty="0">
                        <a:latin typeface="Calibri" charset="0"/>
                        <a:ea typeface="Calibri" charset="0"/>
                        <a:cs typeface="Calibri" charset="0"/>
                      </a:endParaRPr>
                    </a:p>
                  </a:txBody>
                  <a:tcPr marL="76200" marR="76200" marT="38100" marB="38100" anchor="ctr">
                    <a:lnL w="9525" cap="flat" cmpd="sng" algn="ctr">
                      <a:solidFill>
                        <a:srgbClr val="C9D1C9"/>
                      </a:solidFill>
                      <a:prstDash val="solid"/>
                      <a:round/>
                      <a:headEnd type="none" w="med" len="med"/>
                      <a:tailEnd type="none" w="med" len="med"/>
                    </a:lnL>
                    <a:lnR w="9525" cap="flat" cmpd="sng" algn="ctr">
                      <a:solidFill>
                        <a:srgbClr val="C9D1C9"/>
                      </a:solidFill>
                      <a:prstDash val="solid"/>
                      <a:round/>
                      <a:headEnd type="none" w="med" len="med"/>
                      <a:tailEnd type="none" w="med" len="med"/>
                    </a:lnR>
                    <a:lnT w="9525" cap="flat" cmpd="sng" algn="ctr">
                      <a:solidFill>
                        <a:srgbClr val="C9D1C9"/>
                      </a:solidFill>
                      <a:prstDash val="solid"/>
                      <a:round/>
                      <a:headEnd type="none" w="med" len="med"/>
                      <a:tailEnd type="none" w="med" len="med"/>
                    </a:lnT>
                    <a:lnB w="9525" cap="flat" cmpd="sng" algn="ctr">
                      <a:solidFill>
                        <a:srgbClr val="C9D1C9"/>
                      </a:solidFill>
                      <a:prstDash val="solid"/>
                      <a:round/>
                      <a:headEnd type="none" w="med" len="med"/>
                      <a:tailEnd type="none" w="med" len="med"/>
                    </a:lnB>
                  </a:tcPr>
                </a:tc>
                <a:tc>
                  <a:txBody>
                    <a:bodyPr/>
                    <a:lstStyle/>
                    <a:p>
                      <a:pPr marL="0" indent="0">
                        <a:buNone/>
                      </a:pPr>
                      <a:r>
                        <a:rPr lang="en-US" sz="850" dirty="0">
                          <a:solidFill>
                            <a:srgbClr val="1F2A1F"/>
                          </a:solidFill>
                          <a:latin typeface="Calibri" pitchFamily="34" charset="0"/>
                          <a:ea typeface="Calibri" pitchFamily="34" charset="-122"/>
                          <a:cs typeface="Calibri" pitchFamily="34" charset="-120"/>
                        </a:rPr>
                        <a:t>Die Themenfreigabe liegt zwischen der Entscheidung des Prüfungsausschusses und dem Festlegen der Bearbeitungszeit.</a:t>
                      </a:r>
                      <a:endParaRPr lang="en-US" sz="850" dirty="0">
                        <a:latin typeface="Calibri" charset="0"/>
                        <a:ea typeface="Calibri" charset="0"/>
                        <a:cs typeface="Calibri" charset="0"/>
                      </a:endParaRPr>
                    </a:p>
                  </a:txBody>
                  <a:tcPr marL="76200" marR="76200" marT="38100" marB="38100" anchor="ctr">
                    <a:lnL w="9525" cap="flat" cmpd="sng" algn="ctr">
                      <a:solidFill>
                        <a:srgbClr val="C9D1C9"/>
                      </a:solidFill>
                      <a:prstDash val="solid"/>
                      <a:round/>
                      <a:headEnd type="none" w="med" len="med"/>
                      <a:tailEnd type="none" w="med" len="med"/>
                    </a:lnL>
                    <a:lnR w="9525" cap="flat" cmpd="sng" algn="ctr">
                      <a:solidFill>
                        <a:srgbClr val="C9D1C9"/>
                      </a:solidFill>
                      <a:prstDash val="solid"/>
                      <a:round/>
                      <a:headEnd type="none" w="med" len="med"/>
                      <a:tailEnd type="none" w="med" len="med"/>
                    </a:lnR>
                    <a:lnT w="9525" cap="flat" cmpd="sng" algn="ctr">
                      <a:solidFill>
                        <a:srgbClr val="C9D1C9"/>
                      </a:solidFill>
                      <a:prstDash val="solid"/>
                      <a:round/>
                      <a:headEnd type="none" w="med" len="med"/>
                      <a:tailEnd type="none" w="med" len="med"/>
                    </a:lnT>
                    <a:lnB w="9525" cap="flat" cmpd="sng" algn="ctr">
                      <a:solidFill>
                        <a:srgbClr val="C9D1C9"/>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buNone/>
                      </a:pPr>
                      <a:r>
                        <a:rPr lang="en-US" sz="850" b="1" dirty="0">
                          <a:solidFill>
                            <a:srgbClr val="2C5F2D"/>
                          </a:solidFill>
                          <a:latin typeface="Calibri" pitchFamily="34" charset="0"/>
                          <a:ea typeface="Calibri" pitchFamily="34" charset="-122"/>
                          <a:cs typeface="Calibri" pitchFamily="34" charset="-120"/>
                        </a:rPr>
                        <a:t>Ereignisse</a:t>
                      </a:r>
                      <a:endParaRPr lang="en-US" sz="850" dirty="0">
                        <a:latin typeface="Calibri" charset="0"/>
                        <a:ea typeface="Calibri" charset="0"/>
                        <a:cs typeface="Calibri" charset="0"/>
                      </a:endParaRPr>
                    </a:p>
                  </a:txBody>
                  <a:tcPr marL="76200" marR="76200" marT="38100" marB="38100" anchor="ctr">
                    <a:lnL w="9525" cap="flat" cmpd="sng" algn="ctr">
                      <a:solidFill>
                        <a:srgbClr val="C9D1C9"/>
                      </a:solidFill>
                      <a:prstDash val="solid"/>
                      <a:round/>
                      <a:headEnd type="none" w="med" len="med"/>
                      <a:tailEnd type="none" w="med" len="med"/>
                    </a:lnL>
                    <a:lnR w="9525" cap="flat" cmpd="sng" algn="ctr">
                      <a:solidFill>
                        <a:srgbClr val="C9D1C9"/>
                      </a:solidFill>
                      <a:prstDash val="solid"/>
                      <a:round/>
                      <a:headEnd type="none" w="med" len="med"/>
                      <a:tailEnd type="none" w="med" len="med"/>
                    </a:lnR>
                    <a:lnT w="9525" cap="flat" cmpd="sng" algn="ctr">
                      <a:solidFill>
                        <a:srgbClr val="C9D1C9"/>
                      </a:solidFill>
                      <a:prstDash val="solid"/>
                      <a:round/>
                      <a:headEnd type="none" w="med" len="med"/>
                      <a:tailEnd type="none" w="med" len="med"/>
                    </a:lnT>
                    <a:lnB w="9525" cap="flat" cmpd="sng" algn="ctr">
                      <a:solidFill>
                        <a:srgbClr val="C9D1C9"/>
                      </a:solidFill>
                      <a:prstDash val="solid"/>
                      <a:round/>
                      <a:headEnd type="none" w="med" len="med"/>
                      <a:tailEnd type="none" w="med" len="med"/>
                    </a:lnB>
                    <a:solidFill>
                      <a:srgbClr val="EEF4E8"/>
                    </a:solidFill>
                  </a:tcPr>
                </a:tc>
                <a:tc>
                  <a:txBody>
                    <a:bodyPr/>
                    <a:lstStyle/>
                    <a:p>
                      <a:pPr marL="0" indent="0">
                        <a:buNone/>
                      </a:pPr>
                      <a:r>
                        <a:rPr lang="en-US" sz="850" dirty="0" err="1">
                          <a:solidFill>
                            <a:srgbClr val="1F2A1F"/>
                          </a:solidFill>
                          <a:latin typeface="Calibri" pitchFamily="34" charset="0"/>
                          <a:ea typeface="Calibri" pitchFamily="34" charset="-122"/>
                          <a:cs typeface="Calibri" pitchFamily="34" charset="-120"/>
                        </a:rPr>
                        <a:t>Antrag</a:t>
                      </a:r>
                      <a:r>
                        <a:rPr lang="en-US" sz="850" dirty="0">
                          <a:solidFill>
                            <a:srgbClr val="1F2A1F"/>
                          </a:solidFill>
                          <a:latin typeface="Calibri" pitchFamily="34" charset="0"/>
                          <a:ea typeface="Calibri" pitchFamily="34" charset="-122"/>
                          <a:cs typeface="Calibri" pitchFamily="34" charset="-120"/>
                        </a:rPr>
                        <a:t> Erst </a:t>
                      </a:r>
                      <a:r>
                        <a:rPr lang="en-US" sz="850" dirty="0" err="1">
                          <a:solidFill>
                            <a:srgbClr val="1F2A1F"/>
                          </a:solidFill>
                          <a:latin typeface="Calibri" pitchFamily="34" charset="0"/>
                          <a:ea typeface="Calibri" pitchFamily="34" charset="-122"/>
                          <a:cs typeface="Calibri" pitchFamily="34" charset="-120"/>
                        </a:rPr>
                        <a:t>Prüfer</a:t>
                      </a:r>
                      <a:r>
                        <a:rPr lang="en-US" sz="850" dirty="0">
                          <a:solidFill>
                            <a:srgbClr val="1F2A1F"/>
                          </a:solidFill>
                          <a:latin typeface="Calibri" pitchFamily="34" charset="0"/>
                          <a:ea typeface="Calibri" pitchFamily="34" charset="-122"/>
                          <a:cs typeface="Calibri" pitchFamily="34" charset="-120"/>
                        </a:rPr>
                        <a:t> angenommen; Thema </a:t>
                      </a:r>
                      <a:r>
                        <a:rPr lang="en-US" sz="850" dirty="0" err="1">
                          <a:solidFill>
                            <a:srgbClr val="1F2A1F"/>
                          </a:solidFill>
                          <a:latin typeface="Calibri" pitchFamily="34" charset="0"/>
                          <a:ea typeface="Calibri" pitchFamily="34" charset="-122"/>
                          <a:cs typeface="Calibri" pitchFamily="34" charset="-120"/>
                        </a:rPr>
                        <a:t>freigegeben</a:t>
                      </a:r>
                      <a:r>
                        <a:rPr lang="en-US" sz="850" dirty="0">
                          <a:solidFill>
                            <a:srgbClr val="1F2A1F"/>
                          </a:solidFill>
                          <a:latin typeface="Calibri" pitchFamily="34" charset="0"/>
                          <a:ea typeface="Calibri" pitchFamily="34" charset="-122"/>
                          <a:cs typeface="Calibri" pitchFamily="34" charset="-120"/>
                        </a:rPr>
                        <a:t> und </a:t>
                      </a:r>
                      <a:r>
                        <a:rPr lang="en-US" sz="850" dirty="0" err="1">
                          <a:solidFill>
                            <a:srgbClr val="1F2A1F"/>
                          </a:solidFill>
                          <a:latin typeface="Calibri" pitchFamily="34" charset="0"/>
                          <a:ea typeface="Calibri" pitchFamily="34" charset="-122"/>
                          <a:cs typeface="Calibri" pitchFamily="34" charset="-120"/>
                        </a:rPr>
                        <a:t>bestätig</a:t>
                      </a:r>
                      <a:r>
                        <a:rPr lang="en-US" sz="850" dirty="0">
                          <a:solidFill>
                            <a:srgbClr val="1F2A1F"/>
                          </a:solidFill>
                          <a:latin typeface="Calibri" pitchFamily="34" charset="0"/>
                          <a:ea typeface="Calibri" pitchFamily="34" charset="-122"/>
                          <a:cs typeface="Calibri" pitchFamily="34" charset="-120"/>
                        </a:rPr>
                        <a:t> </a:t>
                      </a:r>
                      <a:r>
                        <a:rPr lang="en-US" sz="850" dirty="0" err="1">
                          <a:solidFill>
                            <a:srgbClr val="1F2A1F"/>
                          </a:solidFill>
                          <a:latin typeface="Calibri" pitchFamily="34" charset="0"/>
                          <a:ea typeface="Calibri" pitchFamily="34" charset="-122"/>
                          <a:cs typeface="Calibri" pitchFamily="34" charset="-120"/>
                        </a:rPr>
                        <a:t>über</a:t>
                      </a:r>
                      <a:r>
                        <a:rPr lang="en-US" sz="850" dirty="0">
                          <a:solidFill>
                            <a:srgbClr val="1F2A1F"/>
                          </a:solidFill>
                          <a:latin typeface="Calibri" pitchFamily="34" charset="0"/>
                          <a:ea typeface="Calibri" pitchFamily="34" charset="-122"/>
                          <a:cs typeface="Calibri" pitchFamily="34" charset="-120"/>
                        </a:rPr>
                        <a:t> den Erst </a:t>
                      </a:r>
                      <a:r>
                        <a:rPr lang="en-US" sz="850" dirty="0" err="1">
                          <a:solidFill>
                            <a:srgbClr val="1F2A1F"/>
                          </a:solidFill>
                          <a:latin typeface="Calibri" pitchFamily="34" charset="0"/>
                          <a:ea typeface="Calibri" pitchFamily="34" charset="-122"/>
                          <a:cs typeface="Calibri" pitchFamily="34" charset="-120"/>
                        </a:rPr>
                        <a:t>Prüfer</a:t>
                      </a:r>
                      <a:endParaRPr lang="en-US" sz="850" dirty="0">
                        <a:latin typeface="Calibri" charset="0"/>
                        <a:ea typeface="Calibri" charset="0"/>
                        <a:cs typeface="Calibri" charset="0"/>
                      </a:endParaRPr>
                    </a:p>
                  </a:txBody>
                  <a:tcPr marL="76200" marR="76200" marT="38100" marB="38100" anchor="ctr">
                    <a:lnL w="9525" cap="flat" cmpd="sng" algn="ctr">
                      <a:solidFill>
                        <a:srgbClr val="C9D1C9"/>
                      </a:solidFill>
                      <a:prstDash val="solid"/>
                      <a:round/>
                      <a:headEnd type="none" w="med" len="med"/>
                      <a:tailEnd type="none" w="med" len="med"/>
                    </a:lnL>
                    <a:lnR w="9525" cap="flat" cmpd="sng" algn="ctr">
                      <a:solidFill>
                        <a:srgbClr val="C9D1C9"/>
                      </a:solidFill>
                      <a:prstDash val="solid"/>
                      <a:round/>
                      <a:headEnd type="none" w="med" len="med"/>
                      <a:tailEnd type="none" w="med" len="med"/>
                    </a:lnR>
                    <a:lnT w="9525" cap="flat" cmpd="sng" algn="ctr">
                      <a:solidFill>
                        <a:srgbClr val="C9D1C9"/>
                      </a:solidFill>
                      <a:prstDash val="solid"/>
                      <a:round/>
                      <a:headEnd type="none" w="med" len="med"/>
                      <a:tailEnd type="none" w="med" len="med"/>
                    </a:lnT>
                    <a:lnB w="9525" cap="flat" cmpd="sng" algn="ctr">
                      <a:solidFill>
                        <a:srgbClr val="C9D1C9"/>
                      </a:solidFill>
                      <a:prstDash val="solid"/>
                      <a:round/>
                      <a:headEnd type="none" w="med" len="med"/>
                      <a:tailEnd type="none" w="med" len="med"/>
                    </a:lnB>
                  </a:tcPr>
                </a:tc>
                <a:tc>
                  <a:txBody>
                    <a:bodyPr/>
                    <a:lstStyle/>
                    <a:p>
                      <a:pPr marL="0" indent="0">
                        <a:buNone/>
                      </a:pPr>
                      <a:r>
                        <a:rPr lang="en-US" sz="850" dirty="0">
                          <a:solidFill>
                            <a:srgbClr val="1F2A1F"/>
                          </a:solidFill>
                          <a:latin typeface="Calibri" pitchFamily="34" charset="0"/>
                          <a:ea typeface="Calibri" pitchFamily="34" charset="-122"/>
                          <a:cs typeface="Calibri" pitchFamily="34" charset="-120"/>
                        </a:rPr>
                        <a:t>Das erste Ereignis löst die Story aus, das zweite beendet sie.</a:t>
                      </a:r>
                      <a:endParaRPr lang="en-US" sz="850" dirty="0">
                        <a:latin typeface="Calibri" charset="0"/>
                        <a:ea typeface="Calibri" charset="0"/>
                        <a:cs typeface="Calibri" charset="0"/>
                      </a:endParaRPr>
                    </a:p>
                  </a:txBody>
                  <a:tcPr marL="76200" marR="76200" marT="38100" marB="38100" anchor="ctr">
                    <a:lnL w="9525" cap="flat" cmpd="sng" algn="ctr">
                      <a:solidFill>
                        <a:srgbClr val="C9D1C9"/>
                      </a:solidFill>
                      <a:prstDash val="solid"/>
                      <a:round/>
                      <a:headEnd type="none" w="med" len="med"/>
                      <a:tailEnd type="none" w="med" len="med"/>
                    </a:lnL>
                    <a:lnR w="9525" cap="flat" cmpd="sng" algn="ctr">
                      <a:solidFill>
                        <a:srgbClr val="C9D1C9"/>
                      </a:solidFill>
                      <a:prstDash val="solid"/>
                      <a:round/>
                      <a:headEnd type="none" w="med" len="med"/>
                      <a:tailEnd type="none" w="med" len="med"/>
                    </a:lnR>
                    <a:lnT w="9525" cap="flat" cmpd="sng" algn="ctr">
                      <a:solidFill>
                        <a:srgbClr val="C9D1C9"/>
                      </a:solidFill>
                      <a:prstDash val="solid"/>
                      <a:round/>
                      <a:headEnd type="none" w="med" len="med"/>
                      <a:tailEnd type="none" w="med" len="med"/>
                    </a:lnT>
                    <a:lnB w="9525" cap="flat" cmpd="sng" algn="ctr">
                      <a:solidFill>
                        <a:srgbClr val="C9D1C9"/>
                      </a:solidFill>
                      <a:prstDash val="solid"/>
                      <a:round/>
                      <a:headEnd type="none" w="med" len="med"/>
                      <a:tailEnd type="none" w="med" len="med"/>
                    </a:lnB>
                  </a:tcPr>
                </a:tc>
                <a:extLst>
                  <a:ext uri="{0D108BD9-81ED-4DB2-BD59-A6C34878D82A}">
                    <a16:rowId xmlns:a16="http://schemas.microsoft.com/office/drawing/2014/main" val="10004"/>
                  </a:ext>
                </a:extLst>
              </a:tr>
              <a:tr h="603504">
                <a:tc>
                  <a:txBody>
                    <a:bodyPr/>
                    <a:lstStyle/>
                    <a:p>
                      <a:pPr marL="0" indent="0">
                        <a:buNone/>
                      </a:pPr>
                      <a:r>
                        <a:rPr lang="en-US" sz="850" b="1" dirty="0">
                          <a:solidFill>
                            <a:srgbClr val="2C5F2D"/>
                          </a:solidFill>
                          <a:latin typeface="Calibri" pitchFamily="34" charset="0"/>
                          <a:ea typeface="Calibri" pitchFamily="34" charset="-122"/>
                          <a:cs typeface="Calibri" pitchFamily="34" charset="-120"/>
                        </a:rPr>
                        <a:t>Dokumente</a:t>
                      </a:r>
                      <a:endParaRPr lang="en-US" sz="850" dirty="0">
                        <a:latin typeface="Calibri" charset="0"/>
                        <a:ea typeface="Calibri" charset="0"/>
                        <a:cs typeface="Calibri" charset="0"/>
                      </a:endParaRPr>
                    </a:p>
                  </a:txBody>
                  <a:tcPr marL="76200" marR="76200" marT="38100" marB="38100" anchor="ctr">
                    <a:lnL w="9525" cap="flat" cmpd="sng" algn="ctr">
                      <a:solidFill>
                        <a:srgbClr val="C9D1C9"/>
                      </a:solidFill>
                      <a:prstDash val="solid"/>
                      <a:round/>
                      <a:headEnd type="none" w="med" len="med"/>
                      <a:tailEnd type="none" w="med" len="med"/>
                    </a:lnL>
                    <a:lnR w="9525" cap="flat" cmpd="sng" algn="ctr">
                      <a:solidFill>
                        <a:srgbClr val="C9D1C9"/>
                      </a:solidFill>
                      <a:prstDash val="solid"/>
                      <a:round/>
                      <a:headEnd type="none" w="med" len="med"/>
                      <a:tailEnd type="none" w="med" len="med"/>
                    </a:lnR>
                    <a:lnT w="9525" cap="flat" cmpd="sng" algn="ctr">
                      <a:solidFill>
                        <a:srgbClr val="C9D1C9"/>
                      </a:solidFill>
                      <a:prstDash val="solid"/>
                      <a:round/>
                      <a:headEnd type="none" w="med" len="med"/>
                      <a:tailEnd type="none" w="med" len="med"/>
                    </a:lnT>
                    <a:lnB w="9525" cap="flat" cmpd="sng" algn="ctr">
                      <a:solidFill>
                        <a:srgbClr val="C9D1C9"/>
                      </a:solidFill>
                      <a:prstDash val="solid"/>
                      <a:round/>
                      <a:headEnd type="none" w="med" len="med"/>
                      <a:tailEnd type="none" w="med" len="med"/>
                    </a:lnB>
                    <a:solidFill>
                      <a:srgbClr val="EEF4E8"/>
                    </a:solidFill>
                  </a:tcPr>
                </a:tc>
                <a:tc>
                  <a:txBody>
                    <a:bodyPr/>
                    <a:lstStyle/>
                    <a:p>
                      <a:pPr marL="0" indent="0">
                        <a:buNone/>
                      </a:pPr>
                      <a:r>
                        <a:rPr lang="en-US" sz="850" dirty="0">
                          <a:solidFill>
                            <a:srgbClr val="1F2A1F"/>
                          </a:solidFill>
                          <a:latin typeface="Calibri" pitchFamily="34" charset="0"/>
                          <a:ea typeface="Calibri" pitchFamily="34" charset="-122"/>
                          <a:cs typeface="Calibri" pitchFamily="34" charset="-120"/>
                        </a:rPr>
                        <a:t>Antrag mit Thema; Prüfungsordnungen B.Sc. und M.Sc.; Allg. PO der THM § 17 (3)</a:t>
                      </a:r>
                      <a:endParaRPr lang="en-US" sz="850" dirty="0">
                        <a:latin typeface="Calibri" charset="0"/>
                        <a:ea typeface="Calibri" charset="0"/>
                        <a:cs typeface="Calibri" charset="0"/>
                      </a:endParaRPr>
                    </a:p>
                  </a:txBody>
                  <a:tcPr marL="76200" marR="76200" marT="38100" marB="38100" anchor="ctr">
                    <a:lnL w="9525" cap="flat" cmpd="sng" algn="ctr">
                      <a:solidFill>
                        <a:srgbClr val="C9D1C9"/>
                      </a:solidFill>
                      <a:prstDash val="solid"/>
                      <a:round/>
                      <a:headEnd type="none" w="med" len="med"/>
                      <a:tailEnd type="none" w="med" len="med"/>
                    </a:lnL>
                    <a:lnR w="9525" cap="flat" cmpd="sng" algn="ctr">
                      <a:solidFill>
                        <a:srgbClr val="C9D1C9"/>
                      </a:solidFill>
                      <a:prstDash val="solid"/>
                      <a:round/>
                      <a:headEnd type="none" w="med" len="med"/>
                      <a:tailEnd type="none" w="med" len="med"/>
                    </a:lnR>
                    <a:lnT w="9525" cap="flat" cmpd="sng" algn="ctr">
                      <a:solidFill>
                        <a:srgbClr val="C9D1C9"/>
                      </a:solidFill>
                      <a:prstDash val="solid"/>
                      <a:round/>
                      <a:headEnd type="none" w="med" len="med"/>
                      <a:tailEnd type="none" w="med" len="med"/>
                    </a:lnT>
                    <a:lnB w="9525" cap="flat" cmpd="sng" algn="ctr">
                      <a:solidFill>
                        <a:srgbClr val="C9D1C9"/>
                      </a:solidFill>
                      <a:prstDash val="solid"/>
                      <a:round/>
                      <a:headEnd type="none" w="med" len="med"/>
                      <a:tailEnd type="none" w="med" len="med"/>
                    </a:lnB>
                  </a:tcPr>
                </a:tc>
                <a:tc>
                  <a:txBody>
                    <a:bodyPr/>
                    <a:lstStyle/>
                    <a:p>
                      <a:pPr marL="0" indent="0">
                        <a:buNone/>
                      </a:pPr>
                      <a:r>
                        <a:rPr lang="en-US" sz="850" dirty="0">
                          <a:solidFill>
                            <a:srgbClr val="1F2A1F"/>
                          </a:solidFill>
                          <a:latin typeface="Calibri" pitchFamily="34" charset="0"/>
                          <a:ea typeface="Calibri" pitchFamily="34" charset="-122"/>
                          <a:cs typeface="Calibri" pitchFamily="34" charset="-120"/>
                        </a:rPr>
                        <a:t>Der Antrag liefert das zu prüfende Thema. Die Prüfungsordnung verlangt, Thema und Zeitpunkt der Ausgabe aktenkundig zu machen.</a:t>
                      </a:r>
                      <a:endParaRPr lang="en-US" sz="850" dirty="0">
                        <a:latin typeface="Calibri" charset="0"/>
                        <a:ea typeface="Calibri" charset="0"/>
                        <a:cs typeface="Calibri" charset="0"/>
                      </a:endParaRPr>
                    </a:p>
                  </a:txBody>
                  <a:tcPr marL="76200" marR="76200" marT="38100" marB="38100" anchor="ctr">
                    <a:lnL w="9525" cap="flat" cmpd="sng" algn="ctr">
                      <a:solidFill>
                        <a:srgbClr val="C9D1C9"/>
                      </a:solidFill>
                      <a:prstDash val="solid"/>
                      <a:round/>
                      <a:headEnd type="none" w="med" len="med"/>
                      <a:tailEnd type="none" w="med" len="med"/>
                    </a:lnL>
                    <a:lnR w="9525" cap="flat" cmpd="sng" algn="ctr">
                      <a:solidFill>
                        <a:srgbClr val="C9D1C9"/>
                      </a:solidFill>
                      <a:prstDash val="solid"/>
                      <a:round/>
                      <a:headEnd type="none" w="med" len="med"/>
                      <a:tailEnd type="none" w="med" len="med"/>
                    </a:lnR>
                    <a:lnT w="9525" cap="flat" cmpd="sng" algn="ctr">
                      <a:solidFill>
                        <a:srgbClr val="C9D1C9"/>
                      </a:solidFill>
                      <a:prstDash val="solid"/>
                      <a:round/>
                      <a:headEnd type="none" w="med" len="med"/>
                      <a:tailEnd type="none" w="med" len="med"/>
                    </a:lnT>
                    <a:lnB w="9525" cap="flat" cmpd="sng" algn="ctr">
                      <a:solidFill>
                        <a:srgbClr val="C9D1C9"/>
                      </a:solidFill>
                      <a:prstDash val="solid"/>
                      <a:round/>
                      <a:headEnd type="none" w="med" len="med"/>
                      <a:tailEnd type="none" w="med" len="med"/>
                    </a:lnB>
                  </a:tcPr>
                </a:tc>
                <a:extLst>
                  <a:ext uri="{0D108BD9-81ED-4DB2-BD59-A6C34878D82A}">
                    <a16:rowId xmlns:a16="http://schemas.microsoft.com/office/drawing/2014/main" val="10005"/>
                  </a:ext>
                </a:extLst>
              </a:tr>
              <a:tr h="457200">
                <a:tc>
                  <a:txBody>
                    <a:bodyPr/>
                    <a:lstStyle/>
                    <a:p>
                      <a:pPr marL="0" indent="0">
                        <a:buNone/>
                      </a:pPr>
                      <a:r>
                        <a:rPr lang="en-US" sz="850" b="1" dirty="0">
                          <a:solidFill>
                            <a:srgbClr val="2C5F2D"/>
                          </a:solidFill>
                          <a:latin typeface="Calibri" pitchFamily="34" charset="0"/>
                          <a:ea typeface="Calibri" pitchFamily="34" charset="-122"/>
                          <a:cs typeface="Calibri" pitchFamily="34" charset="-120"/>
                        </a:rPr>
                        <a:t>Technik</a:t>
                      </a:r>
                      <a:endParaRPr lang="en-US" sz="850" dirty="0">
                        <a:latin typeface="Calibri" charset="0"/>
                        <a:ea typeface="Calibri" charset="0"/>
                        <a:cs typeface="Calibri" charset="0"/>
                      </a:endParaRPr>
                    </a:p>
                  </a:txBody>
                  <a:tcPr marL="76200" marR="76200" marT="38100" marB="38100" anchor="ctr">
                    <a:lnL w="9525" cap="flat" cmpd="sng" algn="ctr">
                      <a:solidFill>
                        <a:srgbClr val="C9D1C9"/>
                      </a:solidFill>
                      <a:prstDash val="solid"/>
                      <a:round/>
                      <a:headEnd type="none" w="med" len="med"/>
                      <a:tailEnd type="none" w="med" len="med"/>
                    </a:lnL>
                    <a:lnR w="9525" cap="flat" cmpd="sng" algn="ctr">
                      <a:solidFill>
                        <a:srgbClr val="C9D1C9"/>
                      </a:solidFill>
                      <a:prstDash val="solid"/>
                      <a:round/>
                      <a:headEnd type="none" w="med" len="med"/>
                      <a:tailEnd type="none" w="med" len="med"/>
                    </a:lnR>
                    <a:lnT w="9525" cap="flat" cmpd="sng" algn="ctr">
                      <a:solidFill>
                        <a:srgbClr val="C9D1C9"/>
                      </a:solidFill>
                      <a:prstDash val="solid"/>
                      <a:round/>
                      <a:headEnd type="none" w="med" len="med"/>
                      <a:tailEnd type="none" w="med" len="med"/>
                    </a:lnT>
                    <a:lnB w="9525" cap="flat" cmpd="sng" algn="ctr">
                      <a:solidFill>
                        <a:srgbClr val="C9D1C9"/>
                      </a:solidFill>
                      <a:prstDash val="solid"/>
                      <a:round/>
                      <a:headEnd type="none" w="med" len="med"/>
                      <a:tailEnd type="none" w="med" len="med"/>
                    </a:lnB>
                    <a:solidFill>
                      <a:srgbClr val="EEF4E8"/>
                    </a:solidFill>
                  </a:tcPr>
                </a:tc>
                <a:tc>
                  <a:txBody>
                    <a:bodyPr/>
                    <a:lstStyle/>
                    <a:p>
                      <a:pPr marL="0" indent="0">
                        <a:buNone/>
                      </a:pPr>
                      <a:r>
                        <a:rPr lang="en-US" sz="850" dirty="0">
                          <a:solidFill>
                            <a:srgbClr val="1F2A1F"/>
                          </a:solidFill>
                          <a:latin typeface="Calibri" pitchFamily="34" charset="0"/>
                          <a:ea typeface="Calibri" pitchFamily="34" charset="-122"/>
                          <a:cs typeface="Calibri" pitchFamily="34" charset="-120"/>
                        </a:rPr>
                        <a:t>Webbasierte Anwendung im Browser, am Desktop.</a:t>
                      </a:r>
                      <a:endParaRPr lang="en-US" sz="850" dirty="0">
                        <a:latin typeface="Calibri" charset="0"/>
                        <a:ea typeface="Calibri" charset="0"/>
                        <a:cs typeface="Calibri" charset="0"/>
                      </a:endParaRPr>
                    </a:p>
                  </a:txBody>
                  <a:tcPr marL="76200" marR="76200" marT="38100" marB="38100" anchor="ctr">
                    <a:lnL w="9525" cap="flat" cmpd="sng" algn="ctr">
                      <a:solidFill>
                        <a:srgbClr val="C9D1C9"/>
                      </a:solidFill>
                      <a:prstDash val="solid"/>
                      <a:round/>
                      <a:headEnd type="none" w="med" len="med"/>
                      <a:tailEnd type="none" w="med" len="med"/>
                    </a:lnL>
                    <a:lnR w="9525" cap="flat" cmpd="sng" algn="ctr">
                      <a:solidFill>
                        <a:srgbClr val="C9D1C9"/>
                      </a:solidFill>
                      <a:prstDash val="solid"/>
                      <a:round/>
                      <a:headEnd type="none" w="med" len="med"/>
                      <a:tailEnd type="none" w="med" len="med"/>
                    </a:lnR>
                    <a:lnT w="9525" cap="flat" cmpd="sng" algn="ctr">
                      <a:solidFill>
                        <a:srgbClr val="C9D1C9"/>
                      </a:solidFill>
                      <a:prstDash val="solid"/>
                      <a:round/>
                      <a:headEnd type="none" w="med" len="med"/>
                      <a:tailEnd type="none" w="med" len="med"/>
                    </a:lnT>
                    <a:lnB w="9525" cap="flat" cmpd="sng" algn="ctr">
                      <a:solidFill>
                        <a:srgbClr val="C9D1C9"/>
                      </a:solidFill>
                      <a:prstDash val="solid"/>
                      <a:round/>
                      <a:headEnd type="none" w="med" len="med"/>
                      <a:tailEnd type="none" w="med" len="med"/>
                    </a:lnB>
                  </a:tcPr>
                </a:tc>
                <a:tc>
                  <a:txBody>
                    <a:bodyPr/>
                    <a:lstStyle/>
                    <a:p>
                      <a:pPr marL="0" indent="0">
                        <a:buNone/>
                      </a:pPr>
                      <a:r>
                        <a:rPr lang="en-US" sz="850" dirty="0">
                          <a:solidFill>
                            <a:srgbClr val="1F2A1F"/>
                          </a:solidFill>
                          <a:latin typeface="Calibri" pitchFamily="34" charset="0"/>
                          <a:ea typeface="Calibri" pitchFamily="34" charset="-122"/>
                          <a:cs typeface="Calibri" pitchFamily="34" charset="-120"/>
                        </a:rPr>
                        <a:t>Die Themenfreigabe muss auf dem </a:t>
                      </a:r>
                      <a:r>
                        <a:rPr lang="en-US" sz="850" dirty="0" err="1">
                          <a:solidFill>
                            <a:srgbClr val="1F2A1F"/>
                          </a:solidFill>
                          <a:latin typeface="Calibri" pitchFamily="34" charset="0"/>
                          <a:ea typeface="Calibri" pitchFamily="34" charset="-122"/>
                          <a:cs typeface="Calibri" pitchFamily="34" charset="-120"/>
                        </a:rPr>
                        <a:t>Gerätetyp</a:t>
                      </a:r>
                      <a:r>
                        <a:rPr lang="en-US" sz="850" dirty="0">
                          <a:solidFill>
                            <a:srgbClr val="1F2A1F"/>
                          </a:solidFill>
                          <a:latin typeface="Calibri" pitchFamily="34" charset="0"/>
                          <a:ea typeface="Calibri" pitchFamily="34" charset="-122"/>
                          <a:cs typeface="Calibri" pitchFamily="34" charset="-120"/>
                        </a:rPr>
                        <a:t> komfortabel möglich sein.</a:t>
                      </a:r>
                      <a:endParaRPr lang="en-US" sz="850" dirty="0">
                        <a:latin typeface="Calibri" charset="0"/>
                        <a:ea typeface="Calibri" charset="0"/>
                        <a:cs typeface="Calibri" charset="0"/>
                      </a:endParaRPr>
                    </a:p>
                  </a:txBody>
                  <a:tcPr marL="76200" marR="76200" marT="38100" marB="38100" anchor="ctr">
                    <a:lnL w="9525" cap="flat" cmpd="sng" algn="ctr">
                      <a:solidFill>
                        <a:srgbClr val="C9D1C9"/>
                      </a:solidFill>
                      <a:prstDash val="solid"/>
                      <a:round/>
                      <a:headEnd type="none" w="med" len="med"/>
                      <a:tailEnd type="none" w="med" len="med"/>
                    </a:lnL>
                    <a:lnR w="9525" cap="flat" cmpd="sng" algn="ctr">
                      <a:solidFill>
                        <a:srgbClr val="C9D1C9"/>
                      </a:solidFill>
                      <a:prstDash val="solid"/>
                      <a:round/>
                      <a:headEnd type="none" w="med" len="med"/>
                      <a:tailEnd type="none" w="med" len="med"/>
                    </a:lnR>
                    <a:lnT w="9525" cap="flat" cmpd="sng" algn="ctr">
                      <a:solidFill>
                        <a:srgbClr val="C9D1C9"/>
                      </a:solidFill>
                      <a:prstDash val="solid"/>
                      <a:round/>
                      <a:headEnd type="none" w="med" len="med"/>
                      <a:tailEnd type="none" w="med" len="med"/>
                    </a:lnT>
                    <a:lnB w="9525" cap="flat" cmpd="sng" algn="ctr">
                      <a:solidFill>
                        <a:srgbClr val="C9D1C9"/>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11480" y="201168"/>
            <a:ext cx="5943600" cy="457200"/>
          </a:xfrm>
          <a:prstGeom prst="rect">
            <a:avLst/>
          </a:prstGeom>
          <a:noFill/>
          <a:ln/>
        </p:spPr>
        <p:txBody>
          <a:bodyPr wrap="square" lIns="0" tIns="0" rIns="0" bIns="0" rtlCol="0" anchor="ctr"/>
          <a:lstStyle/>
          <a:p>
            <a:pPr marL="0" indent="0">
              <a:buNone/>
            </a:pPr>
            <a:r>
              <a:rPr lang="en-US" sz="2200" b="1" dirty="0">
                <a:solidFill>
                  <a:srgbClr val="1F2A1F"/>
                </a:solidFill>
                <a:latin typeface="Cambria" pitchFamily="34" charset="0"/>
                <a:ea typeface="Cambria" pitchFamily="34" charset="-122"/>
                <a:cs typeface="Cambria" pitchFamily="34" charset="-120"/>
              </a:rPr>
              <a:t>7. Quality Attribute</a:t>
            </a:r>
            <a:endParaRPr lang="en-US" sz="2200" dirty="0"/>
          </a:p>
        </p:txBody>
      </p:sp>
      <p:sp>
        <p:nvSpPr>
          <p:cNvPr id="3" name="Text 1"/>
          <p:cNvSpPr txBox="1"/>
          <p:nvPr/>
        </p:nvSpPr>
        <p:spPr>
          <a:xfrm>
            <a:off x="6035040" y="274320"/>
            <a:ext cx="2697480" cy="274320"/>
          </a:xfrm>
          <a:prstGeom prst="rect">
            <a:avLst/>
          </a:prstGeom>
          <a:noFill/>
          <a:ln/>
        </p:spPr>
        <p:txBody>
          <a:bodyPr wrap="square" lIns="0" tIns="0" rIns="0" bIns="0" rtlCol="0" anchor="ctr"/>
          <a:lstStyle/>
          <a:p>
            <a:pPr marL="0" indent="0" algn="r">
              <a:buNone/>
            </a:pPr>
            <a:r>
              <a:rPr lang="en-US" sz="800" b="1" kern="0" spc="150" dirty="0">
                <a:solidFill>
                  <a:srgbClr val="97BC62"/>
                </a:solidFill>
                <a:latin typeface="Calibri" pitchFamily="34" charset="0"/>
                <a:ea typeface="Calibri" pitchFamily="34" charset="-122"/>
                <a:cs typeface="Calibri" pitchFamily="34" charset="-120"/>
              </a:rPr>
              <a:t>7 DIMENSIONS  ·  7 VON 7</a:t>
            </a:r>
            <a:endParaRPr lang="en-US" sz="800" dirty="0"/>
          </a:p>
        </p:txBody>
      </p:sp>
      <p:sp>
        <p:nvSpPr>
          <p:cNvPr id="4" name="Text 2"/>
          <p:cNvSpPr txBox="1"/>
          <p:nvPr/>
        </p:nvSpPr>
        <p:spPr>
          <a:xfrm>
            <a:off x="411480" y="658368"/>
            <a:ext cx="8321040" cy="201168"/>
          </a:xfrm>
          <a:prstGeom prst="rect">
            <a:avLst/>
          </a:prstGeom>
          <a:noFill/>
          <a:ln/>
        </p:spPr>
        <p:txBody>
          <a:bodyPr wrap="square" lIns="0" tIns="0" rIns="0" bIns="0" rtlCol="0" anchor="t"/>
          <a:lstStyle/>
          <a:p>
            <a:pPr marL="0" indent="0">
              <a:buNone/>
            </a:pPr>
            <a:r>
              <a:rPr lang="en-US" sz="900" dirty="0">
                <a:solidFill>
                  <a:srgbClr val="5C6B5C"/>
                </a:solidFill>
                <a:latin typeface="Calibri" pitchFamily="34" charset="0"/>
                <a:ea typeface="Calibri" pitchFamily="34" charset="-122"/>
                <a:cs typeface="Calibri" pitchFamily="34" charset="-120"/>
              </a:rPr>
              <a:t>US 4.1.1  ·  Erstprüfer:in:  Thema aufrufen  ›  Thema prüfen  ›  Thema bestätigen  ›  Thema freigeben</a:t>
            </a:r>
            <a:endParaRPr lang="en-US" sz="900" dirty="0"/>
          </a:p>
        </p:txBody>
      </p:sp>
      <p:sp>
        <p:nvSpPr>
          <p:cNvPr id="5" name="Text 3"/>
          <p:cNvSpPr txBox="1"/>
          <p:nvPr/>
        </p:nvSpPr>
        <p:spPr>
          <a:xfrm>
            <a:off x="411480" y="4828032"/>
            <a:ext cx="3840480" cy="182880"/>
          </a:xfrm>
          <a:prstGeom prst="rect">
            <a:avLst/>
          </a:prstGeom>
          <a:noFill/>
          <a:ln/>
        </p:spPr>
        <p:txBody>
          <a:bodyPr wrap="square" lIns="0" tIns="0" rIns="0" bIns="0" rtlCol="0" anchor="t"/>
          <a:lstStyle/>
          <a:p>
            <a:pPr marL="0" indent="0">
              <a:buNone/>
            </a:pPr>
            <a:r>
              <a:rPr lang="en-US" sz="750" dirty="0">
                <a:solidFill>
                  <a:srgbClr val="8A968A"/>
                </a:solidFill>
                <a:latin typeface="Calibri" pitchFamily="34" charset="0"/>
                <a:ea typeface="Calibri" pitchFamily="34" charset="-122"/>
                <a:cs typeface="Calibri" pitchFamily="34" charset="-120"/>
              </a:rPr>
              <a:t>ThesisFlow  ·  Requirements Engineering, Gruppe Grün</a:t>
            </a:r>
            <a:endParaRPr lang="en-US" sz="750" dirty="0"/>
          </a:p>
        </p:txBody>
      </p:sp>
      <p:sp>
        <p:nvSpPr>
          <p:cNvPr id="6" name="Text 4"/>
          <p:cNvSpPr txBox="1"/>
          <p:nvPr/>
        </p:nvSpPr>
        <p:spPr>
          <a:xfrm>
            <a:off x="4206240" y="4828032"/>
            <a:ext cx="4526280" cy="182880"/>
          </a:xfrm>
          <a:prstGeom prst="rect">
            <a:avLst/>
          </a:prstGeom>
          <a:noFill/>
          <a:ln/>
        </p:spPr>
        <p:txBody>
          <a:bodyPr wrap="square" lIns="0" tIns="0" rIns="0" bIns="0" rtlCol="0" anchor="t"/>
          <a:lstStyle/>
          <a:p>
            <a:pPr marL="0" indent="0" algn="r">
              <a:buNone/>
            </a:pPr>
            <a:r>
              <a:rPr lang="en-US" sz="750" i="1" dirty="0">
                <a:solidFill>
                  <a:srgbClr val="8A968A"/>
                </a:solidFill>
                <a:latin typeface="Calibri" pitchFamily="34" charset="0"/>
                <a:ea typeface="Calibri" pitchFamily="34" charset="-122"/>
                <a:cs typeface="Calibri" pitchFamily="34" charset="-120"/>
              </a:rPr>
              <a:t>vgl. Vorlesung RE, Kap. 1 Qualitätsanforderungen</a:t>
            </a:r>
            <a:endParaRPr lang="en-US" sz="7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11480" y="987552"/>
          <a:ext cx="8321040" cy="2999232"/>
        </p:xfrm>
        <a:graphic>
          <a:graphicData uri="http://schemas.openxmlformats.org/drawingml/2006/table">
            <a:tbl>
              <a:tblPr/>
              <a:tblGrid>
                <a:gridCol w="137160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tblGrid>
              <a:tr h="292608">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Qualitätsattribut</a:t>
                      </a:r>
                      <a:endParaRPr lang="en-US" sz="900" dirty="0">
                        <a:latin typeface="Calibri" charset="0"/>
                        <a:ea typeface="Calibri" charset="0"/>
                        <a:cs typeface="Calibri" charset="0"/>
                      </a:endParaRPr>
                    </a:p>
                  </a:txBody>
                  <a:tcPr marL="76200" marR="76200" marT="38100" marB="38100" anchor="ctr">
                    <a:lnL w="9525" cap="flat" cmpd="sng" algn="ctr">
                      <a:solidFill>
                        <a:srgbClr val="C9D1C9"/>
                      </a:solidFill>
                      <a:prstDash val="solid"/>
                      <a:round/>
                      <a:headEnd type="none" w="med" len="med"/>
                      <a:tailEnd type="none" w="med" len="med"/>
                    </a:lnL>
                    <a:lnR w="9525" cap="flat" cmpd="sng" algn="ctr">
                      <a:solidFill>
                        <a:srgbClr val="C9D1C9"/>
                      </a:solidFill>
                      <a:prstDash val="solid"/>
                      <a:round/>
                      <a:headEnd type="none" w="med" len="med"/>
                      <a:tailEnd type="none" w="med" len="med"/>
                    </a:lnR>
                    <a:lnT w="9525" cap="flat" cmpd="sng" algn="ctr">
                      <a:solidFill>
                        <a:srgbClr val="C9D1C9"/>
                      </a:solidFill>
                      <a:prstDash val="solid"/>
                      <a:round/>
                      <a:headEnd type="none" w="med" len="med"/>
                      <a:tailEnd type="none" w="med" len="med"/>
                    </a:lnT>
                    <a:lnB w="9525" cap="flat" cmpd="sng" algn="ctr">
                      <a:solidFill>
                        <a:srgbClr val="C9D1C9"/>
                      </a:solidFill>
                      <a:prstDash val="solid"/>
                      <a:round/>
                      <a:headEnd type="none" w="med" len="med"/>
                      <a:tailEnd type="none" w="med" len="med"/>
                    </a:lnB>
                    <a:solidFill>
                      <a:srgbClr val="2C5F2D"/>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Konkrete Anforderung</a:t>
                      </a:r>
                      <a:endParaRPr lang="en-US" sz="900" dirty="0">
                        <a:latin typeface="Calibri" charset="0"/>
                        <a:ea typeface="Calibri" charset="0"/>
                        <a:cs typeface="Calibri" charset="0"/>
                      </a:endParaRPr>
                    </a:p>
                  </a:txBody>
                  <a:tcPr marL="76200" marR="76200" marT="38100" marB="38100" anchor="ctr">
                    <a:lnL w="9525" cap="flat" cmpd="sng" algn="ctr">
                      <a:solidFill>
                        <a:srgbClr val="C9D1C9"/>
                      </a:solidFill>
                      <a:prstDash val="solid"/>
                      <a:round/>
                      <a:headEnd type="none" w="med" len="med"/>
                      <a:tailEnd type="none" w="med" len="med"/>
                    </a:lnL>
                    <a:lnR w="9525" cap="flat" cmpd="sng" algn="ctr">
                      <a:solidFill>
                        <a:srgbClr val="C9D1C9"/>
                      </a:solidFill>
                      <a:prstDash val="solid"/>
                      <a:round/>
                      <a:headEnd type="none" w="med" len="med"/>
                      <a:tailEnd type="none" w="med" len="med"/>
                    </a:lnR>
                    <a:lnT w="9525" cap="flat" cmpd="sng" algn="ctr">
                      <a:solidFill>
                        <a:srgbClr val="C9D1C9"/>
                      </a:solidFill>
                      <a:prstDash val="solid"/>
                      <a:round/>
                      <a:headEnd type="none" w="med" len="med"/>
                      <a:tailEnd type="none" w="med" len="med"/>
                    </a:lnT>
                    <a:lnB w="9525" cap="flat" cmpd="sng" algn="ctr">
                      <a:solidFill>
                        <a:srgbClr val="C9D1C9"/>
                      </a:solidFill>
                      <a:prstDash val="solid"/>
                      <a:round/>
                      <a:headEnd type="none" w="med" len="med"/>
                      <a:tailEnd type="none" w="med" len="med"/>
                    </a:lnB>
                    <a:solidFill>
                      <a:srgbClr val="2C5F2D"/>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Prüfbarkeit</a:t>
                      </a:r>
                      <a:endParaRPr lang="en-US" sz="900" dirty="0">
                        <a:latin typeface="Calibri" charset="0"/>
                        <a:ea typeface="Calibri" charset="0"/>
                        <a:cs typeface="Calibri" charset="0"/>
                      </a:endParaRPr>
                    </a:p>
                  </a:txBody>
                  <a:tcPr marL="76200" marR="76200" marT="38100" marB="38100" anchor="ctr">
                    <a:lnL w="9525" cap="flat" cmpd="sng" algn="ctr">
                      <a:solidFill>
                        <a:srgbClr val="C9D1C9"/>
                      </a:solidFill>
                      <a:prstDash val="solid"/>
                      <a:round/>
                      <a:headEnd type="none" w="med" len="med"/>
                      <a:tailEnd type="none" w="med" len="med"/>
                    </a:lnL>
                    <a:lnR w="9525" cap="flat" cmpd="sng" algn="ctr">
                      <a:solidFill>
                        <a:srgbClr val="C9D1C9"/>
                      </a:solidFill>
                      <a:prstDash val="solid"/>
                      <a:round/>
                      <a:headEnd type="none" w="med" len="med"/>
                      <a:tailEnd type="none" w="med" len="med"/>
                    </a:lnR>
                    <a:lnT w="9525" cap="flat" cmpd="sng" algn="ctr">
                      <a:solidFill>
                        <a:srgbClr val="C9D1C9"/>
                      </a:solidFill>
                      <a:prstDash val="solid"/>
                      <a:round/>
                      <a:headEnd type="none" w="med" len="med"/>
                      <a:tailEnd type="none" w="med" len="med"/>
                    </a:lnT>
                    <a:lnB w="9525" cap="flat" cmpd="sng" algn="ctr">
                      <a:solidFill>
                        <a:srgbClr val="C9D1C9"/>
                      </a:solidFill>
                      <a:prstDash val="solid"/>
                      <a:round/>
                      <a:headEnd type="none" w="med" len="med"/>
                      <a:tailEnd type="none" w="med" len="med"/>
                    </a:lnB>
                    <a:solidFill>
                      <a:srgbClr val="2C5F2D"/>
                    </a:solidFill>
                  </a:tcPr>
                </a:tc>
                <a:extLst>
                  <a:ext uri="{0D108BD9-81ED-4DB2-BD59-A6C34878D82A}">
                    <a16:rowId xmlns:a16="http://schemas.microsoft.com/office/drawing/2014/main" val="10000"/>
                  </a:ext>
                </a:extLst>
              </a:tr>
              <a:tr h="676656">
                <a:tc>
                  <a:txBody>
                    <a:bodyPr/>
                    <a:lstStyle/>
                    <a:p>
                      <a:pPr marL="0" indent="0">
                        <a:buNone/>
                      </a:pPr>
                      <a:r>
                        <a:rPr lang="en-US" sz="900" b="1" dirty="0">
                          <a:solidFill>
                            <a:srgbClr val="2C5F2D"/>
                          </a:solidFill>
                          <a:latin typeface="Calibri" pitchFamily="34" charset="0"/>
                          <a:ea typeface="Calibri" pitchFamily="34" charset="-122"/>
                          <a:cs typeface="Calibri" pitchFamily="34" charset="-120"/>
                        </a:rPr>
                        <a:t>Sicherheit</a:t>
                      </a:r>
                      <a:endParaRPr lang="en-US" sz="900" dirty="0">
                        <a:latin typeface="Calibri" charset="0"/>
                        <a:ea typeface="Calibri" charset="0"/>
                        <a:cs typeface="Calibri" charset="0"/>
                      </a:endParaRPr>
                    </a:p>
                  </a:txBody>
                  <a:tcPr marL="76200" marR="76200" marT="38100" marB="38100" anchor="ctr">
                    <a:lnL w="9525" cap="flat" cmpd="sng" algn="ctr">
                      <a:solidFill>
                        <a:srgbClr val="C9D1C9"/>
                      </a:solidFill>
                      <a:prstDash val="solid"/>
                      <a:round/>
                      <a:headEnd type="none" w="med" len="med"/>
                      <a:tailEnd type="none" w="med" len="med"/>
                    </a:lnL>
                    <a:lnR w="9525" cap="flat" cmpd="sng" algn="ctr">
                      <a:solidFill>
                        <a:srgbClr val="C9D1C9"/>
                      </a:solidFill>
                      <a:prstDash val="solid"/>
                      <a:round/>
                      <a:headEnd type="none" w="med" len="med"/>
                      <a:tailEnd type="none" w="med" len="med"/>
                    </a:lnR>
                    <a:lnT w="9525" cap="flat" cmpd="sng" algn="ctr">
                      <a:solidFill>
                        <a:srgbClr val="C9D1C9"/>
                      </a:solidFill>
                      <a:prstDash val="solid"/>
                      <a:round/>
                      <a:headEnd type="none" w="med" len="med"/>
                      <a:tailEnd type="none" w="med" len="med"/>
                    </a:lnT>
                    <a:lnB w="9525" cap="flat" cmpd="sng" algn="ctr">
                      <a:solidFill>
                        <a:srgbClr val="C9D1C9"/>
                      </a:solidFill>
                      <a:prstDash val="solid"/>
                      <a:round/>
                      <a:headEnd type="none" w="med" len="med"/>
                      <a:tailEnd type="none" w="med" len="med"/>
                    </a:lnB>
                    <a:solidFill>
                      <a:srgbClr val="EEF4E8"/>
                    </a:solidFill>
                  </a:tcPr>
                </a:tc>
                <a:tc>
                  <a:txBody>
                    <a:bodyPr/>
                    <a:lstStyle/>
                    <a:p>
                      <a:pPr marL="0" indent="0">
                        <a:buNone/>
                      </a:pPr>
                      <a:r>
                        <a:rPr lang="en-US" sz="900" dirty="0">
                          <a:solidFill>
                            <a:srgbClr val="1F2A1F"/>
                          </a:solidFill>
                          <a:latin typeface="Calibri" pitchFamily="34" charset="0"/>
                          <a:ea typeface="Calibri" pitchFamily="34" charset="-122"/>
                          <a:cs typeface="Calibri" pitchFamily="34" charset="-120"/>
                        </a:rPr>
                        <a:t>Das System muss die Themenfreigabe und die Antragsdaten vor Zugriff durch nicht berechtigte Personen schützen.</a:t>
                      </a:r>
                      <a:endParaRPr lang="en-US" sz="900" dirty="0">
                        <a:latin typeface="Calibri" charset="0"/>
                        <a:ea typeface="Calibri" charset="0"/>
                        <a:cs typeface="Calibri" charset="0"/>
                      </a:endParaRPr>
                    </a:p>
                  </a:txBody>
                  <a:tcPr marL="76200" marR="76200" marT="38100" marB="38100" anchor="ctr">
                    <a:lnL w="9525" cap="flat" cmpd="sng" algn="ctr">
                      <a:solidFill>
                        <a:srgbClr val="C9D1C9"/>
                      </a:solidFill>
                      <a:prstDash val="solid"/>
                      <a:round/>
                      <a:headEnd type="none" w="med" len="med"/>
                      <a:tailEnd type="none" w="med" len="med"/>
                    </a:lnL>
                    <a:lnR w="9525" cap="flat" cmpd="sng" algn="ctr">
                      <a:solidFill>
                        <a:srgbClr val="C9D1C9"/>
                      </a:solidFill>
                      <a:prstDash val="solid"/>
                      <a:round/>
                      <a:headEnd type="none" w="med" len="med"/>
                      <a:tailEnd type="none" w="med" len="med"/>
                    </a:lnR>
                    <a:lnT w="9525" cap="flat" cmpd="sng" algn="ctr">
                      <a:solidFill>
                        <a:srgbClr val="C9D1C9"/>
                      </a:solidFill>
                      <a:prstDash val="solid"/>
                      <a:round/>
                      <a:headEnd type="none" w="med" len="med"/>
                      <a:tailEnd type="none" w="med" len="med"/>
                    </a:lnT>
                    <a:lnB w="9525" cap="flat" cmpd="sng" algn="ctr">
                      <a:solidFill>
                        <a:srgbClr val="C9D1C9"/>
                      </a:solidFill>
                      <a:prstDash val="solid"/>
                      <a:round/>
                      <a:headEnd type="none" w="med" len="med"/>
                      <a:tailEnd type="none" w="med" len="med"/>
                    </a:lnB>
                  </a:tcPr>
                </a:tc>
                <a:tc>
                  <a:txBody>
                    <a:bodyPr/>
                    <a:lstStyle/>
                    <a:p>
                      <a:pPr marL="0" indent="0">
                        <a:buNone/>
                      </a:pPr>
                      <a:r>
                        <a:rPr lang="en-US" sz="900" dirty="0">
                          <a:solidFill>
                            <a:srgbClr val="1F2A1F"/>
                          </a:solidFill>
                          <a:latin typeface="Calibri" pitchFamily="34" charset="0"/>
                          <a:ea typeface="Calibri" pitchFamily="34" charset="-122"/>
                          <a:cs typeface="Calibri" pitchFamily="34" charset="-120"/>
                        </a:rPr>
                        <a:t>Aufruf und Freigabeversuch mit einem nicht zugeordneten Konto werden vom System verhindert.</a:t>
                      </a:r>
                      <a:endParaRPr lang="en-US" sz="900" dirty="0">
                        <a:latin typeface="Calibri" charset="0"/>
                        <a:ea typeface="Calibri" charset="0"/>
                        <a:cs typeface="Calibri" charset="0"/>
                      </a:endParaRPr>
                    </a:p>
                  </a:txBody>
                  <a:tcPr marL="76200" marR="76200" marT="38100" marB="38100" anchor="ctr">
                    <a:lnL w="9525" cap="flat" cmpd="sng" algn="ctr">
                      <a:solidFill>
                        <a:srgbClr val="C9D1C9"/>
                      </a:solidFill>
                      <a:prstDash val="solid"/>
                      <a:round/>
                      <a:headEnd type="none" w="med" len="med"/>
                      <a:tailEnd type="none" w="med" len="med"/>
                    </a:lnL>
                    <a:lnR w="9525" cap="flat" cmpd="sng" algn="ctr">
                      <a:solidFill>
                        <a:srgbClr val="C9D1C9"/>
                      </a:solidFill>
                      <a:prstDash val="solid"/>
                      <a:round/>
                      <a:headEnd type="none" w="med" len="med"/>
                      <a:tailEnd type="none" w="med" len="med"/>
                    </a:lnR>
                    <a:lnT w="9525" cap="flat" cmpd="sng" algn="ctr">
                      <a:solidFill>
                        <a:srgbClr val="C9D1C9"/>
                      </a:solidFill>
                      <a:prstDash val="solid"/>
                      <a:round/>
                      <a:headEnd type="none" w="med" len="med"/>
                      <a:tailEnd type="none" w="med" len="med"/>
                    </a:lnT>
                    <a:lnB w="9525" cap="flat" cmpd="sng" algn="ctr">
                      <a:solidFill>
                        <a:srgbClr val="C9D1C9"/>
                      </a:solidFill>
                      <a:prstDash val="solid"/>
                      <a:round/>
                      <a:headEnd type="none" w="med" len="med"/>
                      <a:tailEnd type="none" w="med" len="med"/>
                    </a:lnB>
                  </a:tcPr>
                </a:tc>
                <a:extLst>
                  <a:ext uri="{0D108BD9-81ED-4DB2-BD59-A6C34878D82A}">
                    <a16:rowId xmlns:a16="http://schemas.microsoft.com/office/drawing/2014/main" val="10001"/>
                  </a:ext>
                </a:extLst>
              </a:tr>
              <a:tr h="603504">
                <a:tc>
                  <a:txBody>
                    <a:bodyPr/>
                    <a:lstStyle/>
                    <a:p>
                      <a:pPr marL="0" indent="0">
                        <a:buNone/>
                      </a:pPr>
                      <a:r>
                        <a:rPr lang="en-US" sz="900" b="1" dirty="0">
                          <a:solidFill>
                            <a:srgbClr val="2C5F2D"/>
                          </a:solidFill>
                          <a:latin typeface="Calibri" pitchFamily="34" charset="0"/>
                          <a:ea typeface="Calibri" pitchFamily="34" charset="-122"/>
                          <a:cs typeface="Calibri" pitchFamily="34" charset="-120"/>
                        </a:rPr>
                        <a:t>Zuverlässigkeit</a:t>
                      </a:r>
                      <a:endParaRPr lang="en-US" sz="900" dirty="0">
                        <a:latin typeface="Calibri" charset="0"/>
                        <a:ea typeface="Calibri" charset="0"/>
                        <a:cs typeface="Calibri" charset="0"/>
                      </a:endParaRPr>
                    </a:p>
                  </a:txBody>
                  <a:tcPr marL="76200" marR="76200" marT="38100" marB="38100" anchor="ctr">
                    <a:lnL w="9525" cap="flat" cmpd="sng" algn="ctr">
                      <a:solidFill>
                        <a:srgbClr val="C9D1C9"/>
                      </a:solidFill>
                      <a:prstDash val="solid"/>
                      <a:round/>
                      <a:headEnd type="none" w="med" len="med"/>
                      <a:tailEnd type="none" w="med" len="med"/>
                    </a:lnL>
                    <a:lnR w="9525" cap="flat" cmpd="sng" algn="ctr">
                      <a:solidFill>
                        <a:srgbClr val="C9D1C9"/>
                      </a:solidFill>
                      <a:prstDash val="solid"/>
                      <a:round/>
                      <a:headEnd type="none" w="med" len="med"/>
                      <a:tailEnd type="none" w="med" len="med"/>
                    </a:lnR>
                    <a:lnT w="9525" cap="flat" cmpd="sng" algn="ctr">
                      <a:solidFill>
                        <a:srgbClr val="C9D1C9"/>
                      </a:solidFill>
                      <a:prstDash val="solid"/>
                      <a:round/>
                      <a:headEnd type="none" w="med" len="med"/>
                      <a:tailEnd type="none" w="med" len="med"/>
                    </a:lnT>
                    <a:lnB w="9525" cap="flat" cmpd="sng" algn="ctr">
                      <a:solidFill>
                        <a:srgbClr val="C9D1C9"/>
                      </a:solidFill>
                      <a:prstDash val="solid"/>
                      <a:round/>
                      <a:headEnd type="none" w="med" len="med"/>
                      <a:tailEnd type="none" w="med" len="med"/>
                    </a:lnB>
                    <a:solidFill>
                      <a:srgbClr val="EEF4E8"/>
                    </a:solidFill>
                  </a:tcPr>
                </a:tc>
                <a:tc>
                  <a:txBody>
                    <a:bodyPr/>
                    <a:lstStyle/>
                    <a:p>
                      <a:pPr marL="0" indent="0">
                        <a:buNone/>
                      </a:pPr>
                      <a:r>
                        <a:rPr lang="en-US" sz="900" dirty="0">
                          <a:solidFill>
                            <a:srgbClr val="1F2A1F"/>
                          </a:solidFill>
                          <a:latin typeface="Calibri" pitchFamily="34" charset="0"/>
                          <a:ea typeface="Calibri" pitchFamily="34" charset="-122"/>
                          <a:cs typeface="Calibri" pitchFamily="34" charset="-120"/>
                        </a:rPr>
                        <a:t>Eine erteilte Themenfreigabe muss vollständig und unverändert gespeichert bleiben.</a:t>
                      </a:r>
                      <a:endParaRPr lang="en-US" sz="900" dirty="0">
                        <a:latin typeface="Calibri" charset="0"/>
                        <a:ea typeface="Calibri" charset="0"/>
                        <a:cs typeface="Calibri" charset="0"/>
                      </a:endParaRPr>
                    </a:p>
                  </a:txBody>
                  <a:tcPr marL="76200" marR="76200" marT="38100" marB="38100" anchor="ctr">
                    <a:lnL w="9525" cap="flat" cmpd="sng" algn="ctr">
                      <a:solidFill>
                        <a:srgbClr val="C9D1C9"/>
                      </a:solidFill>
                      <a:prstDash val="solid"/>
                      <a:round/>
                      <a:headEnd type="none" w="med" len="med"/>
                      <a:tailEnd type="none" w="med" len="med"/>
                    </a:lnL>
                    <a:lnR w="9525" cap="flat" cmpd="sng" algn="ctr">
                      <a:solidFill>
                        <a:srgbClr val="C9D1C9"/>
                      </a:solidFill>
                      <a:prstDash val="solid"/>
                      <a:round/>
                      <a:headEnd type="none" w="med" len="med"/>
                      <a:tailEnd type="none" w="med" len="med"/>
                    </a:lnR>
                    <a:lnT w="9525" cap="flat" cmpd="sng" algn="ctr">
                      <a:solidFill>
                        <a:srgbClr val="C9D1C9"/>
                      </a:solidFill>
                      <a:prstDash val="solid"/>
                      <a:round/>
                      <a:headEnd type="none" w="med" len="med"/>
                      <a:tailEnd type="none" w="med" len="med"/>
                    </a:lnT>
                    <a:lnB w="9525" cap="flat" cmpd="sng" algn="ctr">
                      <a:solidFill>
                        <a:srgbClr val="C9D1C9"/>
                      </a:solidFill>
                      <a:prstDash val="solid"/>
                      <a:round/>
                      <a:headEnd type="none" w="med" len="med"/>
                      <a:tailEnd type="none" w="med" len="med"/>
                    </a:lnB>
                  </a:tcPr>
                </a:tc>
                <a:tc>
                  <a:txBody>
                    <a:bodyPr/>
                    <a:lstStyle/>
                    <a:p>
                      <a:pPr marL="0" indent="0">
                        <a:buNone/>
                      </a:pPr>
                      <a:r>
                        <a:rPr lang="en-US" sz="900" dirty="0">
                          <a:solidFill>
                            <a:srgbClr val="1F2A1F"/>
                          </a:solidFill>
                          <a:latin typeface="Calibri" pitchFamily="34" charset="0"/>
                          <a:ea typeface="Calibri" pitchFamily="34" charset="-122"/>
                          <a:cs typeface="Calibri" pitchFamily="34" charset="-120"/>
                        </a:rPr>
                        <a:t>Nach erneutem Aufruf sind Thema und Zeitpunkt der Themenfreigabe identisch vorhanden.</a:t>
                      </a:r>
                      <a:endParaRPr lang="en-US" sz="900" dirty="0">
                        <a:latin typeface="Calibri" charset="0"/>
                        <a:ea typeface="Calibri" charset="0"/>
                        <a:cs typeface="Calibri" charset="0"/>
                      </a:endParaRPr>
                    </a:p>
                  </a:txBody>
                  <a:tcPr marL="76200" marR="76200" marT="38100" marB="38100" anchor="ctr">
                    <a:lnL w="9525" cap="flat" cmpd="sng" algn="ctr">
                      <a:solidFill>
                        <a:srgbClr val="C9D1C9"/>
                      </a:solidFill>
                      <a:prstDash val="solid"/>
                      <a:round/>
                      <a:headEnd type="none" w="med" len="med"/>
                      <a:tailEnd type="none" w="med" len="med"/>
                    </a:lnL>
                    <a:lnR w="9525" cap="flat" cmpd="sng" algn="ctr">
                      <a:solidFill>
                        <a:srgbClr val="C9D1C9"/>
                      </a:solidFill>
                      <a:prstDash val="solid"/>
                      <a:round/>
                      <a:headEnd type="none" w="med" len="med"/>
                      <a:tailEnd type="none" w="med" len="med"/>
                    </a:lnR>
                    <a:lnT w="9525" cap="flat" cmpd="sng" algn="ctr">
                      <a:solidFill>
                        <a:srgbClr val="C9D1C9"/>
                      </a:solidFill>
                      <a:prstDash val="solid"/>
                      <a:round/>
                      <a:headEnd type="none" w="med" len="med"/>
                      <a:tailEnd type="none" w="med" len="med"/>
                    </a:lnT>
                    <a:lnB w="9525" cap="flat" cmpd="sng" algn="ctr">
                      <a:solidFill>
                        <a:srgbClr val="C9D1C9"/>
                      </a:solidFill>
                      <a:prstDash val="solid"/>
                      <a:round/>
                      <a:headEnd type="none" w="med" len="med"/>
                      <a:tailEnd type="none" w="med" len="med"/>
                    </a:lnB>
                  </a:tcPr>
                </a:tc>
                <a:extLst>
                  <a:ext uri="{0D108BD9-81ED-4DB2-BD59-A6C34878D82A}">
                    <a16:rowId xmlns:a16="http://schemas.microsoft.com/office/drawing/2014/main" val="10002"/>
                  </a:ext>
                </a:extLst>
              </a:tr>
              <a:tr h="749808">
                <a:tc>
                  <a:txBody>
                    <a:bodyPr/>
                    <a:lstStyle/>
                    <a:p>
                      <a:pPr marL="0" indent="0">
                        <a:buNone/>
                      </a:pPr>
                      <a:r>
                        <a:rPr lang="en-US" sz="900" b="1" dirty="0">
                          <a:solidFill>
                            <a:srgbClr val="2C5F2D"/>
                          </a:solidFill>
                          <a:latin typeface="Calibri" pitchFamily="34" charset="0"/>
                          <a:ea typeface="Calibri" pitchFamily="34" charset="-122"/>
                          <a:cs typeface="Calibri" pitchFamily="34" charset="-120"/>
                        </a:rPr>
                        <a:t>Benutzbarkeit</a:t>
                      </a:r>
                      <a:endParaRPr lang="en-US" sz="900" dirty="0">
                        <a:latin typeface="Calibri" charset="0"/>
                        <a:ea typeface="Calibri" charset="0"/>
                        <a:cs typeface="Calibri" charset="0"/>
                      </a:endParaRPr>
                    </a:p>
                  </a:txBody>
                  <a:tcPr marL="76200" marR="76200" marT="38100" marB="38100" anchor="ctr">
                    <a:lnL w="9525" cap="flat" cmpd="sng" algn="ctr">
                      <a:solidFill>
                        <a:srgbClr val="C9D1C9"/>
                      </a:solidFill>
                      <a:prstDash val="solid"/>
                      <a:round/>
                      <a:headEnd type="none" w="med" len="med"/>
                      <a:tailEnd type="none" w="med" len="med"/>
                    </a:lnL>
                    <a:lnR w="9525" cap="flat" cmpd="sng" algn="ctr">
                      <a:solidFill>
                        <a:srgbClr val="C9D1C9"/>
                      </a:solidFill>
                      <a:prstDash val="solid"/>
                      <a:round/>
                      <a:headEnd type="none" w="med" len="med"/>
                      <a:tailEnd type="none" w="med" len="med"/>
                    </a:lnR>
                    <a:lnT w="9525" cap="flat" cmpd="sng" algn="ctr">
                      <a:solidFill>
                        <a:srgbClr val="C9D1C9"/>
                      </a:solidFill>
                      <a:prstDash val="solid"/>
                      <a:round/>
                      <a:headEnd type="none" w="med" len="med"/>
                      <a:tailEnd type="none" w="med" len="med"/>
                    </a:lnT>
                    <a:lnB w="9525" cap="flat" cmpd="sng" algn="ctr">
                      <a:solidFill>
                        <a:srgbClr val="C9D1C9"/>
                      </a:solidFill>
                      <a:prstDash val="solid"/>
                      <a:round/>
                      <a:headEnd type="none" w="med" len="med"/>
                      <a:tailEnd type="none" w="med" len="med"/>
                    </a:lnB>
                    <a:solidFill>
                      <a:srgbClr val="EEF4E8"/>
                    </a:solidFill>
                  </a:tcPr>
                </a:tc>
                <a:tc>
                  <a:txBody>
                    <a:bodyPr/>
                    <a:lstStyle/>
                    <a:p>
                      <a:pPr marL="0" indent="0">
                        <a:buNone/>
                      </a:pPr>
                      <a:r>
                        <a:rPr lang="en-US" sz="900" dirty="0">
                          <a:solidFill>
                            <a:srgbClr val="1F2A1F"/>
                          </a:solidFill>
                          <a:latin typeface="Calibri" pitchFamily="34" charset="0"/>
                          <a:ea typeface="Calibri" pitchFamily="34" charset="-122"/>
                          <a:cs typeface="Calibri" pitchFamily="34" charset="-120"/>
                        </a:rPr>
                        <a:t>Das System muss der Erstprüfer:in die Möglichkeit bieten, die Themenfreigabe ohne Schulung am Desktop und am Smartphone durchzuführen.</a:t>
                      </a:r>
                      <a:endParaRPr lang="en-US" sz="900" dirty="0">
                        <a:latin typeface="Calibri" charset="0"/>
                        <a:ea typeface="Calibri" charset="0"/>
                        <a:cs typeface="Calibri" charset="0"/>
                      </a:endParaRPr>
                    </a:p>
                  </a:txBody>
                  <a:tcPr marL="76200" marR="76200" marT="38100" marB="38100" anchor="ctr">
                    <a:lnL w="9525" cap="flat" cmpd="sng" algn="ctr">
                      <a:solidFill>
                        <a:srgbClr val="C9D1C9"/>
                      </a:solidFill>
                      <a:prstDash val="solid"/>
                      <a:round/>
                      <a:headEnd type="none" w="med" len="med"/>
                      <a:tailEnd type="none" w="med" len="med"/>
                    </a:lnL>
                    <a:lnR w="9525" cap="flat" cmpd="sng" algn="ctr">
                      <a:solidFill>
                        <a:srgbClr val="C9D1C9"/>
                      </a:solidFill>
                      <a:prstDash val="solid"/>
                      <a:round/>
                      <a:headEnd type="none" w="med" len="med"/>
                      <a:tailEnd type="none" w="med" len="med"/>
                    </a:lnR>
                    <a:lnT w="9525" cap="flat" cmpd="sng" algn="ctr">
                      <a:solidFill>
                        <a:srgbClr val="C9D1C9"/>
                      </a:solidFill>
                      <a:prstDash val="solid"/>
                      <a:round/>
                      <a:headEnd type="none" w="med" len="med"/>
                      <a:tailEnd type="none" w="med" len="med"/>
                    </a:lnT>
                    <a:lnB w="9525" cap="flat" cmpd="sng" algn="ctr">
                      <a:solidFill>
                        <a:srgbClr val="C9D1C9"/>
                      </a:solidFill>
                      <a:prstDash val="solid"/>
                      <a:round/>
                      <a:headEnd type="none" w="med" len="med"/>
                      <a:tailEnd type="none" w="med" len="med"/>
                    </a:lnB>
                  </a:tcPr>
                </a:tc>
                <a:tc>
                  <a:txBody>
                    <a:bodyPr/>
                    <a:lstStyle/>
                    <a:p>
                      <a:pPr marL="0" indent="0">
                        <a:buNone/>
                      </a:pPr>
                      <a:r>
                        <a:rPr lang="en-US" sz="900" dirty="0">
                          <a:solidFill>
                            <a:srgbClr val="1F2A1F"/>
                          </a:solidFill>
                          <a:latin typeface="Calibri" pitchFamily="34" charset="0"/>
                          <a:ea typeface="Calibri" pitchFamily="34" charset="-122"/>
                          <a:cs typeface="Calibri" pitchFamily="34" charset="-120"/>
                        </a:rPr>
                        <a:t>Nutzungstest mit Erstprüfenden auf beiden Gerätetypen. Zielwert noch zu validieren.</a:t>
                      </a:r>
                      <a:endParaRPr lang="en-US" sz="900" dirty="0">
                        <a:latin typeface="Calibri" charset="0"/>
                        <a:ea typeface="Calibri" charset="0"/>
                        <a:cs typeface="Calibri" charset="0"/>
                      </a:endParaRPr>
                    </a:p>
                  </a:txBody>
                  <a:tcPr marL="76200" marR="76200" marT="38100" marB="38100" anchor="ctr">
                    <a:lnL w="9525" cap="flat" cmpd="sng" algn="ctr">
                      <a:solidFill>
                        <a:srgbClr val="C9D1C9"/>
                      </a:solidFill>
                      <a:prstDash val="solid"/>
                      <a:round/>
                      <a:headEnd type="none" w="med" len="med"/>
                      <a:tailEnd type="none" w="med" len="med"/>
                    </a:lnL>
                    <a:lnR w="9525" cap="flat" cmpd="sng" algn="ctr">
                      <a:solidFill>
                        <a:srgbClr val="C9D1C9"/>
                      </a:solidFill>
                      <a:prstDash val="solid"/>
                      <a:round/>
                      <a:headEnd type="none" w="med" len="med"/>
                      <a:tailEnd type="none" w="med" len="med"/>
                    </a:lnR>
                    <a:lnT w="9525" cap="flat" cmpd="sng" algn="ctr">
                      <a:solidFill>
                        <a:srgbClr val="C9D1C9"/>
                      </a:solidFill>
                      <a:prstDash val="solid"/>
                      <a:round/>
                      <a:headEnd type="none" w="med" len="med"/>
                      <a:tailEnd type="none" w="med" len="med"/>
                    </a:lnT>
                    <a:lnB w="9525" cap="flat" cmpd="sng" algn="ctr">
                      <a:solidFill>
                        <a:srgbClr val="C9D1C9"/>
                      </a:solidFill>
                      <a:prstDash val="solid"/>
                      <a:round/>
                      <a:headEnd type="none" w="med" len="med"/>
                      <a:tailEnd type="none" w="med" len="med"/>
                    </a:lnB>
                  </a:tcPr>
                </a:tc>
                <a:extLst>
                  <a:ext uri="{0D108BD9-81ED-4DB2-BD59-A6C34878D82A}">
                    <a16:rowId xmlns:a16="http://schemas.microsoft.com/office/drawing/2014/main" val="10003"/>
                  </a:ext>
                </a:extLst>
              </a:tr>
              <a:tr h="676656">
                <a:tc>
                  <a:txBody>
                    <a:bodyPr/>
                    <a:lstStyle/>
                    <a:p>
                      <a:pPr marL="0" indent="0">
                        <a:buNone/>
                      </a:pPr>
                      <a:r>
                        <a:rPr lang="en-US" sz="900" b="1" dirty="0">
                          <a:solidFill>
                            <a:srgbClr val="2C5F2D"/>
                          </a:solidFill>
                          <a:latin typeface="Calibri" pitchFamily="34" charset="0"/>
                          <a:ea typeface="Calibri" pitchFamily="34" charset="-122"/>
                          <a:cs typeface="Calibri" pitchFamily="34" charset="-120"/>
                        </a:rPr>
                        <a:t>Effizienz</a:t>
                      </a:r>
                      <a:endParaRPr lang="en-US" sz="900" dirty="0">
                        <a:latin typeface="Calibri" charset="0"/>
                        <a:ea typeface="Calibri" charset="0"/>
                        <a:cs typeface="Calibri" charset="0"/>
                      </a:endParaRPr>
                    </a:p>
                  </a:txBody>
                  <a:tcPr marL="76200" marR="76200" marT="38100" marB="38100" anchor="ctr">
                    <a:lnL w="9525" cap="flat" cmpd="sng" algn="ctr">
                      <a:solidFill>
                        <a:srgbClr val="C9D1C9"/>
                      </a:solidFill>
                      <a:prstDash val="solid"/>
                      <a:round/>
                      <a:headEnd type="none" w="med" len="med"/>
                      <a:tailEnd type="none" w="med" len="med"/>
                    </a:lnL>
                    <a:lnR w="9525" cap="flat" cmpd="sng" algn="ctr">
                      <a:solidFill>
                        <a:srgbClr val="C9D1C9"/>
                      </a:solidFill>
                      <a:prstDash val="solid"/>
                      <a:round/>
                      <a:headEnd type="none" w="med" len="med"/>
                      <a:tailEnd type="none" w="med" len="med"/>
                    </a:lnR>
                    <a:lnT w="9525" cap="flat" cmpd="sng" algn="ctr">
                      <a:solidFill>
                        <a:srgbClr val="C9D1C9"/>
                      </a:solidFill>
                      <a:prstDash val="solid"/>
                      <a:round/>
                      <a:headEnd type="none" w="med" len="med"/>
                      <a:tailEnd type="none" w="med" len="med"/>
                    </a:lnT>
                    <a:lnB w="9525" cap="flat" cmpd="sng" algn="ctr">
                      <a:solidFill>
                        <a:srgbClr val="C9D1C9"/>
                      </a:solidFill>
                      <a:prstDash val="solid"/>
                      <a:round/>
                      <a:headEnd type="none" w="med" len="med"/>
                      <a:tailEnd type="none" w="med" len="med"/>
                    </a:lnB>
                    <a:solidFill>
                      <a:srgbClr val="EEF4E8"/>
                    </a:solidFill>
                  </a:tcPr>
                </a:tc>
                <a:tc>
                  <a:txBody>
                    <a:bodyPr/>
                    <a:lstStyle/>
                    <a:p>
                      <a:pPr marL="0" indent="0">
                        <a:buNone/>
                      </a:pPr>
                      <a:r>
                        <a:rPr lang="en-US" sz="900" dirty="0">
                          <a:solidFill>
                            <a:srgbClr val="1F2A1F"/>
                          </a:solidFill>
                          <a:latin typeface="Calibri" pitchFamily="34" charset="0"/>
                          <a:ea typeface="Calibri" pitchFamily="34" charset="-122"/>
                          <a:cs typeface="Calibri" pitchFamily="34" charset="-120"/>
                        </a:rPr>
                        <a:t>Die Themenfreigabe sollte für die Erstprüfer:in mit weniger Arbeitsschritten möglich sein als im heutigen Formularprozess.</a:t>
                      </a:r>
                      <a:endParaRPr lang="en-US" sz="900" dirty="0">
                        <a:latin typeface="Calibri" charset="0"/>
                        <a:ea typeface="Calibri" charset="0"/>
                        <a:cs typeface="Calibri" charset="0"/>
                      </a:endParaRPr>
                    </a:p>
                  </a:txBody>
                  <a:tcPr marL="76200" marR="76200" marT="38100" marB="38100" anchor="ctr">
                    <a:lnL w="9525" cap="flat" cmpd="sng" algn="ctr">
                      <a:solidFill>
                        <a:srgbClr val="C9D1C9"/>
                      </a:solidFill>
                      <a:prstDash val="solid"/>
                      <a:round/>
                      <a:headEnd type="none" w="med" len="med"/>
                      <a:tailEnd type="none" w="med" len="med"/>
                    </a:lnL>
                    <a:lnR w="9525" cap="flat" cmpd="sng" algn="ctr">
                      <a:solidFill>
                        <a:srgbClr val="C9D1C9"/>
                      </a:solidFill>
                      <a:prstDash val="solid"/>
                      <a:round/>
                      <a:headEnd type="none" w="med" len="med"/>
                      <a:tailEnd type="none" w="med" len="med"/>
                    </a:lnR>
                    <a:lnT w="9525" cap="flat" cmpd="sng" algn="ctr">
                      <a:solidFill>
                        <a:srgbClr val="C9D1C9"/>
                      </a:solidFill>
                      <a:prstDash val="solid"/>
                      <a:round/>
                      <a:headEnd type="none" w="med" len="med"/>
                      <a:tailEnd type="none" w="med" len="med"/>
                    </a:lnT>
                    <a:lnB w="9525" cap="flat" cmpd="sng" algn="ctr">
                      <a:solidFill>
                        <a:srgbClr val="C9D1C9"/>
                      </a:solidFill>
                      <a:prstDash val="solid"/>
                      <a:round/>
                      <a:headEnd type="none" w="med" len="med"/>
                      <a:tailEnd type="none" w="med" len="med"/>
                    </a:lnB>
                  </a:tcPr>
                </a:tc>
                <a:tc>
                  <a:txBody>
                    <a:bodyPr/>
                    <a:lstStyle/>
                    <a:p>
                      <a:pPr marL="0" indent="0">
                        <a:buNone/>
                      </a:pPr>
                      <a:r>
                        <a:rPr lang="en-US" sz="900" dirty="0">
                          <a:solidFill>
                            <a:srgbClr val="1F2A1F"/>
                          </a:solidFill>
                          <a:latin typeface="Calibri" pitchFamily="34" charset="0"/>
                          <a:ea typeface="Calibri" pitchFamily="34" charset="-122"/>
                          <a:cs typeface="Calibri" pitchFamily="34" charset="-120"/>
                        </a:rPr>
                        <a:t>Vergleich der Arbeitsschritte heute und im Portal. Zielwert noch zu validieren.</a:t>
                      </a:r>
                      <a:endParaRPr lang="en-US" sz="900" dirty="0">
                        <a:latin typeface="Calibri" charset="0"/>
                        <a:ea typeface="Calibri" charset="0"/>
                        <a:cs typeface="Calibri" charset="0"/>
                      </a:endParaRPr>
                    </a:p>
                  </a:txBody>
                  <a:tcPr marL="76200" marR="76200" marT="38100" marB="38100" anchor="ctr">
                    <a:lnL w="9525" cap="flat" cmpd="sng" algn="ctr">
                      <a:solidFill>
                        <a:srgbClr val="C9D1C9"/>
                      </a:solidFill>
                      <a:prstDash val="solid"/>
                      <a:round/>
                      <a:headEnd type="none" w="med" len="med"/>
                      <a:tailEnd type="none" w="med" len="med"/>
                    </a:lnL>
                    <a:lnR w="9525" cap="flat" cmpd="sng" algn="ctr">
                      <a:solidFill>
                        <a:srgbClr val="C9D1C9"/>
                      </a:solidFill>
                      <a:prstDash val="solid"/>
                      <a:round/>
                      <a:headEnd type="none" w="med" len="med"/>
                      <a:tailEnd type="none" w="med" len="med"/>
                    </a:lnR>
                    <a:lnT w="9525" cap="flat" cmpd="sng" algn="ctr">
                      <a:solidFill>
                        <a:srgbClr val="C9D1C9"/>
                      </a:solidFill>
                      <a:prstDash val="solid"/>
                      <a:round/>
                      <a:headEnd type="none" w="med" len="med"/>
                      <a:tailEnd type="none" w="med" len="med"/>
                    </a:lnT>
                    <a:lnB w="9525" cap="flat" cmpd="sng" algn="ctr">
                      <a:solidFill>
                        <a:srgbClr val="C9D1C9"/>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8" name="Shape 5"/>
          <p:cNvSpPr/>
          <p:nvPr/>
        </p:nvSpPr>
        <p:spPr>
          <a:xfrm>
            <a:off x="411480" y="4160520"/>
            <a:ext cx="8321040" cy="521208"/>
          </a:xfrm>
          <a:prstGeom prst="roundRect">
            <a:avLst>
              <a:gd name="adj" fmla="val 14035"/>
            </a:avLst>
          </a:prstGeom>
          <a:solidFill>
            <a:srgbClr val="FFF7E0"/>
          </a:solidFill>
          <a:ln w="12700">
            <a:solidFill>
              <a:srgbClr val="C9A227"/>
            </a:solidFill>
            <a:prstDash val="solid"/>
          </a:ln>
        </p:spPr>
      </p:sp>
      <p:sp>
        <p:nvSpPr>
          <p:cNvPr id="7" name="Text 6"/>
          <p:cNvSpPr txBox="1"/>
          <p:nvPr/>
        </p:nvSpPr>
        <p:spPr>
          <a:xfrm>
            <a:off x="548640" y="4160520"/>
            <a:ext cx="8046720" cy="521208"/>
          </a:xfrm>
          <a:prstGeom prst="rect">
            <a:avLst/>
          </a:prstGeom>
          <a:noFill/>
          <a:ln/>
        </p:spPr>
        <p:txBody>
          <a:bodyPr wrap="square" lIns="0" tIns="0" rIns="0" bIns="0" rtlCol="0" anchor="ctr"/>
          <a:lstStyle/>
          <a:p>
            <a:pPr marL="0" indent="0">
              <a:buNone/>
            </a:pPr>
            <a:r>
              <a:rPr lang="en-US" sz="900" b="1" dirty="0">
                <a:solidFill>
                  <a:srgbClr val="7A5C00"/>
                </a:solidFill>
                <a:latin typeface="Calibri" pitchFamily="34" charset="0"/>
                <a:ea typeface="Calibri" pitchFamily="34" charset="-122"/>
                <a:cs typeface="Calibri" pitchFamily="34" charset="-120"/>
              </a:rPr>
              <a:t>Abgrenzung: </a:t>
            </a:r>
            <a:r>
              <a:rPr lang="en-US" sz="900" dirty="0">
                <a:solidFill>
                  <a:srgbClr val="1F2A1F"/>
                </a:solidFill>
                <a:latin typeface="Calibri" pitchFamily="34" charset="0"/>
                <a:ea typeface="Calibri" pitchFamily="34" charset="-122"/>
                <a:cs typeface="Calibri" pitchFamily="34" charset="-120"/>
              </a:rPr>
              <a:t>Qualitätsanforderungen sind getrennt von den funktionalen Regeln C1 bis C6 dokumentiert. Messwerte sind im Projekt nicht vorgegeben und deshalb als „noch zu validieren“ gekennzeichnet.</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1930</Words>
  <Application>Microsoft Macintosh PowerPoint</Application>
  <PresentationFormat>Bildschirmpräsentation (16:9)</PresentationFormat>
  <Paragraphs>213</Paragraphs>
  <Slides>8</Slides>
  <Notes>8</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8</vt:i4>
      </vt:variant>
    </vt:vector>
  </HeadingPairs>
  <TitlesOfParts>
    <vt:vector size="12" baseType="lpstr">
      <vt:lpstr>Arial</vt:lpstr>
      <vt:lpstr>Calibri</vt:lpstr>
      <vt:lpstr>Cambria</vt:lpstr>
      <vt:lpstr>Office Theme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 Dimensions – Erstprüfer:in: Themenfreigabe</dc:title>
  <dc:subject>PptxGenJS Presentation</dc:subject>
  <dc:creator>PptxGenJS</dc:creator>
  <cp:lastModifiedBy>Gurcharan Singh</cp:lastModifiedBy>
  <cp:revision>2</cp:revision>
  <dcterms:created xsi:type="dcterms:W3CDTF">2026-10-01T10:25:21Z</dcterms:created>
  <dcterms:modified xsi:type="dcterms:W3CDTF">2026-10-01T11:18:18Z</dcterms:modified>
</cp:coreProperties>
</file>