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383280" cy="5143500"/>
          </a:xfrm>
          <a:prstGeom prst="rect">
            <a:avLst/>
          </a:prstGeom>
          <a:solidFill>
            <a:srgbClr val="2C5F2D"/>
          </a:solidFill>
          <a:ln w="9525">
            <a:solidFill>
              <a:srgbClr val="2C5F2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11480" y="365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D2D  ·  7 PRODUCT DIMENSIONS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6858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Story 4.1.1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11480" y="11430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Thema bestätigen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411480" y="182880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STORY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411480" y="2057400"/>
            <a:ext cx="2697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„Als Erstprüfer:in möchte ich das Thema der Abschlussarbeit bestätigen, damit die Arbeit mit dem abgestimmten Thema offiziell freigegeben wird.“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411480" y="33832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EINORDNUNG IM STORY MAPPING</a:t>
            </a:r>
            <a:endParaRPr lang="en-US" sz="800" dirty="0"/>
          </a:p>
        </p:txBody>
      </p:sp>
      <p:sp>
        <p:nvSpPr>
          <p:cNvPr id="9" name="Text 7"/>
          <p:cNvSpPr txBox="1"/>
          <p:nvPr/>
        </p:nvSpPr>
        <p:spPr>
          <a:xfrm>
            <a:off x="411480" y="361188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D9E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4: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Ausgabe der Arbeit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D9E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Task 4.1: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Thema bestätigen und freigeben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D9E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Rolle: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Erstprüfer:in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411480" y="46177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D9E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ThesisFlow  ·  Requirements Engineering, Gruppe Grün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3657600" y="347472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Die sieben Dimensionen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3657600" y="896112"/>
            <a:ext cx="5029200" cy="457200"/>
          </a:xfrm>
          <a:prstGeom prst="roundRect">
            <a:avLst>
              <a:gd name="adj" fmla="val 16000"/>
            </a:avLst>
          </a:prstGeom>
          <a:solidFill>
            <a:srgbClr val="EEF4E8"/>
          </a:solidFill>
          <a:ln w="12700">
            <a:solidFill>
              <a:srgbClr val="EEF4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767328" y="996696"/>
            <a:ext cx="256032" cy="256032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767328" y="9966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4133088" y="896112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5440680" y="896112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Personas für Erstprüfer:in und Studierende:r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0" y="1426464"/>
            <a:ext cx="5029200" cy="457200"/>
          </a:xfrm>
          <a:prstGeom prst="roundRect">
            <a:avLst>
              <a:gd name="adj" fmla="val 16000"/>
            </a:avLst>
          </a:prstGeom>
          <a:solidFill>
            <a:srgbClr val="EEF4E8"/>
          </a:solidFill>
          <a:ln w="12700">
            <a:solidFill>
              <a:srgbClr val="EEF4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767328" y="1527048"/>
            <a:ext cx="256032" cy="256032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767328" y="15270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4133088" y="1426464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5440680" y="1426464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Dialog „Thema bestätigen“, Dialoglandkarte, Schnittstellen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657600" y="1956816"/>
            <a:ext cx="5029200" cy="457200"/>
          </a:xfrm>
          <a:prstGeom prst="roundRect">
            <a:avLst>
              <a:gd name="adj" fmla="val 16000"/>
            </a:avLst>
          </a:prstGeom>
          <a:solidFill>
            <a:srgbClr val="EEF4E8"/>
          </a:solidFill>
          <a:ln w="12700">
            <a:solidFill>
              <a:srgbClr val="EEF4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67328" y="2057400"/>
            <a:ext cx="256032" cy="256032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767328" y="20574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4133088" y="1956816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5440680" y="1956816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Aktivitätsdiagramm: erhalten, lesen, prüfen, bestätigen, freigeben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657600" y="2487168"/>
            <a:ext cx="5029200" cy="457200"/>
          </a:xfrm>
          <a:prstGeom prst="roundRect">
            <a:avLst>
              <a:gd name="adj" fmla="val 16000"/>
            </a:avLst>
          </a:prstGeom>
          <a:solidFill>
            <a:srgbClr val="EEF4E8"/>
          </a:solidFill>
          <a:ln w="12700">
            <a:solidFill>
              <a:srgbClr val="EEF4E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767328" y="2587752"/>
            <a:ext cx="256032" cy="256032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767328" y="25877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4133088" y="2487168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5440680" y="2487168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Ausschnitt des Datenmodells und Datenzugriffe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657600" y="3017520"/>
            <a:ext cx="5029200" cy="457200"/>
          </a:xfrm>
          <a:prstGeom prst="roundRect">
            <a:avLst>
              <a:gd name="adj" fmla="val 16000"/>
            </a:avLst>
          </a:prstGeom>
          <a:solidFill>
            <a:srgbClr val="EEF4E8"/>
          </a:solidFill>
          <a:ln w="12700">
            <a:solidFill>
              <a:srgbClr val="EEF4E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767328" y="3118104"/>
            <a:ext cx="256032" cy="256032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3767328" y="31181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4133088" y="301752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5440680" y="301752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Geschäftsregeln aus Zulassungsantrag und Prüfungsordnung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657600" y="3547872"/>
            <a:ext cx="5029200" cy="457200"/>
          </a:xfrm>
          <a:prstGeom prst="roundRect">
            <a:avLst>
              <a:gd name="adj" fmla="val 16000"/>
            </a:avLst>
          </a:prstGeom>
          <a:solidFill>
            <a:srgbClr val="EEF4E8"/>
          </a:solidFill>
          <a:ln w="12700">
            <a:solidFill>
              <a:srgbClr val="EEF4E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767328" y="3648456"/>
            <a:ext cx="256032" cy="256032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3767328" y="36484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4133088" y="3547872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5440680" y="3547872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Einsatzumgebung: Geräte, Zugang, Organisation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3657600" y="4078224"/>
            <a:ext cx="5029200" cy="457200"/>
          </a:xfrm>
          <a:prstGeom prst="roundRect">
            <a:avLst>
              <a:gd name="adj" fmla="val 16000"/>
            </a:avLst>
          </a:prstGeom>
          <a:solidFill>
            <a:srgbClr val="EEF4E8"/>
          </a:solidFill>
          <a:ln w="12700">
            <a:solidFill>
              <a:srgbClr val="EEF4E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767328" y="4178808"/>
            <a:ext cx="256032" cy="256032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3767328" y="41788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45" name="Text 43"/>
          <p:cNvSpPr txBox="1"/>
          <p:nvPr/>
        </p:nvSpPr>
        <p:spPr>
          <a:xfrm>
            <a:off x="4133088" y="4078224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Attribute</a:t>
            </a:r>
            <a:endParaRPr lang="en-US" sz="1100" dirty="0"/>
          </a:p>
        </p:txBody>
      </p:sp>
      <p:sp>
        <p:nvSpPr>
          <p:cNvPr id="46" name="Text 44"/>
          <p:cNvSpPr txBox="1"/>
          <p:nvPr/>
        </p:nvSpPr>
        <p:spPr>
          <a:xfrm>
            <a:off x="5440680" y="4078224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Messbare Qualitätsziele für die Story</a:t>
            </a:r>
            <a:endParaRPr lang="en-US" sz="950" dirty="0"/>
          </a:p>
        </p:txBody>
      </p:sp>
      <p:sp>
        <p:nvSpPr>
          <p:cNvPr id="47" name="Text 45"/>
          <p:cNvSpPr txBox="1"/>
          <p:nvPr/>
        </p:nvSpPr>
        <p:spPr>
          <a:xfrm>
            <a:off x="3657600" y="470916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9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Quellen: Story Mapping V2, Zulassungsantrag WS23/24, Praxisteil S. 18 bis 33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2860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User: Persona Erstprüfer:in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5120640" y="29260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15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D2D  ·  DIMENSION 1 VON 7  ·  USER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4828032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9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4.1.1 Thema bestätigen  ·  ThesisFlow  ·  Requirements Engineering, Gruppe Grün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411480" y="868680"/>
            <a:ext cx="2514600" cy="3840480"/>
          </a:xfrm>
          <a:prstGeom prst="roundRect">
            <a:avLst>
              <a:gd name="adj" fmla="val 4364"/>
            </a:avLst>
          </a:prstGeom>
          <a:solidFill>
            <a:srgbClr val="EEF4E8"/>
          </a:solidFill>
          <a:ln w="12700">
            <a:solidFill>
              <a:srgbClr val="EEF4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74420" y="1097280"/>
            <a:ext cx="1188720" cy="118872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74420" y="109728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249631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Prof. Dr. Andreas Becker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816352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Professor für Wirtschaftsinformatik, FB MND, Erstprüfer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594360" y="3172968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„Ich will ein Thema freigeben, ohne ein Formular dreimal anzufassen.“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379476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Alter: 51 Jahre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der THM seit: 12 Jahren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Betreut: rund 10 Abschlussarbeiten pro Semester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Geräte: Laptop im Büro, Smartphone unterwegs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Hinweis: fiktive Persona, Werte sind Annahmen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200400" y="896112"/>
            <a:ext cx="237744" cy="237744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200400" y="89611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3529584" y="868680"/>
            <a:ext cx="2368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Ziele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246120" y="1216152"/>
            <a:ext cx="26517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Thema auf einen Blick prüfen und verbindlich freigeben</a:t>
            </a:r>
            <a:endParaRPr lang="en-US" sz="95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Überblick über alle betreuten Arbeiten und offenen Aufgaben</a:t>
            </a:r>
            <a:endParaRPr lang="en-US" sz="95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Mehr Zeit für Betreuung statt für Formalien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035040" y="896112"/>
            <a:ext cx="237744" cy="237744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035040" y="89611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6364224" y="868680"/>
            <a:ext cx="2368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Eigenschaften und Verhalten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080760" y="1216152"/>
            <a:ext cx="26517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Fachlich genau, wenig Zeit zwischen Lehre und Forschung</a:t>
            </a:r>
            <a:endParaRPr lang="en-US" sz="95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Arbeitet viel per E-Mail, erwartet klare Aufgabenlisten</a:t>
            </a:r>
            <a:endParaRPr lang="en-US" sz="95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Skeptisch bei Zusatzaufwand, offen, wenn es Zeit spart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00400" y="2450592"/>
            <a:ext cx="237744" cy="237744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200400" y="245059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3529584" y="2423160"/>
            <a:ext cx="2368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Frustrationen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3246120" y="2770632"/>
            <a:ext cx="26517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 per E-Mail hin- und herschicken</a:t>
            </a:r>
            <a:endParaRPr lang="en-US" sz="95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Unteren Formularteil ausfüllen, unterschreiben, scannen</a:t>
            </a:r>
            <a:endParaRPr lang="en-US" sz="95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Unklar, bei wem ein Antrag gerade liegt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035040" y="2450592"/>
            <a:ext cx="237744" cy="237744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035040" y="245059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6364224" y="2423160"/>
            <a:ext cx="2368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Nutzungsüberwindung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080760" y="2770632"/>
            <a:ext cx="26517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Benachrichtigung mit direktem Link zum Antrag</a:t>
            </a:r>
            <a:endParaRPr lang="en-US" sz="95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Bestätigung in wenigen Klicks, auch mobil</a:t>
            </a:r>
            <a:endParaRPr lang="en-US" sz="95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mit THM-Konto, kein neues Passwort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200400" y="4041648"/>
            <a:ext cx="5532120" cy="667512"/>
          </a:xfrm>
          <a:prstGeom prst="roundRect">
            <a:avLst>
              <a:gd name="adj" fmla="val 10959"/>
            </a:avLst>
          </a:prstGeom>
          <a:solidFill>
            <a:srgbClr val="FFF7E0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310128" y="4041648"/>
            <a:ext cx="53035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A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Bezug zur User Story 4.1.1:  </a:t>
            </a:r>
            <a:pPr indent="0" marL="0">
              <a:buNone/>
            </a:pPr>
            <a:r>
              <a:rPr lang="en-US" sz="9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Hauptnutzer der Story. Er prüft das Thema und gibt die Arbeit frei. Ohne seine Bestätigung geht der Vorgang nicht weiter.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2860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User: Persona Studierende:r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5120640" y="29260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15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D2D  ·  DIMENSION 1 VON 7  ·  USER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4828032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9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4.1.1 Thema bestätigen  ·  ThesisFlow  ·  Requirements Engineering, Gruppe Grün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411480" y="868680"/>
            <a:ext cx="2514600" cy="3840480"/>
          </a:xfrm>
          <a:prstGeom prst="roundRect">
            <a:avLst>
              <a:gd name="adj" fmla="val 4364"/>
            </a:avLst>
          </a:prstGeom>
          <a:solidFill>
            <a:srgbClr val="EEF4E8"/>
          </a:solidFill>
          <a:ln w="12700">
            <a:solidFill>
              <a:srgbClr val="EEF4E8"/>
            </a:solidFill>
            <a:prstDash val="solid"/>
          </a:ln>
        </p:spPr>
      </p:sp>
      <p:pic>
        <p:nvPicPr>
          <p:cNvPr id="6" name="Image 0" descr="C:\Users\Ewa\AppData\Local\Temp\claude\C--Users-Ewa-OneDrive---Aurora-Engineering-GmbH-Aurora-Website\a8cef239-b6b3-4fdc-8b38-27e0873da54c\scratchpad\photos\bachel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63615" y="1005840"/>
            <a:ext cx="610329" cy="1417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02920" y="249631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Moritz Hoffmann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816352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B.Sc. Wirtschaftsinformatik, 6. Semester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3172968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„Ich will einfach wissen, ob mein Antrag angekommen ist und was noch fehlt.“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594360" y="379476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Alter: 23 Jahre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Wohnort: Gießen, WG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Nebenjob: Werkstudent, 12 h/Woche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Geräte: Smartphone, Laptop zu Hause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 aus Aufgabe „Personas“ übernommen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3200400" y="896112"/>
            <a:ext cx="237744" cy="237744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200400" y="89611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3529584" y="868680"/>
            <a:ext cx="2368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Ziele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3246120" y="1216152"/>
            <a:ext cx="26517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Antrag in einem Durchgang korrekt einreichen</a:t>
            </a:r>
            <a:endParaRPr lang="en-US" sz="95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Bearbeitungsstand jederzeit am Handy sehen</a:t>
            </a:r>
            <a:endParaRPr lang="en-US" sz="95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Bachelor in Regelstudienzeit abschließen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6035040" y="896112"/>
            <a:ext cx="237744" cy="237744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035040" y="89611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6364224" y="868680"/>
            <a:ext cx="2368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Eigenschaften und Verhalten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6080760" y="1216152"/>
            <a:ext cx="26517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Erste Abschlussarbeit, unsicher bei Formalien</a:t>
            </a:r>
            <a:endParaRPr lang="en-US" sz="95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Digital-native, erwartet App-Komfort</a:t>
            </a:r>
            <a:endParaRPr lang="en-US" sz="95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knapp, reagiert auf Erinnerungen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3200400" y="2450592"/>
            <a:ext cx="237744" cy="237744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3200400" y="245059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3529584" y="2423160"/>
            <a:ext cx="2368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Frustrationen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3246120" y="2770632"/>
            <a:ext cx="26517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Wochenlang keine Rückmeldung zum Antrag</a:t>
            </a:r>
            <a:endParaRPr lang="en-US" sz="95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Unsicher, ob alles vollständig ist</a:t>
            </a:r>
            <a:endParaRPr lang="en-US" sz="95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Sekretariat nur zu Öffnungszeiten erreichbar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6035040" y="2450592"/>
            <a:ext cx="237744" cy="237744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035040" y="245059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6364224" y="2423160"/>
            <a:ext cx="2368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Nutzungsüberwindung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6080760" y="2770632"/>
            <a:ext cx="26517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Benachrichtigung bei jedem Statuswechsel</a:t>
            </a:r>
            <a:endParaRPr lang="en-US" sz="95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mit THM-Konto, keine neue Registrierung</a:t>
            </a:r>
            <a:endParaRPr lang="en-US" sz="95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 genauso komfortabel wie am Desktop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3200400" y="4041648"/>
            <a:ext cx="5532120" cy="667512"/>
          </a:xfrm>
          <a:prstGeom prst="roundRect">
            <a:avLst>
              <a:gd name="adj" fmla="val 10959"/>
            </a:avLst>
          </a:prstGeom>
          <a:solidFill>
            <a:srgbClr val="FFF7E0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3310128" y="4041648"/>
            <a:ext cx="53035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A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Bezug zur User Story 4.1.1:  </a:t>
            </a:r>
            <a:pPr indent="0" marL="0">
              <a:buNone/>
            </a:pPr>
            <a:r>
              <a:rPr lang="en-US" sz="9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Mittelbar betroffen. Er hat das Thema vorgeschlagen und wartet auf die Freigabe, um Thema und Frist verbindlich zu kennen.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2860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Interface: Dialog „Thema bestätigen“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5120640" y="29260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15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D2D  ·  DIMENSION 2 VON 7  ·  INTERFACE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65836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GUI-Entwurf für Desktop und Smartphone, Dialoglandkarte und Schnittstellen zu Nachbarsystemen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411480" y="4828032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9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4.1.1 Thema bestätigen  ·  ThesisFlow  ·  Requirements Engineering, Gruppe Grün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411480" y="960120"/>
            <a:ext cx="4572000" cy="370332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12700">
            <a:solidFill>
              <a:srgbClr val="C9D1C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20624" y="969264"/>
            <a:ext cx="4553712" cy="237744"/>
          </a:xfrm>
          <a:prstGeom prst="rect">
            <a:avLst/>
          </a:prstGeom>
          <a:solidFill>
            <a:srgbClr val="E9EEE9"/>
          </a:solidFill>
          <a:ln w="9525">
            <a:solidFill>
              <a:srgbClr val="E9EEE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042416"/>
            <a:ext cx="82296" cy="82296"/>
          </a:xfrm>
          <a:prstGeom prst="ellipse">
            <a:avLst/>
          </a:prstGeom>
          <a:solidFill>
            <a:srgbClr val="C9D1C9"/>
          </a:solidFill>
          <a:ln w="12700">
            <a:solidFill>
              <a:srgbClr val="C9D1C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0936" y="1042416"/>
            <a:ext cx="82296" cy="82296"/>
          </a:xfrm>
          <a:prstGeom prst="ellipse">
            <a:avLst/>
          </a:prstGeom>
          <a:solidFill>
            <a:srgbClr val="C9D1C9"/>
          </a:solidFill>
          <a:ln w="12700">
            <a:solidFill>
              <a:srgbClr val="C9D1C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58952" y="1042416"/>
            <a:ext cx="82296" cy="82296"/>
          </a:xfrm>
          <a:prstGeom prst="ellipse">
            <a:avLst/>
          </a:prstGeom>
          <a:solidFill>
            <a:srgbClr val="C9D1C9"/>
          </a:solidFill>
          <a:ln w="12700">
            <a:solidFill>
              <a:srgbClr val="C9D1C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0120" y="1005840"/>
            <a:ext cx="2926080" cy="155448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C9D1C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33272" y="1005840"/>
            <a:ext cx="2834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thesisflow.thm.de/antraege/2026-0142/thema</a:t>
            </a:r>
            <a:endParaRPr lang="en-US" sz="650" dirty="0"/>
          </a:p>
        </p:txBody>
      </p:sp>
      <p:sp>
        <p:nvSpPr>
          <p:cNvPr id="13" name="Shape 11"/>
          <p:cNvSpPr/>
          <p:nvPr/>
        </p:nvSpPr>
        <p:spPr>
          <a:xfrm>
            <a:off x="420624" y="1207008"/>
            <a:ext cx="4553712" cy="274320"/>
          </a:xfrm>
          <a:prstGeom prst="rect">
            <a:avLst/>
          </a:prstGeom>
          <a:solidFill>
            <a:srgbClr val="2C5F2D"/>
          </a:solidFill>
          <a:ln w="9525">
            <a:solidFill>
              <a:srgbClr val="2C5F2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12070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ThesisFlow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3063240" y="120700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D9E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Dr. A. Becker  ·  Abmelden</a:t>
            </a:r>
            <a:endParaRPr lang="en-US" sz="7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1536192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Meine Aufgaben  ›  Antrag Moritz Hoffmann  ›  Thema bestätigen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896112" y="1929384"/>
            <a:ext cx="3584448" cy="914"/>
          </a:xfrm>
          <a:prstGeom prst="line">
            <a:avLst/>
          </a:prstGeom>
          <a:noFill/>
          <a:ln w="15875">
            <a:solidFill>
              <a:srgbClr val="C9D1C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960" y="1856232"/>
            <a:ext cx="146304" cy="146304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38912" y="202996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Antrag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1719072" y="1856232"/>
            <a:ext cx="146304" cy="146304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335024" y="202996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Prüfung</a:t>
            </a:r>
            <a:endParaRPr lang="en-US" sz="650" dirty="0"/>
          </a:p>
        </p:txBody>
      </p:sp>
      <p:sp>
        <p:nvSpPr>
          <p:cNvPr id="22" name="Shape 20"/>
          <p:cNvSpPr/>
          <p:nvPr/>
        </p:nvSpPr>
        <p:spPr>
          <a:xfrm>
            <a:off x="2615184" y="1856232"/>
            <a:ext cx="146304" cy="146304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231136" y="202996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Zulassung</a:t>
            </a:r>
            <a:endParaRPr lang="en-US" sz="650" dirty="0"/>
          </a:p>
        </p:txBody>
      </p:sp>
      <p:sp>
        <p:nvSpPr>
          <p:cNvPr id="24" name="Shape 22"/>
          <p:cNvSpPr/>
          <p:nvPr/>
        </p:nvSpPr>
        <p:spPr>
          <a:xfrm>
            <a:off x="3511296" y="1856232"/>
            <a:ext cx="146304" cy="146304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127248" y="202996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7A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Thema bestätigen</a:t>
            </a:r>
            <a:endParaRPr lang="en-US" sz="650" dirty="0"/>
          </a:p>
        </p:txBody>
      </p:sp>
      <p:sp>
        <p:nvSpPr>
          <p:cNvPr id="26" name="Shape 24"/>
          <p:cNvSpPr/>
          <p:nvPr/>
        </p:nvSpPr>
        <p:spPr>
          <a:xfrm>
            <a:off x="4407408" y="1856232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9D1C9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023360" y="202996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Bearbeitungszeit</a:t>
            </a:r>
            <a:endParaRPr lang="en-US" sz="650" dirty="0"/>
          </a:p>
        </p:txBody>
      </p:sp>
      <p:sp>
        <p:nvSpPr>
          <p:cNvPr id="28" name="Shape 26"/>
          <p:cNvSpPr/>
          <p:nvPr/>
        </p:nvSpPr>
        <p:spPr>
          <a:xfrm>
            <a:off x="594360" y="2313432"/>
            <a:ext cx="4206240" cy="1481328"/>
          </a:xfrm>
          <a:prstGeom prst="roundRect">
            <a:avLst>
              <a:gd name="adj" fmla="val 3086"/>
            </a:avLst>
          </a:prstGeom>
          <a:solidFill>
            <a:srgbClr val="F5F7F4"/>
          </a:solidFill>
          <a:ln w="12700">
            <a:solidFill>
              <a:srgbClr val="C9D1C9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04088" y="2368296"/>
            <a:ext cx="3986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Antrag auf Zulassung und Ausgabe der Abschlussarbeit</a:t>
            </a:r>
            <a:endParaRPr lang="en-US" sz="850" dirty="0"/>
          </a:p>
        </p:txBody>
      </p:sp>
      <p:sp>
        <p:nvSpPr>
          <p:cNvPr id="30" name="Text 28"/>
          <p:cNvSpPr txBox="1"/>
          <p:nvPr/>
        </p:nvSpPr>
        <p:spPr>
          <a:xfrm>
            <a:off x="704088" y="2615184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Studierende:r</a:t>
            </a:r>
            <a:endParaRPr lang="en-US" sz="750" dirty="0"/>
          </a:p>
        </p:txBody>
      </p:sp>
      <p:sp>
        <p:nvSpPr>
          <p:cNvPr id="31" name="Text 29"/>
          <p:cNvSpPr txBox="1"/>
          <p:nvPr/>
        </p:nvSpPr>
        <p:spPr>
          <a:xfrm>
            <a:off x="1691640" y="2615184"/>
            <a:ext cx="2999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Moritz Hoffmann, B.Sc. Wirtschaftsinformatik</a:t>
            </a:r>
            <a:endParaRPr lang="en-US" sz="750" dirty="0"/>
          </a:p>
        </p:txBody>
      </p:sp>
      <p:sp>
        <p:nvSpPr>
          <p:cNvPr id="32" name="Text 30"/>
          <p:cNvSpPr txBox="1"/>
          <p:nvPr/>
        </p:nvSpPr>
        <p:spPr>
          <a:xfrm>
            <a:off x="704088" y="2843784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Thema</a:t>
            </a:r>
            <a:endParaRPr lang="en-US" sz="750" dirty="0"/>
          </a:p>
        </p:txBody>
      </p:sp>
      <p:sp>
        <p:nvSpPr>
          <p:cNvPr id="33" name="Text 31"/>
          <p:cNvSpPr txBox="1"/>
          <p:nvPr/>
        </p:nvSpPr>
        <p:spPr>
          <a:xfrm>
            <a:off x="1691640" y="2843784"/>
            <a:ext cx="2999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Digitale Anmeldung von Abschlussarbeiten am Fachbereich MND</a:t>
            </a:r>
            <a:endParaRPr lang="en-US" sz="750" dirty="0"/>
          </a:p>
        </p:txBody>
      </p:sp>
      <p:sp>
        <p:nvSpPr>
          <p:cNvPr id="34" name="Text 32"/>
          <p:cNvSpPr txBox="1"/>
          <p:nvPr/>
        </p:nvSpPr>
        <p:spPr>
          <a:xfrm>
            <a:off x="704088" y="3072384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Zweitprüfer:in</a:t>
            </a:r>
            <a:endParaRPr lang="en-US" sz="750" dirty="0"/>
          </a:p>
        </p:txBody>
      </p:sp>
      <p:sp>
        <p:nvSpPr>
          <p:cNvPr id="35" name="Text 33"/>
          <p:cNvSpPr txBox="1"/>
          <p:nvPr/>
        </p:nvSpPr>
        <p:spPr>
          <a:xfrm>
            <a:off x="1691640" y="3072384"/>
            <a:ext cx="2999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Jana Weiß, extern, Qualifikation geprüft</a:t>
            </a:r>
            <a:endParaRPr lang="en-US" sz="750" dirty="0"/>
          </a:p>
        </p:txBody>
      </p:sp>
      <p:sp>
        <p:nvSpPr>
          <p:cNvPr id="36" name="Text 34"/>
          <p:cNvSpPr txBox="1"/>
          <p:nvPr/>
        </p:nvSpPr>
        <p:spPr>
          <a:xfrm>
            <a:off x="704088" y="3300984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Entscheidung PA</a:t>
            </a:r>
            <a:endParaRPr lang="en-US" sz="750" dirty="0"/>
          </a:p>
        </p:txBody>
      </p:sp>
      <p:sp>
        <p:nvSpPr>
          <p:cNvPr id="37" name="Text 35"/>
          <p:cNvSpPr txBox="1"/>
          <p:nvPr/>
        </p:nvSpPr>
        <p:spPr>
          <a:xfrm>
            <a:off x="1691640" y="3300984"/>
            <a:ext cx="2999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zugelassen am 28.09.2026</a:t>
            </a:r>
            <a:endParaRPr lang="en-US" sz="750" dirty="0"/>
          </a:p>
        </p:txBody>
      </p:sp>
      <p:sp>
        <p:nvSpPr>
          <p:cNvPr id="38" name="Text 36"/>
          <p:cNvSpPr txBox="1"/>
          <p:nvPr/>
        </p:nvSpPr>
        <p:spPr>
          <a:xfrm>
            <a:off x="704088" y="3529584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Wunschstarttermin</a:t>
            </a:r>
            <a:endParaRPr lang="en-US" sz="750" dirty="0"/>
          </a:p>
        </p:txBody>
      </p:sp>
      <p:sp>
        <p:nvSpPr>
          <p:cNvPr id="39" name="Text 37"/>
          <p:cNvSpPr txBox="1"/>
          <p:nvPr/>
        </p:nvSpPr>
        <p:spPr>
          <a:xfrm>
            <a:off x="1691640" y="3529584"/>
            <a:ext cx="2999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15.10.2026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594360" y="3931920"/>
            <a:ext cx="1965960" cy="292608"/>
          </a:xfrm>
          <a:prstGeom prst="roundRect">
            <a:avLst>
              <a:gd name="adj" fmla="val 15625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594360" y="393192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Thema bestätigen und freigeben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2697480" y="3931920"/>
            <a:ext cx="1051560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2697480" y="3931920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Thema anpassen</a:t>
            </a:r>
            <a:endParaRPr lang="en-US" sz="800" dirty="0"/>
          </a:p>
        </p:txBody>
      </p:sp>
      <p:sp>
        <p:nvSpPr>
          <p:cNvPr id="44" name="Text 42"/>
          <p:cNvSpPr txBox="1"/>
          <p:nvPr/>
        </p:nvSpPr>
        <p:spPr>
          <a:xfrm>
            <a:off x="594360" y="4279392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Nach der Bestätigung ist das Thema gesperrt. Studierende:r und Sekretariat werden informiert.</a:t>
            </a:r>
            <a:endParaRPr lang="en-US" sz="650" dirty="0"/>
          </a:p>
        </p:txBody>
      </p:sp>
      <p:sp>
        <p:nvSpPr>
          <p:cNvPr id="45" name="Shape 43"/>
          <p:cNvSpPr/>
          <p:nvPr/>
        </p:nvSpPr>
        <p:spPr>
          <a:xfrm>
            <a:off x="5212080" y="960120"/>
            <a:ext cx="1371600" cy="3703320"/>
          </a:xfrm>
          <a:prstGeom prst="roundRect">
            <a:avLst>
              <a:gd name="adj" fmla="val 10667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276088" y="1161288"/>
            <a:ext cx="1243584" cy="3300984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276088" y="1161288"/>
            <a:ext cx="1243584" cy="256032"/>
          </a:xfrm>
          <a:prstGeom prst="rect">
            <a:avLst/>
          </a:prstGeom>
          <a:solidFill>
            <a:srgbClr val="2C5F2D"/>
          </a:solidFill>
          <a:ln w="9525">
            <a:solidFill>
              <a:srgbClr val="2C5F2D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5340096" y="116128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ThesisFlow</a:t>
            </a:r>
            <a:endParaRPr lang="en-US" sz="850" dirty="0"/>
          </a:p>
        </p:txBody>
      </p:sp>
      <p:sp>
        <p:nvSpPr>
          <p:cNvPr id="49" name="Text 47"/>
          <p:cNvSpPr txBox="1"/>
          <p:nvPr/>
        </p:nvSpPr>
        <p:spPr>
          <a:xfrm>
            <a:off x="5340096" y="1490472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Thema bestätigen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5330952" y="1746504"/>
            <a:ext cx="1133856" cy="1572768"/>
          </a:xfrm>
          <a:prstGeom prst="roundRect">
            <a:avLst>
              <a:gd name="adj" fmla="val 3226"/>
            </a:avLst>
          </a:prstGeom>
          <a:solidFill>
            <a:srgbClr val="F5F7F4"/>
          </a:solidFill>
          <a:ln w="12700">
            <a:solidFill>
              <a:srgbClr val="C9D1C9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5385816" y="1783080"/>
            <a:ext cx="1024128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6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Studierende:r</a:t>
            </a:r>
            <a:endParaRPr lang="en-US" sz="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Moritz Hoffmann</a:t>
            </a:r>
            <a:endParaRPr lang="en-US" sz="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Thema</a:t>
            </a:r>
            <a:endParaRPr lang="en-US" sz="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00" b="1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Digitale Anmeldung von Abschlussarbeiten am FB MND</a:t>
            </a:r>
            <a:endParaRPr lang="en-US" sz="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Entscheidung PA</a:t>
            </a:r>
            <a:endParaRPr lang="en-US" sz="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zugelassen am 28.09.2026</a:t>
            </a:r>
            <a:endParaRPr lang="en-US" sz="600" dirty="0"/>
          </a:p>
        </p:txBody>
      </p:sp>
      <p:sp>
        <p:nvSpPr>
          <p:cNvPr id="52" name="Shape 50"/>
          <p:cNvSpPr/>
          <p:nvPr/>
        </p:nvSpPr>
        <p:spPr>
          <a:xfrm>
            <a:off x="5330952" y="3429000"/>
            <a:ext cx="1133856" cy="274320"/>
          </a:xfrm>
          <a:prstGeom prst="roundRect">
            <a:avLst>
              <a:gd name="adj" fmla="val 16667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5330952" y="3429000"/>
            <a:ext cx="1133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Bestätigen und freigeben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5330952" y="3767328"/>
            <a:ext cx="1133856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5330952" y="3767328"/>
            <a:ext cx="1133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Thema anpassen</a:t>
            </a:r>
            <a:endParaRPr lang="en-US" sz="700" dirty="0"/>
          </a:p>
        </p:txBody>
      </p:sp>
      <p:sp>
        <p:nvSpPr>
          <p:cNvPr id="56" name="Text 54"/>
          <p:cNvSpPr txBox="1"/>
          <p:nvPr/>
        </p:nvSpPr>
        <p:spPr>
          <a:xfrm>
            <a:off x="6812280" y="96012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Dialoglandkarte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6812280" y="1243584"/>
            <a:ext cx="1920240" cy="274320"/>
          </a:xfrm>
          <a:prstGeom prst="roundRect">
            <a:avLst>
              <a:gd name="adj" fmla="val 16667"/>
            </a:avLst>
          </a:prstGeom>
          <a:solidFill>
            <a:srgbClr val="EEF4E8"/>
          </a:solidFill>
          <a:ln w="12700">
            <a:solidFill>
              <a:srgbClr val="EEF4E8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6812280" y="124358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Meine Aufgaben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7772400" y="1517904"/>
            <a:ext cx="914" cy="128016"/>
          </a:xfrm>
          <a:prstGeom prst="line">
            <a:avLst/>
          </a:prstGeom>
          <a:noFill/>
          <a:ln w="15875">
            <a:solidFill>
              <a:srgbClr val="5C6B5C"/>
            </a:solidFill>
            <a:prstDash val="solid"/>
            <a:tailEnd type="triangle"/>
          </a:ln>
        </p:spPr>
      </p:sp>
      <p:sp>
        <p:nvSpPr>
          <p:cNvPr id="60" name="Shape 58"/>
          <p:cNvSpPr/>
          <p:nvPr/>
        </p:nvSpPr>
        <p:spPr>
          <a:xfrm>
            <a:off x="6812280" y="1645920"/>
            <a:ext cx="1920240" cy="274320"/>
          </a:xfrm>
          <a:prstGeom prst="roundRect">
            <a:avLst>
              <a:gd name="adj" fmla="val 16667"/>
            </a:avLst>
          </a:prstGeom>
          <a:solidFill>
            <a:srgbClr val="EEF4E8"/>
          </a:solidFill>
          <a:ln w="12700">
            <a:solidFill>
              <a:srgbClr val="EEF4E8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6812280" y="16459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Antragsdetail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7772400" y="1920240"/>
            <a:ext cx="914" cy="128016"/>
          </a:xfrm>
          <a:prstGeom prst="line">
            <a:avLst/>
          </a:prstGeom>
          <a:noFill/>
          <a:ln w="15875">
            <a:solidFill>
              <a:srgbClr val="5C6B5C"/>
            </a:solidFill>
            <a:prstDash val="solid"/>
            <a:tailEnd type="triangle"/>
          </a:ln>
        </p:spPr>
      </p:sp>
      <p:sp>
        <p:nvSpPr>
          <p:cNvPr id="63" name="Shape 61"/>
          <p:cNvSpPr/>
          <p:nvPr/>
        </p:nvSpPr>
        <p:spPr>
          <a:xfrm>
            <a:off x="6812280" y="2048256"/>
            <a:ext cx="1920240" cy="274320"/>
          </a:xfrm>
          <a:prstGeom prst="roundRect">
            <a:avLst>
              <a:gd name="adj" fmla="val 16667"/>
            </a:avLst>
          </a:prstGeom>
          <a:solidFill>
            <a:srgbClr val="FFF7E0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6812280" y="204825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Thema bestätigen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7772400" y="2322576"/>
            <a:ext cx="914" cy="128016"/>
          </a:xfrm>
          <a:prstGeom prst="line">
            <a:avLst/>
          </a:prstGeom>
          <a:noFill/>
          <a:ln w="15875">
            <a:solidFill>
              <a:srgbClr val="5C6B5C"/>
            </a:solidFill>
            <a:prstDash val="solid"/>
            <a:tailEnd type="triangle"/>
          </a:ln>
        </p:spPr>
      </p:sp>
      <p:sp>
        <p:nvSpPr>
          <p:cNvPr id="66" name="Shape 64"/>
          <p:cNvSpPr/>
          <p:nvPr/>
        </p:nvSpPr>
        <p:spPr>
          <a:xfrm>
            <a:off x="6812280" y="2450592"/>
            <a:ext cx="1920240" cy="274320"/>
          </a:xfrm>
          <a:prstGeom prst="roundRect">
            <a:avLst>
              <a:gd name="adj" fmla="val 16667"/>
            </a:avLst>
          </a:prstGeom>
          <a:solidFill>
            <a:srgbClr val="EEF4E8"/>
          </a:solidFill>
          <a:ln w="12700">
            <a:solidFill>
              <a:srgbClr val="EEF4E8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6812280" y="24505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Bearbeitungszeit festlegen</a:t>
            </a:r>
            <a:endParaRPr lang="en-US" sz="850" dirty="0"/>
          </a:p>
        </p:txBody>
      </p:sp>
      <p:sp>
        <p:nvSpPr>
          <p:cNvPr id="68" name="Text 66"/>
          <p:cNvSpPr txBox="1"/>
          <p:nvPr/>
        </p:nvSpPr>
        <p:spPr>
          <a:xfrm>
            <a:off x="6812280" y="294436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Schnittstellen</a:t>
            </a:r>
            <a:endParaRPr lang="en-US" sz="1050" dirty="0"/>
          </a:p>
        </p:txBody>
      </p:sp>
      <p:sp>
        <p:nvSpPr>
          <p:cNvPr id="69" name="Shape 67"/>
          <p:cNvSpPr/>
          <p:nvPr/>
        </p:nvSpPr>
        <p:spPr>
          <a:xfrm>
            <a:off x="6812280" y="3218688"/>
            <a:ext cx="192024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8A968A"/>
            </a:solidFill>
            <a:prstDash val="dash"/>
          </a:ln>
        </p:spPr>
      </p:sp>
      <p:sp>
        <p:nvSpPr>
          <p:cNvPr id="70" name="Text 68"/>
          <p:cNvSpPr txBox="1"/>
          <p:nvPr/>
        </p:nvSpPr>
        <p:spPr>
          <a:xfrm>
            <a:off x="6885432" y="3218688"/>
            <a:ext cx="17739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THM-Login (SSO)</a:t>
            </a:r>
            <a:endParaRPr lang="en-US" sz="850" dirty="0"/>
          </a:p>
          <a:p>
            <a:pPr indent="0" marL="0">
              <a:buNone/>
            </a:pPr>
            <a:r>
              <a:rPr lang="en-US" sz="7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Anmeldung, Identität und Rolle der Erstprüfer:in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6812280" y="3950208"/>
            <a:ext cx="192024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8A968A"/>
            </a:solidFill>
            <a:prstDash val="dash"/>
          </a:ln>
        </p:spPr>
      </p:sp>
      <p:sp>
        <p:nvSpPr>
          <p:cNvPr id="72" name="Text 70"/>
          <p:cNvSpPr txBox="1"/>
          <p:nvPr/>
        </p:nvSpPr>
        <p:spPr>
          <a:xfrm>
            <a:off x="6885432" y="3950208"/>
            <a:ext cx="17739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E-Mail-Dienst THM</a:t>
            </a:r>
            <a:endParaRPr lang="en-US" sz="850" dirty="0"/>
          </a:p>
          <a:p>
            <a:pPr indent="0" marL="0">
              <a:buNone/>
            </a:pPr>
            <a:r>
              <a:rPr lang="en-US" sz="7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Benachrichtigung mit Link, danach Info an Studierende:n und Sekretariat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2860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Action: Aktivitätsdiagramm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5120640" y="29260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15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D2D  ·  DIMENSION 3 VON 7  ·  ACTION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65836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Ablauf der Story: Antrag erhalten, lesen, Thema prüfen, bestätigen, freigeben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411480" y="4828032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9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4.1.1 Thema bestätigen  ·  ThesisFlow  ·  Requirements Engineering, Gruppe Grün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411480" y="960120"/>
            <a:ext cx="832104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1C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2788920"/>
            <a:ext cx="8321040" cy="1417320"/>
          </a:xfrm>
          <a:prstGeom prst="rect">
            <a:avLst/>
          </a:prstGeom>
          <a:solidFill>
            <a:srgbClr val="F5F7F4"/>
          </a:solidFill>
          <a:ln w="9525">
            <a:solidFill>
              <a:srgbClr val="C9D1C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960120"/>
            <a:ext cx="868680" cy="1828800"/>
          </a:xfrm>
          <a:prstGeom prst="rect">
            <a:avLst/>
          </a:prstGeom>
          <a:solidFill>
            <a:srgbClr val="EEF4E8"/>
          </a:solidFill>
          <a:ln w="9525">
            <a:solidFill>
              <a:srgbClr val="C9D1C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2788920"/>
            <a:ext cx="868680" cy="1417320"/>
          </a:xfrm>
          <a:prstGeom prst="rect">
            <a:avLst/>
          </a:prstGeom>
          <a:solidFill>
            <a:srgbClr val="EEF4E8"/>
          </a:solidFill>
          <a:ln w="9525">
            <a:solidFill>
              <a:srgbClr val="C9D1C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11480" y="960120"/>
            <a:ext cx="868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Erstprüfer:in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2788920"/>
            <a:ext cx="777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ThesisFlow (System)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371600" y="3438144"/>
            <a:ext cx="164592" cy="164592"/>
          </a:xfrm>
          <a:prstGeom prst="ellipse">
            <a:avLst/>
          </a:prstGeom>
          <a:solidFill>
            <a:srgbClr val="1F2A1F"/>
          </a:solidFill>
          <a:ln w="12700">
            <a:solidFill>
              <a:srgbClr val="1F2A1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536192" y="3520440"/>
            <a:ext cx="64008" cy="914"/>
          </a:xfrm>
          <a:prstGeom prst="line">
            <a:avLst/>
          </a:prstGeom>
          <a:noFill/>
          <a:ln w="15875">
            <a:solidFill>
              <a:srgbClr val="5C6B5C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1600200" y="3291840"/>
            <a:ext cx="1051560" cy="457200"/>
          </a:xfrm>
          <a:prstGeom prst="roundRect">
            <a:avLst>
              <a:gd name="adj" fmla="val 24000"/>
            </a:avLst>
          </a:prstGeom>
          <a:solidFill>
            <a:srgbClr val="DCE8F5"/>
          </a:solidFill>
          <a:ln w="12700">
            <a:solidFill>
              <a:srgbClr val="4A7FB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636776" y="3291840"/>
            <a:ext cx="978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Erstprüfer:in über Zulassung benachrichtigen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125980" y="2468880"/>
            <a:ext cx="914" cy="822960"/>
          </a:xfrm>
          <a:prstGeom prst="line">
            <a:avLst/>
          </a:prstGeom>
          <a:noFill/>
          <a:ln w="15875">
            <a:solidFill>
              <a:srgbClr val="5C6B5C"/>
            </a:solidFill>
            <a:prstDash val="solid"/>
            <a:headEnd type="triangle"/>
          </a:ln>
        </p:spPr>
      </p:sp>
      <p:sp>
        <p:nvSpPr>
          <p:cNvPr id="17" name="Shape 15"/>
          <p:cNvSpPr/>
          <p:nvPr/>
        </p:nvSpPr>
        <p:spPr>
          <a:xfrm>
            <a:off x="1600200" y="2011680"/>
            <a:ext cx="1051560" cy="457200"/>
          </a:xfrm>
          <a:prstGeom prst="roundRect">
            <a:avLst>
              <a:gd name="adj" fmla="val 24000"/>
            </a:avLst>
          </a:prstGeom>
          <a:solidFill>
            <a:srgbClr val="EEF4E8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636776" y="2011680"/>
            <a:ext cx="978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Antrag erhalten und öffnen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651760" y="2240280"/>
            <a:ext cx="182880" cy="914"/>
          </a:xfrm>
          <a:prstGeom prst="line">
            <a:avLst/>
          </a:prstGeom>
          <a:noFill/>
          <a:ln w="15875">
            <a:solidFill>
              <a:srgbClr val="5C6B5C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2834640" y="2011680"/>
            <a:ext cx="1051560" cy="457200"/>
          </a:xfrm>
          <a:prstGeom prst="roundRect">
            <a:avLst>
              <a:gd name="adj" fmla="val 24000"/>
            </a:avLst>
          </a:prstGeom>
          <a:solidFill>
            <a:srgbClr val="EEF4E8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871216" y="2011680"/>
            <a:ext cx="978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Antrag lesen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886200" y="2240280"/>
            <a:ext cx="182880" cy="914"/>
          </a:xfrm>
          <a:prstGeom prst="line">
            <a:avLst/>
          </a:prstGeom>
          <a:noFill/>
          <a:ln w="15875">
            <a:solidFill>
              <a:srgbClr val="5C6B5C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4069080" y="2011680"/>
            <a:ext cx="1051560" cy="457200"/>
          </a:xfrm>
          <a:prstGeom prst="roundRect">
            <a:avLst>
              <a:gd name="adj" fmla="val 24000"/>
            </a:avLst>
          </a:prstGeom>
          <a:solidFill>
            <a:srgbClr val="EEF4E8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105656" y="2011680"/>
            <a:ext cx="978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Thema prüfen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5120640" y="2240280"/>
            <a:ext cx="182880" cy="914"/>
          </a:xfrm>
          <a:prstGeom prst="line">
            <a:avLst/>
          </a:prstGeom>
          <a:noFill/>
          <a:ln w="15875">
            <a:solidFill>
              <a:srgbClr val="5C6B5C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5303520" y="2057400"/>
            <a:ext cx="365760" cy="365760"/>
          </a:xfrm>
          <a:prstGeom prst="diamond">
            <a:avLst/>
          </a:prstGeom>
          <a:solidFill>
            <a:srgbClr val="FFF7E0"/>
          </a:solidFill>
          <a:ln w="15875">
            <a:solidFill>
              <a:srgbClr val="C9A227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800600" y="24597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Thema entspricht der Absprache?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5669280" y="2240280"/>
            <a:ext cx="320040" cy="914"/>
          </a:xfrm>
          <a:prstGeom prst="line">
            <a:avLst/>
          </a:prstGeom>
          <a:noFill/>
          <a:ln w="15875">
            <a:solidFill>
              <a:srgbClr val="5C6B5C"/>
            </a:solidFill>
            <a:prstDash val="solid"/>
            <a:tailEnd type="triangle"/>
          </a:ln>
        </p:spPr>
      </p:sp>
      <p:sp>
        <p:nvSpPr>
          <p:cNvPr id="29" name="Text 27"/>
          <p:cNvSpPr txBox="1"/>
          <p:nvPr/>
        </p:nvSpPr>
        <p:spPr>
          <a:xfrm>
            <a:off x="5669280" y="205740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[ja]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5486400" y="1371600"/>
            <a:ext cx="914" cy="685800"/>
          </a:xfrm>
          <a:prstGeom prst="line">
            <a:avLst/>
          </a:prstGeom>
          <a:noFill/>
          <a:ln w="15875">
            <a:solidFill>
              <a:srgbClr val="5C6B5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486400" y="1371600"/>
            <a:ext cx="502920" cy="914"/>
          </a:xfrm>
          <a:prstGeom prst="line">
            <a:avLst/>
          </a:prstGeom>
          <a:noFill/>
          <a:ln w="15875">
            <a:solidFill>
              <a:srgbClr val="5C6B5C"/>
            </a:solidFill>
            <a:prstDash val="solid"/>
            <a:tailEnd type="triangle"/>
          </a:ln>
        </p:spPr>
      </p:sp>
      <p:sp>
        <p:nvSpPr>
          <p:cNvPr id="32" name="Text 30"/>
          <p:cNvSpPr txBox="1"/>
          <p:nvPr/>
        </p:nvSpPr>
        <p:spPr>
          <a:xfrm>
            <a:off x="5522976" y="139903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[nein]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5989320" y="1143000"/>
            <a:ext cx="1051560" cy="457200"/>
          </a:xfrm>
          <a:prstGeom prst="roundRect">
            <a:avLst>
              <a:gd name="adj" fmla="val 24000"/>
            </a:avLst>
          </a:prstGeom>
          <a:solidFill>
            <a:srgbClr val="EEF4E8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025896" y="1143000"/>
            <a:ext cx="978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Thema anpassen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6515100" y="1600200"/>
            <a:ext cx="914" cy="411480"/>
          </a:xfrm>
          <a:prstGeom prst="line">
            <a:avLst/>
          </a:prstGeom>
          <a:noFill/>
          <a:ln w="15875">
            <a:solidFill>
              <a:srgbClr val="5C6B5C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5989320" y="2011680"/>
            <a:ext cx="1051560" cy="457200"/>
          </a:xfrm>
          <a:prstGeom prst="roundRect">
            <a:avLst>
              <a:gd name="adj" fmla="val 24000"/>
            </a:avLst>
          </a:prstGeom>
          <a:solidFill>
            <a:srgbClr val="EEF4E8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025896" y="2011680"/>
            <a:ext cx="978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Thema bestätigen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6515100" y="2468880"/>
            <a:ext cx="914" cy="822960"/>
          </a:xfrm>
          <a:prstGeom prst="line">
            <a:avLst/>
          </a:prstGeom>
          <a:noFill/>
          <a:ln w="15875">
            <a:solidFill>
              <a:srgbClr val="5C6B5C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5989320" y="3291840"/>
            <a:ext cx="1051560" cy="457200"/>
          </a:xfrm>
          <a:prstGeom prst="roundRect">
            <a:avLst>
              <a:gd name="adj" fmla="val 24000"/>
            </a:avLst>
          </a:prstGeom>
          <a:solidFill>
            <a:srgbClr val="DCE8F5"/>
          </a:solidFill>
          <a:ln w="12700">
            <a:solidFill>
              <a:srgbClr val="4A7FB5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025896" y="3291840"/>
            <a:ext cx="978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Bestätigung mit Zeitstempel speichern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7040880" y="3520440"/>
            <a:ext cx="228600" cy="914"/>
          </a:xfrm>
          <a:prstGeom prst="line">
            <a:avLst/>
          </a:prstGeom>
          <a:noFill/>
          <a:ln w="15875">
            <a:solidFill>
              <a:srgbClr val="5C6B5C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7269480" y="3291840"/>
            <a:ext cx="1051560" cy="457200"/>
          </a:xfrm>
          <a:prstGeom prst="roundRect">
            <a:avLst>
              <a:gd name="adj" fmla="val 24000"/>
            </a:avLst>
          </a:prstGeom>
          <a:solidFill>
            <a:srgbClr val="DCE8F5"/>
          </a:solidFill>
          <a:ln w="12700">
            <a:solidFill>
              <a:srgbClr val="4A7FB5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7306056" y="3291840"/>
            <a:ext cx="978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Arbeit freigeben, Beteiligte informieren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8321040" y="3520440"/>
            <a:ext cx="155448" cy="914"/>
          </a:xfrm>
          <a:prstGeom prst="line">
            <a:avLst/>
          </a:prstGeom>
          <a:noFill/>
          <a:ln w="15875">
            <a:solidFill>
              <a:srgbClr val="5C6B5C"/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8476488" y="3419856"/>
            <a:ext cx="201168" cy="2011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A1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522208" y="3465576"/>
            <a:ext cx="109728" cy="109728"/>
          </a:xfrm>
          <a:prstGeom prst="ellipse">
            <a:avLst/>
          </a:prstGeom>
          <a:solidFill>
            <a:srgbClr val="1F2A1F"/>
          </a:solidFill>
          <a:ln w="12700">
            <a:solidFill>
              <a:srgbClr val="1F2A1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11480" y="4297680"/>
            <a:ext cx="8321040" cy="438912"/>
          </a:xfrm>
          <a:prstGeom prst="roundRect">
            <a:avLst>
              <a:gd name="adj" fmla="val 16667"/>
            </a:avLst>
          </a:prstGeom>
          <a:solidFill>
            <a:srgbClr val="FFF7E0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521208" y="4297680"/>
            <a:ext cx="81015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A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Auslöser: </a:t>
            </a:r>
            <a:pPr indent="0" marL="0">
              <a:buNone/>
            </a:pPr>
            <a:r>
              <a:rPr lang="en-US" sz="8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Zulassung durch den Prüfungsausschuss-Vorsitz (US 3.2.1).   </a:t>
            </a:r>
            <a:pPr indent="0" marL="0">
              <a:buNone/>
            </a:pPr>
            <a:r>
              <a:rPr lang="en-US" sz="850" b="1" dirty="0">
                <a:solidFill>
                  <a:srgbClr val="7A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Ergebnis: </a:t>
            </a:r>
            <a:pPr indent="0" marL="0">
              <a:buNone/>
            </a:pPr>
            <a:r>
              <a:rPr lang="en-US" sz="8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„Thema bestätigt“.   </a:t>
            </a:r>
            <a:pPr indent="0" marL="0">
              <a:buNone/>
            </a:pPr>
            <a:r>
              <a:rPr lang="en-US" sz="850" b="1" dirty="0">
                <a:solidFill>
                  <a:srgbClr val="7A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Folgeschritt: </a:t>
            </a:r>
            <a:pPr indent="0" marL="0">
              <a:buNone/>
            </a:pPr>
            <a:r>
              <a:rPr lang="en-US" sz="8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Bearbeitungszeit festlegen (User Task 4.2).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2860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Data: Datenausschnitt und Zugriffe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5120640" y="29260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15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D2D  ·  DIMENSION 4 VON 7  ·  DATA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65836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Für die Story relevanter Ausschnitt des Datenmodells und was mit den Daten geschieht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411480" y="4828032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9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4.1.1 Thema bestätigen  ·  ThesisFlow  ·  Requirements Engineering, Gruppe Grün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2857500" y="1673352"/>
            <a:ext cx="914" cy="338328"/>
          </a:xfrm>
          <a:prstGeom prst="line">
            <a:avLst/>
          </a:prstGeom>
          <a:noFill/>
          <a:ln w="15875">
            <a:solidFill>
              <a:srgbClr val="5C6B5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0" y="2368296"/>
            <a:ext cx="320040" cy="914"/>
          </a:xfrm>
          <a:prstGeom prst="line">
            <a:avLst/>
          </a:prstGeom>
          <a:noFill/>
          <a:ln w="15875">
            <a:solidFill>
              <a:srgbClr val="5C6B5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566160" y="2368296"/>
            <a:ext cx="320040" cy="914"/>
          </a:xfrm>
          <a:prstGeom prst="line">
            <a:avLst/>
          </a:prstGeom>
          <a:noFill/>
          <a:ln w="15875">
            <a:solidFill>
              <a:srgbClr val="5C6B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468880" y="2724912"/>
            <a:ext cx="914" cy="384048"/>
          </a:xfrm>
          <a:prstGeom prst="line">
            <a:avLst/>
          </a:prstGeom>
          <a:noFill/>
          <a:ln w="15875">
            <a:solidFill>
              <a:srgbClr val="5C6B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2724912"/>
            <a:ext cx="914" cy="384048"/>
          </a:xfrm>
          <a:prstGeom prst="line">
            <a:avLst/>
          </a:prstGeom>
          <a:noFill/>
          <a:ln w="15875">
            <a:solidFill>
              <a:srgbClr val="5C6B5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148840" y="960120"/>
            <a:ext cx="1417320" cy="713232"/>
          </a:xfrm>
          <a:prstGeom prst="roundRect">
            <a:avLst>
              <a:gd name="adj" fmla="val 6410"/>
            </a:avLst>
          </a:prstGeom>
          <a:solidFill>
            <a:srgbClr val="EEF4E8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203704" y="960120"/>
            <a:ext cx="13075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Erstprüfer:in</a:t>
            </a:r>
            <a:endParaRPr lang="en-US" sz="9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THM-Kennung, Rolle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11480" y="2011680"/>
            <a:ext cx="1417320" cy="713232"/>
          </a:xfrm>
          <a:prstGeom prst="roundRect">
            <a:avLst>
              <a:gd name="adj" fmla="val 6410"/>
            </a:avLst>
          </a:prstGeom>
          <a:solidFill>
            <a:srgbClr val="EEF4E8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66344" y="2011680"/>
            <a:ext cx="13075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Studierende:r</a:t>
            </a:r>
            <a:endParaRPr lang="en-US" sz="9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Matrikelnummer, Studiengang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148840" y="2011680"/>
            <a:ext cx="1417320" cy="713232"/>
          </a:xfrm>
          <a:prstGeom prst="roundRect">
            <a:avLst>
              <a:gd name="adj" fmla="val 6410"/>
            </a:avLst>
          </a:prstGeom>
          <a:solidFill>
            <a:srgbClr val="EEF4E8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203704" y="2011680"/>
            <a:ext cx="13075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Antrag</a:t>
            </a:r>
            <a:endParaRPr lang="en-US" sz="9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Antragsnummer, Status, Wunschstarttermin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886200" y="2011680"/>
            <a:ext cx="1417320" cy="713232"/>
          </a:xfrm>
          <a:prstGeom prst="roundRect">
            <a:avLst>
              <a:gd name="adj" fmla="val 6410"/>
            </a:avLst>
          </a:prstGeom>
          <a:solidFill>
            <a:srgbClr val="EEF4E8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941064" y="2011680"/>
            <a:ext cx="13075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Thema</a:t>
            </a:r>
            <a:endParaRPr lang="en-US" sz="9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Wortlaut, Stand (vorgeschlagen, bestätigt)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280160" y="3108960"/>
            <a:ext cx="1417320" cy="713232"/>
          </a:xfrm>
          <a:prstGeom prst="roundRect">
            <a:avLst>
              <a:gd name="adj" fmla="val 6410"/>
            </a:avLst>
          </a:prstGeom>
          <a:solidFill>
            <a:srgbClr val="EEF4E8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335024" y="3108960"/>
            <a:ext cx="13075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Zulassungsentscheidung</a:t>
            </a:r>
            <a:endParaRPr lang="en-US" sz="9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Ergebnis, Datum, PA-Vorsitz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017520" y="3108960"/>
            <a:ext cx="1417320" cy="713232"/>
          </a:xfrm>
          <a:prstGeom prst="roundRect">
            <a:avLst>
              <a:gd name="adj" fmla="val 6410"/>
            </a:avLst>
          </a:prstGeom>
          <a:solidFill>
            <a:srgbClr val="FFF7E0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072384" y="3108960"/>
            <a:ext cx="13075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A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Themenbestätigung</a:t>
            </a:r>
            <a:endParaRPr lang="en-US" sz="9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bestätigt durch, Zeitstempel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2903220" y="173736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i="1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prüft</a:t>
            </a:r>
            <a:endParaRPr lang="en-US" sz="700" dirty="0"/>
          </a:p>
        </p:txBody>
      </p:sp>
      <p:sp>
        <p:nvSpPr>
          <p:cNvPr id="24" name="Text 22"/>
          <p:cNvSpPr txBox="1"/>
          <p:nvPr/>
        </p:nvSpPr>
        <p:spPr>
          <a:xfrm>
            <a:off x="1828800" y="2185416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stellt</a:t>
            </a:r>
            <a:endParaRPr lang="en-US" sz="700" dirty="0"/>
          </a:p>
        </p:txBody>
      </p:sp>
      <p:sp>
        <p:nvSpPr>
          <p:cNvPr id="25" name="Text 23"/>
          <p:cNvSpPr txBox="1"/>
          <p:nvPr/>
        </p:nvSpPr>
        <p:spPr>
          <a:xfrm>
            <a:off x="3566160" y="2185416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</a:t>
            </a:r>
            <a:endParaRPr lang="en-US" sz="700" dirty="0"/>
          </a:p>
        </p:txBody>
      </p:sp>
      <p:sp>
        <p:nvSpPr>
          <p:cNvPr id="26" name="Text 24"/>
          <p:cNvSpPr txBox="1"/>
          <p:nvPr/>
        </p:nvSpPr>
        <p:spPr>
          <a:xfrm>
            <a:off x="411480" y="3931920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Gelb: wird in dieser Story neu angelegt.</a:t>
            </a:r>
            <a:endParaRPr lang="en-US" sz="800" dirty="0"/>
          </a:p>
        </p:txBody>
      </p:sp>
      <p:sp>
        <p:nvSpPr>
          <p:cNvPr id="27" name="Text 25"/>
          <p:cNvSpPr txBox="1"/>
          <p:nvPr/>
        </p:nvSpPr>
        <p:spPr>
          <a:xfrm>
            <a:off x="411480" y="41605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Daten liegen im Portal. Nur Identität und Rolle der Erstprüfer:in kommen vom THM-Login. Gelöscht wird in dieser Story nichts.</a:t>
            </a:r>
            <a:endParaRPr lang="en-US" sz="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32120" y="960120"/>
          <a:ext cx="3200400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1005840"/>
                <a:gridCol w="777240"/>
              </a:tblGrid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Zugriff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Quelle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Antrag, Studierende:r, Prüfende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anzeigen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Zulassungsentscheidung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anzeigen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Thema (Wortlaut)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anzeigen, ggf. ändern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Themenbestätigung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F2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anlegen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Antragsstatus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ändern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Identität, Rolle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beziehen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THM-Login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Benachrichtigung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übergeben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E-Mail-Dienst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2860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Control: Geschäftsregeln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5120640" y="29260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15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D2D  ·  DIMENSION 5 VON 7  ·  CONTROL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65836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Regeln und Bedingungen, die das Bestätigen des Themas einschränken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411480" y="4828032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9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4.1.1 Thema bestätigen  ·  ThesisFlow  ·  Requirements Engineering, Gruppe Grün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411480" y="960120"/>
            <a:ext cx="2697480" cy="1755648"/>
          </a:xfrm>
          <a:prstGeom prst="roundRect">
            <a:avLst>
              <a:gd name="adj" fmla="val 4167"/>
            </a:avLst>
          </a:prstGeom>
          <a:solidFill>
            <a:srgbClr val="EEF4E8"/>
          </a:solidFill>
          <a:ln w="12700">
            <a:solidFill>
              <a:srgbClr val="EEF4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21208" y="1069848"/>
            <a:ext cx="310896" cy="310896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21208" y="10698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105156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Erst nach der Zulassung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39496" y="1490472"/>
            <a:ext cx="24414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Thema kann erst bestätigt werden, wenn der Prüfungsausschuss-Vorsitz den Antrag angenommen hat.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539496" y="2258568"/>
            <a:ext cx="2441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750" i="1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Quelle: Zulassungsantrag, Schritte 4 und 5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3223260" y="960120"/>
            <a:ext cx="2697480" cy="1755648"/>
          </a:xfrm>
          <a:prstGeom prst="roundRect">
            <a:avLst>
              <a:gd name="adj" fmla="val 4167"/>
            </a:avLst>
          </a:prstGeom>
          <a:solidFill>
            <a:srgbClr val="EEF4E8"/>
          </a:solidFill>
          <a:ln w="12700">
            <a:solidFill>
              <a:srgbClr val="EEF4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32988" y="1069848"/>
            <a:ext cx="310896" cy="310896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332988" y="10698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726180" y="105156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 die zuständige Erstprüfer:in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3351276" y="1490472"/>
            <a:ext cx="24414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Bestätigen darf nur die im Antrag eingetragene Erstprüfer:in der THM.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3351276" y="2258568"/>
            <a:ext cx="2441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750" i="1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Quelle: Zulassungsantrag, Feld „1. Prüfer(in) (THM)“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6035040" y="960120"/>
            <a:ext cx="2697480" cy="1755648"/>
          </a:xfrm>
          <a:prstGeom prst="roundRect">
            <a:avLst>
              <a:gd name="adj" fmla="val 4167"/>
            </a:avLst>
          </a:prstGeom>
          <a:solidFill>
            <a:srgbClr val="EEF4E8"/>
          </a:solidFill>
          <a:ln w="12700">
            <a:solidFill>
              <a:srgbClr val="EEF4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44768" y="1069848"/>
            <a:ext cx="310896" cy="310896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144768" y="10698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537960" y="105156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Aktenkundig machen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6163056" y="1490472"/>
            <a:ext cx="24414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Thema und Zeitpunkt der Ausgabe werden mit Person und Zeitstempel dokumentiert.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6163056" y="2258568"/>
            <a:ext cx="2441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750" i="1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Quelle: Allg. PO der THM § 17 (3), laut Zulassungsantrag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411480" y="2830068"/>
            <a:ext cx="2697480" cy="1755648"/>
          </a:xfrm>
          <a:prstGeom prst="roundRect">
            <a:avLst>
              <a:gd name="adj" fmla="val 4167"/>
            </a:avLst>
          </a:prstGeom>
          <a:solidFill>
            <a:srgbClr val="EEF4E8"/>
          </a:solidFill>
          <a:ln w="12700">
            <a:solidFill>
              <a:srgbClr val="EEF4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21208" y="2939796"/>
            <a:ext cx="310896" cy="310896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21208" y="29397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R4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914400" y="292150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Abweichung dokumentieren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539496" y="3360420"/>
            <a:ext cx="24414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Weicht das Thema von der Absprache ab, wird es vor der Bestätigung angepasst und die Änderung festgehalten.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539496" y="4128516"/>
            <a:ext cx="2441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750" i="1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Quelle: Annahme, abgeleitet aus dem Formularfeld „Bestätigung der Vorschläge: Nein“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3223260" y="2830068"/>
            <a:ext cx="2697480" cy="1755648"/>
          </a:xfrm>
          <a:prstGeom prst="roundRect">
            <a:avLst>
              <a:gd name="adj" fmla="val 4167"/>
            </a:avLst>
          </a:prstGeom>
          <a:solidFill>
            <a:srgbClr val="EEF4E8"/>
          </a:solidFill>
          <a:ln w="12700">
            <a:solidFill>
              <a:srgbClr val="EEF4E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332988" y="2939796"/>
            <a:ext cx="310896" cy="310896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3332988" y="29397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R5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3726180" y="292150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Thema danach gesperrt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3351276" y="3360420"/>
            <a:ext cx="24414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Nach der Bestätigung ist der Wortlaut nicht mehr frei änderbar.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3351276" y="4128516"/>
            <a:ext cx="2441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750" i="1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Quelle: Annahme, folgt aus der Aktenkundigkeit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6035040" y="2830068"/>
            <a:ext cx="2697480" cy="1755648"/>
          </a:xfrm>
          <a:prstGeom prst="roundRect">
            <a:avLst>
              <a:gd name="adj" fmla="val 4167"/>
            </a:avLst>
          </a:prstGeom>
          <a:solidFill>
            <a:srgbClr val="EEF4E8"/>
          </a:solidFill>
          <a:ln w="12700">
            <a:solidFill>
              <a:srgbClr val="EEF4E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144768" y="2939796"/>
            <a:ext cx="310896" cy="310896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144768" y="29397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R6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6537960" y="292150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Rückgabe nur einmal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6163056" y="3360420"/>
            <a:ext cx="24414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Thema kann nur einmal und nur innerhalb von vier Wochen nach Ausgabe zurückgegeben werden.</a:t>
            </a:r>
            <a:endParaRPr lang="en-US" sz="950" dirty="0"/>
          </a:p>
        </p:txBody>
      </p:sp>
      <p:sp>
        <p:nvSpPr>
          <p:cNvPr id="41" name="Text 39"/>
          <p:cNvSpPr txBox="1"/>
          <p:nvPr/>
        </p:nvSpPr>
        <p:spPr>
          <a:xfrm>
            <a:off x="6163056" y="4128516"/>
            <a:ext cx="2441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750" i="1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Quelle: Allg. PO der THM § 17 (3), laut Zulassungsantrag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2860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Environment: Einsatzumgebung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5120640" y="29260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15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D2D  ·  DIMENSION 6 VON 7  ·  ENVIRONMENT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65836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 und unter welchen Rahmenbedingungen die Story genutzt wird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411480" y="4828032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9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4.1.1 Thema bestätigen  ·  ThesisFlow  ·  Requirements Engineering, Gruppe Grün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411480" y="960120"/>
            <a:ext cx="2697480" cy="2514600"/>
          </a:xfrm>
          <a:prstGeom prst="roundRect">
            <a:avLst>
              <a:gd name="adj" fmla="val 2909"/>
            </a:avLst>
          </a:prstGeom>
          <a:solidFill>
            <a:srgbClr val="EEF4E8"/>
          </a:solidFill>
          <a:ln w="12700">
            <a:solidFill>
              <a:srgbClr val="EEF4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21208" y="1069848"/>
            <a:ext cx="256032" cy="256032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21208" y="10698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1051560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Geräte und Technik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557784" y="1508760"/>
            <a:ext cx="2423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Webanwendung im Browser, keine Installation</a:t>
            </a:r>
            <a:endParaRPr lang="en-US" sz="95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Komfortabel nutzbar am Desktop und am Smartphone</a:t>
            </a:r>
            <a:endParaRPr lang="en-US" sz="95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Internetverbindung erforderlich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539496" y="3108960"/>
            <a:ext cx="244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750" i="1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Quelle: Projektbriefing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3223260" y="960120"/>
            <a:ext cx="2697480" cy="2514600"/>
          </a:xfrm>
          <a:prstGeom prst="roundRect">
            <a:avLst>
              <a:gd name="adj" fmla="val 2909"/>
            </a:avLst>
          </a:prstGeom>
          <a:solidFill>
            <a:srgbClr val="EEF4E8"/>
          </a:solidFill>
          <a:ln w="12700">
            <a:solidFill>
              <a:srgbClr val="EEF4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32988" y="1069848"/>
            <a:ext cx="256032" cy="256032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332988" y="10698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3680460" y="1051560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Zugang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3369564" y="1508760"/>
            <a:ext cx="2423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Anmeldung mit dem THM-Konto</a:t>
            </a:r>
            <a:endParaRPr lang="en-US" sz="95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 eigener Account für Erstprüfende</a:t>
            </a:r>
            <a:endParaRPr lang="en-US" sz="95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Benachrichtigung per THM-E-Mail mit Link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3351276" y="3108960"/>
            <a:ext cx="244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750" i="1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Quelle: THM-Seite „Abschlussarbeit“, Kontextdiagramm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6035040" y="960120"/>
            <a:ext cx="2697480" cy="2514600"/>
          </a:xfrm>
          <a:prstGeom prst="roundRect">
            <a:avLst>
              <a:gd name="adj" fmla="val 2909"/>
            </a:avLst>
          </a:prstGeom>
          <a:solidFill>
            <a:srgbClr val="EEF4E8"/>
          </a:solidFill>
          <a:ln w="12700">
            <a:solidFill>
              <a:srgbClr val="EEF4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44768" y="1069848"/>
            <a:ext cx="256032" cy="256032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144768" y="10698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6492240" y="1051560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6181344" y="1508760"/>
            <a:ext cx="2423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Nutzung im Büro und zwischen Lehrveranstaltungen</a:t>
            </a:r>
            <a:endParaRPr lang="en-US" sz="95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Bestätigung unabhängig von Sprechzeiten des Sekretariats</a:t>
            </a:r>
            <a:endParaRPr lang="en-US" sz="95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Fachbereich MND, Studiengänge B.Sc. und M.Sc. Wirtschaftsinformatik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6163056" y="3108960"/>
            <a:ext cx="244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750" i="1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Quelle: Projektbriefing, Persona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411480" y="3657600"/>
            <a:ext cx="8321040" cy="1005840"/>
          </a:xfrm>
          <a:prstGeom prst="roundRect">
            <a:avLst>
              <a:gd name="adj" fmla="val 7273"/>
            </a:avLst>
          </a:prstGeom>
          <a:solidFill>
            <a:srgbClr val="FFF7E0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48640" y="365760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7A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Einschätzung: </a:t>
            </a:r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Diese Dimension liefert für die einzelne Story wenig Eigenes. Die Umgebung gilt für das gesamte Portal und ergibt sich aus dem Projektbriefing. Story-spezifisch ist nur, dass die Bestätigung auch mobil und außerhalb der Sprechzeiten möglich sein muss.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2860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Quality Attribute: Qualitätsziele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5120640" y="29260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15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D2D  ·  DIMENSION 7 VON 7  ·  QUALITY ATTRIBUTE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65836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Messbare Qualitätsanforderungen für das Bestätigen des Themas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411480" y="4828032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9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4.1.1 Thema bestätigen  ·  ThesisFlow  ·  Requirements Engineering, Gruppe Grün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411480" y="960120"/>
            <a:ext cx="4105656" cy="1755648"/>
          </a:xfrm>
          <a:prstGeom prst="roundRect">
            <a:avLst>
              <a:gd name="adj" fmla="val 4167"/>
            </a:avLst>
          </a:prstGeom>
          <a:solidFill>
            <a:srgbClr val="EEF4E8"/>
          </a:solidFill>
          <a:ln w="12700">
            <a:solidFill>
              <a:srgbClr val="EEF4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21208" y="1069848"/>
            <a:ext cx="256032" cy="256032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21208" y="10698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1051560"/>
            <a:ext cx="3557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Nachvollziehbarkeit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557784" y="1463040"/>
            <a:ext cx="38130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 Bestätigung ist mit Person und Zeitstempel protokolliert und nachträglich nicht änderbar.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39496" y="2167128"/>
            <a:ext cx="3849624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0936" y="2167128"/>
            <a:ext cx="36667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Messgröße: </a:t>
            </a:r>
            <a:pPr indent="0" marL="0">
              <a:buNone/>
            </a:pPr>
            <a:r>
              <a:rPr lang="en-US" sz="9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100 % der Bestätigungen im Protokoll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631436" y="960120"/>
            <a:ext cx="4105656" cy="1755648"/>
          </a:xfrm>
          <a:prstGeom prst="roundRect">
            <a:avLst>
              <a:gd name="adj" fmla="val 4167"/>
            </a:avLst>
          </a:prstGeom>
          <a:solidFill>
            <a:srgbClr val="EEF4E8"/>
          </a:solidFill>
          <a:ln w="12700">
            <a:solidFill>
              <a:srgbClr val="EEF4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41164" y="1069848"/>
            <a:ext cx="256032" cy="256032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741164" y="10698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5088636" y="1051560"/>
            <a:ext cx="3557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Sicherheit und Datenschutz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4777740" y="1463040"/>
            <a:ext cx="38130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 die zugeordnete Erstprüfer:in kann bestätigen. Personenbezogene Daten sind nur für Beteiligte sichtbar.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759452" y="2167128"/>
            <a:ext cx="3849624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850892" y="2167128"/>
            <a:ext cx="36667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Messgröße: </a:t>
            </a:r>
            <a:pPr indent="0" marL="0">
              <a:buNone/>
            </a:pPr>
            <a:r>
              <a:rPr lang="en-US" sz="9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Bestätigungen durch nicht berechtigte Rollen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11480" y="2830068"/>
            <a:ext cx="4105656" cy="1755648"/>
          </a:xfrm>
          <a:prstGeom prst="roundRect">
            <a:avLst>
              <a:gd name="adj" fmla="val 4167"/>
            </a:avLst>
          </a:prstGeom>
          <a:solidFill>
            <a:srgbClr val="EEF4E8"/>
          </a:solidFill>
          <a:ln w="12700">
            <a:solidFill>
              <a:srgbClr val="EEF4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21208" y="2939796"/>
            <a:ext cx="256032" cy="256032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21208" y="29397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868680" y="2921508"/>
            <a:ext cx="3557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Bedienbarkeit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557784" y="3332988"/>
            <a:ext cx="38130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Bestätigung gelingt ohne Schulung, am Desktop und am Smartphone.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39496" y="4037076"/>
            <a:ext cx="3849624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30936" y="4037076"/>
            <a:ext cx="36667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Messgröße: </a:t>
            </a:r>
            <a:pPr indent="0" marL="0">
              <a:buNone/>
            </a:pPr>
            <a:r>
              <a:rPr lang="en-US" sz="9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höchstens 3 Klicks ab Aufgabenliste (Annahme)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631436" y="2830068"/>
            <a:ext cx="4105656" cy="1755648"/>
          </a:xfrm>
          <a:prstGeom prst="roundRect">
            <a:avLst>
              <a:gd name="adj" fmla="val 4167"/>
            </a:avLst>
          </a:prstGeom>
          <a:solidFill>
            <a:srgbClr val="EEF4E8"/>
          </a:solidFill>
          <a:ln w="12700">
            <a:solidFill>
              <a:srgbClr val="EEF4E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41164" y="2939796"/>
            <a:ext cx="256032" cy="256032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741164" y="29397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5088636" y="2921508"/>
            <a:ext cx="3557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Aktualität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4777740" y="3332988"/>
            <a:ext cx="38130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Statusänderung und Benachrichtigung erreichen Studierende:n und Sekretariat ohne Verzögerung.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759452" y="4037076"/>
            <a:ext cx="3849624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850892" y="4037076"/>
            <a:ext cx="36667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Messgröße: </a:t>
            </a:r>
            <a:pPr indent="0" marL="0">
              <a:buNone/>
            </a:pPr>
            <a:r>
              <a:rPr lang="en-US" sz="9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sofort sichtbar, E-Mail innerhalb von 1 Minute (Annahme)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2860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Annahmen und offene Punkte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5120640" y="29260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15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D2D  ·  DISCOVER TO DELIVER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65836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Zur Klärung im Team und im Interview mit dem Auftraggeber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411480" y="4828032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9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4.1.1 Thema bestätigen  ·  ThesisFlow  ·  Requirements Engineering, Gruppe Grün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411480" y="960120"/>
            <a:ext cx="4105656" cy="3611880"/>
          </a:xfrm>
          <a:prstGeom prst="roundRect">
            <a:avLst>
              <a:gd name="adj" fmla="val 2025"/>
            </a:avLst>
          </a:prstGeom>
          <a:solidFill>
            <a:srgbClr val="EEF4E8"/>
          </a:solidFill>
          <a:ln w="12700">
            <a:solidFill>
              <a:srgbClr val="EEF4E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03327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Getroffene Annahmen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1389888"/>
            <a:ext cx="37947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Erstprüfer:in darf den Wortlaut des Themas vor der Bestätigung im Portal anpassen.</a:t>
            </a:r>
            <a:endParaRPr lang="en-US" sz="1000" dirty="0"/>
          </a:p>
          <a:p>
            <a:pPr marL="139700" indent="-1397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Nach der Bestätigung ist das Thema gesperrt.</a:t>
            </a:r>
            <a:endParaRPr lang="en-US" sz="1000" dirty="0"/>
          </a:p>
          <a:p>
            <a:pPr marL="139700" indent="-1397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Story umfasst nur die Themenbestätigung. Beginn und Abgabe gehören zu User Task 4.2.</a:t>
            </a:r>
            <a:endParaRPr lang="en-US" sz="1000" dirty="0"/>
          </a:p>
          <a:p>
            <a:pPr marL="139700" indent="-1397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Zielwerte für Klicks und Benachrichtigungszeit sind Vorschläge.</a:t>
            </a:r>
            <a:endParaRPr lang="en-US" sz="1000" dirty="0"/>
          </a:p>
          <a:p>
            <a:pPr marL="139700" indent="-1397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Persona Erstprüfer:in ist fiktiv, ihre Werte sind nicht erhoben.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31436" y="960120"/>
            <a:ext cx="4105656" cy="3611880"/>
          </a:xfrm>
          <a:prstGeom prst="roundRect">
            <a:avLst>
              <a:gd name="adj" fmla="val 2025"/>
            </a:avLst>
          </a:prstGeom>
          <a:solidFill>
            <a:srgbClr val="FFF7E0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768596" y="103327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Offene Fragen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786884" y="1389888"/>
            <a:ext cx="37947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Geht ein angepasstes Thema zur Kenntnis oder zur Zustimmung an die Studierenden zurück?</a:t>
            </a:r>
            <a:endParaRPr lang="en-US" sz="1000" dirty="0"/>
          </a:p>
          <a:p>
            <a:pPr marL="139700" indent="-1397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Gilt die Themenbestätigung schon als Ausgabe, oder erst zusammen mit Beginn und Abgabe?</a:t>
            </a:r>
            <a:endParaRPr lang="en-US" sz="1000" dirty="0"/>
          </a:p>
          <a:p>
            <a:pPr marL="139700" indent="-1397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Muss der Prüfungsausschuss ein geändertes Thema erneut sehen?</a:t>
            </a:r>
            <a:endParaRPr lang="en-US" sz="1000" dirty="0"/>
          </a:p>
          <a:p>
            <a:pPr marL="139700" indent="-1397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Welche Zielwerte für Bedienbarkeit und Aktualität akzeptiert der Auftraggeber?</a:t>
            </a:r>
            <a:endParaRPr lang="en-US" sz="1000" dirty="0"/>
          </a:p>
          <a:p>
            <a:pPr marL="139700" indent="-1397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Reicht die digitale Bestätigung rechtlich als Ersatz für die Unterschrift?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D2D User Story 4.1.1</dc:title>
  <dc:subject>PptxGenJS Presentation</dc:subject>
  <dc:creator>PptxGenJS</dc:creator>
  <cp:lastModifiedBy>PptxGenJS</cp:lastModifiedBy>
  <cp:revision>1</cp:revision>
  <dcterms:created xsi:type="dcterms:W3CDTF">2026-10-01T09:55:51Z</dcterms:created>
  <dcterms:modified xsi:type="dcterms:W3CDTF">2026-10-01T09:55:51Z</dcterms:modified>
</cp:coreProperties>
</file>