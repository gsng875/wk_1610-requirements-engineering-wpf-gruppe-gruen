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Kontextdiagramm des Ist-Zustands: heutiger manueller Anmeldeprozess ohne IT-System. Dient dem Vergleich mit dem Soll-Kontextdiagramm ThesisFlow. Laut Vorlesung Kap. 2 erfolgt die Abgrenzung in der Soll-Perspektive; das Ist-Bild macht die Schwachstellen sichtbar, die ThesisFlow beseitigen soll.
Ablauf (Hinweise zur Bearbeitung im Zulassungsantrag): 1. Prüfer mailt Formular, Studierende füllen aus und unterschreiben, 2. Prüfer unterschreibt, Dekanat prüft, PA-Vorsitz entscheidet, 1. Prüfer gibt aus, Dekanat prüft Frist und legt ab, Dekanat informiert Studierende.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Kontextdiagramm Ist-Zustand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Heutiger Anmeldeprozess für Abschlussarbeiten im FB MND: PDF-Formular, E-Mail, Unterschriften, Papierakte, kein IT-System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2560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 ·  GRUPPE GRÜN  ·  STAND 30.09.2026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692640" cy="5257800"/>
          </a:xfrm>
          <a:prstGeom prst="roundRect">
            <a:avLst>
              <a:gd name="adj" fmla="val 3478"/>
            </a:avLst>
          </a:prstGeom>
          <a:solidFill>
            <a:srgbClr val="F5F7F4"/>
          </a:solidFill>
          <a:ln w="15875">
            <a:solidFill>
              <a:srgbClr val="97BC62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40080" y="9784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Kontextgrenze  ·  Ist-Prozess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480560" y="1188720"/>
            <a:ext cx="1828800" cy="3429000"/>
          </a:xfrm>
          <a:prstGeom prst="roundRect">
            <a:avLst>
              <a:gd name="adj" fmla="val 6000"/>
            </a:avLst>
          </a:prstGeom>
          <a:solidFill>
            <a:srgbClr val="6B7F6B"/>
          </a:solidFill>
          <a:ln w="19050">
            <a:solidFill>
              <a:srgbClr val="4A5C4A"/>
            </a:solidFill>
            <a:prstDash val="dash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188720"/>
            <a:ext cx="1645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Ist-Prozess</a:t>
            </a:r>
            <a:endParaRPr lang="en-US" sz="2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4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Anmeldung, Freigabe, Ausgabe und Verlängerung per PDF-Formular, E-Mail-Umlauf und Unterschriften in 7 Schritten</a:t>
            </a:r>
            <a:endParaRPr lang="en-US" sz="20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System: manueller Ablauf, Sekretariat als Drehscheibe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513332"/>
            <a:ext cx="201168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68880" y="1641348"/>
            <a:ext cx="201168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606040" y="13487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Antrag ausgedruckt + unterschrieben; Formular ext. Prüfende + Urkunde; Verlängerungsantrag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PDF-Formular per E-Mail vom 1. Prüfer; Info über Ausgabe; kein Status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1520" y="20116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Erstprüfende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68880" y="2199132"/>
            <a:ext cx="201168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468880" y="2327148"/>
            <a:ext cx="201168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606040" y="20345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Formular per E-Mail an Studierende; Ausgabe eintragen + unterschreiben; Befürwortung Verlängerung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Antrag vom PA-Vorsitz zurück (Papier/Scan)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26974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Zweitprüfende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2884932"/>
            <a:ext cx="201168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468880" y="3012948"/>
            <a:ext cx="201168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606040" y="27203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Unterschrift Korreferat; Weiterleitung per E-Mail an das Dekanat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Antrag von Studierenden (Papier oder Scan)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1520" y="33832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Korreferenten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68880" y="3570732"/>
            <a:ext cx="201168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468880" y="3698748"/>
            <a:ext cx="201168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606040" y="34061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Unterschrift; Formular Externe Prüfende; Urkunde per Post/Scan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Antrag von Studierenden; Rückfragen zur Qualifikation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31520" y="40690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Sekretariat / Dekanat MND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68880" y="4256532"/>
            <a:ext cx="201168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468880" y="4384548"/>
            <a:ext cx="201168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33" name="Text 31"/>
          <p:cNvSpPr txBox="1"/>
          <p:nvPr/>
        </p:nvSpPr>
        <p:spPr>
          <a:xfrm>
            <a:off x="2606040" y="40919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Prüfung Zulassung + Qualifikation; Fristprüfung; Ablage; Info an Studierende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Antrag per E-Mail an das Dekanat; Telefonrückfragen; unleserliche Scans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321040" y="1645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Prüfungsausschuss-Vorsitz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1833372"/>
            <a:ext cx="201168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6309360" y="1961388"/>
            <a:ext cx="201168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446520" y="166878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Entscheidung mit Unterschrift (Zulassung, ext. Prüfer)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Antrag vom Dekanat (Papier)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321040" y="24231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Studienausschuss WI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09360" y="2610612"/>
            <a:ext cx="201168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42" name="Shape 40"/>
          <p:cNvSpPr/>
          <p:nvPr/>
        </p:nvSpPr>
        <p:spPr>
          <a:xfrm>
            <a:off x="6309360" y="2738628"/>
            <a:ext cx="201168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6446520" y="244602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Entscheidung Verlängerung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Verlängerungsantrag mit Befürwortung (Papier)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8321040" y="32004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8A968A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832104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THM-Website / Intranet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 Betrieb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9360" y="3387852"/>
            <a:ext cx="201168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47" name="Shape 45"/>
          <p:cNvSpPr/>
          <p:nvPr/>
        </p:nvSpPr>
        <p:spPr>
          <a:xfrm>
            <a:off x="6309360" y="3515868"/>
            <a:ext cx="201168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6446520" y="322326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PDF-Formulare, nur nach Login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Download durch Studierende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321040" y="39776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8A968A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832104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(Outlook)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 Betrieb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09360" y="4165092"/>
            <a:ext cx="201168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52" name="Shape 50"/>
          <p:cNvSpPr/>
          <p:nvPr/>
        </p:nvSpPr>
        <p:spPr>
          <a:xfrm>
            <a:off x="6309360" y="4293108"/>
            <a:ext cx="201168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6446520" y="400050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Anhänge: Formular, Scans, Nachweise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Versand zwischen allen Beteiligten, keine Nachverfolgung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377440" y="54406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ysDot"/>
          </a:ln>
        </p:spPr>
      </p:sp>
      <p:sp>
        <p:nvSpPr>
          <p:cNvPr id="55" name="Text 53"/>
          <p:cNvSpPr txBox="1"/>
          <p:nvPr/>
        </p:nvSpPr>
        <p:spPr>
          <a:xfrm>
            <a:off x="2377440" y="544068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Prüfungsordnungen / Allg. Best.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46120" y="4892040"/>
            <a:ext cx="914" cy="548640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46120" y="4892040"/>
            <a:ext cx="164592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92040" y="4617720"/>
            <a:ext cx="914" cy="274320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59" name="Text 57"/>
          <p:cNvSpPr txBox="1"/>
          <p:nvPr/>
        </p:nvSpPr>
        <p:spPr>
          <a:xfrm>
            <a:off x="2468880" y="4956048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Regeln und Fristen werden manuell nachgeschlagen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526280" y="54406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ysDot"/>
          </a:ln>
        </p:spPr>
      </p:sp>
      <p:sp>
        <p:nvSpPr>
          <p:cNvPr id="61" name="Text 59"/>
          <p:cNvSpPr txBox="1"/>
          <p:nvPr/>
        </p:nvSpPr>
        <p:spPr>
          <a:xfrm>
            <a:off x="4526280" y="544068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Papierakte Studierende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394960" y="4617720"/>
            <a:ext cx="914" cy="822960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4617720" y="4956048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Formular wird abgeheftet, geht nicht an Studierende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675120" y="54406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7E0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675120" y="544068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Sprechzeiten Sekretariat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 / Einschränkung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543800" y="4892040"/>
            <a:ext cx="914" cy="548640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7880" y="4892040"/>
            <a:ext cx="164592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97880" y="4617720"/>
            <a:ext cx="914" cy="274320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69" name="Text 67"/>
          <p:cNvSpPr txBox="1"/>
          <p:nvPr/>
        </p:nvSpPr>
        <p:spPr>
          <a:xfrm>
            <a:off x="6766560" y="4956048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Rückfragen nur Mo bis Fr 9.30 bis 11.30 Uhr, Raum A2.1.01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0332720" y="914400"/>
            <a:ext cx="1417320" cy="52578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B3B2E"/>
            </a:solidFill>
            <a:prstDash val="sysDot"/>
          </a:ln>
        </p:spPr>
      </p:sp>
      <p:sp>
        <p:nvSpPr>
          <p:cNvPr id="71" name="Text 69"/>
          <p:cNvSpPr txBox="1"/>
          <p:nvPr/>
        </p:nvSpPr>
        <p:spPr>
          <a:xfrm>
            <a:off x="10424160" y="1005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Schwachstellen (Ist)</a:t>
            </a:r>
            <a:endParaRPr lang="en-US" sz="950" dirty="0"/>
          </a:p>
          <a:p>
            <a:pPr indent="0" marL="0">
              <a:buNone/>
            </a:pPr>
            <a:r>
              <a:rPr lang="en-US" sz="70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Beobachtet aus Formular und THM-Seite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0424160" y="1645920"/>
            <a:ext cx="1234440" cy="987552"/>
          </a:xfrm>
          <a:prstGeom prst="roundRect">
            <a:avLst>
              <a:gd name="adj" fmla="val 5556"/>
            </a:avLst>
          </a:prstGeom>
          <a:solidFill>
            <a:srgbClr val="FBF1EF"/>
          </a:solidFill>
          <a:ln w="9525">
            <a:solidFill>
              <a:srgbClr val="9B3B2E"/>
            </a:solidFill>
            <a:prstDash val="dash"/>
          </a:ln>
        </p:spPr>
      </p:sp>
      <p:sp>
        <p:nvSpPr>
          <p:cNvPr id="73" name="Text 71"/>
          <p:cNvSpPr txBox="1"/>
          <p:nvPr/>
        </p:nvSpPr>
        <p:spPr>
          <a:xfrm>
            <a:off x="10479024" y="169164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9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Medienbrüche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ausfüllen, drucken, unterschreiben, scannen, mailen: sieben Übergaben pro Antrag.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424160" y="2743200"/>
            <a:ext cx="1234440" cy="987552"/>
          </a:xfrm>
          <a:prstGeom prst="roundRect">
            <a:avLst>
              <a:gd name="adj" fmla="val 5556"/>
            </a:avLst>
          </a:prstGeom>
          <a:solidFill>
            <a:srgbClr val="FBF1EF"/>
          </a:solidFill>
          <a:ln w="9525">
            <a:solidFill>
              <a:srgbClr val="9B3B2E"/>
            </a:solidFill>
            <a:prstDash val="dash"/>
          </a:ln>
        </p:spPr>
      </p:sp>
      <p:sp>
        <p:nvSpPr>
          <p:cNvPr id="75" name="Text 73"/>
          <p:cNvSpPr txBox="1"/>
          <p:nvPr/>
        </p:nvSpPr>
        <p:spPr>
          <a:xfrm>
            <a:off x="10479024" y="278892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9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Status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 erfahren erst am Ende vom Ergebnis; Nachfragen nur telefonisch.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0424160" y="3840480"/>
            <a:ext cx="1234440" cy="987552"/>
          </a:xfrm>
          <a:prstGeom prst="roundRect">
            <a:avLst>
              <a:gd name="adj" fmla="val 5556"/>
            </a:avLst>
          </a:prstGeom>
          <a:solidFill>
            <a:srgbClr val="FBF1EF"/>
          </a:solidFill>
          <a:ln w="9525">
            <a:solidFill>
              <a:srgbClr val="9B3B2E"/>
            </a:solidFill>
            <a:prstDash val="dash"/>
          </a:ln>
        </p:spPr>
      </p:sp>
      <p:sp>
        <p:nvSpPr>
          <p:cNvPr id="77" name="Text 75"/>
          <p:cNvSpPr txBox="1"/>
          <p:nvPr/>
        </p:nvSpPr>
        <p:spPr>
          <a:xfrm>
            <a:off x="10479024" y="388620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9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Prüfung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Zulassung, Qualifikation und Fristen werden im Sekretariat von Hand geprüft.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0424160" y="4937760"/>
            <a:ext cx="1234440" cy="987552"/>
          </a:xfrm>
          <a:prstGeom prst="roundRect">
            <a:avLst>
              <a:gd name="adj" fmla="val 5556"/>
            </a:avLst>
          </a:prstGeom>
          <a:solidFill>
            <a:srgbClr val="FBF1EF"/>
          </a:solidFill>
          <a:ln w="9525">
            <a:solidFill>
              <a:srgbClr val="9B3B2E"/>
            </a:solidFill>
            <a:prstDash val="dash"/>
          </a:ln>
        </p:spPr>
      </p:sp>
      <p:sp>
        <p:nvSpPr>
          <p:cNvPr id="79" name="Text 77"/>
          <p:cNvSpPr txBox="1"/>
          <p:nvPr/>
        </p:nvSpPr>
        <p:spPr>
          <a:xfrm>
            <a:off x="10479024" y="498348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9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ohne Zugang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Korreferenten brauchen Zusatzformular, Post oder Scan.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57200" y="635508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04672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737360" y="635508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A968A"/>
            </a:solidFill>
            <a:prstDash val="dash"/>
          </a:ln>
        </p:spPr>
      </p:sp>
      <p:sp>
        <p:nvSpPr>
          <p:cNvPr id="83" name="Text 81"/>
          <p:cNvSpPr txBox="1"/>
          <p:nvPr/>
        </p:nvSpPr>
        <p:spPr>
          <a:xfrm>
            <a:off x="2084832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 Betrieb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108960" y="635508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ysDot"/>
          </a:ln>
        </p:spPr>
      </p:sp>
      <p:sp>
        <p:nvSpPr>
          <p:cNvPr id="85" name="Text 83"/>
          <p:cNvSpPr txBox="1"/>
          <p:nvPr/>
        </p:nvSpPr>
        <p:spPr>
          <a:xfrm>
            <a:off x="3456432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114800" y="635508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462272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 / Einschränkung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5669280" y="6446520"/>
            <a:ext cx="36576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89" name="Text 87"/>
          <p:cNvSpPr txBox="1"/>
          <p:nvPr/>
        </p:nvSpPr>
        <p:spPr>
          <a:xfrm>
            <a:off x="6080760" y="6309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 den Prozess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315200" y="6446520"/>
            <a:ext cx="36576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91" name="Text 89"/>
          <p:cNvSpPr txBox="1"/>
          <p:nvPr/>
        </p:nvSpPr>
        <p:spPr>
          <a:xfrm>
            <a:off x="7726680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aus dem Prozess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9144000" y="6309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Zulassungsantrag WS23/24 (Hinweise zur Bearbeitung), THM-Seite Abschlussarbeit FB MND, Anlage ext. Prüfer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Kontextdiagramm Ist-Zustand</dc:title>
  <dc:subject>PptxGenJS Presentation</dc:subject>
  <dc:creator>PptxGenJS</dc:creator>
  <cp:lastModifiedBy>PptxGenJS</cp:lastModifiedBy>
  <cp:revision>1</cp:revision>
  <dcterms:created xsi:type="dcterms:W3CDTF">2026-09-30T11:28:44Z</dcterms:created>
  <dcterms:modified xsi:type="dcterms:W3CDTF">2026-09-30T11:28:44Z</dcterms:modified>
</cp:coreProperties>
</file>