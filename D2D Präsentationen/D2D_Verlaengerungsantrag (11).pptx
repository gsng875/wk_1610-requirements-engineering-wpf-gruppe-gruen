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54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6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8C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to Deliver · 7 Dimensionen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Verlängerungsantrag stellen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4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Studierende:r möchte ich einen Verlängerungsantrag direkt im Portal stellen, damit kein separater Papierantrag notwendig ist.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0B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36576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 und Ausgabe einer Abschlussarbeit digital abwickeln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24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0B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42245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Durchführung der Arbeit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791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0B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5.3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47914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Verlängerungsantrag digital stellen (Ausbaustufe 2)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3583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0B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5358384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5.3.1 Antrag starten · 5.3.2 Grund angeben · 5.3.3 Absenden und Status sehen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Foliensatz Praxisteil S. 19–33, Formular „Antrag auf Verlängerung", Personas, Projekt-One-Pager, Story Map. Was dort nicht steht, ist als „offen" markiert.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3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7 Dimensionen im Überblick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solidFill>
            <a:srgbClr val="A97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 (Persona Tarek), Erstprüfer:in, Prüfungsausschuss, Dekanat/Prüfungsamt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502152" y="1508760"/>
            <a:ext cx="411480" cy="411480"/>
          </a:xfrm>
          <a:prstGeom prst="rect">
            <a:avLst/>
          </a:prstGeom>
          <a:solidFill>
            <a:srgbClr val="7B2D9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350215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50792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Webportal mit THM-Login, Desktop und Smartphone; Wireframes und Kontextdiagramm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364224" y="1508760"/>
            <a:ext cx="411480" cy="411480"/>
          </a:xfrm>
          <a:prstGeom prst="rect">
            <a:avLst/>
          </a:prstGeom>
          <a:solidFill>
            <a:srgbClr val="2E8B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6364224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12864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starten, begründen, absenden; Stellungnahme; Entscheidung; Frist aktualisieren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43416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9226296" y="1508760"/>
            <a:ext cx="411480" cy="411480"/>
          </a:xfrm>
          <a:prstGeom prst="rect">
            <a:avLst/>
          </a:prstGeom>
          <a:solidFill>
            <a:srgbClr val="2A74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9226296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774936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Verlängerungsantrag, Stellungnahme, Entscheidung, Abgabetermin der Arbeit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21608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40080" y="3904488"/>
            <a:ext cx="411480" cy="41148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 txBox="1"/>
          <p:nvPr/>
        </p:nvSpPr>
        <p:spPr>
          <a:xfrm>
            <a:off x="64008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49884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aus Formular und Story Map; PO-Regeln zur Verlängerung offen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19272" y="3721608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3502152" y="3904488"/>
            <a:ext cx="411480" cy="41148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 txBox="1"/>
          <p:nvPr/>
        </p:nvSpPr>
        <p:spPr>
          <a:xfrm>
            <a:off x="3502152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050792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502152" y="449884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am Desktop und Smartphone, rund um die Uhr; Entwicklungsumgebung offen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81344" y="3721608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6364224" y="3904488"/>
            <a:ext cx="411480" cy="411480"/>
          </a:xfrm>
          <a:prstGeom prst="rect">
            <a:avLst/>
          </a:prstGeom>
          <a:solidFill>
            <a:srgbClr val="6B737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6364224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912864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Attributes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49884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Benutzbarkeit, Verfügbarkeit, Transparenz, Datenschutz, Pflegbarkeit; Messwerte offen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595360" y="5852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Punkte stehen gesammelt auf der letzten Folie.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A97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User: Persona Tarek Yilmaz (Studierende:r, Master)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Verlängerungsantrag stellen  ·  Quelle: Persona-Folien der Gruppe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1371600" cy="1371600"/>
          </a:xfrm>
          <a:prstGeom prst="ellipse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64008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234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Tarek Yilmaz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M.Sc. Wirtschaftsinformatik, berufsbegleitend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1031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„Zwischen Kundenprojekt und Thesis habe ich keine Zeit für Formularpost."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657600" cy="3429000"/>
          </a:xfrm>
          <a:prstGeom prst="roundRect">
            <a:avLst>
              <a:gd name="adj" fmla="val 133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621792" y="29900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Eigenschaften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337560"/>
            <a:ext cx="33284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Jahre, Frankfurt am Main, verheiratet, ein Kind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IT-Consultant, Vollzeit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Laptop, Firmenhandy, viel unterwegs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Effizient, technikaffin, kennt den Prozess vom Bachelor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Schreibt die Masterarbeit im eigenen Unternehmen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Pragmatisch, wenig Geduld für Bürokratie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Laufen, Fußball mit dem Sohn, Podcasts beim Pendeln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79392" y="2880360"/>
            <a:ext cx="3657600" cy="3429000"/>
          </a:xfrm>
          <a:prstGeom prst="roundRect">
            <a:avLst>
              <a:gd name="adj" fmla="val 133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4443984" y="29900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43984" y="3337560"/>
            <a:ext cx="33284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Zusatzformular und Rückfragen für den externen Korreferenten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im Prüfungsamt kollidieren mit Kundenterminen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und Verlängerungsregeln unklar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hat keinen THM-Zugang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1584" y="1280160"/>
            <a:ext cx="3630168" cy="2240280"/>
          </a:xfrm>
          <a:prstGeom prst="roundRect">
            <a:avLst>
              <a:gd name="adj" fmla="val 2041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8266176" y="138988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Spezifische Ziele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1737360"/>
            <a:ext cx="3300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Externen Korreferenten direkt im Antrag benennen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Freigaben asynchron und ohne Präsenztermin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bei Bedarf online beantragen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01584" y="3630168"/>
            <a:ext cx="3630168" cy="914400"/>
          </a:xfrm>
          <a:prstGeom prst="roundRect">
            <a:avLst>
              <a:gd name="adj" fmla="val 50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8266176" y="3739896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Allgemeine Ziele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66176" y="408736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neben dem Job abschließen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1584" y="4654296"/>
            <a:ext cx="3630168" cy="1655064"/>
          </a:xfrm>
          <a:prstGeom prst="roundRect">
            <a:avLst>
              <a:gd name="adj" fmla="val 2762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 txBox="1"/>
          <p:nvPr/>
        </p:nvSpPr>
        <p:spPr>
          <a:xfrm>
            <a:off x="8266176" y="4764024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Nutzungsüberwindung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66176" y="5111496"/>
            <a:ext cx="33009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asynchron, rund um die Uhr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und Verlängerungsoptionen transparent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in einem Vorgang, keine Doppelerfassung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A97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User: Wer nutzt, wer profitiert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Verlängerungsantrag stellen  ·  Quellen: Story Map, Formular, Personas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242925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Beteiligung an der 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Nutzt die Funktion: Antrag starten, Grund angeben, absenden, Status sehen. Profitiert, weil kein Papierantrag nötig ist.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5.3.1–5.3.3, Personas Moritz und Tarek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Erstprüfer:in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Sieht den Antrag, gibt Stellungnahme bzw. Befürwortung ab und leitet sie digital weiter.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5.4.1–5.4.3, Formular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Prüfungsausschuss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Sieht Antrag und Stellungnahme, genehmigt oder lehnt ab, hinterlegt Entscheidung und ggf. neuen Abgabetermin. Das Formular nennt als Adressat den „Studienausschuss Wirtschaftsinformatik".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5.5.1–5.5.3, Formular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Dekanat / Prüfungsamt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den Verlängerungs-Stories nicht genannt. Laut Persona Michael Krüger: Status ohne Mail- und Telefonrunden weitergeben, Fristen automatisch überwachen, rechtssichere Ablage.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Krüger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Nachbarsystem THM-Login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Anmeldung und Rollen. Kein Nutzer im engeren Sinn, aber eine Abhängigkeit.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One-Pager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7B2D9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Interface: Bedienoberfläche (Wireframes, Smartphone)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1188720"/>
            <a:ext cx="2743200" cy="4526280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1005840" y="1600200"/>
            <a:ext cx="23774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 txBox="1"/>
          <p:nvPr/>
        </p:nvSpPr>
        <p:spPr>
          <a:xfrm>
            <a:off x="109728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Meine Abschlussarbeit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2148840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 txBox="1"/>
          <p:nvPr/>
        </p:nvSpPr>
        <p:spPr>
          <a:xfrm>
            <a:off x="1170432" y="21488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Thema: &lt;Thema&gt;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97280" y="2624328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1170432" y="262432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Beginn: &lt;TT.MM.JJJJ&gt;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97280" y="3099816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1170432" y="309981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Abgabetermin: &lt;TT.MM.JJJJ&gt;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97280" y="3575304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 txBox="1"/>
          <p:nvPr/>
        </p:nvSpPr>
        <p:spPr>
          <a:xfrm>
            <a:off x="1170432" y="357530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Restzeit: &lt;n Tage&gt;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97280" y="4050792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1170432" y="405079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Bearbeitung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97280" y="466344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80BC00"/>
          </a:solidFill>
          <a:ln w="12700">
            <a:solidFill>
              <a:srgbClr val="80BC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 txBox="1"/>
          <p:nvPr/>
        </p:nvSpPr>
        <p:spPr>
          <a:xfrm>
            <a:off x="1152144" y="46634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beantragen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starten (5.3.1)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1188720"/>
            <a:ext cx="2743200" cy="4526280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4754880" y="1600200"/>
            <a:ext cx="23774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 txBox="1"/>
          <p:nvPr/>
        </p:nvSpPr>
        <p:spPr>
          <a:xfrm>
            <a:off x="484632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Verlängerungsantrag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2194560" cy="384048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 txBox="1"/>
          <p:nvPr/>
        </p:nvSpPr>
        <p:spPr>
          <a:xfrm>
            <a:off x="4919472" y="21488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[aus THM-Konto]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624328"/>
            <a:ext cx="2194560" cy="384048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4919472" y="262432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 [aus Antrag]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099816"/>
            <a:ext cx="2194560" cy="384048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 txBox="1"/>
          <p:nvPr/>
        </p:nvSpPr>
        <p:spPr>
          <a:xfrm>
            <a:off x="4919472" y="309981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 [aus Antrag]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575304"/>
            <a:ext cx="2194560" cy="822960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 txBox="1"/>
          <p:nvPr/>
        </p:nvSpPr>
        <p:spPr>
          <a:xfrm>
            <a:off x="4919472" y="3575304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  [Textfeld, mehrzeilig]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466344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80BC00"/>
          </a:solidFill>
          <a:ln w="12700">
            <a:solidFill>
              <a:srgbClr val="80BC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4901184" y="46634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absenden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 angeben, absenden (5.3.2)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21040" y="1188720"/>
            <a:ext cx="2743200" cy="4526280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8503920" y="1600200"/>
            <a:ext cx="23774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 txBox="1"/>
          <p:nvPr/>
        </p:nvSpPr>
        <p:spPr>
          <a:xfrm>
            <a:off x="85953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Ihres Antrags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95360" y="2148840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 txBox="1"/>
          <p:nvPr/>
        </p:nvSpPr>
        <p:spPr>
          <a:xfrm>
            <a:off x="8668512" y="21488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Antrag eingereicht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595360" y="2624328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 txBox="1"/>
          <p:nvPr/>
        </p:nvSpPr>
        <p:spPr>
          <a:xfrm>
            <a:off x="8668512" y="262432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Stellungnahme Erstprüfer:in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95360" y="3099816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 txBox="1"/>
          <p:nvPr/>
        </p:nvSpPr>
        <p:spPr>
          <a:xfrm>
            <a:off x="8668512" y="309981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Entscheidung Prüfungsausschuss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595360" y="4050792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 txBox="1"/>
          <p:nvPr/>
        </p:nvSpPr>
        <p:spPr>
          <a:xfrm>
            <a:off x="8668512" y="405079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jedem Statuswechsel erhalten Sie eine Benachrichtigung.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595360" y="466344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80BC00"/>
          </a:solidFill>
          <a:ln w="12700">
            <a:solidFill>
              <a:srgbClr val="80BC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 txBox="1"/>
          <p:nvPr/>
        </p:nvSpPr>
        <p:spPr>
          <a:xfrm>
            <a:off x="8650224" y="46634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 zur Übersicht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32104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sehen (5.3.3)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7B2D9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Interface: Kontextdiagramm (Schnittstellen)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Verlängerungsantrag stellen  ·  Quellen: One-Pager (THM-Login), Story 5.3, Persona Moritz (Benachrichtigung)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0" y="3063240"/>
            <a:ext cx="3044952" cy="1188720"/>
          </a:xfrm>
          <a:prstGeom prst="roundRect">
            <a:avLst>
              <a:gd name="adj" fmla="val 4615"/>
            </a:avLst>
          </a:prstGeom>
          <a:solidFill>
            <a:srgbClr val="4B5A63"/>
          </a:solidFill>
          <a:ln w="12700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6638544" y="3063240"/>
            <a:ext cx="2935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Abschlussarbeiten-Portal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2523744" y="137160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H="1">
            <a:off x="5577840" y="3383280"/>
            <a:ext cx="100584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head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 flipV="1">
            <a:off x="5577840" y="1920240"/>
            <a:ext cx="0" cy="146304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 flipH="1">
            <a:off x="5120640" y="1920240"/>
            <a:ext cx="45720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228600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Antrag, Grund ⇄ Status, Entscheidung, neue Frist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475488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2523744" y="475488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flipH="1">
            <a:off x="5577840" y="3931920"/>
            <a:ext cx="100584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head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5577840" y="3931920"/>
            <a:ext cx="0" cy="128016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 flipH="1">
            <a:off x="5120640" y="5212080"/>
            <a:ext cx="45720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228600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⇄ Stellungnahme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1325880"/>
            <a:ext cx="304495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B5A63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6638544" y="132588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THM-Login (Nachbarsystem)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06156" y="2148840"/>
            <a:ext cx="0" cy="91440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 txBox="1"/>
          <p:nvPr/>
        </p:nvSpPr>
        <p:spPr>
          <a:xfrm>
            <a:off x="822960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Anmeldung, Rolle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5212080"/>
            <a:ext cx="304495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B5A63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 txBox="1"/>
          <p:nvPr/>
        </p:nvSpPr>
        <p:spPr>
          <a:xfrm>
            <a:off x="6638544" y="521208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Benachrichtigung (Mail oder Push)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06156" y="4251960"/>
            <a:ext cx="0" cy="96012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 txBox="1"/>
          <p:nvPr/>
        </p:nvSpPr>
        <p:spPr>
          <a:xfrm>
            <a:off x="822960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Statuswechsel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Gestrichelt: Anbindung oder Rolle in den Unterlagen nicht näher beschrieben. Art der Anbindung (Schnittstelle) ist offen.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2E8B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Action: Verlängerungsantrag stellen (Ablauf)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12745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554480" cy="1554480"/>
          </a:xfrm>
          <a:prstGeom prst="rect">
            <a:avLst/>
          </a:prstGeom>
          <a:solidFill>
            <a:srgbClr val="4B5A63"/>
          </a:solidFill>
          <a:ln w="9525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 txBox="1"/>
          <p:nvPr/>
        </p:nvSpPr>
        <p:spPr>
          <a:xfrm>
            <a:off x="502920" y="118872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1274552" cy="1554480"/>
          </a:xfrm>
          <a:prstGeom prst="rect">
            <a:avLst/>
          </a:prstGeom>
          <a:solidFill>
            <a:srgbClr val="F7F9F8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554480" cy="1554480"/>
          </a:xfrm>
          <a:prstGeom prst="rect">
            <a:avLst/>
          </a:prstGeom>
          <a:solidFill>
            <a:srgbClr val="4B5A63"/>
          </a:solidFill>
          <a:ln w="9525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502920" y="274320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(System)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12745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1554480" cy="1554480"/>
          </a:xfrm>
          <a:prstGeom prst="rect">
            <a:avLst/>
          </a:prstGeom>
          <a:solidFill>
            <a:srgbClr val="4B5A63"/>
          </a:solidFill>
          <a:ln w="9525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502920" y="429768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48840" y="1856232"/>
            <a:ext cx="219456" cy="219456"/>
          </a:xfrm>
          <a:prstGeom prst="ellipse">
            <a:avLst/>
          </a:prstGeom>
          <a:solidFill>
            <a:srgbClr val="39464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2514600" y="15773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 txBox="1"/>
          <p:nvPr/>
        </p:nvSpPr>
        <p:spPr>
          <a:xfrm>
            <a:off x="2569464" y="15773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im Portal starten (5.3.1)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5773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4855464" y="15773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angeben (5.3.2)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6600" y="15773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7141464" y="15773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digital absenden (5.3.3)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72600" y="15773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 txBox="1"/>
          <p:nvPr/>
        </p:nvSpPr>
        <p:spPr>
          <a:xfrm>
            <a:off x="9427464" y="15773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im Portal sehen (5.3.3)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521440" y="1819656"/>
            <a:ext cx="292608" cy="29260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2368296" y="1965960"/>
            <a:ext cx="146304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343400" y="1965960"/>
            <a:ext cx="45720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6629400" y="1965960"/>
            <a:ext cx="45720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11201400" y="1965960"/>
            <a:ext cx="32004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8001000" y="2354580"/>
            <a:ext cx="0" cy="141732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7754112" y="2496312"/>
            <a:ext cx="493776" cy="493776"/>
          </a:xfrm>
          <a:prstGeom prst="ellipse">
            <a:avLst/>
          </a:prstGeom>
          <a:solidFill>
            <a:srgbClr val="39464D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7882128" y="2665476"/>
            <a:ext cx="237744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7882128" y="2665476"/>
            <a:ext cx="118872" cy="96012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 flipV="1">
            <a:off x="8001000" y="2665476"/>
            <a:ext cx="118872" cy="96012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8348472" y="2596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abgesendet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96312" y="3273552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2624328" y="3442716"/>
            <a:ext cx="237744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2624328" y="3442716"/>
            <a:ext cx="118872" cy="96012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 flipV="1">
            <a:off x="2743200" y="3442716"/>
            <a:ext cx="118872" cy="96012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 txBox="1"/>
          <p:nvPr/>
        </p:nvSpPr>
        <p:spPr>
          <a:xfrm>
            <a:off x="1920240" y="3794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eingegangen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83280" y="31318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 txBox="1"/>
          <p:nvPr/>
        </p:nvSpPr>
        <p:spPr>
          <a:xfrm>
            <a:off x="3438144" y="313182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„eingereicht", Antrag weiterleiten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90088" y="3520440"/>
            <a:ext cx="393192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8001000" y="2990088"/>
            <a:ext cx="0" cy="82296"/>
          </a:xfrm>
          <a:prstGeom prst="line">
            <a:avLst/>
          </a:prstGeom>
          <a:noFill/>
          <a:ln w="19050">
            <a:solidFill>
              <a:srgbClr val="39464D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 flipH="1">
            <a:off x="2743200" y="3072384"/>
            <a:ext cx="525780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2743200" y="3072384"/>
            <a:ext cx="0" cy="201168"/>
          </a:xfrm>
          <a:prstGeom prst="line">
            <a:avLst/>
          </a:prstGeom>
          <a:noFill/>
          <a:ln w="19050">
            <a:solidFill>
              <a:srgbClr val="39464D"/>
            </a:solidFill>
            <a:prstDash val="dash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5212080" y="3726180"/>
            <a:ext cx="507492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 flipV="1">
            <a:off x="10287000" y="2354580"/>
            <a:ext cx="0" cy="137160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4297680" y="3909060"/>
            <a:ext cx="0" cy="141732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4050792" y="4050792"/>
            <a:ext cx="493776" cy="493776"/>
          </a:xfrm>
          <a:prstGeom prst="ellipse">
            <a:avLst/>
          </a:prstGeom>
          <a:solidFill>
            <a:srgbClr val="39464D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4178808" y="4219956"/>
            <a:ext cx="237744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Shape 50"/>
          <p:cNvSpPr/>
          <p:nvPr/>
        </p:nvSpPr>
        <p:spPr>
          <a:xfrm>
            <a:off x="4178808" y="4219956"/>
            <a:ext cx="118872" cy="96012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Shape 51"/>
          <p:cNvSpPr/>
          <p:nvPr/>
        </p:nvSpPr>
        <p:spPr>
          <a:xfrm flipV="1">
            <a:off x="4297680" y="4219956"/>
            <a:ext cx="118872" cy="96012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 txBox="1"/>
          <p:nvPr/>
        </p:nvSpPr>
        <p:spPr>
          <a:xfrm>
            <a:off x="4645152" y="41513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weitergeleitet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496312" y="4828032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Shape 54"/>
          <p:cNvSpPr/>
          <p:nvPr/>
        </p:nvSpPr>
        <p:spPr>
          <a:xfrm>
            <a:off x="2624328" y="4997196"/>
            <a:ext cx="237744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Shape 55"/>
          <p:cNvSpPr/>
          <p:nvPr/>
        </p:nvSpPr>
        <p:spPr>
          <a:xfrm>
            <a:off x="2624328" y="4997196"/>
            <a:ext cx="118872" cy="96012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Shape 56"/>
          <p:cNvSpPr/>
          <p:nvPr/>
        </p:nvSpPr>
        <p:spPr>
          <a:xfrm flipV="1">
            <a:off x="2743200" y="4997196"/>
            <a:ext cx="118872" cy="96012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 txBox="1"/>
          <p:nvPr/>
        </p:nvSpPr>
        <p:spPr>
          <a:xfrm>
            <a:off x="1920240" y="5349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eingegangen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383280" y="468630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 txBox="1"/>
          <p:nvPr/>
        </p:nvSpPr>
        <p:spPr>
          <a:xfrm>
            <a:off x="3438144" y="468630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erhalten (weiter mit Task 5.4)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990088" y="5074920"/>
            <a:ext cx="393192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63" name="Shape 61"/>
          <p:cNvSpPr/>
          <p:nvPr/>
        </p:nvSpPr>
        <p:spPr>
          <a:xfrm>
            <a:off x="4297680" y="4544568"/>
            <a:ext cx="0" cy="82296"/>
          </a:xfrm>
          <a:prstGeom prst="line">
            <a:avLst/>
          </a:prstGeom>
          <a:noFill/>
          <a:ln w="19050">
            <a:solidFill>
              <a:srgbClr val="39464D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64" name="Shape 62"/>
          <p:cNvSpPr/>
          <p:nvPr/>
        </p:nvSpPr>
        <p:spPr>
          <a:xfrm flipH="1">
            <a:off x="2743200" y="4626864"/>
            <a:ext cx="155448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65" name="Shape 63"/>
          <p:cNvSpPr/>
          <p:nvPr/>
        </p:nvSpPr>
        <p:spPr>
          <a:xfrm>
            <a:off x="2743200" y="4626864"/>
            <a:ext cx="0" cy="201168"/>
          </a:xfrm>
          <a:prstGeom prst="line">
            <a:avLst/>
          </a:prstGeom>
          <a:noFill/>
          <a:ln w="19050">
            <a:solidFill>
              <a:srgbClr val="39464D"/>
            </a:solidFill>
            <a:prstDash val="dash"/>
            <a:tailEnd type="triangle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2A74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Datenmodell (Ausschnitt)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und Verlängerung von Abschlussarbeiten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011680" cy="347472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 txBox="1"/>
          <p:nvPr/>
        </p:nvSpPr>
        <p:spPr>
          <a:xfrm>
            <a:off x="45720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Studierende:r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2011680" cy="603504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 txBox="1"/>
          <p:nvPr/>
        </p:nvSpPr>
        <p:spPr>
          <a:xfrm>
            <a:off x="548640" y="201168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050" u="sng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matrikelnummer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73552" y="1600200"/>
            <a:ext cx="2377440" cy="347472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3273552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Abschlussarbeit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73552" y="1947672"/>
            <a:ext cx="237744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3364992" y="2011680"/>
            <a:ext cx="2240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050" u="sng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arbeit_id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matrikelnummer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abgabetermin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55664" y="1600200"/>
            <a:ext cx="2377440" cy="347472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 txBox="1"/>
          <p:nvPr/>
        </p:nvSpPr>
        <p:spPr>
          <a:xfrm>
            <a:off x="6455664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Verlängerungsantrag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55664" y="1947672"/>
            <a:ext cx="2377440" cy="1316736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6547104" y="2011680"/>
            <a:ext cx="22402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050" u="sng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antrag_id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arbeit_id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Text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AntragStatus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37776" y="1600200"/>
            <a:ext cx="2103120" cy="347472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 txBox="1"/>
          <p:nvPr/>
        </p:nvSpPr>
        <p:spPr>
          <a:xfrm>
            <a:off x="9637776" y="1600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Stellungnahme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37776" y="1947672"/>
            <a:ext cx="2103120" cy="1078992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 txBox="1"/>
          <p:nvPr/>
        </p:nvSpPr>
        <p:spPr>
          <a:xfrm>
            <a:off x="9729216" y="20116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050" u="sng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stellungnahme_id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antrag_id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befuerwortung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Text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37776" y="3383280"/>
            <a:ext cx="2103120" cy="347472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 txBox="1"/>
          <p:nvPr/>
        </p:nvSpPr>
        <p:spPr>
          <a:xfrm>
            <a:off x="9637776" y="3383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Entscheidung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37776" y="3730752"/>
            <a:ext cx="2103120" cy="1078992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 txBox="1"/>
          <p:nvPr/>
        </p:nvSpPr>
        <p:spPr>
          <a:xfrm>
            <a:off x="9729216" y="37947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050" u="sng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entscheidung_id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antrag_id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Entscheidungsergebnis</a:t>
            </a:r>
            <a:endParaRPr lang="en-US" sz="10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neuer_abgabetermin</a:t>
            </a:r>
            <a:r>
              <a:rPr lang="en-US" sz="105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68880" y="2313432"/>
            <a:ext cx="804672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2496312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816352" y="2039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468880" y="235000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verfasst ►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50992" y="2313432"/>
            <a:ext cx="804672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 txBox="1"/>
          <p:nvPr/>
        </p:nvSpPr>
        <p:spPr>
          <a:xfrm>
            <a:off x="5678424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998464" y="2039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650992" y="235000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gehört zu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33104" y="2313432"/>
            <a:ext cx="804672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 txBox="1"/>
          <p:nvPr/>
        </p:nvSpPr>
        <p:spPr>
          <a:xfrm>
            <a:off x="8860536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80576" y="2039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833104" y="235000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►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833104" y="3035808"/>
            <a:ext cx="402336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9235440" y="3035808"/>
            <a:ext cx="0" cy="877824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9235440" y="3913632"/>
            <a:ext cx="402336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 txBox="1"/>
          <p:nvPr/>
        </p:nvSpPr>
        <p:spPr>
          <a:xfrm>
            <a:off x="8860536" y="2761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180576" y="36393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9235440" y="395020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►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9637776" y="3054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Erstprüfer:in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9637776" y="4846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 den Prüfungsausschuss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38544" y="3931920"/>
            <a:ext cx="201168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 txBox="1"/>
          <p:nvPr/>
        </p:nvSpPr>
        <p:spPr>
          <a:xfrm>
            <a:off x="6638544" y="39867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638544" y="41696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AntragStatus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638544" y="4434840"/>
            <a:ext cx="2011680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 txBox="1"/>
          <p:nvPr/>
        </p:nvSpPr>
        <p:spPr>
          <a:xfrm>
            <a:off x="6748272" y="449884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eingereicht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stellungnahme_erteilt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entschieden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644384" y="3447288"/>
            <a:ext cx="0" cy="484632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Shape 52"/>
          <p:cNvSpPr/>
          <p:nvPr/>
        </p:nvSpPr>
        <p:spPr>
          <a:xfrm>
            <a:off x="7552944" y="326440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Shape 53"/>
          <p:cNvSpPr/>
          <p:nvPr/>
        </p:nvSpPr>
        <p:spPr>
          <a:xfrm>
            <a:off x="7552944" y="3355848"/>
            <a:ext cx="182880" cy="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Shape 54"/>
          <p:cNvSpPr/>
          <p:nvPr/>
        </p:nvSpPr>
        <p:spPr>
          <a:xfrm>
            <a:off x="7644384" y="3264408"/>
            <a:ext cx="0" cy="18288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Shape 55"/>
          <p:cNvSpPr/>
          <p:nvPr/>
        </p:nvSpPr>
        <p:spPr>
          <a:xfrm>
            <a:off x="9957816" y="5157216"/>
            <a:ext cx="1783080" cy="1088136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 txBox="1"/>
          <p:nvPr/>
        </p:nvSpPr>
        <p:spPr>
          <a:xfrm>
            <a:off x="9957816" y="52120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9957816" y="53949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Entscheidungsergebnis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9957816" y="5660136"/>
            <a:ext cx="1783080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 txBox="1"/>
          <p:nvPr/>
        </p:nvSpPr>
        <p:spPr>
          <a:xfrm>
            <a:off x="10067544" y="57241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genehmigt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1375136" y="4992624"/>
            <a:ext cx="0" cy="164592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Shape 61"/>
          <p:cNvSpPr/>
          <p:nvPr/>
        </p:nvSpPr>
        <p:spPr>
          <a:xfrm>
            <a:off x="11283696" y="4809744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" name="Shape 62"/>
          <p:cNvSpPr/>
          <p:nvPr/>
        </p:nvSpPr>
        <p:spPr>
          <a:xfrm>
            <a:off x="11283696" y="4901184"/>
            <a:ext cx="182880" cy="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Shape 63"/>
          <p:cNvSpPr/>
          <p:nvPr/>
        </p:nvSpPr>
        <p:spPr>
          <a:xfrm>
            <a:off x="11375136" y="4809744"/>
            <a:ext cx="0" cy="18288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Control: Regeln und Entscheidungslogik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400800" cy="36728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Durchsetzung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Antrag enthält einen Grund (und die Firma).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Pflichtfeld im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 der Entscheidung liegt die Stellungnahme der Erstprüfer:in vor.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Formular, Story 5.5.1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Prüfschritt im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Prüfungsausschuss entscheidet über die Verlängerung.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5.5.2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durch Gremium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 Genehmigung gilt ein neuer Abgabetermin.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5.5.3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übernimmt Frist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Regeln und Fristen sind vom Dekanat pflegbar.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Krüger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Abschlussarbeit ist höchstens eine Verlängerung möglich.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Vorgabe der Gruppe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sperrt weiteren Antrag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Zugriff nur nach THM-Login mit Rolle.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One-Pager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91440" marB="91440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98080" y="1280160"/>
            <a:ext cx="2834640" cy="640080"/>
          </a:xfrm>
          <a:prstGeom prst="roundRect">
            <a:avLst>
              <a:gd name="adj" fmla="val 8571"/>
            </a:avLst>
          </a:prstGeom>
          <a:solidFill>
            <a:srgbClr val="FFF3CD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7"/>
          <p:cNvSpPr txBox="1"/>
          <p:nvPr/>
        </p:nvSpPr>
        <p:spPr>
          <a:xfrm>
            <a:off x="7552944" y="128016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und Stellungnahme liegen vor?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251460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FF3CD"/>
          </a:solidFill>
          <a:ln w="15875">
            <a:solidFill>
              <a:srgbClr val="8FB04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7552944" y="2514600"/>
            <a:ext cx="4096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Erfüllt der Antrag die PO-Regeln zur Verlängerung?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0" y="374904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 txBox="1"/>
          <p:nvPr/>
        </p:nvSpPr>
        <p:spPr>
          <a:xfrm>
            <a:off x="7552944" y="374904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Genehmigen, neuen Abgabetermin hinterlegen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692640" y="374904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9747504" y="374904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Ablehnen, Entscheidung hinterlegen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881360" y="128016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 txBox="1"/>
          <p:nvPr/>
        </p:nvSpPr>
        <p:spPr>
          <a:xfrm>
            <a:off x="10936224" y="1280160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warten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32720" y="1600200"/>
            <a:ext cx="54864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1033272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915400" y="1920240"/>
            <a:ext cx="0" cy="59436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 txBox="1"/>
          <p:nvPr/>
        </p:nvSpPr>
        <p:spPr>
          <a:xfrm>
            <a:off x="8988552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503920" y="3154680"/>
            <a:ext cx="0" cy="59436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 txBox="1"/>
          <p:nvPr/>
        </p:nvSpPr>
        <p:spPr>
          <a:xfrm>
            <a:off x="8577072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698480" y="3154680"/>
            <a:ext cx="0" cy="59436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 txBox="1"/>
          <p:nvPr/>
        </p:nvSpPr>
        <p:spPr>
          <a:xfrm>
            <a:off x="10771632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Environment: Betriebs- und Entwicklungsumgebung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Verlängerungsantrag stellen  ·  Quellen: One-Pager, Personas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Environment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Technologieplattform: Webportal im Browser am Desktop und auf dem Smartphone, Anmeldung über THM-Login (One-Pager).</a:t>
            </a:r>
            <a:endParaRPr lang="en-US" sz="12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954499"/>
              </p:ext>
            </p:extLst>
          </p:nvPr>
        </p:nvGraphicFramePr>
        <p:xfrm>
          <a:off x="457200" y="4160520"/>
          <a:ext cx="11274552" cy="569976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Dienst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Handy, Laptop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THM-Login, </a:t>
                      </a:r>
                      <a:r>
                        <a:rPr lang="en-US" sz="115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Datenschutz</a:t>
                      </a: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3753BF47-46EB-F3B1-0ADB-2B12F6D49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631285"/>
              </p:ext>
            </p:extLst>
          </p:nvPr>
        </p:nvGraphicFramePr>
        <p:xfrm>
          <a:off x="457200" y="1600200"/>
          <a:ext cx="11274552" cy="114757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Eigenschaften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Studierende:r (Tarek)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unterwegs, viel auf Reisen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Laptop, Firmenhandy, Nutzung asynchron und rund um die Uhr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Studierende:r (Moritz)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 Hause (WG)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Smartphone, Laptop zu Hause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Erstprüfer:in, Prüfungsausschuss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</a:t>
                      </a:r>
                      <a:r>
                        <a:rPr lang="en-US" sz="1150" dirty="0" err="1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Homeoffice</a:t>
                      </a:r>
                      <a:r>
                        <a:rPr lang="en-US" sz="115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latin typeface="Calibri" charset="0"/>
                          <a:ea typeface="Calibri" charset="0"/>
                          <a:cs typeface="Calibri" charset="0"/>
                        </a:rPr>
                        <a:t>Laptop, Handy, Desktop</a:t>
                      </a: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6B737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Attributes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772960"/>
              </p:ext>
            </p:extLst>
          </p:nvPr>
        </p:nvGraphicFramePr>
        <p:xfrm>
          <a:off x="457200" y="1234440"/>
          <a:ext cx="11274552" cy="39730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Anforderung aus den Unterlagen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Prüfbarkeit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Benutzbarkeit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Schritt-für-Schritt-Führung mit Pflichtfeldprüfung, keine neue Registrierung, kurze Einführung statt wochenlanger Schulung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Testperson stellt den Antrag ohne Hilfe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Plattformunabhängigkeit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 genauso komfortabel wie am Desktop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am Desktop-Browser und am Smartphone mit gleichem Funktionsumfang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Verfügbarkeit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Funktioniert asynchron, rund um die Uhr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Prüfung der Erreichbarkeit außerhalb der Bürozeiten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Zuverlässigkeit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Läuft zuverlässig und bildet die Prüfschritte 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Antrag</a:t>
                      </a: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durchläuft alle Prüfschritte fehlerfrei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jederzeit sichtbar, Fristen und Verlängerungsoptionen transparent, Benachrichtigung bei Statuswechsel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und Frist sind sichtbar, die Benachrichtigung kommt bei jedem Statuswechsel 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Datenschutz, Sicherheit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Personenbezogene Daten geschützt, THM-Login mit Rollen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Rollen- und Rechtetest, Abstimmung zum Datenschutz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Pflegbarkeit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Regeln und Fristen vom Dekanat selbst pflegbar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Dekanat ändert Regel oder Frist ohne Entwickler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Nachvollziehbarkeit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Rechtssichere Ablage ohne Papierstapel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Prüfung: Entscheidung und Antrag sind in der Akte auffindbar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1346</Words>
  <Application>Microsoft Office PowerPoint</Application>
  <PresentationFormat>Breitbild</PresentationFormat>
  <Paragraphs>288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D2D Verlängerungsantrag stellen</dc:title>
  <dc:subject>PptxGenJS Presentation</dc:subject>
  <dc:creator>PptxGenJS</dc:creator>
  <cp:lastModifiedBy>Luca kohlstetter</cp:lastModifiedBy>
  <cp:revision>6</cp:revision>
  <dcterms:created xsi:type="dcterms:W3CDTF">2026-10-01T11:22:53Z</dcterms:created>
  <dcterms:modified xsi:type="dcterms:W3CDTF">2026-10-01T11:35:17Z</dcterms:modified>
</cp:coreProperties>
</file>