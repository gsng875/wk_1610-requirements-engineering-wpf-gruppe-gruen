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4" r:id="rId5"/>
    <p:sldId id="266"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9276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Betrachtet wird genau eine User Story: US 4.1.1 aus dem Story Mapping (Activity 4 Ausgabe der Arbeit, User Task 4.1 Thema bestätigen und freigeben). Formulierung wörtlich aus dem Repository. Roter Faden: Thema aufrufen, prüfen, bestätigen, freigeben.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A stammt aus der Aufgabe Personas (Aufgabe 2). Persona B ist aus dem Ist-Prozess im Zulassungsantrag abgeleitet (1. Prüfer(in) füllt den unteren Formularteil aus und sendet an das Dekanat); Name und Systemerfahrung sind fiktiv und zu validieren. Bezüge: US 1.1.1 (Thema abstimmen), US 3.2.3 (Entscheidung mitgeteilt bekommen), US 4.3.2 (über Ausgabe informiert werden).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Dimension erstellt das Projektteam selbst. Hier bewusst kein UI, kein Mockup, keine Schaltflächen.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UML-Klassendiagramm zu US 4.1.1 mit Schlüsselkennzeichnung. PK = Primärschlüssel, FK = Fremdschlüssel. Antrag verweist per FK auf Studierende:r (matrikelnummer) und Erstprüfer:in (thmKennung). Thema und Themenfreigabe verwenden die antragsnummer zugleich als PK und FK, weil es je Antrag genau ein Thema und höchstens eine Themenfreigabe gibt. Änderungswunsch hat eine eigene nummer als PK und die antragsnummer als FK. Themenfreigabe verweist zusätzlich per FK auf die erteilende Erstprüfer:in. antragsnummer, nummer und thmKennung sind Annahmen; PK/FK ist Datenbank-Notation und in UML als Eigenschaftsangabe in geschweiften Klammern dargestellt.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Sechs Regeln, je eine Aussage, formuliert nach der Satzschablone der Vorlesung (Kap. 5). C1 bis C5 sind durch Repository-Artefakte belegt. C6 ist eine logische Ableitung aus der Reihenfolge der User Tasks 4.1 und 4.2 und noch zu validieren. Zu klären: Das Aktivitätsdiagramm des Teams zeigt die Freigabe der Prüfenden vor der Prüfung durch das Dekanat, das Story Mapping erst nach der Entscheidung des Prüfungsausschusses. C2 folgt dem Story Mapping und dem Zulassungsantrag.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Systemkontext in der Soll-Perspektive nach Kap. 2 der Vorlesung: Personen, Systeme im Betrieb, Prozesse, Ereignisse, Dokumente; ergänzt um die technische Umgebung aus dem Projektbriefing (webbasiert, Desktop und Smartphone). THM-Login und E-Mail-Dienst stehen im Kontextdiagramm des Teams (Aufgabe 3); das Aktivitätsdiagramm nennt die Anmeldung mit THM-Konto. Weitere Systeme werden nicht angenommen.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Qualitätsattribute aus den Kategorien der Vorlesung (Sicherheit, Zuverlässigkeit, Benutzbarkeit, Effizienz). Bezug zum Projektbriefing: komfortabel nutzbar auf Desktop und Smartphone; Prozess für alle Beteiligten effizienter abwickeln. Es werden keine Grenzwerte erfunden.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5143500"/>
          </a:xfrm>
          <a:prstGeom prst="rect">
            <a:avLst/>
          </a:prstGeom>
          <a:solidFill>
            <a:srgbClr val="2C5F2D"/>
          </a:solidFill>
          <a:ln w="9525">
            <a:solidFill>
              <a:srgbClr val="2C5F2D"/>
            </a:solidFill>
            <a:prstDash val="solid"/>
          </a:ln>
        </p:spPr>
      </p:sp>
      <p:sp>
        <p:nvSpPr>
          <p:cNvPr id="3" name="Text 1"/>
          <p:cNvSpPr txBox="1"/>
          <p:nvPr/>
        </p:nvSpPr>
        <p:spPr>
          <a:xfrm>
            <a:off x="411480" y="384048"/>
            <a:ext cx="2743200" cy="228600"/>
          </a:xfrm>
          <a:prstGeom prst="rect">
            <a:avLst/>
          </a:prstGeom>
          <a:noFill/>
          <a:ln/>
        </p:spPr>
        <p:txBody>
          <a:bodyPr wrap="square" lIns="0" tIns="0" rIns="0" bIns="0" rtlCol="0" anchor="t"/>
          <a:lstStyle/>
          <a:p>
            <a:pPr marL="0" indent="0">
              <a:buNone/>
            </a:pPr>
            <a:r>
              <a:rPr lang="en-US" sz="800" b="1" kern="0" spc="150" dirty="0">
                <a:solidFill>
                  <a:srgbClr val="97BC62"/>
                </a:solidFill>
                <a:latin typeface="Calibri" pitchFamily="34" charset="0"/>
                <a:ea typeface="Calibri" pitchFamily="34" charset="-122"/>
                <a:cs typeface="Calibri" pitchFamily="34" charset="-120"/>
              </a:rPr>
              <a:t>7 DIMENSIONS  ·  DISCOVER TO DELIVER</a:t>
            </a:r>
            <a:endParaRPr lang="en-US" sz="800" dirty="0"/>
          </a:p>
        </p:txBody>
      </p:sp>
      <p:sp>
        <p:nvSpPr>
          <p:cNvPr id="4" name="Text 2"/>
          <p:cNvSpPr txBox="1"/>
          <p:nvPr/>
        </p:nvSpPr>
        <p:spPr>
          <a:xfrm>
            <a:off x="411480" y="713232"/>
            <a:ext cx="274320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User Story 4.1.1</a:t>
            </a:r>
            <a:endParaRPr lang="en-US" sz="2600" dirty="0"/>
          </a:p>
        </p:txBody>
      </p:sp>
      <p:sp>
        <p:nvSpPr>
          <p:cNvPr id="5" name="Text 3"/>
          <p:cNvSpPr txBox="1"/>
          <p:nvPr/>
        </p:nvSpPr>
        <p:spPr>
          <a:xfrm>
            <a:off x="411480" y="1207008"/>
            <a:ext cx="2743200" cy="640080"/>
          </a:xfrm>
          <a:prstGeom prst="rect">
            <a:avLst/>
          </a:prstGeom>
          <a:noFill/>
          <a:ln/>
        </p:spPr>
        <p:txBody>
          <a:bodyPr wrap="square" lIns="0" tIns="0" rIns="0" bIns="0" rtlCol="0" anchor="t"/>
          <a:lstStyle/>
          <a:p>
            <a:pPr marL="0" indent="0">
              <a:buNone/>
            </a:pPr>
            <a:r>
              <a:rPr lang="en-US" sz="1700" i="1" dirty="0">
                <a:solidFill>
                  <a:srgbClr val="97BC62"/>
                </a:solidFill>
                <a:latin typeface="Cambria" pitchFamily="34" charset="0"/>
                <a:ea typeface="Cambria" pitchFamily="34" charset="-122"/>
                <a:cs typeface="Cambria" pitchFamily="34" charset="-120"/>
              </a:rPr>
              <a:t>Thema bestätigen und freigeben</a:t>
            </a:r>
            <a:endParaRPr lang="en-US" sz="1700" dirty="0"/>
          </a:p>
        </p:txBody>
      </p:sp>
      <p:sp>
        <p:nvSpPr>
          <p:cNvPr id="6" name="Text 4"/>
          <p:cNvSpPr txBox="1"/>
          <p:nvPr/>
        </p:nvSpPr>
        <p:spPr>
          <a:xfrm>
            <a:off x="411480" y="2331720"/>
            <a:ext cx="2743200" cy="201168"/>
          </a:xfrm>
          <a:prstGeom prst="rect">
            <a:avLst/>
          </a:prstGeom>
          <a:noFill/>
          <a:ln/>
        </p:spPr>
        <p:txBody>
          <a:bodyPr wrap="square" lIns="0" tIns="0" rIns="0" bIns="0" rtlCol="0" anchor="t"/>
          <a:lstStyle/>
          <a:p>
            <a:pPr marL="0" indent="0">
              <a:buNone/>
            </a:pPr>
            <a:r>
              <a:rPr lang="en-US" sz="800" b="1" kern="0" spc="150" dirty="0">
                <a:solidFill>
                  <a:srgbClr val="97BC62"/>
                </a:solidFill>
                <a:latin typeface="Calibri" pitchFamily="34" charset="0"/>
                <a:ea typeface="Calibri" pitchFamily="34" charset="-122"/>
                <a:cs typeface="Calibri" pitchFamily="34" charset="-120"/>
              </a:rPr>
              <a:t>EINORDNUNG IM STORY MAPPING</a:t>
            </a:r>
            <a:endParaRPr lang="en-US" sz="800" dirty="0"/>
          </a:p>
        </p:txBody>
      </p:sp>
      <p:sp>
        <p:nvSpPr>
          <p:cNvPr id="7" name="Text 5"/>
          <p:cNvSpPr txBox="1"/>
          <p:nvPr/>
        </p:nvSpPr>
        <p:spPr>
          <a:xfrm>
            <a:off x="411480" y="2578608"/>
            <a:ext cx="2743200" cy="777240"/>
          </a:xfrm>
          <a:prstGeom prst="rect">
            <a:avLst/>
          </a:prstGeom>
          <a:noFill/>
          <a:ln/>
        </p:spPr>
        <p:txBody>
          <a:bodyPr wrap="square" lIns="0" tIns="0" rIns="0" bIns="0" rtlCol="0" anchor="t"/>
          <a:lstStyle/>
          <a:p>
            <a:pPr marL="0" indent="0">
              <a:spcAft>
                <a:spcPts val="400"/>
              </a:spcAft>
              <a:buNone/>
            </a:pPr>
            <a:r>
              <a:rPr lang="en-US" sz="1000" b="1" dirty="0">
                <a:solidFill>
                  <a:srgbClr val="D9E6CF"/>
                </a:solidFill>
                <a:latin typeface="Calibri" pitchFamily="34" charset="0"/>
                <a:ea typeface="Calibri" pitchFamily="34" charset="-122"/>
                <a:cs typeface="Calibri" pitchFamily="34" charset="-120"/>
              </a:rPr>
              <a:t>Activity 4: </a:t>
            </a:r>
            <a:r>
              <a:rPr lang="en-US" sz="1000" dirty="0">
                <a:solidFill>
                  <a:srgbClr val="FFFFFF"/>
                </a:solidFill>
                <a:latin typeface="Calibri" pitchFamily="34" charset="0"/>
                <a:ea typeface="Calibri" pitchFamily="34" charset="-122"/>
                <a:cs typeface="Calibri" pitchFamily="34" charset="-120"/>
              </a:rPr>
              <a:t>Ausgabe der Arbeit</a:t>
            </a:r>
            <a:endParaRPr lang="en-US" sz="1000" dirty="0"/>
          </a:p>
          <a:p>
            <a:pPr marL="0" indent="0">
              <a:spcAft>
                <a:spcPts val="400"/>
              </a:spcAft>
              <a:buNone/>
            </a:pPr>
            <a:r>
              <a:rPr lang="en-US" sz="1000" b="1" dirty="0">
                <a:solidFill>
                  <a:srgbClr val="D9E6CF"/>
                </a:solidFill>
                <a:latin typeface="Calibri" pitchFamily="34" charset="0"/>
                <a:ea typeface="Calibri" pitchFamily="34" charset="-122"/>
                <a:cs typeface="Calibri" pitchFamily="34" charset="-120"/>
              </a:rPr>
              <a:t>User Task 4.1: </a:t>
            </a:r>
            <a:r>
              <a:rPr lang="en-US" sz="1000" dirty="0">
                <a:solidFill>
                  <a:srgbClr val="FFFFFF"/>
                </a:solidFill>
                <a:latin typeface="Calibri" pitchFamily="34" charset="0"/>
                <a:ea typeface="Calibri" pitchFamily="34" charset="-122"/>
                <a:cs typeface="Calibri" pitchFamily="34" charset="-120"/>
              </a:rPr>
              <a:t>Thema bestätigen und freigeben</a:t>
            </a:r>
            <a:endParaRPr lang="en-US" sz="1000" dirty="0"/>
          </a:p>
          <a:p>
            <a:pPr marL="0" indent="0">
              <a:spcAft>
                <a:spcPts val="400"/>
              </a:spcAft>
              <a:buNone/>
            </a:pPr>
            <a:r>
              <a:rPr lang="en-US" sz="1000" b="1" dirty="0">
                <a:solidFill>
                  <a:srgbClr val="D9E6CF"/>
                </a:solidFill>
                <a:latin typeface="Calibri" pitchFamily="34" charset="0"/>
                <a:ea typeface="Calibri" pitchFamily="34" charset="-122"/>
                <a:cs typeface="Calibri" pitchFamily="34" charset="-120"/>
              </a:rPr>
              <a:t>Rolle: </a:t>
            </a:r>
            <a:r>
              <a:rPr lang="en-US" sz="1000" dirty="0">
                <a:solidFill>
                  <a:srgbClr val="FFFFFF"/>
                </a:solidFill>
                <a:latin typeface="Calibri" pitchFamily="34" charset="0"/>
                <a:ea typeface="Calibri" pitchFamily="34" charset="-122"/>
                <a:cs typeface="Calibri" pitchFamily="34" charset="-120"/>
              </a:rPr>
              <a:t>Erstprüfer:in</a:t>
            </a:r>
            <a:endParaRPr lang="en-US" sz="1000" dirty="0"/>
          </a:p>
        </p:txBody>
      </p:sp>
      <p:sp>
        <p:nvSpPr>
          <p:cNvPr id="8" name="Text 6"/>
          <p:cNvSpPr txBox="1"/>
          <p:nvPr/>
        </p:nvSpPr>
        <p:spPr>
          <a:xfrm>
            <a:off x="411480" y="4434840"/>
            <a:ext cx="2743200" cy="411480"/>
          </a:xfrm>
          <a:prstGeom prst="rect">
            <a:avLst/>
          </a:prstGeom>
          <a:noFill/>
          <a:ln/>
        </p:spPr>
        <p:txBody>
          <a:bodyPr wrap="square" lIns="0" tIns="0" rIns="0" bIns="0" rtlCol="0" anchor="b"/>
          <a:lstStyle/>
          <a:p>
            <a:pPr marL="0" indent="0">
              <a:buNone/>
            </a:pPr>
            <a:r>
              <a:rPr lang="en-US" sz="800" dirty="0">
                <a:solidFill>
                  <a:srgbClr val="D9E6CF"/>
                </a:solidFill>
                <a:latin typeface="Calibri" pitchFamily="34" charset="0"/>
                <a:ea typeface="Calibri" pitchFamily="34" charset="-122"/>
                <a:cs typeface="Calibri" pitchFamily="34" charset="-120"/>
              </a:rPr>
              <a:t>ThesisFlow  ·  Abschlussarbeiten-Portal FB MND</a:t>
            </a:r>
            <a:endParaRPr lang="en-US" sz="800" dirty="0"/>
          </a:p>
          <a:p>
            <a:pPr marL="0" indent="0">
              <a:buNone/>
            </a:pPr>
            <a:r>
              <a:rPr lang="en-US" sz="800" dirty="0">
                <a:solidFill>
                  <a:srgbClr val="D9E6CF"/>
                </a:solidFill>
                <a:latin typeface="Calibri" pitchFamily="34" charset="0"/>
                <a:ea typeface="Calibri" pitchFamily="34" charset="-122"/>
                <a:cs typeface="Calibri" pitchFamily="34" charset="-120"/>
              </a:rPr>
              <a:t>Requirements Engineering, Gruppe Grün</a:t>
            </a:r>
            <a:endParaRPr lang="en-US" sz="800" dirty="0"/>
          </a:p>
        </p:txBody>
      </p:sp>
      <p:sp>
        <p:nvSpPr>
          <p:cNvPr id="9" name="Text 7"/>
          <p:cNvSpPr txBox="1"/>
          <p:nvPr/>
        </p:nvSpPr>
        <p:spPr>
          <a:xfrm>
            <a:off x="3657600" y="384048"/>
            <a:ext cx="5029200" cy="41148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Betrachtete User Story</a:t>
            </a:r>
            <a:endParaRPr lang="en-US" sz="2200" dirty="0"/>
          </a:p>
        </p:txBody>
      </p:sp>
      <p:sp>
        <p:nvSpPr>
          <p:cNvPr id="10" name="Shape 8"/>
          <p:cNvSpPr/>
          <p:nvPr/>
        </p:nvSpPr>
        <p:spPr>
          <a:xfrm>
            <a:off x="3657600" y="914400"/>
            <a:ext cx="5074920" cy="1143000"/>
          </a:xfrm>
          <a:prstGeom prst="roundRect">
            <a:avLst>
              <a:gd name="adj" fmla="val 6400"/>
            </a:avLst>
          </a:prstGeom>
          <a:solidFill>
            <a:srgbClr val="EEF4E8"/>
          </a:solidFill>
          <a:ln w="12700">
            <a:solidFill>
              <a:srgbClr val="EEF4E8"/>
            </a:solidFill>
            <a:prstDash val="solid"/>
          </a:ln>
        </p:spPr>
      </p:sp>
      <p:sp>
        <p:nvSpPr>
          <p:cNvPr id="11" name="Text 9"/>
          <p:cNvSpPr txBox="1"/>
          <p:nvPr/>
        </p:nvSpPr>
        <p:spPr>
          <a:xfrm>
            <a:off x="3840480" y="914400"/>
            <a:ext cx="4709160" cy="1143000"/>
          </a:xfrm>
          <a:prstGeom prst="rect">
            <a:avLst/>
          </a:prstGeom>
          <a:noFill/>
          <a:ln/>
        </p:spPr>
        <p:txBody>
          <a:bodyPr wrap="square" lIns="0" tIns="0" rIns="0" bIns="0" rtlCol="0" anchor="ctr"/>
          <a:lstStyle/>
          <a:p>
            <a:pPr marL="0" indent="0">
              <a:buNone/>
            </a:pPr>
            <a:r>
              <a:rPr lang="en-US" sz="1400" i="1" dirty="0">
                <a:solidFill>
                  <a:srgbClr val="2C5F2D"/>
                </a:solidFill>
                <a:latin typeface="Cambria" pitchFamily="34" charset="0"/>
                <a:ea typeface="Cambria" pitchFamily="34" charset="-122"/>
                <a:cs typeface="Cambria" pitchFamily="34" charset="-120"/>
              </a:rPr>
              <a:t>„Als Erstprüfer:in möchte ich das Thema der Abschlussarbeit bestätigen, damit die Arbeit mit dem abgestimmten Thema offiziell freigegeben wird.“</a:t>
            </a:r>
            <a:endParaRPr lang="en-US" sz="1400" dirty="0"/>
          </a:p>
        </p:txBody>
      </p:sp>
      <p:sp>
        <p:nvSpPr>
          <p:cNvPr id="12" name="Text 10"/>
          <p:cNvSpPr txBox="1"/>
          <p:nvPr/>
        </p:nvSpPr>
        <p:spPr>
          <a:xfrm>
            <a:off x="3657600" y="2103120"/>
            <a:ext cx="5074920" cy="182880"/>
          </a:xfrm>
          <a:prstGeom prst="rect">
            <a:avLst/>
          </a:prstGeom>
          <a:noFill/>
          <a:ln/>
        </p:spPr>
        <p:txBody>
          <a:bodyPr wrap="square" lIns="0" tIns="0" rIns="0" bIns="0" rtlCol="0" anchor="t"/>
          <a:lstStyle/>
          <a:p>
            <a:pPr marL="0" indent="0">
              <a:buNone/>
            </a:pPr>
            <a:r>
              <a:rPr lang="en-US" sz="750" i="1" dirty="0">
                <a:solidFill>
                  <a:srgbClr val="8A968A"/>
                </a:solidFill>
                <a:latin typeface="Calibri" pitchFamily="34" charset="0"/>
                <a:ea typeface="Calibri" pitchFamily="34" charset="-122"/>
                <a:cs typeface="Calibri" pitchFamily="34" charset="-120"/>
              </a:rPr>
              <a:t>Quelle: Story Mapping/4-Ausgabe-der-Arbeit.md</a:t>
            </a:r>
            <a:endParaRPr lang="en-US" sz="750" dirty="0"/>
          </a:p>
        </p:txBody>
      </p:sp>
      <p:sp>
        <p:nvSpPr>
          <p:cNvPr id="13" name="Text 11"/>
          <p:cNvSpPr txBox="1"/>
          <p:nvPr/>
        </p:nvSpPr>
        <p:spPr>
          <a:xfrm>
            <a:off x="3657600" y="2514600"/>
            <a:ext cx="5029200" cy="274320"/>
          </a:xfrm>
          <a:prstGeom prst="rect">
            <a:avLst/>
          </a:prstGeom>
          <a:noFill/>
          <a:ln/>
        </p:spPr>
        <p:txBody>
          <a:bodyPr wrap="square" lIns="0" tIns="0" rIns="0" bIns="0"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Roter Faden der Präsentation</a:t>
            </a:r>
            <a:endParaRPr lang="en-US" sz="1100" dirty="0"/>
          </a:p>
        </p:txBody>
      </p:sp>
      <p:sp>
        <p:nvSpPr>
          <p:cNvPr id="14" name="Shape 12"/>
          <p:cNvSpPr/>
          <p:nvPr/>
        </p:nvSpPr>
        <p:spPr>
          <a:xfrm>
            <a:off x="3657600" y="2852928"/>
            <a:ext cx="1188720" cy="457200"/>
          </a:xfrm>
          <a:prstGeom prst="roundRect">
            <a:avLst>
              <a:gd name="adj" fmla="val 16000"/>
            </a:avLst>
          </a:prstGeom>
          <a:solidFill>
            <a:srgbClr val="2C5F2D"/>
          </a:solidFill>
          <a:ln w="12700">
            <a:solidFill>
              <a:srgbClr val="2C5F2D"/>
            </a:solidFill>
            <a:prstDash val="solid"/>
          </a:ln>
        </p:spPr>
      </p:sp>
      <p:sp>
        <p:nvSpPr>
          <p:cNvPr id="15" name="Text 13"/>
          <p:cNvSpPr txBox="1"/>
          <p:nvPr/>
        </p:nvSpPr>
        <p:spPr>
          <a:xfrm>
            <a:off x="3657600"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aufrufen</a:t>
            </a:r>
            <a:endParaRPr lang="en-US" sz="950" dirty="0"/>
          </a:p>
        </p:txBody>
      </p:sp>
      <p:sp>
        <p:nvSpPr>
          <p:cNvPr id="16" name="Shape 14"/>
          <p:cNvSpPr/>
          <p:nvPr/>
        </p:nvSpPr>
        <p:spPr>
          <a:xfrm>
            <a:off x="4846320" y="3081528"/>
            <a:ext cx="105156" cy="914"/>
          </a:xfrm>
          <a:prstGeom prst="line">
            <a:avLst/>
          </a:prstGeom>
          <a:noFill/>
          <a:ln w="19050">
            <a:solidFill>
              <a:srgbClr val="2C5F2D"/>
            </a:solidFill>
            <a:prstDash val="solid"/>
            <a:tailEnd type="triangle"/>
          </a:ln>
        </p:spPr>
      </p:sp>
      <p:sp>
        <p:nvSpPr>
          <p:cNvPr id="17" name="Shape 15"/>
          <p:cNvSpPr/>
          <p:nvPr/>
        </p:nvSpPr>
        <p:spPr>
          <a:xfrm>
            <a:off x="4951476" y="2852928"/>
            <a:ext cx="1188720" cy="457200"/>
          </a:xfrm>
          <a:prstGeom prst="roundRect">
            <a:avLst>
              <a:gd name="adj" fmla="val 16000"/>
            </a:avLst>
          </a:prstGeom>
          <a:solidFill>
            <a:srgbClr val="2C5F2D"/>
          </a:solidFill>
          <a:ln w="12700">
            <a:solidFill>
              <a:srgbClr val="2C5F2D"/>
            </a:solidFill>
            <a:prstDash val="solid"/>
          </a:ln>
        </p:spPr>
      </p:sp>
      <p:sp>
        <p:nvSpPr>
          <p:cNvPr id="18" name="Text 16"/>
          <p:cNvSpPr txBox="1"/>
          <p:nvPr/>
        </p:nvSpPr>
        <p:spPr>
          <a:xfrm>
            <a:off x="4951476"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prüfen</a:t>
            </a:r>
            <a:endParaRPr lang="en-US" sz="950" dirty="0"/>
          </a:p>
        </p:txBody>
      </p:sp>
      <p:sp>
        <p:nvSpPr>
          <p:cNvPr id="19" name="Shape 17"/>
          <p:cNvSpPr/>
          <p:nvPr/>
        </p:nvSpPr>
        <p:spPr>
          <a:xfrm>
            <a:off x="6140196" y="3081528"/>
            <a:ext cx="105156" cy="914"/>
          </a:xfrm>
          <a:prstGeom prst="line">
            <a:avLst/>
          </a:prstGeom>
          <a:noFill/>
          <a:ln w="19050">
            <a:solidFill>
              <a:srgbClr val="2C5F2D"/>
            </a:solidFill>
            <a:prstDash val="solid"/>
            <a:tailEnd type="triangle"/>
          </a:ln>
        </p:spPr>
      </p:sp>
      <p:sp>
        <p:nvSpPr>
          <p:cNvPr id="20" name="Shape 18"/>
          <p:cNvSpPr/>
          <p:nvPr/>
        </p:nvSpPr>
        <p:spPr>
          <a:xfrm>
            <a:off x="6245352" y="2852928"/>
            <a:ext cx="1188720" cy="457200"/>
          </a:xfrm>
          <a:prstGeom prst="roundRect">
            <a:avLst>
              <a:gd name="adj" fmla="val 16000"/>
            </a:avLst>
          </a:prstGeom>
          <a:solidFill>
            <a:srgbClr val="2C5F2D"/>
          </a:solidFill>
          <a:ln w="12700">
            <a:solidFill>
              <a:srgbClr val="2C5F2D"/>
            </a:solidFill>
            <a:prstDash val="solid"/>
          </a:ln>
        </p:spPr>
      </p:sp>
      <p:sp>
        <p:nvSpPr>
          <p:cNvPr id="21" name="Text 19"/>
          <p:cNvSpPr txBox="1"/>
          <p:nvPr/>
        </p:nvSpPr>
        <p:spPr>
          <a:xfrm>
            <a:off x="6245352"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bestätigen</a:t>
            </a:r>
            <a:endParaRPr lang="en-US" sz="950" dirty="0"/>
          </a:p>
        </p:txBody>
      </p:sp>
      <p:sp>
        <p:nvSpPr>
          <p:cNvPr id="22" name="Shape 20"/>
          <p:cNvSpPr/>
          <p:nvPr/>
        </p:nvSpPr>
        <p:spPr>
          <a:xfrm>
            <a:off x="7434072" y="3081528"/>
            <a:ext cx="105156" cy="914"/>
          </a:xfrm>
          <a:prstGeom prst="line">
            <a:avLst/>
          </a:prstGeom>
          <a:noFill/>
          <a:ln w="19050">
            <a:solidFill>
              <a:srgbClr val="2C5F2D"/>
            </a:solidFill>
            <a:prstDash val="solid"/>
            <a:tailEnd type="triangle"/>
          </a:ln>
        </p:spPr>
      </p:sp>
      <p:sp>
        <p:nvSpPr>
          <p:cNvPr id="23" name="Shape 21"/>
          <p:cNvSpPr/>
          <p:nvPr/>
        </p:nvSpPr>
        <p:spPr>
          <a:xfrm>
            <a:off x="7539228" y="2852928"/>
            <a:ext cx="1188720" cy="457200"/>
          </a:xfrm>
          <a:prstGeom prst="roundRect">
            <a:avLst>
              <a:gd name="adj" fmla="val 16000"/>
            </a:avLst>
          </a:prstGeom>
          <a:solidFill>
            <a:srgbClr val="2C5F2D"/>
          </a:solidFill>
          <a:ln w="12700">
            <a:solidFill>
              <a:srgbClr val="2C5F2D"/>
            </a:solidFill>
            <a:prstDash val="solid"/>
          </a:ln>
        </p:spPr>
      </p:sp>
      <p:sp>
        <p:nvSpPr>
          <p:cNvPr id="24" name="Text 22"/>
          <p:cNvSpPr txBox="1"/>
          <p:nvPr/>
        </p:nvSpPr>
        <p:spPr>
          <a:xfrm>
            <a:off x="7539228"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freigeben</a:t>
            </a:r>
            <a:endParaRPr lang="en-US" sz="950" dirty="0"/>
          </a:p>
        </p:txBody>
      </p:sp>
      <p:sp>
        <p:nvSpPr>
          <p:cNvPr id="25" name="Text 23"/>
          <p:cNvSpPr txBox="1"/>
          <p:nvPr/>
        </p:nvSpPr>
        <p:spPr>
          <a:xfrm>
            <a:off x="3657600" y="3611880"/>
            <a:ext cx="5029200" cy="274320"/>
          </a:xfrm>
          <a:prstGeom prst="rect">
            <a:avLst/>
          </a:prstGeom>
          <a:noFill/>
          <a:ln/>
        </p:spPr>
        <p:txBody>
          <a:bodyPr wrap="square" lIns="0" tIns="0" rIns="0" bIns="0"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Die sieben Dimensionen</a:t>
            </a:r>
            <a:endParaRPr lang="en-US" sz="1100" dirty="0"/>
          </a:p>
        </p:txBody>
      </p:sp>
      <p:sp>
        <p:nvSpPr>
          <p:cNvPr id="26" name="Shape 24"/>
          <p:cNvSpPr/>
          <p:nvPr/>
        </p:nvSpPr>
        <p:spPr>
          <a:xfrm>
            <a:off x="3657600" y="3950208"/>
            <a:ext cx="530352" cy="329184"/>
          </a:xfrm>
          <a:prstGeom prst="roundRect">
            <a:avLst>
              <a:gd name="adj" fmla="val 13889"/>
            </a:avLst>
          </a:prstGeom>
          <a:solidFill>
            <a:srgbClr val="EEF4E8"/>
          </a:solidFill>
          <a:ln w="12700">
            <a:solidFill>
              <a:srgbClr val="97BC62"/>
            </a:solidFill>
            <a:prstDash val="solid"/>
          </a:ln>
        </p:spPr>
      </p:sp>
      <p:sp>
        <p:nvSpPr>
          <p:cNvPr id="27" name="Text 25"/>
          <p:cNvSpPr txBox="1"/>
          <p:nvPr/>
        </p:nvSpPr>
        <p:spPr>
          <a:xfrm>
            <a:off x="3657600" y="3950208"/>
            <a:ext cx="530352"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1 </a:t>
            </a:r>
            <a:r>
              <a:rPr lang="en-US" sz="800" dirty="0">
                <a:solidFill>
                  <a:srgbClr val="1F2A1F"/>
                </a:solidFill>
                <a:latin typeface="Calibri" pitchFamily="34" charset="0"/>
                <a:ea typeface="Calibri" pitchFamily="34" charset="-122"/>
                <a:cs typeface="Calibri" pitchFamily="34" charset="-120"/>
              </a:rPr>
              <a:t>User</a:t>
            </a:r>
            <a:endParaRPr lang="en-US" sz="800" dirty="0"/>
          </a:p>
        </p:txBody>
      </p:sp>
      <p:sp>
        <p:nvSpPr>
          <p:cNvPr id="28" name="Shape 26"/>
          <p:cNvSpPr/>
          <p:nvPr/>
        </p:nvSpPr>
        <p:spPr>
          <a:xfrm>
            <a:off x="4233672" y="3950208"/>
            <a:ext cx="694944" cy="329184"/>
          </a:xfrm>
          <a:prstGeom prst="roundRect">
            <a:avLst>
              <a:gd name="adj" fmla="val 13889"/>
            </a:avLst>
          </a:prstGeom>
          <a:solidFill>
            <a:srgbClr val="EEF4E8"/>
          </a:solidFill>
          <a:ln w="12700">
            <a:solidFill>
              <a:srgbClr val="97BC62"/>
            </a:solidFill>
            <a:prstDash val="solid"/>
          </a:ln>
        </p:spPr>
      </p:sp>
      <p:sp>
        <p:nvSpPr>
          <p:cNvPr id="29" name="Text 27"/>
          <p:cNvSpPr txBox="1"/>
          <p:nvPr/>
        </p:nvSpPr>
        <p:spPr>
          <a:xfrm>
            <a:off x="4233672" y="3950208"/>
            <a:ext cx="694944"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2 </a:t>
            </a:r>
            <a:r>
              <a:rPr lang="en-US" sz="800" dirty="0">
                <a:solidFill>
                  <a:srgbClr val="1F2A1F"/>
                </a:solidFill>
                <a:latin typeface="Calibri" pitchFamily="34" charset="0"/>
                <a:ea typeface="Calibri" pitchFamily="34" charset="-122"/>
                <a:cs typeface="Calibri" pitchFamily="34" charset="-120"/>
              </a:rPr>
              <a:t>Interface</a:t>
            </a:r>
            <a:endParaRPr lang="en-US" sz="800" dirty="0"/>
          </a:p>
        </p:txBody>
      </p:sp>
      <p:sp>
        <p:nvSpPr>
          <p:cNvPr id="30" name="Shape 28"/>
          <p:cNvSpPr/>
          <p:nvPr/>
        </p:nvSpPr>
        <p:spPr>
          <a:xfrm>
            <a:off x="4974336" y="3950208"/>
            <a:ext cx="585216" cy="329184"/>
          </a:xfrm>
          <a:prstGeom prst="roundRect">
            <a:avLst>
              <a:gd name="adj" fmla="val 13889"/>
            </a:avLst>
          </a:prstGeom>
          <a:solidFill>
            <a:srgbClr val="EEF4E8"/>
          </a:solidFill>
          <a:ln w="12700">
            <a:solidFill>
              <a:srgbClr val="97BC62"/>
            </a:solidFill>
            <a:prstDash val="solid"/>
          </a:ln>
        </p:spPr>
      </p:sp>
      <p:sp>
        <p:nvSpPr>
          <p:cNvPr id="31" name="Text 29"/>
          <p:cNvSpPr txBox="1"/>
          <p:nvPr/>
        </p:nvSpPr>
        <p:spPr>
          <a:xfrm>
            <a:off x="4974336" y="3950208"/>
            <a:ext cx="585216"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3 </a:t>
            </a:r>
            <a:r>
              <a:rPr lang="en-US" sz="800" dirty="0">
                <a:solidFill>
                  <a:srgbClr val="1F2A1F"/>
                </a:solidFill>
                <a:latin typeface="Calibri" pitchFamily="34" charset="0"/>
                <a:ea typeface="Calibri" pitchFamily="34" charset="-122"/>
                <a:cs typeface="Calibri" pitchFamily="34" charset="-120"/>
              </a:rPr>
              <a:t>Action</a:t>
            </a:r>
            <a:endParaRPr lang="en-US" sz="800" dirty="0"/>
          </a:p>
        </p:txBody>
      </p:sp>
      <p:sp>
        <p:nvSpPr>
          <p:cNvPr id="32" name="Shape 30"/>
          <p:cNvSpPr/>
          <p:nvPr/>
        </p:nvSpPr>
        <p:spPr>
          <a:xfrm>
            <a:off x="5605272" y="3950208"/>
            <a:ext cx="512064" cy="329184"/>
          </a:xfrm>
          <a:prstGeom prst="roundRect">
            <a:avLst>
              <a:gd name="adj" fmla="val 13889"/>
            </a:avLst>
          </a:prstGeom>
          <a:solidFill>
            <a:srgbClr val="EEF4E8"/>
          </a:solidFill>
          <a:ln w="12700">
            <a:solidFill>
              <a:srgbClr val="97BC62"/>
            </a:solidFill>
            <a:prstDash val="solid"/>
          </a:ln>
        </p:spPr>
      </p:sp>
      <p:sp>
        <p:nvSpPr>
          <p:cNvPr id="33" name="Text 31"/>
          <p:cNvSpPr txBox="1"/>
          <p:nvPr/>
        </p:nvSpPr>
        <p:spPr>
          <a:xfrm>
            <a:off x="5605272" y="3950208"/>
            <a:ext cx="512064"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4 </a:t>
            </a:r>
            <a:r>
              <a:rPr lang="en-US" sz="800" dirty="0">
                <a:solidFill>
                  <a:srgbClr val="1F2A1F"/>
                </a:solidFill>
                <a:latin typeface="Calibri" pitchFamily="34" charset="0"/>
                <a:ea typeface="Calibri" pitchFamily="34" charset="-122"/>
                <a:cs typeface="Calibri" pitchFamily="34" charset="-120"/>
              </a:rPr>
              <a:t>Data</a:t>
            </a:r>
            <a:endParaRPr lang="en-US" sz="800" dirty="0"/>
          </a:p>
        </p:txBody>
      </p:sp>
      <p:sp>
        <p:nvSpPr>
          <p:cNvPr id="34" name="Shape 32"/>
          <p:cNvSpPr/>
          <p:nvPr/>
        </p:nvSpPr>
        <p:spPr>
          <a:xfrm>
            <a:off x="6163056" y="3950208"/>
            <a:ext cx="621792" cy="329184"/>
          </a:xfrm>
          <a:prstGeom prst="roundRect">
            <a:avLst>
              <a:gd name="adj" fmla="val 13889"/>
            </a:avLst>
          </a:prstGeom>
          <a:solidFill>
            <a:srgbClr val="EEF4E8"/>
          </a:solidFill>
          <a:ln w="12700">
            <a:solidFill>
              <a:srgbClr val="97BC62"/>
            </a:solidFill>
            <a:prstDash val="solid"/>
          </a:ln>
        </p:spPr>
      </p:sp>
      <p:sp>
        <p:nvSpPr>
          <p:cNvPr id="35" name="Text 33"/>
          <p:cNvSpPr txBox="1"/>
          <p:nvPr/>
        </p:nvSpPr>
        <p:spPr>
          <a:xfrm>
            <a:off x="6163056" y="3950208"/>
            <a:ext cx="621792"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5 </a:t>
            </a:r>
            <a:r>
              <a:rPr lang="en-US" sz="800" dirty="0">
                <a:solidFill>
                  <a:srgbClr val="1F2A1F"/>
                </a:solidFill>
                <a:latin typeface="Calibri" pitchFamily="34" charset="0"/>
                <a:ea typeface="Calibri" pitchFamily="34" charset="-122"/>
                <a:cs typeface="Calibri" pitchFamily="34" charset="-120"/>
              </a:rPr>
              <a:t>Control</a:t>
            </a:r>
            <a:endParaRPr lang="en-US" sz="800" dirty="0"/>
          </a:p>
        </p:txBody>
      </p:sp>
      <p:sp>
        <p:nvSpPr>
          <p:cNvPr id="36" name="Shape 34"/>
          <p:cNvSpPr/>
          <p:nvPr/>
        </p:nvSpPr>
        <p:spPr>
          <a:xfrm>
            <a:off x="6830568" y="3950208"/>
            <a:ext cx="859536" cy="329184"/>
          </a:xfrm>
          <a:prstGeom prst="roundRect">
            <a:avLst>
              <a:gd name="adj" fmla="val 13889"/>
            </a:avLst>
          </a:prstGeom>
          <a:solidFill>
            <a:srgbClr val="EEF4E8"/>
          </a:solidFill>
          <a:ln w="12700">
            <a:solidFill>
              <a:srgbClr val="97BC62"/>
            </a:solidFill>
            <a:prstDash val="solid"/>
          </a:ln>
        </p:spPr>
      </p:sp>
      <p:sp>
        <p:nvSpPr>
          <p:cNvPr id="37" name="Text 35"/>
          <p:cNvSpPr txBox="1"/>
          <p:nvPr/>
        </p:nvSpPr>
        <p:spPr>
          <a:xfrm>
            <a:off x="6830568" y="3950208"/>
            <a:ext cx="859536"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6 </a:t>
            </a:r>
            <a:r>
              <a:rPr lang="en-US" sz="800" dirty="0">
                <a:solidFill>
                  <a:srgbClr val="1F2A1F"/>
                </a:solidFill>
                <a:latin typeface="Calibri" pitchFamily="34" charset="0"/>
                <a:ea typeface="Calibri" pitchFamily="34" charset="-122"/>
                <a:cs typeface="Calibri" pitchFamily="34" charset="-120"/>
              </a:rPr>
              <a:t>Environment</a:t>
            </a:r>
            <a:endParaRPr lang="en-US" sz="800" dirty="0"/>
          </a:p>
        </p:txBody>
      </p:sp>
      <p:sp>
        <p:nvSpPr>
          <p:cNvPr id="38" name="Shape 36"/>
          <p:cNvSpPr/>
          <p:nvPr/>
        </p:nvSpPr>
        <p:spPr>
          <a:xfrm>
            <a:off x="7735824" y="3950208"/>
            <a:ext cx="996696" cy="329184"/>
          </a:xfrm>
          <a:prstGeom prst="roundRect">
            <a:avLst>
              <a:gd name="adj" fmla="val 13889"/>
            </a:avLst>
          </a:prstGeom>
          <a:solidFill>
            <a:srgbClr val="EEF4E8"/>
          </a:solidFill>
          <a:ln w="12700">
            <a:solidFill>
              <a:srgbClr val="97BC62"/>
            </a:solidFill>
            <a:prstDash val="solid"/>
          </a:ln>
        </p:spPr>
      </p:sp>
      <p:sp>
        <p:nvSpPr>
          <p:cNvPr id="39" name="Text 37"/>
          <p:cNvSpPr txBox="1"/>
          <p:nvPr/>
        </p:nvSpPr>
        <p:spPr>
          <a:xfrm>
            <a:off x="7735824" y="3950208"/>
            <a:ext cx="996696"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7 </a:t>
            </a:r>
            <a:r>
              <a:rPr lang="en-US" sz="800" dirty="0">
                <a:solidFill>
                  <a:srgbClr val="1F2A1F"/>
                </a:solidFill>
                <a:latin typeface="Calibri" pitchFamily="34" charset="0"/>
                <a:ea typeface="Calibri" pitchFamily="34" charset="-122"/>
                <a:cs typeface="Calibri" pitchFamily="34" charset="-120"/>
              </a:rPr>
              <a:t>Quality Attribute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1. User</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1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3 Stakeholder; Praxisteil, Personas</a:t>
            </a:r>
            <a:endParaRPr lang="en-US" sz="750" dirty="0"/>
          </a:p>
        </p:txBody>
      </p:sp>
      <p:sp>
        <p:nvSpPr>
          <p:cNvPr id="7" name="Shape 5"/>
          <p:cNvSpPr/>
          <p:nvPr/>
        </p:nvSpPr>
        <p:spPr>
          <a:xfrm>
            <a:off x="411480" y="987552"/>
            <a:ext cx="4105656" cy="3721608"/>
          </a:xfrm>
          <a:prstGeom prst="roundRect">
            <a:avLst>
              <a:gd name="adj" fmla="val 1966"/>
            </a:avLst>
          </a:prstGeom>
          <a:solidFill>
            <a:srgbClr val="EEF4E8"/>
          </a:solidFill>
          <a:ln w="12700">
            <a:solidFill>
              <a:srgbClr val="EEF4E8"/>
            </a:solidFill>
            <a:prstDash val="solid"/>
          </a:ln>
        </p:spPr>
      </p:sp>
      <p:sp>
        <p:nvSpPr>
          <p:cNvPr id="8" name="Shape 6"/>
          <p:cNvSpPr/>
          <p:nvPr/>
        </p:nvSpPr>
        <p:spPr>
          <a:xfrm>
            <a:off x="411480" y="987552"/>
            <a:ext cx="4105656" cy="566928"/>
          </a:xfrm>
          <a:prstGeom prst="roundRect">
            <a:avLst>
              <a:gd name="adj" fmla="val 12903"/>
            </a:avLst>
          </a:prstGeom>
          <a:solidFill>
            <a:srgbClr val="2C5F2D"/>
          </a:solidFill>
          <a:ln w="12700">
            <a:solidFill>
              <a:srgbClr val="2C5F2D"/>
            </a:solidFill>
            <a:prstDash val="solid"/>
          </a:ln>
        </p:spPr>
      </p:sp>
      <p:sp>
        <p:nvSpPr>
          <p:cNvPr id="9" name="Shape 7"/>
          <p:cNvSpPr/>
          <p:nvPr/>
        </p:nvSpPr>
        <p:spPr>
          <a:xfrm>
            <a:off x="411480" y="1261872"/>
            <a:ext cx="4105656" cy="292608"/>
          </a:xfrm>
          <a:prstGeom prst="rect">
            <a:avLst/>
          </a:prstGeom>
          <a:solidFill>
            <a:srgbClr val="2C5F2D"/>
          </a:solidFill>
          <a:ln w="9525">
            <a:solidFill>
              <a:srgbClr val="2C5F2D"/>
            </a:solidFill>
            <a:prstDash val="solid"/>
          </a:ln>
        </p:spPr>
      </p:sp>
      <p:sp>
        <p:nvSpPr>
          <p:cNvPr id="10" name="Text 8"/>
          <p:cNvSpPr txBox="1"/>
          <p:nvPr/>
        </p:nvSpPr>
        <p:spPr>
          <a:xfrm>
            <a:off x="548640" y="1024128"/>
            <a:ext cx="3831336"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Prof. Dr. Andreas Becker</a:t>
            </a:r>
            <a:endParaRPr lang="en-US" sz="1400" dirty="0"/>
          </a:p>
        </p:txBody>
      </p:sp>
      <p:sp>
        <p:nvSpPr>
          <p:cNvPr id="11" name="Text 9"/>
          <p:cNvSpPr txBox="1"/>
          <p:nvPr/>
        </p:nvSpPr>
        <p:spPr>
          <a:xfrm>
            <a:off x="548640" y="1298448"/>
            <a:ext cx="3831336" cy="219456"/>
          </a:xfrm>
          <a:prstGeom prst="rect">
            <a:avLst/>
          </a:prstGeom>
          <a:noFill/>
          <a:ln/>
        </p:spPr>
        <p:txBody>
          <a:bodyPr wrap="square" lIns="0" tIns="0" rIns="0" bIns="0" rtlCol="0" anchor="ctr"/>
          <a:lstStyle/>
          <a:p>
            <a:pPr marL="0" indent="0">
              <a:buNone/>
            </a:pPr>
            <a:r>
              <a:rPr lang="en-US" sz="900" dirty="0">
                <a:solidFill>
                  <a:srgbClr val="D9E6CF"/>
                </a:solidFill>
                <a:latin typeface="Calibri" pitchFamily="34" charset="0"/>
                <a:ea typeface="Calibri" pitchFamily="34" charset="-122"/>
                <a:cs typeface="Calibri" pitchFamily="34" charset="-120"/>
              </a:rPr>
              <a:t>Persona B  ·  Erstprüfer:in (THM), handelnde Rolle der Story</a:t>
            </a:r>
            <a:endParaRPr lang="en-US" sz="900" dirty="0"/>
          </a:p>
        </p:txBody>
      </p:sp>
      <p:sp>
        <p:nvSpPr>
          <p:cNvPr id="12" name="Text 10"/>
          <p:cNvSpPr txBox="1"/>
          <p:nvPr/>
        </p:nvSpPr>
        <p:spPr>
          <a:xfrm>
            <a:off x="548640" y="16459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Kontext</a:t>
            </a:r>
            <a:endParaRPr lang="en-US" sz="850" dirty="0"/>
          </a:p>
        </p:txBody>
      </p:sp>
      <p:sp>
        <p:nvSpPr>
          <p:cNvPr id="13" name="Text 11"/>
          <p:cNvSpPr txBox="1"/>
          <p:nvPr/>
        </p:nvSpPr>
        <p:spPr>
          <a:xfrm>
            <a:off x="1527048" y="16459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Hat Thema und Starttermin mit der Studierenden abgestimmt. Der Antrag wurde vom Prüfungsausschuss angenommen.</a:t>
            </a:r>
            <a:endParaRPr lang="en-US" sz="850" dirty="0"/>
          </a:p>
        </p:txBody>
      </p:sp>
      <p:sp>
        <p:nvSpPr>
          <p:cNvPr id="14" name="Shape 12"/>
          <p:cNvSpPr/>
          <p:nvPr/>
        </p:nvSpPr>
        <p:spPr>
          <a:xfrm>
            <a:off x="548640" y="2112264"/>
            <a:ext cx="3831336" cy="914"/>
          </a:xfrm>
          <a:prstGeom prst="line">
            <a:avLst/>
          </a:prstGeom>
          <a:noFill/>
          <a:ln w="9525">
            <a:solidFill>
              <a:srgbClr val="D9E6CF"/>
            </a:solidFill>
            <a:prstDash val="solid"/>
          </a:ln>
        </p:spPr>
      </p:sp>
      <p:sp>
        <p:nvSpPr>
          <p:cNvPr id="15" name="Text 13"/>
          <p:cNvSpPr txBox="1"/>
          <p:nvPr/>
        </p:nvSpPr>
        <p:spPr>
          <a:xfrm>
            <a:off x="548640" y="214884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Ziel</a:t>
            </a:r>
            <a:endParaRPr lang="en-US" sz="850" dirty="0"/>
          </a:p>
        </p:txBody>
      </p:sp>
      <p:sp>
        <p:nvSpPr>
          <p:cNvPr id="16" name="Text 14"/>
          <p:cNvSpPr txBox="1"/>
          <p:nvPr/>
        </p:nvSpPr>
        <p:spPr>
          <a:xfrm>
            <a:off x="1527048" y="214884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Das Thema bestätigen, damit die Arbeit mit dem abgestimmten Thema offiziell freigegeben wird.</a:t>
            </a:r>
            <a:endParaRPr lang="en-US" sz="850" dirty="0"/>
          </a:p>
        </p:txBody>
      </p:sp>
      <p:sp>
        <p:nvSpPr>
          <p:cNvPr id="17" name="Shape 15"/>
          <p:cNvSpPr/>
          <p:nvPr/>
        </p:nvSpPr>
        <p:spPr>
          <a:xfrm>
            <a:off x="548640" y="2615184"/>
            <a:ext cx="3831336" cy="914"/>
          </a:xfrm>
          <a:prstGeom prst="line">
            <a:avLst/>
          </a:prstGeom>
          <a:noFill/>
          <a:ln w="9525">
            <a:solidFill>
              <a:srgbClr val="D9E6CF"/>
            </a:solidFill>
            <a:prstDash val="solid"/>
          </a:ln>
        </p:spPr>
      </p:sp>
      <p:sp>
        <p:nvSpPr>
          <p:cNvPr id="18" name="Text 16"/>
          <p:cNvSpPr txBox="1"/>
          <p:nvPr/>
        </p:nvSpPr>
        <p:spPr>
          <a:xfrm>
            <a:off x="548640" y="265176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Aufgaben</a:t>
            </a:r>
            <a:endParaRPr lang="en-US" sz="850" dirty="0"/>
          </a:p>
        </p:txBody>
      </p:sp>
      <p:sp>
        <p:nvSpPr>
          <p:cNvPr id="19" name="Text 17"/>
          <p:cNvSpPr txBox="1"/>
          <p:nvPr/>
        </p:nvSpPr>
        <p:spPr>
          <a:xfrm>
            <a:off x="1527048" y="265176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Antrag aufrufen, Thema prüfen, Thema bestätigen und freigeben.</a:t>
            </a:r>
            <a:endParaRPr lang="en-US" sz="850" dirty="0"/>
          </a:p>
        </p:txBody>
      </p:sp>
      <p:sp>
        <p:nvSpPr>
          <p:cNvPr id="20" name="Shape 18"/>
          <p:cNvSpPr/>
          <p:nvPr/>
        </p:nvSpPr>
        <p:spPr>
          <a:xfrm>
            <a:off x="548640" y="3118104"/>
            <a:ext cx="3831336" cy="914"/>
          </a:xfrm>
          <a:prstGeom prst="line">
            <a:avLst/>
          </a:prstGeom>
          <a:noFill/>
          <a:ln w="9525">
            <a:solidFill>
              <a:srgbClr val="D9E6CF"/>
            </a:solidFill>
            <a:prstDash val="solid"/>
          </a:ln>
        </p:spPr>
      </p:sp>
      <p:sp>
        <p:nvSpPr>
          <p:cNvPr id="21" name="Text 19"/>
          <p:cNvSpPr txBox="1"/>
          <p:nvPr/>
        </p:nvSpPr>
        <p:spPr>
          <a:xfrm>
            <a:off x="548640" y="315468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Erwartungen</a:t>
            </a:r>
            <a:endParaRPr lang="en-US" sz="850" dirty="0"/>
          </a:p>
        </p:txBody>
      </p:sp>
      <p:sp>
        <p:nvSpPr>
          <p:cNvPr id="22" name="Text 20"/>
          <p:cNvSpPr txBox="1"/>
          <p:nvPr/>
        </p:nvSpPr>
        <p:spPr>
          <a:xfrm>
            <a:off x="1527048" y="315468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Thema eindeutig einem Antrag zugeordnet. Freigabe ohne Papierformular, am Desktop und am Smartphone.</a:t>
            </a:r>
            <a:endParaRPr lang="en-US" sz="850" dirty="0"/>
          </a:p>
        </p:txBody>
      </p:sp>
      <p:sp>
        <p:nvSpPr>
          <p:cNvPr id="23" name="Shape 21"/>
          <p:cNvSpPr/>
          <p:nvPr/>
        </p:nvSpPr>
        <p:spPr>
          <a:xfrm>
            <a:off x="548640" y="3621024"/>
            <a:ext cx="3831336" cy="914"/>
          </a:xfrm>
          <a:prstGeom prst="line">
            <a:avLst/>
          </a:prstGeom>
          <a:noFill/>
          <a:ln w="9525">
            <a:solidFill>
              <a:srgbClr val="D9E6CF"/>
            </a:solidFill>
            <a:prstDash val="solid"/>
          </a:ln>
        </p:spPr>
      </p:sp>
      <p:sp>
        <p:nvSpPr>
          <p:cNvPr id="24" name="Text 22"/>
          <p:cNvSpPr txBox="1"/>
          <p:nvPr/>
        </p:nvSpPr>
        <p:spPr>
          <a:xfrm>
            <a:off x="548640" y="365760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Pain Points</a:t>
            </a:r>
            <a:endParaRPr lang="en-US" sz="850" dirty="0"/>
          </a:p>
        </p:txBody>
      </p:sp>
      <p:sp>
        <p:nvSpPr>
          <p:cNvPr id="25" name="Text 23"/>
          <p:cNvSpPr txBox="1"/>
          <p:nvPr/>
        </p:nvSpPr>
        <p:spPr>
          <a:xfrm>
            <a:off x="1527048" y="365760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Heute: unteren Formularteil ausfüllen, unterschreiben und per E-Mail an das Dekanat senden.</a:t>
            </a:r>
            <a:endParaRPr lang="en-US" sz="850" dirty="0"/>
          </a:p>
        </p:txBody>
      </p:sp>
      <p:sp>
        <p:nvSpPr>
          <p:cNvPr id="26" name="Shape 24"/>
          <p:cNvSpPr/>
          <p:nvPr/>
        </p:nvSpPr>
        <p:spPr>
          <a:xfrm>
            <a:off x="548640" y="4123944"/>
            <a:ext cx="3831336" cy="914"/>
          </a:xfrm>
          <a:prstGeom prst="line">
            <a:avLst/>
          </a:prstGeom>
          <a:noFill/>
          <a:ln w="9525">
            <a:solidFill>
              <a:srgbClr val="D9E6CF"/>
            </a:solidFill>
            <a:prstDash val="solid"/>
          </a:ln>
        </p:spPr>
      </p:sp>
      <p:sp>
        <p:nvSpPr>
          <p:cNvPr id="27" name="Text 25"/>
          <p:cNvSpPr txBox="1"/>
          <p:nvPr/>
        </p:nvSpPr>
        <p:spPr>
          <a:xfrm>
            <a:off x="548640" y="41605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Wissen</a:t>
            </a:r>
            <a:endParaRPr lang="en-US" sz="850" dirty="0"/>
          </a:p>
        </p:txBody>
      </p:sp>
      <p:sp>
        <p:nvSpPr>
          <p:cNvPr id="28" name="Text 26"/>
          <p:cNvSpPr txBox="1"/>
          <p:nvPr/>
        </p:nvSpPr>
        <p:spPr>
          <a:xfrm>
            <a:off x="1527048" y="41605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Kennt Prüfungsordnung und Ablauf. Erfahrung mit dem Portal: noch zu validieren.</a:t>
            </a:r>
            <a:endParaRPr lang="en-US" sz="850" dirty="0"/>
          </a:p>
        </p:txBody>
      </p:sp>
      <p:sp>
        <p:nvSpPr>
          <p:cNvPr id="29" name="Shape 27"/>
          <p:cNvSpPr/>
          <p:nvPr/>
        </p:nvSpPr>
        <p:spPr>
          <a:xfrm>
            <a:off x="4626864" y="987552"/>
            <a:ext cx="4105656" cy="3721608"/>
          </a:xfrm>
          <a:prstGeom prst="roundRect">
            <a:avLst>
              <a:gd name="adj" fmla="val 1966"/>
            </a:avLst>
          </a:prstGeom>
          <a:solidFill>
            <a:srgbClr val="EEF4E8"/>
          </a:solidFill>
          <a:ln w="12700">
            <a:solidFill>
              <a:srgbClr val="EEF4E8"/>
            </a:solidFill>
            <a:prstDash val="solid"/>
          </a:ln>
        </p:spPr>
      </p:sp>
      <p:sp>
        <p:nvSpPr>
          <p:cNvPr id="30" name="Shape 28"/>
          <p:cNvSpPr/>
          <p:nvPr/>
        </p:nvSpPr>
        <p:spPr>
          <a:xfrm>
            <a:off x="4626864" y="987552"/>
            <a:ext cx="4105656" cy="566928"/>
          </a:xfrm>
          <a:prstGeom prst="roundRect">
            <a:avLst>
              <a:gd name="adj" fmla="val 12903"/>
            </a:avLst>
          </a:prstGeom>
          <a:solidFill>
            <a:srgbClr val="2C5F2D"/>
          </a:solidFill>
          <a:ln w="12700">
            <a:solidFill>
              <a:srgbClr val="2C5F2D"/>
            </a:solidFill>
            <a:prstDash val="solid"/>
          </a:ln>
        </p:spPr>
      </p:sp>
      <p:sp>
        <p:nvSpPr>
          <p:cNvPr id="31" name="Shape 29"/>
          <p:cNvSpPr/>
          <p:nvPr/>
        </p:nvSpPr>
        <p:spPr>
          <a:xfrm>
            <a:off x="4626864" y="1261872"/>
            <a:ext cx="4105656" cy="292608"/>
          </a:xfrm>
          <a:prstGeom prst="rect">
            <a:avLst/>
          </a:prstGeom>
          <a:solidFill>
            <a:srgbClr val="2C5F2D"/>
          </a:solidFill>
          <a:ln w="9525">
            <a:solidFill>
              <a:srgbClr val="2C5F2D"/>
            </a:solidFill>
            <a:prstDash val="solid"/>
          </a:ln>
        </p:spPr>
      </p:sp>
      <p:sp>
        <p:nvSpPr>
          <p:cNvPr id="32" name="Text 30"/>
          <p:cNvSpPr txBox="1"/>
          <p:nvPr/>
        </p:nvSpPr>
        <p:spPr>
          <a:xfrm>
            <a:off x="4764024" y="1024128"/>
            <a:ext cx="3831336"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Moritz Hoffmann</a:t>
            </a:r>
            <a:endParaRPr lang="en-US" sz="1400" dirty="0"/>
          </a:p>
        </p:txBody>
      </p:sp>
      <p:sp>
        <p:nvSpPr>
          <p:cNvPr id="33" name="Text 31"/>
          <p:cNvSpPr txBox="1"/>
          <p:nvPr/>
        </p:nvSpPr>
        <p:spPr>
          <a:xfrm>
            <a:off x="4764024" y="1298448"/>
            <a:ext cx="3831336" cy="219456"/>
          </a:xfrm>
          <a:prstGeom prst="rect">
            <a:avLst/>
          </a:prstGeom>
          <a:noFill/>
          <a:ln/>
        </p:spPr>
        <p:txBody>
          <a:bodyPr wrap="square" lIns="0" tIns="0" rIns="0" bIns="0" rtlCol="0" anchor="ctr"/>
          <a:lstStyle/>
          <a:p>
            <a:pPr marL="0" indent="0">
              <a:buNone/>
            </a:pPr>
            <a:r>
              <a:rPr lang="en-US" sz="900" dirty="0">
                <a:solidFill>
                  <a:srgbClr val="D9E6CF"/>
                </a:solidFill>
                <a:latin typeface="Calibri" pitchFamily="34" charset="0"/>
                <a:ea typeface="Calibri" pitchFamily="34" charset="-122"/>
                <a:cs typeface="Calibri" pitchFamily="34" charset="-120"/>
              </a:rPr>
              <a:t>Persona A  ·  Studierende:r B.Sc. Wirtschaftsinformatik, betroffene Rolle</a:t>
            </a:r>
            <a:endParaRPr lang="en-US" sz="900" dirty="0"/>
          </a:p>
        </p:txBody>
      </p:sp>
      <p:sp>
        <p:nvSpPr>
          <p:cNvPr id="34" name="Text 32"/>
          <p:cNvSpPr txBox="1"/>
          <p:nvPr/>
        </p:nvSpPr>
        <p:spPr>
          <a:xfrm>
            <a:off x="4764024" y="16459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Kontext</a:t>
            </a:r>
            <a:endParaRPr lang="en-US" sz="850" dirty="0"/>
          </a:p>
        </p:txBody>
      </p:sp>
      <p:sp>
        <p:nvSpPr>
          <p:cNvPr id="35" name="Text 33"/>
          <p:cNvSpPr txBox="1"/>
          <p:nvPr/>
        </p:nvSpPr>
        <p:spPr>
          <a:xfrm>
            <a:off x="5742432" y="16459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Erste Abschlussarbeit. Hat das Thema mit der Erstprüfer:in abgestimmt und den Antrag eingereicht.</a:t>
            </a:r>
            <a:endParaRPr lang="en-US" sz="850" dirty="0"/>
          </a:p>
        </p:txBody>
      </p:sp>
      <p:sp>
        <p:nvSpPr>
          <p:cNvPr id="36" name="Shape 34"/>
          <p:cNvSpPr/>
          <p:nvPr/>
        </p:nvSpPr>
        <p:spPr>
          <a:xfrm>
            <a:off x="4764024" y="2112264"/>
            <a:ext cx="3831336" cy="914"/>
          </a:xfrm>
          <a:prstGeom prst="line">
            <a:avLst/>
          </a:prstGeom>
          <a:noFill/>
          <a:ln w="9525">
            <a:solidFill>
              <a:srgbClr val="D9E6CF"/>
            </a:solidFill>
            <a:prstDash val="solid"/>
          </a:ln>
        </p:spPr>
      </p:sp>
      <p:sp>
        <p:nvSpPr>
          <p:cNvPr id="37" name="Text 35"/>
          <p:cNvSpPr txBox="1"/>
          <p:nvPr/>
        </p:nvSpPr>
        <p:spPr>
          <a:xfrm>
            <a:off x="4764024" y="214884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Ziel</a:t>
            </a:r>
            <a:endParaRPr lang="en-US" sz="850" dirty="0"/>
          </a:p>
        </p:txBody>
      </p:sp>
      <p:sp>
        <p:nvSpPr>
          <p:cNvPr id="38" name="Text 36"/>
          <p:cNvSpPr txBox="1"/>
          <p:nvPr/>
        </p:nvSpPr>
        <p:spPr>
          <a:xfrm>
            <a:off x="5742432" y="214884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Thema und Bearbeitungsfrist verbindlich kennen und mit der Arbeit beginnen.</a:t>
            </a:r>
            <a:endParaRPr lang="en-US" sz="850" dirty="0"/>
          </a:p>
        </p:txBody>
      </p:sp>
      <p:sp>
        <p:nvSpPr>
          <p:cNvPr id="39" name="Shape 37"/>
          <p:cNvSpPr/>
          <p:nvPr/>
        </p:nvSpPr>
        <p:spPr>
          <a:xfrm>
            <a:off x="4764024" y="2615184"/>
            <a:ext cx="3831336" cy="914"/>
          </a:xfrm>
          <a:prstGeom prst="line">
            <a:avLst/>
          </a:prstGeom>
          <a:noFill/>
          <a:ln w="9525">
            <a:solidFill>
              <a:srgbClr val="D9E6CF"/>
            </a:solidFill>
            <a:prstDash val="solid"/>
          </a:ln>
        </p:spPr>
      </p:sp>
      <p:sp>
        <p:nvSpPr>
          <p:cNvPr id="40" name="Text 38"/>
          <p:cNvSpPr txBox="1"/>
          <p:nvPr/>
        </p:nvSpPr>
        <p:spPr>
          <a:xfrm>
            <a:off x="4764024" y="265176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Aufgaben</a:t>
            </a:r>
            <a:endParaRPr lang="en-US" sz="850" dirty="0"/>
          </a:p>
        </p:txBody>
      </p:sp>
      <p:sp>
        <p:nvSpPr>
          <p:cNvPr id="41" name="Text 39"/>
          <p:cNvSpPr txBox="1"/>
          <p:nvPr/>
        </p:nvSpPr>
        <p:spPr>
          <a:xfrm>
            <a:off x="5742432" y="265176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In dieser Story keine eigene Aktion. Wartet auf die Themenfreigabe.</a:t>
            </a:r>
            <a:endParaRPr lang="en-US" sz="850" dirty="0"/>
          </a:p>
        </p:txBody>
      </p:sp>
      <p:sp>
        <p:nvSpPr>
          <p:cNvPr id="42" name="Shape 40"/>
          <p:cNvSpPr/>
          <p:nvPr/>
        </p:nvSpPr>
        <p:spPr>
          <a:xfrm>
            <a:off x="4764024" y="3118104"/>
            <a:ext cx="3831336" cy="914"/>
          </a:xfrm>
          <a:prstGeom prst="line">
            <a:avLst/>
          </a:prstGeom>
          <a:noFill/>
          <a:ln w="9525">
            <a:solidFill>
              <a:srgbClr val="D9E6CF"/>
            </a:solidFill>
            <a:prstDash val="solid"/>
          </a:ln>
        </p:spPr>
      </p:sp>
      <p:sp>
        <p:nvSpPr>
          <p:cNvPr id="43" name="Text 41"/>
          <p:cNvSpPr txBox="1"/>
          <p:nvPr/>
        </p:nvSpPr>
        <p:spPr>
          <a:xfrm>
            <a:off x="4764024" y="315468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Erwartungen</a:t>
            </a:r>
            <a:endParaRPr lang="en-US" sz="850" dirty="0"/>
          </a:p>
        </p:txBody>
      </p:sp>
      <p:sp>
        <p:nvSpPr>
          <p:cNvPr id="44" name="Text 42"/>
          <p:cNvSpPr txBox="1"/>
          <p:nvPr/>
        </p:nvSpPr>
        <p:spPr>
          <a:xfrm>
            <a:off x="5742432" y="315468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Bearbeitungsstand des Antrags jederzeit sehen. Über die Ausgabe des Themas informiert werden.</a:t>
            </a:r>
            <a:endParaRPr lang="en-US" sz="850" dirty="0"/>
          </a:p>
        </p:txBody>
      </p:sp>
      <p:sp>
        <p:nvSpPr>
          <p:cNvPr id="45" name="Shape 43"/>
          <p:cNvSpPr/>
          <p:nvPr/>
        </p:nvSpPr>
        <p:spPr>
          <a:xfrm>
            <a:off x="4764024" y="3621024"/>
            <a:ext cx="3831336" cy="914"/>
          </a:xfrm>
          <a:prstGeom prst="line">
            <a:avLst/>
          </a:prstGeom>
          <a:noFill/>
          <a:ln w="9525">
            <a:solidFill>
              <a:srgbClr val="D9E6CF"/>
            </a:solidFill>
            <a:prstDash val="solid"/>
          </a:ln>
        </p:spPr>
      </p:sp>
      <p:sp>
        <p:nvSpPr>
          <p:cNvPr id="46" name="Text 44"/>
          <p:cNvSpPr txBox="1"/>
          <p:nvPr/>
        </p:nvSpPr>
        <p:spPr>
          <a:xfrm>
            <a:off x="4764024" y="365760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Pain Points</a:t>
            </a:r>
            <a:endParaRPr lang="en-US" sz="850" dirty="0"/>
          </a:p>
        </p:txBody>
      </p:sp>
      <p:sp>
        <p:nvSpPr>
          <p:cNvPr id="47" name="Text 45"/>
          <p:cNvSpPr txBox="1"/>
          <p:nvPr/>
        </p:nvSpPr>
        <p:spPr>
          <a:xfrm>
            <a:off x="5742432" y="365760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Heute: wochenlang keine Rückmeldung zum Antrag, unsicher, ob alles vollständig ist.</a:t>
            </a:r>
            <a:endParaRPr lang="en-US" sz="850" dirty="0"/>
          </a:p>
        </p:txBody>
      </p:sp>
      <p:sp>
        <p:nvSpPr>
          <p:cNvPr id="48" name="Shape 46"/>
          <p:cNvSpPr/>
          <p:nvPr/>
        </p:nvSpPr>
        <p:spPr>
          <a:xfrm>
            <a:off x="4764024" y="4123944"/>
            <a:ext cx="3831336" cy="914"/>
          </a:xfrm>
          <a:prstGeom prst="line">
            <a:avLst/>
          </a:prstGeom>
          <a:noFill/>
          <a:ln w="9525">
            <a:solidFill>
              <a:srgbClr val="D9E6CF"/>
            </a:solidFill>
            <a:prstDash val="solid"/>
          </a:ln>
        </p:spPr>
      </p:sp>
      <p:sp>
        <p:nvSpPr>
          <p:cNvPr id="49" name="Text 47"/>
          <p:cNvSpPr txBox="1"/>
          <p:nvPr/>
        </p:nvSpPr>
        <p:spPr>
          <a:xfrm>
            <a:off x="4764024" y="41605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Wissen</a:t>
            </a:r>
            <a:endParaRPr lang="en-US" sz="850" dirty="0"/>
          </a:p>
        </p:txBody>
      </p:sp>
      <p:sp>
        <p:nvSpPr>
          <p:cNvPr id="50" name="Text 48"/>
          <p:cNvSpPr txBox="1"/>
          <p:nvPr/>
        </p:nvSpPr>
        <p:spPr>
          <a:xfrm>
            <a:off x="5742432" y="41605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Unsicher bei Formalien, im Umgang mit digitalen Anwendungen geübt.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2. Interface</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2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Praxisteil, D2D Interface: GUI-Design, Dialoglandkarte</a:t>
            </a:r>
            <a:endParaRPr lang="en-US" sz="750" dirty="0"/>
          </a:p>
        </p:txBody>
      </p:sp>
      <p:sp>
        <p:nvSpPr>
          <p:cNvPr id="7" name="Shape 5"/>
          <p:cNvSpPr/>
          <p:nvPr/>
        </p:nvSpPr>
        <p:spPr>
          <a:xfrm>
            <a:off x="411480" y="1005840"/>
            <a:ext cx="8321040" cy="3657600"/>
          </a:xfrm>
          <a:prstGeom prst="roundRect">
            <a:avLst>
              <a:gd name="adj" fmla="val 3000"/>
            </a:avLst>
          </a:prstGeom>
          <a:solidFill>
            <a:srgbClr val="F5F7F4"/>
          </a:solidFill>
          <a:ln w="15875">
            <a:solidFill>
              <a:srgbClr val="8A968A"/>
            </a:solidFill>
            <a:prstDash val="dash"/>
          </a:ln>
        </p:spPr>
      </p:sp>
      <p:sp>
        <p:nvSpPr>
          <p:cNvPr id="8" name="Text 6"/>
          <p:cNvSpPr txBox="1"/>
          <p:nvPr/>
        </p:nvSpPr>
        <p:spPr>
          <a:xfrm>
            <a:off x="411480" y="2331720"/>
            <a:ext cx="8321040" cy="457200"/>
          </a:xfrm>
          <a:prstGeom prst="rect">
            <a:avLst/>
          </a:prstGeom>
          <a:noFill/>
          <a:ln/>
        </p:spPr>
        <p:txBody>
          <a:bodyPr wrap="square" lIns="0" tIns="0" rIns="0" bIns="0" rtlCol="0" anchor="ctr"/>
          <a:lstStyle/>
          <a:p>
            <a:pPr marL="0" indent="0" algn="ctr">
              <a:buNone/>
            </a:pPr>
            <a:r>
              <a:rPr lang="en-US" sz="1800" b="1" dirty="0">
                <a:solidFill>
                  <a:srgbClr val="5C6B5C"/>
                </a:solidFill>
                <a:latin typeface="Cambria" pitchFamily="34" charset="0"/>
                <a:ea typeface="Cambria" pitchFamily="34" charset="-122"/>
                <a:cs typeface="Cambria" pitchFamily="34" charset="-120"/>
              </a:rPr>
              <a:t>Interface-Entwurf wird durch das Projektteam ergänzt.</a:t>
            </a:r>
            <a:endParaRPr lang="en-US" sz="1800" dirty="0"/>
          </a:p>
        </p:txBody>
      </p:sp>
      <p:sp>
        <p:nvSpPr>
          <p:cNvPr id="9" name="Text 7"/>
          <p:cNvSpPr txBox="1"/>
          <p:nvPr/>
        </p:nvSpPr>
        <p:spPr>
          <a:xfrm>
            <a:off x="411480" y="2834640"/>
            <a:ext cx="8321040" cy="320040"/>
          </a:xfrm>
          <a:prstGeom prst="rect">
            <a:avLst/>
          </a:prstGeom>
          <a:noFill/>
          <a:ln/>
        </p:spPr>
        <p:txBody>
          <a:bodyPr wrap="square" lIns="0" tIns="0" rIns="0" bIns="0" rtlCol="0" anchor="ctr"/>
          <a:lstStyle/>
          <a:p>
            <a:pPr marL="0" indent="0" algn="ctr">
              <a:buNone/>
            </a:pPr>
            <a:r>
              <a:rPr lang="en-US" sz="1050" dirty="0">
                <a:solidFill>
                  <a:srgbClr val="8A968A"/>
                </a:solidFill>
                <a:latin typeface="Calibri" pitchFamily="34" charset="0"/>
                <a:ea typeface="Calibri" pitchFamily="34" charset="-122"/>
                <a:cs typeface="Calibri" pitchFamily="34" charset="-120"/>
              </a:rPr>
              <a:t>Platzhalter für den Dialog, in dem die Erstprüfer:in das Thema aufruft, prüft, bestätigt und freigibt.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DAA5C0E-C1B5-0A9C-6780-E0B7840DC18B}"/>
              </a:ext>
            </a:extLst>
          </p:cNvPr>
          <p:cNvPicPr>
            <a:picLocks noChangeAspect="1"/>
          </p:cNvPicPr>
          <p:nvPr/>
        </p:nvPicPr>
        <p:blipFill>
          <a:blip r:embed="rId2"/>
          <a:stretch>
            <a:fillRect/>
          </a:stretch>
        </p:blipFill>
        <p:spPr>
          <a:xfrm>
            <a:off x="0" y="890"/>
            <a:ext cx="9145584" cy="5142610"/>
          </a:xfrm>
          <a:prstGeom prst="rect">
            <a:avLst/>
          </a:prstGeom>
        </p:spPr>
      </p:pic>
    </p:spTree>
    <p:extLst>
      <p:ext uri="{BB962C8B-B14F-4D97-AF65-F5344CB8AC3E}">
        <p14:creationId xmlns:p14="http://schemas.microsoft.com/office/powerpoint/2010/main" val="3593669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4. Data</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4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6 Strukturperspektive, UML-Klassendiagramm</a:t>
            </a:r>
            <a:endParaRPr lang="en-US" sz="750" dirty="0"/>
          </a:p>
        </p:txBody>
      </p:sp>
      <p:sp>
        <p:nvSpPr>
          <p:cNvPr id="7" name="Shape 5"/>
          <p:cNvSpPr/>
          <p:nvPr/>
        </p:nvSpPr>
        <p:spPr>
          <a:xfrm>
            <a:off x="457200" y="960120"/>
            <a:ext cx="2011680" cy="950976"/>
          </a:xfrm>
          <a:prstGeom prst="rect">
            <a:avLst/>
          </a:prstGeom>
          <a:solidFill>
            <a:srgbClr val="FFFFFF"/>
          </a:solidFill>
          <a:ln w="15875">
            <a:solidFill>
              <a:srgbClr val="1F2A1F"/>
            </a:solidFill>
            <a:prstDash val="solid"/>
          </a:ln>
        </p:spPr>
      </p:sp>
      <p:sp>
        <p:nvSpPr>
          <p:cNvPr id="8" name="Shape 6"/>
          <p:cNvSpPr/>
          <p:nvPr/>
        </p:nvSpPr>
        <p:spPr>
          <a:xfrm>
            <a:off x="457200" y="960120"/>
            <a:ext cx="2011680" cy="292608"/>
          </a:xfrm>
          <a:prstGeom prst="rect">
            <a:avLst/>
          </a:prstGeom>
          <a:solidFill>
            <a:srgbClr val="EEF4E8"/>
          </a:solidFill>
          <a:ln w="15875">
            <a:solidFill>
              <a:srgbClr val="1F2A1F"/>
            </a:solidFill>
            <a:prstDash val="solid"/>
          </a:ln>
        </p:spPr>
      </p:sp>
      <p:sp>
        <p:nvSpPr>
          <p:cNvPr id="9" name="Text 7"/>
          <p:cNvSpPr txBox="1"/>
          <p:nvPr/>
        </p:nvSpPr>
        <p:spPr>
          <a:xfrm>
            <a:off x="457200" y="960120"/>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Studierende:r</a:t>
            </a:r>
            <a:endParaRPr lang="en-US" sz="1000" dirty="0"/>
          </a:p>
        </p:txBody>
      </p:sp>
      <p:sp>
        <p:nvSpPr>
          <p:cNvPr id="10" name="Text 8"/>
          <p:cNvSpPr txBox="1"/>
          <p:nvPr/>
        </p:nvSpPr>
        <p:spPr>
          <a:xfrm>
            <a:off x="530352" y="1298448"/>
            <a:ext cx="1865376" cy="58521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matrikelnummer : String  </a:t>
            </a:r>
            <a:r>
              <a:rPr lang="en-US" sz="800" b="1" dirty="0">
                <a:solidFill>
                  <a:srgbClr val="2C5F2D"/>
                </a:solidFill>
                <a:latin typeface="Calibri" pitchFamily="34" charset="0"/>
                <a:ea typeface="Calibri" pitchFamily="34" charset="-122"/>
                <a:cs typeface="Calibri" pitchFamily="34" charset="-120"/>
              </a:rPr>
              <a:t>{PK}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name : String</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studiengang : String</a:t>
            </a:r>
            <a:endParaRPr lang="en-US" sz="800" dirty="0"/>
          </a:p>
        </p:txBody>
      </p:sp>
      <p:sp>
        <p:nvSpPr>
          <p:cNvPr id="11" name="Shape 9"/>
          <p:cNvSpPr/>
          <p:nvPr/>
        </p:nvSpPr>
        <p:spPr>
          <a:xfrm>
            <a:off x="3566160" y="960120"/>
            <a:ext cx="2011680" cy="1499616"/>
          </a:xfrm>
          <a:prstGeom prst="rect">
            <a:avLst/>
          </a:prstGeom>
          <a:solidFill>
            <a:srgbClr val="FFFFFF"/>
          </a:solidFill>
          <a:ln w="15875">
            <a:solidFill>
              <a:srgbClr val="1F2A1F"/>
            </a:solidFill>
            <a:prstDash val="solid"/>
          </a:ln>
        </p:spPr>
      </p:sp>
      <p:sp>
        <p:nvSpPr>
          <p:cNvPr id="12" name="Shape 10"/>
          <p:cNvSpPr/>
          <p:nvPr/>
        </p:nvSpPr>
        <p:spPr>
          <a:xfrm>
            <a:off x="3566160" y="960120"/>
            <a:ext cx="2011680" cy="292608"/>
          </a:xfrm>
          <a:prstGeom prst="rect">
            <a:avLst/>
          </a:prstGeom>
          <a:solidFill>
            <a:srgbClr val="EEF4E8"/>
          </a:solidFill>
          <a:ln w="15875">
            <a:solidFill>
              <a:srgbClr val="1F2A1F"/>
            </a:solidFill>
            <a:prstDash val="solid"/>
          </a:ln>
        </p:spPr>
      </p:sp>
      <p:sp>
        <p:nvSpPr>
          <p:cNvPr id="13" name="Text 11"/>
          <p:cNvSpPr txBox="1"/>
          <p:nvPr/>
        </p:nvSpPr>
        <p:spPr>
          <a:xfrm>
            <a:off x="3566160" y="960120"/>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Antrag</a:t>
            </a:r>
            <a:endParaRPr lang="en-US" sz="1000" dirty="0"/>
          </a:p>
        </p:txBody>
      </p:sp>
      <p:sp>
        <p:nvSpPr>
          <p:cNvPr id="14" name="Text 12"/>
          <p:cNvSpPr txBox="1"/>
          <p:nvPr/>
        </p:nvSpPr>
        <p:spPr>
          <a:xfrm>
            <a:off x="3639312" y="1298448"/>
            <a:ext cx="1865376" cy="113385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antragsnummer : String  </a:t>
            </a:r>
            <a:r>
              <a:rPr lang="en-US" sz="800" b="1" dirty="0">
                <a:solidFill>
                  <a:srgbClr val="2C5F2D"/>
                </a:solidFill>
                <a:latin typeface="Calibri" pitchFamily="34" charset="0"/>
                <a:ea typeface="Calibri" pitchFamily="34" charset="-122"/>
                <a:cs typeface="Calibri" pitchFamily="34" charset="-120"/>
              </a:rPr>
              <a:t>{PK}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matrikelnummer : String  </a:t>
            </a:r>
            <a:r>
              <a:rPr lang="en-US" sz="800" b="1" dirty="0">
                <a:solidFill>
                  <a:srgbClr val="2C5F2D"/>
                </a:solidFill>
                <a:latin typeface="Calibri" pitchFamily="34" charset="0"/>
                <a:ea typeface="Calibri" pitchFamily="34" charset="-122"/>
                <a:cs typeface="Calibri" pitchFamily="34" charset="-120"/>
              </a:rPr>
              <a:t>{FK}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thmKennung : String  </a:t>
            </a:r>
            <a:r>
              <a:rPr lang="en-US" sz="800" b="1" dirty="0">
                <a:solidFill>
                  <a:srgbClr val="2C5F2D"/>
                </a:solidFill>
                <a:latin typeface="Calibri" pitchFamily="34" charset="0"/>
                <a:ea typeface="Calibri" pitchFamily="34" charset="-122"/>
                <a:cs typeface="Calibri" pitchFamily="34" charset="-120"/>
              </a:rPr>
              <a:t>{FK}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studienabschluss : Abschlussart</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gewuenschterStarttermin : Datum</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status : Antragsstatus</a:t>
            </a:r>
            <a:endParaRPr lang="en-US" sz="800" dirty="0"/>
          </a:p>
        </p:txBody>
      </p:sp>
      <p:sp>
        <p:nvSpPr>
          <p:cNvPr id="15" name="Shape 13"/>
          <p:cNvSpPr/>
          <p:nvPr/>
        </p:nvSpPr>
        <p:spPr>
          <a:xfrm>
            <a:off x="6675120" y="960120"/>
            <a:ext cx="2011680" cy="768096"/>
          </a:xfrm>
          <a:prstGeom prst="rect">
            <a:avLst/>
          </a:prstGeom>
          <a:solidFill>
            <a:srgbClr val="FFFFFF"/>
          </a:solidFill>
          <a:ln w="15875">
            <a:solidFill>
              <a:srgbClr val="1F2A1F"/>
            </a:solidFill>
            <a:prstDash val="solid"/>
          </a:ln>
        </p:spPr>
      </p:sp>
      <p:sp>
        <p:nvSpPr>
          <p:cNvPr id="16" name="Shape 14"/>
          <p:cNvSpPr/>
          <p:nvPr/>
        </p:nvSpPr>
        <p:spPr>
          <a:xfrm>
            <a:off x="6675120" y="960120"/>
            <a:ext cx="2011680" cy="292608"/>
          </a:xfrm>
          <a:prstGeom prst="rect">
            <a:avLst/>
          </a:prstGeom>
          <a:solidFill>
            <a:srgbClr val="EEF4E8"/>
          </a:solidFill>
          <a:ln w="15875">
            <a:solidFill>
              <a:srgbClr val="1F2A1F"/>
            </a:solidFill>
            <a:prstDash val="solid"/>
          </a:ln>
        </p:spPr>
      </p:sp>
      <p:sp>
        <p:nvSpPr>
          <p:cNvPr id="17" name="Text 15"/>
          <p:cNvSpPr txBox="1"/>
          <p:nvPr/>
        </p:nvSpPr>
        <p:spPr>
          <a:xfrm>
            <a:off x="6675120" y="960120"/>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Erstprüfer:in</a:t>
            </a:r>
            <a:endParaRPr lang="en-US" sz="1000" dirty="0"/>
          </a:p>
        </p:txBody>
      </p:sp>
      <p:sp>
        <p:nvSpPr>
          <p:cNvPr id="18" name="Text 16"/>
          <p:cNvSpPr txBox="1"/>
          <p:nvPr/>
        </p:nvSpPr>
        <p:spPr>
          <a:xfrm>
            <a:off x="6748272" y="1298448"/>
            <a:ext cx="1865376" cy="40233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thmKennung : String  </a:t>
            </a:r>
            <a:r>
              <a:rPr lang="en-US" sz="800" b="1" dirty="0">
                <a:solidFill>
                  <a:srgbClr val="2C5F2D"/>
                </a:solidFill>
                <a:latin typeface="Calibri" pitchFamily="34" charset="0"/>
                <a:ea typeface="Calibri" pitchFamily="34" charset="-122"/>
                <a:cs typeface="Calibri" pitchFamily="34" charset="-120"/>
              </a:rPr>
              <a:t>{PK}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name : String</a:t>
            </a:r>
            <a:endParaRPr lang="en-US" sz="800" dirty="0"/>
          </a:p>
        </p:txBody>
      </p:sp>
      <p:sp>
        <p:nvSpPr>
          <p:cNvPr id="19" name="Shape 17"/>
          <p:cNvSpPr/>
          <p:nvPr/>
        </p:nvSpPr>
        <p:spPr>
          <a:xfrm>
            <a:off x="1874520" y="3090672"/>
            <a:ext cx="1965960" cy="768096"/>
          </a:xfrm>
          <a:prstGeom prst="rect">
            <a:avLst/>
          </a:prstGeom>
          <a:solidFill>
            <a:srgbClr val="FFFFFF"/>
          </a:solidFill>
          <a:ln w="15875">
            <a:solidFill>
              <a:srgbClr val="1F2A1F"/>
            </a:solidFill>
            <a:prstDash val="solid"/>
          </a:ln>
        </p:spPr>
      </p:sp>
      <p:sp>
        <p:nvSpPr>
          <p:cNvPr id="20" name="Shape 18"/>
          <p:cNvSpPr/>
          <p:nvPr/>
        </p:nvSpPr>
        <p:spPr>
          <a:xfrm>
            <a:off x="1874520" y="3090672"/>
            <a:ext cx="1965960" cy="292608"/>
          </a:xfrm>
          <a:prstGeom prst="rect">
            <a:avLst/>
          </a:prstGeom>
          <a:solidFill>
            <a:srgbClr val="EEF4E8"/>
          </a:solidFill>
          <a:ln w="15875">
            <a:solidFill>
              <a:srgbClr val="1F2A1F"/>
            </a:solidFill>
            <a:prstDash val="solid"/>
          </a:ln>
        </p:spPr>
      </p:sp>
      <p:sp>
        <p:nvSpPr>
          <p:cNvPr id="21" name="Text 19"/>
          <p:cNvSpPr txBox="1"/>
          <p:nvPr/>
        </p:nvSpPr>
        <p:spPr>
          <a:xfrm>
            <a:off x="1874520" y="3090672"/>
            <a:ext cx="196596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Thema</a:t>
            </a:r>
            <a:endParaRPr lang="en-US" sz="1000" dirty="0"/>
          </a:p>
        </p:txBody>
      </p:sp>
      <p:sp>
        <p:nvSpPr>
          <p:cNvPr id="22" name="Text 20"/>
          <p:cNvSpPr txBox="1"/>
          <p:nvPr/>
        </p:nvSpPr>
        <p:spPr>
          <a:xfrm>
            <a:off x="1947672" y="3429000"/>
            <a:ext cx="1819656" cy="40233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antragsnummer : String  </a:t>
            </a:r>
            <a:r>
              <a:rPr lang="en-US" sz="800" b="1" dirty="0">
                <a:solidFill>
                  <a:srgbClr val="2C5F2D"/>
                </a:solidFill>
                <a:latin typeface="Calibri" pitchFamily="34" charset="0"/>
                <a:ea typeface="Calibri" pitchFamily="34" charset="-122"/>
                <a:cs typeface="Calibri" pitchFamily="34" charset="-120"/>
              </a:rPr>
              <a:t>{PK, FK}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wortlaut : String</a:t>
            </a:r>
            <a:endParaRPr lang="en-US" sz="800" dirty="0"/>
          </a:p>
        </p:txBody>
      </p:sp>
      <p:sp>
        <p:nvSpPr>
          <p:cNvPr id="23" name="Shape 21"/>
          <p:cNvSpPr/>
          <p:nvPr/>
        </p:nvSpPr>
        <p:spPr>
          <a:xfrm>
            <a:off x="3931920" y="3090672"/>
            <a:ext cx="1691640" cy="1133856"/>
          </a:xfrm>
          <a:prstGeom prst="rect">
            <a:avLst/>
          </a:prstGeom>
          <a:solidFill>
            <a:srgbClr val="FFFFFF"/>
          </a:solidFill>
          <a:ln w="15875">
            <a:solidFill>
              <a:srgbClr val="1F2A1F"/>
            </a:solidFill>
            <a:prstDash val="solid"/>
          </a:ln>
        </p:spPr>
      </p:sp>
      <p:sp>
        <p:nvSpPr>
          <p:cNvPr id="24" name="Shape 22"/>
          <p:cNvSpPr/>
          <p:nvPr/>
        </p:nvSpPr>
        <p:spPr>
          <a:xfrm>
            <a:off x="3931920" y="3090672"/>
            <a:ext cx="1691640" cy="292608"/>
          </a:xfrm>
          <a:prstGeom prst="rect">
            <a:avLst/>
          </a:prstGeom>
          <a:solidFill>
            <a:srgbClr val="EEF4E8"/>
          </a:solidFill>
          <a:ln w="15875">
            <a:solidFill>
              <a:srgbClr val="1F2A1F"/>
            </a:solidFill>
            <a:prstDash val="solid"/>
          </a:ln>
        </p:spPr>
      </p:sp>
      <p:sp>
        <p:nvSpPr>
          <p:cNvPr id="25" name="Text 23"/>
          <p:cNvSpPr txBox="1"/>
          <p:nvPr/>
        </p:nvSpPr>
        <p:spPr>
          <a:xfrm>
            <a:off x="3931920" y="3090672"/>
            <a:ext cx="169164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Änderungswunsch</a:t>
            </a:r>
            <a:endParaRPr lang="en-US" sz="1000" dirty="0"/>
          </a:p>
        </p:txBody>
      </p:sp>
      <p:sp>
        <p:nvSpPr>
          <p:cNvPr id="26" name="Text 24"/>
          <p:cNvSpPr txBox="1"/>
          <p:nvPr/>
        </p:nvSpPr>
        <p:spPr>
          <a:xfrm>
            <a:off x="4005072" y="3429000"/>
            <a:ext cx="1545336" cy="76809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nummer : Integer  </a:t>
            </a:r>
            <a:r>
              <a:rPr lang="en-US" sz="800" b="1" dirty="0">
                <a:solidFill>
                  <a:srgbClr val="2C5F2D"/>
                </a:solidFill>
                <a:latin typeface="Calibri" pitchFamily="34" charset="0"/>
                <a:ea typeface="Calibri" pitchFamily="34" charset="-122"/>
                <a:cs typeface="Calibri" pitchFamily="34" charset="-120"/>
              </a:rPr>
              <a:t>{PK}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antragsnummer : String  </a:t>
            </a:r>
            <a:r>
              <a:rPr lang="en-US" sz="800" b="1" dirty="0">
                <a:solidFill>
                  <a:srgbClr val="2C5F2D"/>
                </a:solidFill>
                <a:latin typeface="Calibri" pitchFamily="34" charset="0"/>
                <a:ea typeface="Calibri" pitchFamily="34" charset="-122"/>
                <a:cs typeface="Calibri" pitchFamily="34" charset="-120"/>
              </a:rPr>
              <a:t>{FK}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text : String</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zeitpunkt : Datum</a:t>
            </a:r>
            <a:endParaRPr lang="en-US" sz="800" dirty="0"/>
          </a:p>
        </p:txBody>
      </p:sp>
      <p:sp>
        <p:nvSpPr>
          <p:cNvPr id="27" name="Shape 25"/>
          <p:cNvSpPr/>
          <p:nvPr/>
        </p:nvSpPr>
        <p:spPr>
          <a:xfrm>
            <a:off x="5897880" y="3090672"/>
            <a:ext cx="1965960" cy="950976"/>
          </a:xfrm>
          <a:prstGeom prst="rect">
            <a:avLst/>
          </a:prstGeom>
          <a:solidFill>
            <a:srgbClr val="FFFFFF"/>
          </a:solidFill>
          <a:ln w="15875">
            <a:solidFill>
              <a:srgbClr val="1F2A1F"/>
            </a:solidFill>
            <a:prstDash val="solid"/>
          </a:ln>
        </p:spPr>
      </p:sp>
      <p:sp>
        <p:nvSpPr>
          <p:cNvPr id="28" name="Shape 26"/>
          <p:cNvSpPr/>
          <p:nvPr/>
        </p:nvSpPr>
        <p:spPr>
          <a:xfrm>
            <a:off x="5897880" y="3090672"/>
            <a:ext cx="1965960" cy="292608"/>
          </a:xfrm>
          <a:prstGeom prst="rect">
            <a:avLst/>
          </a:prstGeom>
          <a:solidFill>
            <a:srgbClr val="EEF4E8"/>
          </a:solidFill>
          <a:ln w="15875">
            <a:solidFill>
              <a:srgbClr val="1F2A1F"/>
            </a:solidFill>
            <a:prstDash val="solid"/>
          </a:ln>
        </p:spPr>
      </p:sp>
      <p:sp>
        <p:nvSpPr>
          <p:cNvPr id="29" name="Text 27"/>
          <p:cNvSpPr txBox="1"/>
          <p:nvPr/>
        </p:nvSpPr>
        <p:spPr>
          <a:xfrm>
            <a:off x="5897880" y="3090672"/>
            <a:ext cx="196596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Themenfreigabe</a:t>
            </a:r>
            <a:endParaRPr lang="en-US" sz="1000" dirty="0"/>
          </a:p>
        </p:txBody>
      </p:sp>
      <p:sp>
        <p:nvSpPr>
          <p:cNvPr id="30" name="Text 28"/>
          <p:cNvSpPr txBox="1"/>
          <p:nvPr/>
        </p:nvSpPr>
        <p:spPr>
          <a:xfrm>
            <a:off x="5971032" y="3429000"/>
            <a:ext cx="1819656" cy="58521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antragsnummer : String  </a:t>
            </a:r>
            <a:r>
              <a:rPr lang="en-US" sz="800" b="1" dirty="0">
                <a:solidFill>
                  <a:srgbClr val="2C5F2D"/>
                </a:solidFill>
                <a:latin typeface="Calibri" pitchFamily="34" charset="0"/>
                <a:ea typeface="Calibri" pitchFamily="34" charset="-122"/>
                <a:cs typeface="Calibri" pitchFamily="34" charset="-120"/>
              </a:rPr>
              <a:t>{PK, FK}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thmKennung : String  </a:t>
            </a:r>
            <a:r>
              <a:rPr lang="en-US" sz="800" b="1" dirty="0">
                <a:solidFill>
                  <a:srgbClr val="2C5F2D"/>
                </a:solidFill>
                <a:latin typeface="Calibri" pitchFamily="34" charset="0"/>
                <a:ea typeface="Calibri" pitchFamily="34" charset="-122"/>
                <a:cs typeface="Calibri" pitchFamily="34" charset="-120"/>
              </a:rPr>
              <a:t>{FK}</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zeitpunkt : Datum</a:t>
            </a:r>
            <a:endParaRPr lang="en-US" sz="800" dirty="0"/>
          </a:p>
        </p:txBody>
      </p:sp>
      <p:sp>
        <p:nvSpPr>
          <p:cNvPr id="31" name="Shape 29"/>
          <p:cNvSpPr/>
          <p:nvPr/>
        </p:nvSpPr>
        <p:spPr>
          <a:xfrm>
            <a:off x="2468880" y="1463040"/>
            <a:ext cx="1097280" cy="914"/>
          </a:xfrm>
          <a:prstGeom prst="line">
            <a:avLst/>
          </a:prstGeom>
          <a:noFill/>
          <a:ln w="15875">
            <a:solidFill>
              <a:srgbClr val="1F2A1F"/>
            </a:solidFill>
            <a:prstDash val="solid"/>
          </a:ln>
        </p:spPr>
      </p:sp>
      <p:sp>
        <p:nvSpPr>
          <p:cNvPr id="32" name="Text 30"/>
          <p:cNvSpPr txBox="1"/>
          <p:nvPr/>
        </p:nvSpPr>
        <p:spPr>
          <a:xfrm>
            <a:off x="2468880" y="1261872"/>
            <a:ext cx="1097280" cy="164592"/>
          </a:xfrm>
          <a:prstGeom prst="rect">
            <a:avLst/>
          </a:prstGeom>
          <a:noFill/>
          <a:ln/>
        </p:spPr>
        <p:txBody>
          <a:bodyPr wrap="square" lIns="0" tIns="0" rIns="0" bIns="0" rtlCol="0" anchor="ctr"/>
          <a:lstStyle/>
          <a:p>
            <a:pPr marL="0" indent="0" algn="ctr">
              <a:buNone/>
            </a:pPr>
            <a:r>
              <a:rPr lang="en-US" sz="800" i="1" dirty="0">
                <a:solidFill>
                  <a:srgbClr val="5C6B5C"/>
                </a:solidFill>
                <a:latin typeface="Calibri" pitchFamily="34" charset="0"/>
                <a:ea typeface="Calibri" pitchFamily="34" charset="-122"/>
                <a:cs typeface="Calibri" pitchFamily="34" charset="-120"/>
              </a:rPr>
              <a:t>stellt ▶</a:t>
            </a:r>
            <a:endParaRPr lang="en-US" sz="800" dirty="0"/>
          </a:p>
        </p:txBody>
      </p:sp>
      <p:sp>
        <p:nvSpPr>
          <p:cNvPr id="33" name="Text 31"/>
          <p:cNvSpPr txBox="1"/>
          <p:nvPr/>
        </p:nvSpPr>
        <p:spPr>
          <a:xfrm>
            <a:off x="2514600" y="1490472"/>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34" name="Text 32"/>
          <p:cNvSpPr txBox="1"/>
          <p:nvPr/>
        </p:nvSpPr>
        <p:spPr>
          <a:xfrm>
            <a:off x="3108960" y="1490472"/>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0..*</a:t>
            </a:r>
            <a:endParaRPr lang="en-US" sz="850" dirty="0"/>
          </a:p>
        </p:txBody>
      </p:sp>
      <p:sp>
        <p:nvSpPr>
          <p:cNvPr id="35" name="Shape 33"/>
          <p:cNvSpPr/>
          <p:nvPr/>
        </p:nvSpPr>
        <p:spPr>
          <a:xfrm>
            <a:off x="5577840" y="1463040"/>
            <a:ext cx="1097280" cy="914"/>
          </a:xfrm>
          <a:prstGeom prst="line">
            <a:avLst/>
          </a:prstGeom>
          <a:noFill/>
          <a:ln w="15875">
            <a:solidFill>
              <a:srgbClr val="1F2A1F"/>
            </a:solidFill>
            <a:prstDash val="solid"/>
          </a:ln>
        </p:spPr>
      </p:sp>
      <p:sp>
        <p:nvSpPr>
          <p:cNvPr id="36" name="Text 34"/>
          <p:cNvSpPr txBox="1"/>
          <p:nvPr/>
        </p:nvSpPr>
        <p:spPr>
          <a:xfrm>
            <a:off x="5577840" y="1261872"/>
            <a:ext cx="1097280" cy="164592"/>
          </a:xfrm>
          <a:prstGeom prst="rect">
            <a:avLst/>
          </a:prstGeom>
          <a:noFill/>
          <a:ln/>
        </p:spPr>
        <p:txBody>
          <a:bodyPr wrap="square" lIns="0" tIns="0" rIns="0" bIns="0" rtlCol="0" anchor="ctr"/>
          <a:lstStyle/>
          <a:p>
            <a:pPr marL="0" indent="0" algn="ctr">
              <a:buNone/>
            </a:pPr>
            <a:r>
              <a:rPr lang="en-US" sz="800" i="1" dirty="0">
                <a:solidFill>
                  <a:srgbClr val="5C6B5C"/>
                </a:solidFill>
                <a:latin typeface="Calibri" pitchFamily="34" charset="0"/>
                <a:ea typeface="Calibri" pitchFamily="34" charset="-122"/>
                <a:cs typeface="Calibri" pitchFamily="34" charset="-120"/>
              </a:rPr>
              <a:t>ist zugeordnet ▶</a:t>
            </a:r>
            <a:endParaRPr lang="en-US" sz="800" dirty="0"/>
          </a:p>
        </p:txBody>
      </p:sp>
      <p:sp>
        <p:nvSpPr>
          <p:cNvPr id="37" name="Text 35"/>
          <p:cNvSpPr txBox="1"/>
          <p:nvPr/>
        </p:nvSpPr>
        <p:spPr>
          <a:xfrm>
            <a:off x="5623560" y="1490472"/>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0..*</a:t>
            </a:r>
            <a:endParaRPr lang="en-US" sz="850" dirty="0"/>
          </a:p>
        </p:txBody>
      </p:sp>
      <p:sp>
        <p:nvSpPr>
          <p:cNvPr id="38" name="Text 36"/>
          <p:cNvSpPr txBox="1"/>
          <p:nvPr/>
        </p:nvSpPr>
        <p:spPr>
          <a:xfrm>
            <a:off x="6217920" y="1490472"/>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39" name="Shape 37"/>
          <p:cNvSpPr/>
          <p:nvPr/>
        </p:nvSpPr>
        <p:spPr>
          <a:xfrm>
            <a:off x="3657600" y="2642616"/>
            <a:ext cx="914" cy="448056"/>
          </a:xfrm>
          <a:prstGeom prst="line">
            <a:avLst/>
          </a:prstGeom>
          <a:noFill/>
          <a:ln w="15875">
            <a:solidFill>
              <a:srgbClr val="1F2A1F"/>
            </a:solidFill>
            <a:prstDash val="solid"/>
          </a:ln>
        </p:spPr>
      </p:sp>
      <p:sp>
        <p:nvSpPr>
          <p:cNvPr id="40" name="Shape 38"/>
          <p:cNvSpPr/>
          <p:nvPr/>
        </p:nvSpPr>
        <p:spPr>
          <a:xfrm>
            <a:off x="3584448" y="2459736"/>
            <a:ext cx="146304" cy="201168"/>
          </a:xfrm>
          <a:prstGeom prst="diamond">
            <a:avLst/>
          </a:prstGeom>
          <a:solidFill>
            <a:srgbClr val="1F2A1F"/>
          </a:solidFill>
          <a:ln w="12700">
            <a:solidFill>
              <a:srgbClr val="1F2A1F"/>
            </a:solidFill>
            <a:prstDash val="solid"/>
          </a:ln>
        </p:spPr>
      </p:sp>
      <p:sp>
        <p:nvSpPr>
          <p:cNvPr id="41" name="Text 39"/>
          <p:cNvSpPr txBox="1"/>
          <p:nvPr/>
        </p:nvSpPr>
        <p:spPr>
          <a:xfrm>
            <a:off x="3154680" y="2660904"/>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42" name="Text 40"/>
          <p:cNvSpPr txBox="1"/>
          <p:nvPr/>
        </p:nvSpPr>
        <p:spPr>
          <a:xfrm>
            <a:off x="3154680" y="2907792"/>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43" name="Text 41"/>
          <p:cNvSpPr txBox="1"/>
          <p:nvPr/>
        </p:nvSpPr>
        <p:spPr>
          <a:xfrm>
            <a:off x="2468880" y="2802636"/>
            <a:ext cx="868680" cy="164592"/>
          </a:xfrm>
          <a:prstGeom prst="rect">
            <a:avLst/>
          </a:prstGeom>
          <a:noFill/>
          <a:ln/>
        </p:spPr>
        <p:txBody>
          <a:bodyPr wrap="square" lIns="0" tIns="0" rIns="0" bIns="0" rtlCol="0" anchor="ctr"/>
          <a:lstStyle/>
          <a:p>
            <a:pPr marL="0" indent="0" algn="r">
              <a:buNone/>
            </a:pPr>
            <a:r>
              <a:rPr lang="en-US" sz="800" i="1" dirty="0">
                <a:solidFill>
                  <a:srgbClr val="5C6B5C"/>
                </a:solidFill>
                <a:latin typeface="Calibri" pitchFamily="34" charset="0"/>
                <a:ea typeface="Calibri" pitchFamily="34" charset="-122"/>
                <a:cs typeface="Calibri" pitchFamily="34" charset="-120"/>
              </a:rPr>
              <a:t>enthält ▼</a:t>
            </a:r>
            <a:endParaRPr lang="en-US" sz="800" dirty="0"/>
          </a:p>
        </p:txBody>
      </p:sp>
      <p:sp>
        <p:nvSpPr>
          <p:cNvPr id="44" name="Shape 42"/>
          <p:cNvSpPr/>
          <p:nvPr/>
        </p:nvSpPr>
        <p:spPr>
          <a:xfrm>
            <a:off x="4572000" y="2459736"/>
            <a:ext cx="914" cy="630936"/>
          </a:xfrm>
          <a:prstGeom prst="line">
            <a:avLst/>
          </a:prstGeom>
          <a:noFill/>
          <a:ln w="15875">
            <a:solidFill>
              <a:srgbClr val="1F2A1F"/>
            </a:solidFill>
            <a:prstDash val="solid"/>
          </a:ln>
        </p:spPr>
      </p:sp>
      <p:sp>
        <p:nvSpPr>
          <p:cNvPr id="45" name="Text 43"/>
          <p:cNvSpPr txBox="1"/>
          <p:nvPr/>
        </p:nvSpPr>
        <p:spPr>
          <a:xfrm>
            <a:off x="4626864" y="2487168"/>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46" name="Text 44"/>
          <p:cNvSpPr txBox="1"/>
          <p:nvPr/>
        </p:nvSpPr>
        <p:spPr>
          <a:xfrm>
            <a:off x="4626864" y="2907792"/>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0..*</a:t>
            </a:r>
            <a:endParaRPr lang="en-US" sz="850" dirty="0"/>
          </a:p>
        </p:txBody>
      </p:sp>
      <p:sp>
        <p:nvSpPr>
          <p:cNvPr id="47" name="Text 45"/>
          <p:cNvSpPr txBox="1"/>
          <p:nvPr/>
        </p:nvSpPr>
        <p:spPr>
          <a:xfrm>
            <a:off x="4846320" y="2692908"/>
            <a:ext cx="457200" cy="164592"/>
          </a:xfrm>
          <a:prstGeom prst="rect">
            <a:avLst/>
          </a:prstGeom>
          <a:noFill/>
          <a:ln/>
        </p:spPr>
        <p:txBody>
          <a:bodyPr wrap="square" lIns="0" tIns="0" rIns="0" bIns="0" rtlCol="0" anchor="ctr"/>
          <a:lstStyle/>
          <a:p>
            <a:pPr marL="0" indent="0" algn="l">
              <a:buNone/>
            </a:pPr>
            <a:r>
              <a:rPr lang="en-US" sz="800" i="1" dirty="0">
                <a:solidFill>
                  <a:srgbClr val="5C6B5C"/>
                </a:solidFill>
                <a:latin typeface="Calibri" pitchFamily="34" charset="0"/>
                <a:ea typeface="Calibri" pitchFamily="34" charset="-122"/>
                <a:cs typeface="Calibri" pitchFamily="34" charset="-120"/>
              </a:rPr>
              <a:t>hat ▼</a:t>
            </a:r>
            <a:endParaRPr lang="en-US" sz="800" dirty="0"/>
          </a:p>
        </p:txBody>
      </p:sp>
      <p:sp>
        <p:nvSpPr>
          <p:cNvPr id="48" name="Shape 46"/>
          <p:cNvSpPr/>
          <p:nvPr/>
        </p:nvSpPr>
        <p:spPr>
          <a:xfrm>
            <a:off x="5349240" y="2459736"/>
            <a:ext cx="914" cy="384048"/>
          </a:xfrm>
          <a:prstGeom prst="line">
            <a:avLst/>
          </a:prstGeom>
          <a:noFill/>
          <a:ln w="15875">
            <a:solidFill>
              <a:srgbClr val="1F2A1F"/>
            </a:solidFill>
            <a:prstDash val="solid"/>
          </a:ln>
        </p:spPr>
      </p:sp>
      <p:sp>
        <p:nvSpPr>
          <p:cNvPr id="49" name="Shape 47"/>
          <p:cNvSpPr/>
          <p:nvPr/>
        </p:nvSpPr>
        <p:spPr>
          <a:xfrm>
            <a:off x="5349240" y="2843784"/>
            <a:ext cx="960120" cy="914"/>
          </a:xfrm>
          <a:prstGeom prst="line">
            <a:avLst/>
          </a:prstGeom>
          <a:noFill/>
          <a:ln w="15875">
            <a:solidFill>
              <a:srgbClr val="1F2A1F"/>
            </a:solidFill>
            <a:prstDash val="solid"/>
          </a:ln>
        </p:spPr>
      </p:sp>
      <p:sp>
        <p:nvSpPr>
          <p:cNvPr id="50" name="Shape 48"/>
          <p:cNvSpPr/>
          <p:nvPr/>
        </p:nvSpPr>
        <p:spPr>
          <a:xfrm>
            <a:off x="6309360" y="2843784"/>
            <a:ext cx="914" cy="246888"/>
          </a:xfrm>
          <a:prstGeom prst="line">
            <a:avLst/>
          </a:prstGeom>
          <a:noFill/>
          <a:ln w="15875">
            <a:solidFill>
              <a:srgbClr val="1F2A1F"/>
            </a:solidFill>
            <a:prstDash val="solid"/>
          </a:ln>
        </p:spPr>
      </p:sp>
      <p:sp>
        <p:nvSpPr>
          <p:cNvPr id="51" name="Text 49"/>
          <p:cNvSpPr txBox="1"/>
          <p:nvPr/>
        </p:nvSpPr>
        <p:spPr>
          <a:xfrm>
            <a:off x="5404104" y="2487168"/>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52" name="Text 50"/>
          <p:cNvSpPr txBox="1"/>
          <p:nvPr/>
        </p:nvSpPr>
        <p:spPr>
          <a:xfrm>
            <a:off x="6364224" y="2907792"/>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0..1</a:t>
            </a:r>
            <a:endParaRPr lang="en-US" sz="850" dirty="0"/>
          </a:p>
        </p:txBody>
      </p:sp>
      <p:sp>
        <p:nvSpPr>
          <p:cNvPr id="53" name="Text 51"/>
          <p:cNvSpPr txBox="1"/>
          <p:nvPr/>
        </p:nvSpPr>
        <p:spPr>
          <a:xfrm>
            <a:off x="5440680" y="2660904"/>
            <a:ext cx="822960" cy="164592"/>
          </a:xfrm>
          <a:prstGeom prst="rect">
            <a:avLst/>
          </a:prstGeom>
          <a:noFill/>
          <a:ln/>
        </p:spPr>
        <p:txBody>
          <a:bodyPr wrap="square" lIns="0" tIns="0" rIns="0" bIns="0" rtlCol="0" anchor="ctr"/>
          <a:lstStyle/>
          <a:p>
            <a:pPr marL="0" indent="0" algn="ctr">
              <a:buNone/>
            </a:pPr>
            <a:r>
              <a:rPr lang="en-US" sz="800" i="1" dirty="0">
                <a:solidFill>
                  <a:srgbClr val="5C6B5C"/>
                </a:solidFill>
                <a:latin typeface="Calibri" pitchFamily="34" charset="0"/>
                <a:ea typeface="Calibri" pitchFamily="34" charset="-122"/>
                <a:cs typeface="Calibri" pitchFamily="34" charset="-120"/>
              </a:rPr>
              <a:t>hat ▶</a:t>
            </a:r>
            <a:endParaRPr lang="en-US" sz="800" dirty="0"/>
          </a:p>
        </p:txBody>
      </p:sp>
      <p:sp>
        <p:nvSpPr>
          <p:cNvPr id="54" name="Shape 52"/>
          <p:cNvSpPr/>
          <p:nvPr/>
        </p:nvSpPr>
        <p:spPr>
          <a:xfrm>
            <a:off x="7223760" y="1728216"/>
            <a:ext cx="914" cy="1362456"/>
          </a:xfrm>
          <a:prstGeom prst="line">
            <a:avLst/>
          </a:prstGeom>
          <a:noFill/>
          <a:ln w="15875">
            <a:solidFill>
              <a:srgbClr val="1F2A1F"/>
            </a:solidFill>
            <a:prstDash val="solid"/>
          </a:ln>
        </p:spPr>
      </p:sp>
      <p:sp>
        <p:nvSpPr>
          <p:cNvPr id="55" name="Text 53"/>
          <p:cNvSpPr txBox="1"/>
          <p:nvPr/>
        </p:nvSpPr>
        <p:spPr>
          <a:xfrm>
            <a:off x="7278624" y="1755648"/>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56" name="Text 54"/>
          <p:cNvSpPr txBox="1"/>
          <p:nvPr/>
        </p:nvSpPr>
        <p:spPr>
          <a:xfrm>
            <a:off x="7278624" y="2907792"/>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0..*</a:t>
            </a:r>
            <a:endParaRPr lang="en-US" sz="850" dirty="0"/>
          </a:p>
        </p:txBody>
      </p:sp>
      <p:sp>
        <p:nvSpPr>
          <p:cNvPr id="57" name="Text 55"/>
          <p:cNvSpPr txBox="1"/>
          <p:nvPr/>
        </p:nvSpPr>
        <p:spPr>
          <a:xfrm>
            <a:off x="7278624" y="2327148"/>
            <a:ext cx="640080" cy="164592"/>
          </a:xfrm>
          <a:prstGeom prst="rect">
            <a:avLst/>
          </a:prstGeom>
          <a:noFill/>
          <a:ln/>
        </p:spPr>
        <p:txBody>
          <a:bodyPr wrap="square" lIns="0" tIns="0" rIns="0" bIns="0" rtlCol="0" anchor="ctr"/>
          <a:lstStyle/>
          <a:p>
            <a:pPr marL="0" indent="0" algn="l">
              <a:buNone/>
            </a:pPr>
            <a:r>
              <a:rPr lang="en-US" sz="800" i="1" dirty="0">
                <a:solidFill>
                  <a:srgbClr val="5C6B5C"/>
                </a:solidFill>
                <a:latin typeface="Calibri" pitchFamily="34" charset="0"/>
                <a:ea typeface="Calibri" pitchFamily="34" charset="-122"/>
                <a:cs typeface="Calibri" pitchFamily="34" charset="-120"/>
              </a:rPr>
              <a:t>erteilt ▼</a:t>
            </a:r>
            <a:endParaRPr lang="en-US" sz="800" dirty="0"/>
          </a:p>
        </p:txBody>
      </p:sp>
      <p:sp>
        <p:nvSpPr>
          <p:cNvPr id="58" name="Shape 56"/>
          <p:cNvSpPr/>
          <p:nvPr/>
        </p:nvSpPr>
        <p:spPr>
          <a:xfrm>
            <a:off x="411480" y="4315968"/>
            <a:ext cx="8321040" cy="420624"/>
          </a:xfrm>
          <a:prstGeom prst="roundRect">
            <a:avLst>
              <a:gd name="adj" fmla="val 17391"/>
            </a:avLst>
          </a:prstGeom>
          <a:solidFill>
            <a:srgbClr val="EEF4E8"/>
          </a:solidFill>
          <a:ln w="12700">
            <a:solidFill>
              <a:srgbClr val="EEF4E8"/>
            </a:solidFill>
            <a:prstDash val="solid"/>
          </a:ln>
        </p:spPr>
      </p:sp>
      <p:sp>
        <p:nvSpPr>
          <p:cNvPr id="59" name="Text 57"/>
          <p:cNvSpPr txBox="1"/>
          <p:nvPr/>
        </p:nvSpPr>
        <p:spPr>
          <a:xfrm>
            <a:off x="548640" y="4315968"/>
            <a:ext cx="8046720" cy="420624"/>
          </a:xfrm>
          <a:prstGeom prst="rect">
            <a:avLst/>
          </a:prstGeom>
          <a:noFill/>
          <a:ln/>
        </p:spPr>
        <p:txBody>
          <a:bodyPr wrap="square" lIns="0" tIns="0" rIns="0" bIns="0" rtlCol="0" anchor="ctr"/>
          <a:lstStyle/>
          <a:p>
            <a:pPr marL="0" indent="0">
              <a:buNone/>
            </a:pPr>
            <a:r>
              <a:rPr lang="en-US" sz="800" b="1" dirty="0">
                <a:solidFill>
                  <a:srgbClr val="2C5F2D"/>
                </a:solidFill>
                <a:latin typeface="Calibri" pitchFamily="34" charset="0"/>
                <a:ea typeface="Calibri" pitchFamily="34" charset="-122"/>
                <a:cs typeface="Calibri" pitchFamily="34" charset="-120"/>
              </a:rPr>
              <a:t>Lesart: </a:t>
            </a:r>
            <a:r>
              <a:rPr lang="en-US" sz="800" dirty="0">
                <a:solidFill>
                  <a:srgbClr val="1F2A1F"/>
                </a:solidFill>
                <a:latin typeface="Calibri" pitchFamily="34" charset="0"/>
                <a:ea typeface="Calibri" pitchFamily="34" charset="-122"/>
                <a:cs typeface="Calibri" pitchFamily="34" charset="-120"/>
              </a:rPr>
              <a:t>Ein Antrag enthält genau ein Thema (Komposition), hat höchstens eine Themenfreigabe und beliebig viele Änderungswünsche.  </a:t>
            </a:r>
            <a:r>
              <a:rPr lang="en-US" sz="800" b="1" dirty="0">
                <a:solidFill>
                  <a:srgbClr val="2C5F2D"/>
                </a:solidFill>
                <a:latin typeface="Calibri" pitchFamily="34" charset="0"/>
                <a:ea typeface="Calibri" pitchFamily="34" charset="-122"/>
                <a:cs typeface="Calibri" pitchFamily="34" charset="-120"/>
              </a:rPr>
              <a:t>PK</a:t>
            </a:r>
            <a:r>
              <a:rPr lang="en-US" sz="800" dirty="0">
                <a:solidFill>
                  <a:srgbClr val="1F2A1F"/>
                </a:solidFill>
                <a:latin typeface="Calibri" pitchFamily="34" charset="0"/>
                <a:ea typeface="Calibri" pitchFamily="34" charset="-122"/>
                <a:cs typeface="Calibri" pitchFamily="34" charset="-120"/>
              </a:rPr>
              <a:t> = Primärschlüssel,  </a:t>
            </a:r>
            <a:r>
              <a:rPr lang="en-US" sz="800" b="1" dirty="0">
                <a:solidFill>
                  <a:srgbClr val="2C5F2D"/>
                </a:solidFill>
                <a:latin typeface="Calibri" pitchFamily="34" charset="0"/>
                <a:ea typeface="Calibri" pitchFamily="34" charset="-122"/>
                <a:cs typeface="Calibri" pitchFamily="34" charset="-120"/>
              </a:rPr>
              <a:t>FK</a:t>
            </a:r>
            <a:r>
              <a:rPr lang="en-US" sz="800" dirty="0">
                <a:solidFill>
                  <a:srgbClr val="1F2A1F"/>
                </a:solidFill>
                <a:latin typeface="Calibri" pitchFamily="34" charset="0"/>
                <a:ea typeface="Calibri" pitchFamily="34" charset="-122"/>
                <a:cs typeface="Calibri" pitchFamily="34" charset="-120"/>
              </a:rPr>
              <a:t> = Fremdschlüssel,  Pfeil = Leserichtung.  Abschlussart = Bachelor, Master; Antragsstatus noch zu validieren.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5. Control</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5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5 Satzschablonen</a:t>
            </a:r>
            <a:endParaRPr lang="en-US" sz="750" dirty="0"/>
          </a:p>
        </p:txBody>
      </p:sp>
      <p:sp>
        <p:nvSpPr>
          <p:cNvPr id="7" name="Shape 5"/>
          <p:cNvSpPr/>
          <p:nvPr/>
        </p:nvSpPr>
        <p:spPr>
          <a:xfrm>
            <a:off x="411480" y="987552"/>
            <a:ext cx="8321040" cy="493776"/>
          </a:xfrm>
          <a:prstGeom prst="roundRect">
            <a:avLst>
              <a:gd name="adj" fmla="val 14815"/>
            </a:avLst>
          </a:prstGeom>
          <a:solidFill>
            <a:srgbClr val="EEF4E8"/>
          </a:solidFill>
          <a:ln w="12700">
            <a:solidFill>
              <a:srgbClr val="EEF4E8"/>
            </a:solidFill>
            <a:prstDash val="solid"/>
          </a:ln>
        </p:spPr>
      </p:sp>
      <p:sp>
        <p:nvSpPr>
          <p:cNvPr id="8" name="Shape 6"/>
          <p:cNvSpPr/>
          <p:nvPr/>
        </p:nvSpPr>
        <p:spPr>
          <a:xfrm>
            <a:off x="502920" y="1078992"/>
            <a:ext cx="457200" cy="310896"/>
          </a:xfrm>
          <a:prstGeom prst="roundRect">
            <a:avLst>
              <a:gd name="adj" fmla="val 14706"/>
            </a:avLst>
          </a:prstGeom>
          <a:solidFill>
            <a:srgbClr val="2C5F2D"/>
          </a:solidFill>
          <a:ln w="12700">
            <a:solidFill>
              <a:srgbClr val="2C5F2D"/>
            </a:solidFill>
            <a:prstDash val="solid"/>
          </a:ln>
        </p:spPr>
      </p:sp>
      <p:sp>
        <p:nvSpPr>
          <p:cNvPr id="9" name="Text 7"/>
          <p:cNvSpPr txBox="1"/>
          <p:nvPr/>
        </p:nvSpPr>
        <p:spPr>
          <a:xfrm>
            <a:off x="502920" y="107899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C1</a:t>
            </a:r>
            <a:endParaRPr lang="en-US" sz="1050" dirty="0"/>
          </a:p>
        </p:txBody>
      </p:sp>
      <p:sp>
        <p:nvSpPr>
          <p:cNvPr id="10" name="Text 8"/>
          <p:cNvSpPr txBox="1"/>
          <p:nvPr/>
        </p:nvSpPr>
        <p:spPr>
          <a:xfrm>
            <a:off x="1097280" y="98755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Das System muss der Erstprüfer:in die Möglichkeit bieten, den ihr zugeordneten Antrag mit dem Thema aufzurufen.</a:t>
            </a:r>
            <a:endParaRPr lang="en-US" sz="950" dirty="0"/>
          </a:p>
        </p:txBody>
      </p:sp>
      <p:sp>
        <p:nvSpPr>
          <p:cNvPr id="11" name="Text 9"/>
          <p:cNvSpPr txBox="1"/>
          <p:nvPr/>
        </p:nvSpPr>
        <p:spPr>
          <a:xfrm>
            <a:off x="6675120" y="98755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User Story 4.1.1</a:t>
            </a:r>
            <a:endParaRPr lang="en-US" sz="750" dirty="0"/>
          </a:p>
        </p:txBody>
      </p:sp>
      <p:sp>
        <p:nvSpPr>
          <p:cNvPr id="12" name="Shape 10"/>
          <p:cNvSpPr/>
          <p:nvPr/>
        </p:nvSpPr>
        <p:spPr>
          <a:xfrm>
            <a:off x="411480" y="1536192"/>
            <a:ext cx="8321040" cy="493776"/>
          </a:xfrm>
          <a:prstGeom prst="roundRect">
            <a:avLst>
              <a:gd name="adj" fmla="val 14815"/>
            </a:avLst>
          </a:prstGeom>
          <a:solidFill>
            <a:srgbClr val="EEF4E8"/>
          </a:solidFill>
          <a:ln w="12700">
            <a:solidFill>
              <a:srgbClr val="EEF4E8"/>
            </a:solidFill>
            <a:prstDash val="solid"/>
          </a:ln>
        </p:spPr>
      </p:sp>
      <p:sp>
        <p:nvSpPr>
          <p:cNvPr id="13" name="Shape 11"/>
          <p:cNvSpPr/>
          <p:nvPr/>
        </p:nvSpPr>
        <p:spPr>
          <a:xfrm>
            <a:off x="502920" y="1627632"/>
            <a:ext cx="457200" cy="310896"/>
          </a:xfrm>
          <a:prstGeom prst="roundRect">
            <a:avLst>
              <a:gd name="adj" fmla="val 14706"/>
            </a:avLst>
          </a:prstGeom>
          <a:solidFill>
            <a:srgbClr val="2C5F2D"/>
          </a:solidFill>
          <a:ln w="12700">
            <a:solidFill>
              <a:srgbClr val="2C5F2D"/>
            </a:solidFill>
            <a:prstDash val="solid"/>
          </a:ln>
        </p:spPr>
      </p:sp>
      <p:sp>
        <p:nvSpPr>
          <p:cNvPr id="14" name="Text 12"/>
          <p:cNvSpPr txBox="1"/>
          <p:nvPr/>
        </p:nvSpPr>
        <p:spPr>
          <a:xfrm>
            <a:off x="502920" y="162763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C2</a:t>
            </a:r>
            <a:endParaRPr lang="en-US" sz="1050" dirty="0"/>
          </a:p>
        </p:txBody>
      </p:sp>
      <p:sp>
        <p:nvSpPr>
          <p:cNvPr id="15" name="Text 13"/>
          <p:cNvSpPr txBox="1"/>
          <p:nvPr/>
        </p:nvSpPr>
        <p:spPr>
          <a:xfrm>
            <a:off x="1097280" y="153619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Falls der Prüfungsausschuss den Antrag angenommen hat, muss das System der Erstprüfer:in die Möglichkeit bieten, das Thema zu bestätigen und freizugeben.</a:t>
            </a:r>
            <a:endParaRPr lang="en-US" sz="950" dirty="0"/>
          </a:p>
        </p:txBody>
      </p:sp>
      <p:sp>
        <p:nvSpPr>
          <p:cNvPr id="16" name="Text 14"/>
          <p:cNvSpPr txBox="1"/>
          <p:nvPr/>
        </p:nvSpPr>
        <p:spPr>
          <a:xfrm>
            <a:off x="6675120" y="153619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Zulassungsantrag, Schritte 4 und 5; US 3.2.1</a:t>
            </a:r>
            <a:endParaRPr lang="en-US" sz="750" dirty="0"/>
          </a:p>
        </p:txBody>
      </p:sp>
      <p:sp>
        <p:nvSpPr>
          <p:cNvPr id="17" name="Shape 15"/>
          <p:cNvSpPr/>
          <p:nvPr/>
        </p:nvSpPr>
        <p:spPr>
          <a:xfrm>
            <a:off x="411480" y="2084832"/>
            <a:ext cx="8321040" cy="493776"/>
          </a:xfrm>
          <a:prstGeom prst="roundRect">
            <a:avLst>
              <a:gd name="adj" fmla="val 14815"/>
            </a:avLst>
          </a:prstGeom>
          <a:solidFill>
            <a:srgbClr val="EEF4E8"/>
          </a:solidFill>
          <a:ln w="12700">
            <a:solidFill>
              <a:srgbClr val="EEF4E8"/>
            </a:solidFill>
            <a:prstDash val="solid"/>
          </a:ln>
        </p:spPr>
      </p:sp>
      <p:sp>
        <p:nvSpPr>
          <p:cNvPr id="18" name="Shape 16"/>
          <p:cNvSpPr/>
          <p:nvPr/>
        </p:nvSpPr>
        <p:spPr>
          <a:xfrm>
            <a:off x="502920" y="2176272"/>
            <a:ext cx="457200" cy="310896"/>
          </a:xfrm>
          <a:prstGeom prst="roundRect">
            <a:avLst>
              <a:gd name="adj" fmla="val 14706"/>
            </a:avLst>
          </a:prstGeom>
          <a:solidFill>
            <a:srgbClr val="2C5F2D"/>
          </a:solidFill>
          <a:ln w="12700">
            <a:solidFill>
              <a:srgbClr val="2C5F2D"/>
            </a:solidFill>
            <a:prstDash val="solid"/>
          </a:ln>
        </p:spPr>
      </p:sp>
      <p:sp>
        <p:nvSpPr>
          <p:cNvPr id="19" name="Text 17"/>
          <p:cNvSpPr txBox="1"/>
          <p:nvPr/>
        </p:nvSpPr>
        <p:spPr>
          <a:xfrm>
            <a:off x="502920" y="217627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C3</a:t>
            </a:r>
            <a:endParaRPr lang="en-US" sz="1050" dirty="0"/>
          </a:p>
        </p:txBody>
      </p:sp>
      <p:sp>
        <p:nvSpPr>
          <p:cNvPr id="20" name="Text 18"/>
          <p:cNvSpPr txBox="1"/>
          <p:nvPr/>
        </p:nvSpPr>
        <p:spPr>
          <a:xfrm>
            <a:off x="1097280" y="208483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Das System muss ausschließlich der dem Antrag zugeordneten Erstprüfer:in die Möglichkeit bieten, das Thema freizugeben.</a:t>
            </a:r>
            <a:endParaRPr lang="en-US" sz="950" dirty="0"/>
          </a:p>
        </p:txBody>
      </p:sp>
      <p:sp>
        <p:nvSpPr>
          <p:cNvPr id="21" name="Text 19"/>
          <p:cNvSpPr txBox="1"/>
          <p:nvPr/>
        </p:nvSpPr>
        <p:spPr>
          <a:xfrm>
            <a:off x="6675120" y="208483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Zulassungsantrag: 1. Prüfer(in) gibt aus</a:t>
            </a:r>
            <a:endParaRPr lang="en-US" sz="750" dirty="0"/>
          </a:p>
        </p:txBody>
      </p:sp>
      <p:sp>
        <p:nvSpPr>
          <p:cNvPr id="22" name="Shape 20"/>
          <p:cNvSpPr/>
          <p:nvPr/>
        </p:nvSpPr>
        <p:spPr>
          <a:xfrm>
            <a:off x="411480" y="2633472"/>
            <a:ext cx="8321040" cy="493776"/>
          </a:xfrm>
          <a:prstGeom prst="roundRect">
            <a:avLst>
              <a:gd name="adj" fmla="val 14815"/>
            </a:avLst>
          </a:prstGeom>
          <a:solidFill>
            <a:srgbClr val="EEF4E8"/>
          </a:solidFill>
          <a:ln w="12700">
            <a:solidFill>
              <a:srgbClr val="EEF4E8"/>
            </a:solidFill>
            <a:prstDash val="solid"/>
          </a:ln>
        </p:spPr>
      </p:sp>
      <p:sp>
        <p:nvSpPr>
          <p:cNvPr id="23" name="Shape 21"/>
          <p:cNvSpPr/>
          <p:nvPr/>
        </p:nvSpPr>
        <p:spPr>
          <a:xfrm>
            <a:off x="502920" y="2724912"/>
            <a:ext cx="457200" cy="310896"/>
          </a:xfrm>
          <a:prstGeom prst="roundRect">
            <a:avLst>
              <a:gd name="adj" fmla="val 14706"/>
            </a:avLst>
          </a:prstGeom>
          <a:solidFill>
            <a:srgbClr val="2C5F2D"/>
          </a:solidFill>
          <a:ln w="12700">
            <a:solidFill>
              <a:srgbClr val="2C5F2D"/>
            </a:solidFill>
            <a:prstDash val="solid"/>
          </a:ln>
        </p:spPr>
      </p:sp>
      <p:sp>
        <p:nvSpPr>
          <p:cNvPr id="24" name="Text 22"/>
          <p:cNvSpPr txBox="1"/>
          <p:nvPr/>
        </p:nvSpPr>
        <p:spPr>
          <a:xfrm>
            <a:off x="502920" y="272491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C4</a:t>
            </a:r>
            <a:endParaRPr lang="en-US" sz="1050" dirty="0"/>
          </a:p>
        </p:txBody>
      </p:sp>
      <p:sp>
        <p:nvSpPr>
          <p:cNvPr id="25" name="Text 23"/>
          <p:cNvSpPr txBox="1"/>
          <p:nvPr/>
        </p:nvSpPr>
        <p:spPr>
          <a:xfrm>
            <a:off x="1097280" y="263347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Sobald die Erstprüfer:in das Thema freigegeben hat, muss das System die Themenfreigabe mit Thema und Zeitpunkt speichern.</a:t>
            </a:r>
            <a:endParaRPr lang="en-US" sz="950" dirty="0"/>
          </a:p>
        </p:txBody>
      </p:sp>
      <p:sp>
        <p:nvSpPr>
          <p:cNvPr id="26" name="Text 24"/>
          <p:cNvSpPr txBox="1"/>
          <p:nvPr/>
        </p:nvSpPr>
        <p:spPr>
          <a:xfrm>
            <a:off x="6675120" y="263347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Allg. PO THM § 17 (3), laut Zulassungsantrag</a:t>
            </a:r>
            <a:endParaRPr lang="en-US" sz="750" dirty="0"/>
          </a:p>
        </p:txBody>
      </p:sp>
      <p:sp>
        <p:nvSpPr>
          <p:cNvPr id="27" name="Shape 25"/>
          <p:cNvSpPr/>
          <p:nvPr/>
        </p:nvSpPr>
        <p:spPr>
          <a:xfrm>
            <a:off x="411480" y="3182112"/>
            <a:ext cx="8321040" cy="493776"/>
          </a:xfrm>
          <a:prstGeom prst="roundRect">
            <a:avLst>
              <a:gd name="adj" fmla="val 14815"/>
            </a:avLst>
          </a:prstGeom>
          <a:solidFill>
            <a:srgbClr val="EEF4E8"/>
          </a:solidFill>
          <a:ln w="12700">
            <a:solidFill>
              <a:srgbClr val="EEF4E8"/>
            </a:solidFill>
            <a:prstDash val="solid"/>
          </a:ln>
        </p:spPr>
      </p:sp>
      <p:sp>
        <p:nvSpPr>
          <p:cNvPr id="28" name="Shape 26"/>
          <p:cNvSpPr/>
          <p:nvPr/>
        </p:nvSpPr>
        <p:spPr>
          <a:xfrm>
            <a:off x="502920" y="3273552"/>
            <a:ext cx="457200" cy="310896"/>
          </a:xfrm>
          <a:prstGeom prst="roundRect">
            <a:avLst>
              <a:gd name="adj" fmla="val 14706"/>
            </a:avLst>
          </a:prstGeom>
          <a:solidFill>
            <a:srgbClr val="2C5F2D"/>
          </a:solidFill>
          <a:ln w="12700">
            <a:solidFill>
              <a:srgbClr val="2C5F2D"/>
            </a:solidFill>
            <a:prstDash val="solid"/>
          </a:ln>
        </p:spPr>
      </p:sp>
      <p:sp>
        <p:nvSpPr>
          <p:cNvPr id="29" name="Text 27"/>
          <p:cNvSpPr txBox="1"/>
          <p:nvPr/>
        </p:nvSpPr>
        <p:spPr>
          <a:xfrm>
            <a:off x="502920" y="327355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C5</a:t>
            </a:r>
            <a:endParaRPr lang="en-US" sz="1050" dirty="0"/>
          </a:p>
        </p:txBody>
      </p:sp>
      <p:sp>
        <p:nvSpPr>
          <p:cNvPr id="30" name="Text 28"/>
          <p:cNvSpPr txBox="1"/>
          <p:nvPr/>
        </p:nvSpPr>
        <p:spPr>
          <a:xfrm>
            <a:off x="1097280" y="318211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Falls die Erstprüfer:in das Thema nicht bestätigt, muss das System ihr die Möglichkeit bieten, einen Änderungswunsch einzutragen.</a:t>
            </a:r>
            <a:endParaRPr lang="en-US" sz="950" dirty="0"/>
          </a:p>
        </p:txBody>
      </p:sp>
      <p:sp>
        <p:nvSpPr>
          <p:cNvPr id="31" name="Text 29"/>
          <p:cNvSpPr txBox="1"/>
          <p:nvPr/>
        </p:nvSpPr>
        <p:spPr>
          <a:xfrm>
            <a:off x="6675120" y="318211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Aktivitätsdiagramm des Teams</a:t>
            </a:r>
            <a:endParaRPr lang="en-US" sz="750" dirty="0"/>
          </a:p>
        </p:txBody>
      </p:sp>
      <p:sp>
        <p:nvSpPr>
          <p:cNvPr id="32" name="Shape 30"/>
          <p:cNvSpPr/>
          <p:nvPr/>
        </p:nvSpPr>
        <p:spPr>
          <a:xfrm>
            <a:off x="411480" y="3730752"/>
            <a:ext cx="8321040" cy="493776"/>
          </a:xfrm>
          <a:prstGeom prst="roundRect">
            <a:avLst>
              <a:gd name="adj" fmla="val 14815"/>
            </a:avLst>
          </a:prstGeom>
          <a:solidFill>
            <a:srgbClr val="EEF4E8"/>
          </a:solidFill>
          <a:ln w="12700">
            <a:solidFill>
              <a:srgbClr val="EEF4E8"/>
            </a:solidFill>
            <a:prstDash val="solid"/>
          </a:ln>
        </p:spPr>
      </p:sp>
      <p:sp>
        <p:nvSpPr>
          <p:cNvPr id="33" name="Shape 31"/>
          <p:cNvSpPr/>
          <p:nvPr/>
        </p:nvSpPr>
        <p:spPr>
          <a:xfrm>
            <a:off x="502920" y="3822192"/>
            <a:ext cx="457200" cy="310896"/>
          </a:xfrm>
          <a:prstGeom prst="roundRect">
            <a:avLst>
              <a:gd name="adj" fmla="val 14706"/>
            </a:avLst>
          </a:prstGeom>
          <a:solidFill>
            <a:srgbClr val="2C5F2D"/>
          </a:solidFill>
          <a:ln w="12700">
            <a:solidFill>
              <a:srgbClr val="2C5F2D"/>
            </a:solidFill>
            <a:prstDash val="solid"/>
          </a:ln>
        </p:spPr>
      </p:sp>
      <p:sp>
        <p:nvSpPr>
          <p:cNvPr id="34" name="Text 32"/>
          <p:cNvSpPr txBox="1"/>
          <p:nvPr/>
        </p:nvSpPr>
        <p:spPr>
          <a:xfrm>
            <a:off x="502920" y="382219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C6</a:t>
            </a:r>
            <a:endParaRPr lang="en-US" sz="1050" dirty="0"/>
          </a:p>
        </p:txBody>
      </p:sp>
      <p:sp>
        <p:nvSpPr>
          <p:cNvPr id="35" name="Text 33"/>
          <p:cNvSpPr txBox="1"/>
          <p:nvPr/>
        </p:nvSpPr>
        <p:spPr>
          <a:xfrm>
            <a:off x="1097280" y="373075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Sobald die Themenfreigabe gespeichert ist, muss das System den Antrag für das Festlegen der Bearbeitungszeit bereitstellen.</a:t>
            </a:r>
            <a:endParaRPr lang="en-US" sz="950" dirty="0"/>
          </a:p>
        </p:txBody>
      </p:sp>
      <p:sp>
        <p:nvSpPr>
          <p:cNvPr id="36" name="Text 34"/>
          <p:cNvSpPr txBox="1"/>
          <p:nvPr/>
        </p:nvSpPr>
        <p:spPr>
          <a:xfrm>
            <a:off x="6675120" y="3730752"/>
            <a:ext cx="1965960" cy="493776"/>
          </a:xfrm>
          <a:prstGeom prst="rect">
            <a:avLst/>
          </a:prstGeom>
          <a:noFill/>
          <a:ln/>
        </p:spPr>
        <p:txBody>
          <a:bodyPr wrap="square" lIns="0" tIns="0" rIns="0" bIns="0" rtlCol="0" anchor="ctr"/>
          <a:lstStyle/>
          <a:p>
            <a:pPr marL="0" indent="0">
              <a:buNone/>
            </a:pPr>
            <a:r>
              <a:rPr lang="en-US" sz="750" i="1" dirty="0">
                <a:solidFill>
                  <a:srgbClr val="7A5C00"/>
                </a:solidFill>
                <a:latin typeface="Calibri" pitchFamily="34" charset="0"/>
                <a:ea typeface="Calibri" pitchFamily="34" charset="-122"/>
                <a:cs typeface="Calibri" pitchFamily="34" charset="-120"/>
              </a:rPr>
              <a:t>abgeleitet aus User Task 4.1 und 4.2, zu validieren</a:t>
            </a:r>
            <a:endParaRPr lang="en-US" sz="750" dirty="0"/>
          </a:p>
        </p:txBody>
      </p:sp>
      <p:sp>
        <p:nvSpPr>
          <p:cNvPr id="37" name="Text 35"/>
          <p:cNvSpPr txBox="1"/>
          <p:nvPr/>
        </p:nvSpPr>
        <p:spPr>
          <a:xfrm>
            <a:off x="411480" y="4315968"/>
            <a:ext cx="8321040" cy="365760"/>
          </a:xfrm>
          <a:prstGeom prst="rect">
            <a:avLst/>
          </a:prstGeom>
          <a:noFill/>
          <a:ln/>
        </p:spPr>
        <p:txBody>
          <a:bodyPr wrap="square" lIns="0" tIns="0" rIns="0" bIns="0" rtlCol="0" anchor="ctr"/>
          <a:lstStyle/>
          <a:p>
            <a:pPr marL="0" indent="0">
              <a:buNone/>
            </a:pPr>
            <a:r>
              <a:rPr lang="en-US" sz="900" b="1" dirty="0">
                <a:solidFill>
                  <a:srgbClr val="2C5F2D"/>
                </a:solidFill>
                <a:latin typeface="Calibri" pitchFamily="34" charset="0"/>
                <a:ea typeface="Calibri" pitchFamily="34" charset="-122"/>
                <a:cs typeface="Calibri" pitchFamily="34" charset="-120"/>
              </a:rPr>
              <a:t>Satzschablone:  </a:t>
            </a:r>
            <a:r>
              <a:rPr lang="en-US" sz="900" dirty="0">
                <a:solidFill>
                  <a:srgbClr val="5C6B5C"/>
                </a:solidFill>
                <a:latin typeface="Calibri" pitchFamily="34" charset="0"/>
                <a:ea typeface="Calibri" pitchFamily="34" charset="-122"/>
                <a:cs typeface="Calibri" pitchFamily="34" charset="-120"/>
              </a:rPr>
              <a:t>[Wann? Unter welcher Bedingung?]  muss das System  [wem?]  die Möglichkeit bieten,  [Objekt]  [Prozesswort].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6. Environment</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6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2 System und Systemkontext abgrenzen</a:t>
            </a:r>
            <a:endParaRPr lang="en-US" sz="750" dirty="0"/>
          </a:p>
        </p:txBody>
      </p:sp>
      <p:graphicFrame>
        <p:nvGraphicFramePr>
          <p:cNvPr id="8" name="Table 0"/>
          <p:cNvGraphicFramePr>
            <a:graphicFrameLocks noGrp="1"/>
          </p:cNvGraphicFramePr>
          <p:nvPr>
            <p:extLst>
              <p:ext uri="{D42A27DB-BD31-4B8C-83A1-F6EECF244321}">
                <p14:modId xmlns:p14="http://schemas.microsoft.com/office/powerpoint/2010/main" val="18366138"/>
              </p:ext>
            </p:extLst>
          </p:nvPr>
        </p:nvGraphicFramePr>
        <p:xfrm>
          <a:off x="411480" y="987552"/>
          <a:ext cx="8321040" cy="3474720"/>
        </p:xfrm>
        <a:graphic>
          <a:graphicData uri="http://schemas.openxmlformats.org/drawingml/2006/table">
            <a:tbl>
              <a:tblPr/>
              <a:tblGrid>
                <a:gridCol w="10515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9260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Bereich</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Relevante Umgebung</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Bedeutung für die User Story</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603504">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Personen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Erstprüfer:in, </a:t>
                      </a:r>
                      <a:r>
                        <a:rPr lang="en-US" sz="850" dirty="0" err="1">
                          <a:solidFill>
                            <a:srgbClr val="1F2A1F"/>
                          </a:solidFill>
                          <a:latin typeface="Calibri" pitchFamily="34" charset="0"/>
                          <a:ea typeface="Calibri" pitchFamily="34" charset="-122"/>
                          <a:cs typeface="Calibri" pitchFamily="34" charset="-120"/>
                        </a:rPr>
                        <a:t>Studierende:r</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Studierende:r hat das Thema </a:t>
                      </a:r>
                      <a:r>
                        <a:rPr lang="en-US" sz="850" dirty="0" err="1">
                          <a:solidFill>
                            <a:srgbClr val="1F2A1F"/>
                          </a:solidFill>
                          <a:latin typeface="Calibri" pitchFamily="34" charset="0"/>
                          <a:ea typeface="Calibri" pitchFamily="34" charset="-122"/>
                          <a:cs typeface="Calibri" pitchFamily="34" charset="-120"/>
                        </a:rPr>
                        <a:t>vorgeschlagen</a:t>
                      </a:r>
                      <a:r>
                        <a:rPr lang="en-US" sz="850" dirty="0">
                          <a:solidFill>
                            <a:srgbClr val="1F2A1F"/>
                          </a:solidFill>
                          <a:latin typeface="Calibri" pitchFamily="34" charset="0"/>
                          <a:ea typeface="Calibri" pitchFamily="34" charset="-122"/>
                          <a:cs typeface="Calibri" pitchFamily="34" charset="-120"/>
                        </a:rPr>
                        <a:t>. Die </a:t>
                      </a:r>
                      <a:r>
                        <a:rPr lang="en-US" sz="850" dirty="0" err="1">
                          <a:solidFill>
                            <a:srgbClr val="1F2A1F"/>
                          </a:solidFill>
                          <a:latin typeface="Calibri" pitchFamily="34" charset="0"/>
                          <a:ea typeface="Calibri" pitchFamily="34" charset="-122"/>
                          <a:cs typeface="Calibri" pitchFamily="34" charset="-120"/>
                        </a:rPr>
                        <a:t>Erstprüfer:in</a:t>
                      </a:r>
                      <a:r>
                        <a:rPr lang="en-US" sz="850" dirty="0">
                          <a:solidFill>
                            <a:srgbClr val="1F2A1F"/>
                          </a:solidFill>
                          <a:latin typeface="Calibri" pitchFamily="34" charset="0"/>
                          <a:ea typeface="Calibri" pitchFamily="34" charset="-122"/>
                          <a:cs typeface="Calibri" pitchFamily="34" charset="-120"/>
                        </a:rPr>
                        <a:t> </a:t>
                      </a:r>
                      <a:r>
                        <a:rPr lang="en-US" sz="850" dirty="0" err="1">
                          <a:solidFill>
                            <a:srgbClr val="1F2A1F"/>
                          </a:solidFill>
                          <a:latin typeface="Calibri" pitchFamily="34" charset="0"/>
                          <a:ea typeface="Calibri" pitchFamily="34" charset="-122"/>
                          <a:cs typeface="Calibri" pitchFamily="34" charset="-120"/>
                        </a:rPr>
                        <a:t>prüft</a:t>
                      </a:r>
                      <a:r>
                        <a:rPr lang="en-US" sz="850" dirty="0">
                          <a:solidFill>
                            <a:srgbClr val="1F2A1F"/>
                          </a:solidFill>
                          <a:latin typeface="Calibri" pitchFamily="34" charset="0"/>
                          <a:ea typeface="Calibri" pitchFamily="34" charset="-122"/>
                          <a:cs typeface="Calibri" pitchFamily="34" charset="-120"/>
                        </a:rPr>
                        <a:t>/</a:t>
                      </a:r>
                      <a:r>
                        <a:rPr lang="en-US" sz="850" dirty="0" err="1">
                          <a:solidFill>
                            <a:srgbClr val="1F2A1F"/>
                          </a:solidFill>
                          <a:latin typeface="Calibri" pitchFamily="34" charset="0"/>
                          <a:ea typeface="Calibri" pitchFamily="34" charset="-122"/>
                          <a:cs typeface="Calibri" pitchFamily="34" charset="-120"/>
                        </a:rPr>
                        <a:t>bestätigt</a:t>
                      </a:r>
                      <a:r>
                        <a:rPr lang="en-US" sz="850" dirty="0">
                          <a:solidFill>
                            <a:srgbClr val="1F2A1F"/>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Systeme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THM-Login für die Anmeldung, E-Mail-Dienst der THM</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Anmeldung identifiziert die Erstprüfer:in. Der Weg der Benachrichtigung ist noch zu validieren.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Prozesse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Activity 4 „Ausgabe der Arbeit“ </a:t>
                      </a:r>
                      <a:r>
                        <a:rPr lang="en-US" sz="850" dirty="0" err="1">
                          <a:solidFill>
                            <a:srgbClr val="1F2A1F"/>
                          </a:solidFill>
                          <a:latin typeface="Calibri" pitchFamily="34" charset="0"/>
                          <a:ea typeface="Calibri" pitchFamily="34" charset="-122"/>
                          <a:cs typeface="Calibri" pitchFamily="34" charset="-120"/>
                        </a:rPr>
                        <a:t>im</a:t>
                      </a:r>
                      <a:r>
                        <a:rPr lang="en-US" sz="850" dirty="0">
                          <a:solidFill>
                            <a:srgbClr val="1F2A1F"/>
                          </a:solidFill>
                          <a:latin typeface="Calibri" pitchFamily="34" charset="0"/>
                          <a:ea typeface="Calibri" pitchFamily="34" charset="-122"/>
                          <a:cs typeface="Calibri" pitchFamily="34" charset="-120"/>
                        </a:rPr>
                        <a:t> </a:t>
                      </a:r>
                      <a:r>
                        <a:rPr lang="en-US" sz="850" dirty="0" err="1">
                          <a:solidFill>
                            <a:srgbClr val="1F2A1F"/>
                          </a:solidFill>
                          <a:latin typeface="Calibri" pitchFamily="34" charset="0"/>
                          <a:ea typeface="Calibri" pitchFamily="34" charset="-122"/>
                          <a:cs typeface="Calibri" pitchFamily="34" charset="-120"/>
                        </a:rPr>
                        <a:t>Anmeldeprozess</a:t>
                      </a:r>
                      <a:r>
                        <a:rPr lang="en-US" sz="850" dirty="0">
                          <a:solidFill>
                            <a:srgbClr val="1F2A1F"/>
                          </a:solidFill>
                          <a:latin typeface="Calibri" pitchFamily="34" charset="0"/>
                          <a:ea typeface="Calibri" pitchFamily="34" charset="-122"/>
                          <a:cs typeface="Calibri" pitchFamily="34" charset="-120"/>
                        </a:rPr>
                        <a:t> (Trigger)</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Themenfreigabe liegt zwischen der Entscheidung des Prüfungsausschusses und dem Festlegen der Bearbeitungszeit.</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Ereignisse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err="1">
                          <a:solidFill>
                            <a:srgbClr val="1F2A1F"/>
                          </a:solidFill>
                          <a:latin typeface="Calibri" pitchFamily="34" charset="0"/>
                          <a:ea typeface="Calibri" pitchFamily="34" charset="-122"/>
                          <a:cs typeface="Calibri" pitchFamily="34" charset="-120"/>
                        </a:rPr>
                        <a:t>Antrag</a:t>
                      </a:r>
                      <a:r>
                        <a:rPr lang="en-US" sz="850" dirty="0">
                          <a:solidFill>
                            <a:srgbClr val="1F2A1F"/>
                          </a:solidFill>
                          <a:latin typeface="Calibri" pitchFamily="34" charset="0"/>
                          <a:ea typeface="Calibri" pitchFamily="34" charset="-122"/>
                          <a:cs typeface="Calibri" pitchFamily="34" charset="-120"/>
                        </a:rPr>
                        <a:t> </a:t>
                      </a:r>
                      <a:r>
                        <a:rPr lang="en-US" sz="850" dirty="0" err="1">
                          <a:solidFill>
                            <a:srgbClr val="1F2A1F"/>
                          </a:solidFill>
                          <a:latin typeface="Calibri" pitchFamily="34" charset="0"/>
                          <a:ea typeface="Calibri" pitchFamily="34" charset="-122"/>
                          <a:cs typeface="Calibri" pitchFamily="34" charset="-120"/>
                        </a:rPr>
                        <a:t>vom</a:t>
                      </a:r>
                      <a:r>
                        <a:rPr lang="en-US" sz="850" dirty="0">
                          <a:solidFill>
                            <a:srgbClr val="1F2A1F"/>
                          </a:solidFill>
                          <a:latin typeface="Calibri" pitchFamily="34" charset="0"/>
                          <a:ea typeface="Calibri" pitchFamily="34" charset="-122"/>
                          <a:cs typeface="Calibri" pitchFamily="34" charset="-120"/>
                        </a:rPr>
                        <a:t> Erst </a:t>
                      </a:r>
                      <a:r>
                        <a:rPr lang="en-US" sz="850" dirty="0" err="1">
                          <a:solidFill>
                            <a:srgbClr val="1F2A1F"/>
                          </a:solidFill>
                          <a:latin typeface="Calibri" pitchFamily="34" charset="0"/>
                          <a:ea typeface="Calibri" pitchFamily="34" charset="-122"/>
                          <a:cs typeface="Calibri" pitchFamily="34" charset="-120"/>
                        </a:rPr>
                        <a:t>Prüfer</a:t>
                      </a:r>
                      <a:r>
                        <a:rPr lang="en-US" sz="850" dirty="0">
                          <a:solidFill>
                            <a:srgbClr val="1F2A1F"/>
                          </a:solidFill>
                          <a:latin typeface="Calibri" pitchFamily="34" charset="0"/>
                          <a:ea typeface="Calibri" pitchFamily="34" charset="-122"/>
                          <a:cs typeface="Calibri" pitchFamily="34" charset="-120"/>
                        </a:rPr>
                        <a:t> angenommen; Thema </a:t>
                      </a:r>
                      <a:r>
                        <a:rPr lang="en-US" sz="850" dirty="0" err="1">
                          <a:solidFill>
                            <a:srgbClr val="1F2A1F"/>
                          </a:solidFill>
                          <a:latin typeface="Calibri" pitchFamily="34" charset="0"/>
                          <a:ea typeface="Calibri" pitchFamily="34" charset="-122"/>
                          <a:cs typeface="Calibri" pitchFamily="34" charset="-120"/>
                        </a:rPr>
                        <a:t>freigegeben</a:t>
                      </a:r>
                      <a:r>
                        <a:rPr lang="en-US" sz="850" dirty="0">
                          <a:solidFill>
                            <a:srgbClr val="1F2A1F"/>
                          </a:solidFill>
                          <a:latin typeface="Calibri" pitchFamily="34" charset="0"/>
                          <a:ea typeface="Calibri" pitchFamily="34" charset="-122"/>
                          <a:cs typeface="Calibri" pitchFamily="34" charset="-120"/>
                        </a:rPr>
                        <a:t> und  </a:t>
                      </a:r>
                      <a:r>
                        <a:rPr lang="en-US" sz="850" dirty="0" err="1">
                          <a:solidFill>
                            <a:srgbClr val="1F2A1F"/>
                          </a:solidFill>
                          <a:latin typeface="Calibri" pitchFamily="34" charset="0"/>
                          <a:ea typeface="Calibri" pitchFamily="34" charset="-122"/>
                          <a:cs typeface="Calibri" pitchFamily="34" charset="-120"/>
                        </a:rPr>
                        <a:t>bestätig</a:t>
                      </a:r>
                      <a:r>
                        <a:rPr lang="en-US" sz="850" dirty="0">
                          <a:solidFill>
                            <a:srgbClr val="1F2A1F"/>
                          </a:solidFill>
                          <a:latin typeface="Calibri" pitchFamily="34" charset="0"/>
                          <a:ea typeface="Calibri" pitchFamily="34" charset="-122"/>
                          <a:cs typeface="Calibri" pitchFamily="34" charset="-120"/>
                        </a:rPr>
                        <a:t> </a:t>
                      </a:r>
                      <a:r>
                        <a:rPr lang="en-US" sz="850" dirty="0" err="1">
                          <a:solidFill>
                            <a:srgbClr val="1F2A1F"/>
                          </a:solidFill>
                          <a:latin typeface="Calibri" pitchFamily="34" charset="0"/>
                          <a:ea typeface="Calibri" pitchFamily="34" charset="-122"/>
                          <a:cs typeface="Calibri" pitchFamily="34" charset="-120"/>
                        </a:rPr>
                        <a:t>über</a:t>
                      </a:r>
                      <a:r>
                        <a:rPr lang="en-US" sz="850" dirty="0">
                          <a:solidFill>
                            <a:srgbClr val="1F2A1F"/>
                          </a:solidFill>
                          <a:latin typeface="Calibri" pitchFamily="34" charset="0"/>
                          <a:ea typeface="Calibri" pitchFamily="34" charset="-122"/>
                          <a:cs typeface="Calibri" pitchFamily="34" charset="-120"/>
                        </a:rPr>
                        <a:t> den Erst </a:t>
                      </a:r>
                      <a:r>
                        <a:rPr lang="en-US" sz="850" dirty="0" err="1">
                          <a:solidFill>
                            <a:srgbClr val="1F2A1F"/>
                          </a:solidFill>
                          <a:latin typeface="Calibri" pitchFamily="34" charset="0"/>
                          <a:ea typeface="Calibri" pitchFamily="34" charset="-122"/>
                          <a:cs typeface="Calibri" pitchFamily="34" charset="-120"/>
                        </a:rPr>
                        <a:t>Prüfer</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Das erste Ereignis löst die Story aus, das zweite beendet sie.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Dokumente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Antrag </a:t>
                      </a:r>
                      <a:r>
                        <a:rPr lang="en-US" sz="850" dirty="0" err="1">
                          <a:solidFill>
                            <a:srgbClr val="1F2A1F"/>
                          </a:solidFill>
                          <a:latin typeface="Calibri" pitchFamily="34" charset="0"/>
                          <a:ea typeface="Calibri" pitchFamily="34" charset="-122"/>
                          <a:cs typeface="Calibri" pitchFamily="34" charset="-120"/>
                        </a:rPr>
                        <a:t>mit</a:t>
                      </a:r>
                      <a:r>
                        <a:rPr lang="en-US" sz="850" dirty="0">
                          <a:solidFill>
                            <a:srgbClr val="1F2A1F"/>
                          </a:solidFill>
                          <a:latin typeface="Calibri" pitchFamily="34" charset="0"/>
                          <a:ea typeface="Calibri" pitchFamily="34" charset="-122"/>
                          <a:cs typeface="Calibri" pitchFamily="34" charset="-120"/>
                        </a:rPr>
                        <a:t> Thema der </a:t>
                      </a:r>
                      <a:r>
                        <a:rPr lang="en-US" sz="850" dirty="0" err="1">
                          <a:solidFill>
                            <a:srgbClr val="1F2A1F"/>
                          </a:solidFill>
                          <a:latin typeface="Calibri" pitchFamily="34" charset="0"/>
                          <a:ea typeface="Calibri" pitchFamily="34" charset="-122"/>
                          <a:cs typeface="Calibri" pitchFamily="34" charset="-120"/>
                        </a:rPr>
                        <a:t>Abschlussarbeit</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Der Antrag liefert das zu prüfende Thema. Die Prüfungsordnung verlangt, Thema und Zeitpunkt der Ausgabe aktenkundig zu machen.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Technik</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Webbasierte Anwendung im Browser, am Desktop.</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Themenfreigabe muss auf dem </a:t>
                      </a:r>
                      <a:r>
                        <a:rPr lang="en-US" sz="850" dirty="0" err="1">
                          <a:solidFill>
                            <a:srgbClr val="1F2A1F"/>
                          </a:solidFill>
                          <a:latin typeface="Calibri" pitchFamily="34" charset="0"/>
                          <a:ea typeface="Calibri" pitchFamily="34" charset="-122"/>
                          <a:cs typeface="Calibri" pitchFamily="34" charset="-120"/>
                        </a:rPr>
                        <a:t>Gerätetyp</a:t>
                      </a:r>
                      <a:r>
                        <a:rPr lang="en-US" sz="850" dirty="0">
                          <a:solidFill>
                            <a:srgbClr val="1F2A1F"/>
                          </a:solidFill>
                          <a:latin typeface="Calibri" pitchFamily="34" charset="0"/>
                          <a:ea typeface="Calibri" pitchFamily="34" charset="-122"/>
                          <a:cs typeface="Calibri" pitchFamily="34" charset="-120"/>
                        </a:rPr>
                        <a:t> komfortabel möglich sein.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7. Quality Attribute</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7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1 Qualitätsanforderungen</a:t>
            </a:r>
            <a:endParaRPr lang="en-US" sz="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987552"/>
          <a:ext cx="8321040" cy="2999232"/>
        </p:xfrm>
        <a:graphic>
          <a:graphicData uri="http://schemas.openxmlformats.org/drawingml/2006/table">
            <a:tbl>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9260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Qualitätsattribut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Konkrete Anforderung</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Prüfbarkeit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676656">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Sicherheit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Das System muss die Themenfreigabe und die Antragsdaten vor Zugriff durch nicht berechtigte Personen schützen.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Aufruf und Freigabeversuch mit einem nicht zugeordneten Konto werden vom System verhindert.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Zuverlässigkeit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Eine erteilte Themenfreigabe muss vollständig und unverändert gespeichert bleiben.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Nach erneutem Aufruf sind Thema und Zeitpunkt der Themenfreigabe identisch vorhanden.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Benutzbarkeit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Das System muss der Erstprüfer:in die Möglichkeit bieten, die Themenfreigabe ohne Schulung am Desktop und am Smartphone durchzuführen.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Nutzungstest mit Erstprüfenden auf beiden Gerätetypen. Zielwert noch zu validieren.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3"/>
                  </a:ext>
                </a:extLst>
              </a:tr>
              <a:tr h="676656">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Effizienz</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Die Themenfreigabe sollte für die Erstprüfer:in mit weniger Arbeitsschritten möglich sein als im heutigen Formularprozess.</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Vergleich der Arbeitsschritte heute und im Portal. Zielwert noch zu validieren.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411480" y="4160520"/>
            <a:ext cx="8321040" cy="521208"/>
          </a:xfrm>
          <a:prstGeom prst="roundRect">
            <a:avLst>
              <a:gd name="adj" fmla="val 14035"/>
            </a:avLst>
          </a:prstGeom>
          <a:solidFill>
            <a:srgbClr val="FFF7E0"/>
          </a:solidFill>
          <a:ln w="12700">
            <a:solidFill>
              <a:srgbClr val="C9A227"/>
            </a:solidFill>
            <a:prstDash val="solid"/>
          </a:ln>
        </p:spPr>
      </p:sp>
      <p:sp>
        <p:nvSpPr>
          <p:cNvPr id="7" name="Text 6"/>
          <p:cNvSpPr txBox="1"/>
          <p:nvPr/>
        </p:nvSpPr>
        <p:spPr>
          <a:xfrm>
            <a:off x="548640" y="4160520"/>
            <a:ext cx="8046720" cy="521208"/>
          </a:xfrm>
          <a:prstGeom prst="rect">
            <a:avLst/>
          </a:prstGeom>
          <a:noFill/>
          <a:ln/>
        </p:spPr>
        <p:txBody>
          <a:bodyPr wrap="square" lIns="0" tIns="0" rIns="0" bIns="0" rtlCol="0" anchor="ctr"/>
          <a:lstStyle/>
          <a:p>
            <a:pPr marL="0" indent="0">
              <a:buNone/>
            </a:pPr>
            <a:r>
              <a:rPr lang="en-US" sz="900" b="1" dirty="0">
                <a:solidFill>
                  <a:srgbClr val="7A5C00"/>
                </a:solidFill>
                <a:latin typeface="Calibri" pitchFamily="34" charset="0"/>
                <a:ea typeface="Calibri" pitchFamily="34" charset="-122"/>
                <a:cs typeface="Calibri" pitchFamily="34" charset="-120"/>
              </a:rPr>
              <a:t>Abgrenzung: </a:t>
            </a:r>
            <a:r>
              <a:rPr lang="en-US" sz="900" dirty="0">
                <a:solidFill>
                  <a:srgbClr val="1F2A1F"/>
                </a:solidFill>
                <a:latin typeface="Calibri" pitchFamily="34" charset="0"/>
                <a:ea typeface="Calibri" pitchFamily="34" charset="-122"/>
                <a:cs typeface="Calibri" pitchFamily="34" charset="-120"/>
              </a:rPr>
              <a:t>Qualitätsanforderungen sind getrennt von den funktionalen Regeln C1 bis C6 dokumentiert. Messwerte sind im Projekt nicht vorgegeben und deshalb als „noch zu validieren“ gekennzeichnet.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1773</Words>
  <Application>Microsoft Macintosh PowerPoint</Application>
  <PresentationFormat>Bildschirmpräsentation (16:9)</PresentationFormat>
  <Paragraphs>200</Paragraphs>
  <Slides>8</Slides>
  <Notes>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Dimensions – Erstprüfer:in: Themenfreigabe</dc:title>
  <dc:subject>PptxGenJS Presentation</dc:subject>
  <dc:creator>PptxGenJS</dc:creator>
  <cp:lastModifiedBy>Gurcharan Singh</cp:lastModifiedBy>
  <cp:revision>7</cp:revision>
  <dcterms:created xsi:type="dcterms:W3CDTF">2026-10-01T10:25:21Z</dcterms:created>
  <dcterms:modified xsi:type="dcterms:W3CDTF">2026-10-01T12:16:18Z</dcterms:modified>
</cp:coreProperties>
</file>