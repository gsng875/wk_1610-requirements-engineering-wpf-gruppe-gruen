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wa Posnjak" userId="e265e578-164d-41c7-97a4-a70625b847c8" providerId="ADAL" clId="{32F99C1C-8A99-4C41-A3CD-670E7FDFD8BD}"/>
    <pc:docChg chg="modSld sldOrd">
      <pc:chgData name="Ewa Posnjak" userId="e265e578-164d-41c7-97a4-a70625b847c8" providerId="ADAL" clId="{32F99C1C-8A99-4C41-A3CD-670E7FDFD8BD}" dt="2026-09-30T08:49:51.128" v="8" actId="1076"/>
      <pc:docMkLst>
        <pc:docMk/>
      </pc:docMkLst>
      <pc:sldChg chg="modSp mod">
        <pc:chgData name="Ewa Posnjak" userId="e265e578-164d-41c7-97a4-a70625b847c8" providerId="ADAL" clId="{32F99C1C-8A99-4C41-A3CD-670E7FDFD8BD}" dt="2026-09-30T08:49:06.022" v="1" actId="1076"/>
        <pc:sldMkLst>
          <pc:docMk/>
          <pc:sldMk cId="0" sldId="256"/>
        </pc:sldMkLst>
        <pc:spChg chg="mod">
          <ac:chgData name="Ewa Posnjak" userId="e265e578-164d-41c7-97a4-a70625b847c8" providerId="ADAL" clId="{32F99C1C-8A99-4C41-A3CD-670E7FDFD8BD}" dt="2026-09-30T08:49:02.510" v="0" actId="1076"/>
          <ac:spMkLst>
            <pc:docMk/>
            <pc:sldMk cId="0" sldId="256"/>
            <ac:spMk id="32" creationId="{00000000-0000-0000-0000-000000000000}"/>
          </ac:spMkLst>
        </pc:spChg>
        <pc:spChg chg="mod">
          <ac:chgData name="Ewa Posnjak" userId="e265e578-164d-41c7-97a4-a70625b847c8" providerId="ADAL" clId="{32F99C1C-8A99-4C41-A3CD-670E7FDFD8BD}" dt="2026-09-30T08:49:06.022" v="1" actId="1076"/>
          <ac:spMkLst>
            <pc:docMk/>
            <pc:sldMk cId="0" sldId="256"/>
            <ac:spMk id="38" creationId="{00000000-0000-0000-0000-000000000000}"/>
          </ac:spMkLst>
        </pc:spChg>
      </pc:sldChg>
      <pc:sldChg chg="modSp mod">
        <pc:chgData name="Ewa Posnjak" userId="e265e578-164d-41c7-97a4-a70625b847c8" providerId="ADAL" clId="{32F99C1C-8A99-4C41-A3CD-670E7FDFD8BD}" dt="2026-09-30T08:49:51.128" v="8" actId="1076"/>
        <pc:sldMkLst>
          <pc:docMk/>
          <pc:sldMk cId="0" sldId="257"/>
        </pc:sldMkLst>
        <pc:spChg chg="mod">
          <ac:chgData name="Ewa Posnjak" userId="e265e578-164d-41c7-97a4-a70625b847c8" providerId="ADAL" clId="{32F99C1C-8A99-4C41-A3CD-670E7FDFD8BD}" dt="2026-09-30T08:49:51.128" v="8" actId="107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Ewa Posnjak" userId="e265e578-164d-41c7-97a4-a70625b847c8" providerId="ADAL" clId="{32F99C1C-8A99-4C41-A3CD-670E7FDFD8BD}" dt="2026-09-30T08:49:10.934" v="2" actId="1076"/>
          <ac:spMkLst>
            <pc:docMk/>
            <pc:sldMk cId="0" sldId="257"/>
            <ac:spMk id="33" creationId="{00000000-0000-0000-0000-000000000000}"/>
          </ac:spMkLst>
        </pc:spChg>
        <pc:spChg chg="mod">
          <ac:chgData name="Ewa Posnjak" userId="e265e578-164d-41c7-97a4-a70625b847c8" providerId="ADAL" clId="{32F99C1C-8A99-4C41-A3CD-670E7FDFD8BD}" dt="2026-09-30T08:49:15.322" v="3" actId="1076"/>
          <ac:spMkLst>
            <pc:docMk/>
            <pc:sldMk cId="0" sldId="257"/>
            <ac:spMk id="39" creationId="{00000000-0000-0000-0000-000000000000}"/>
          </ac:spMkLst>
        </pc:spChg>
      </pc:sldChg>
      <pc:sldChg chg="modSp mod ord">
        <pc:chgData name="Ewa Posnjak" userId="e265e578-164d-41c7-97a4-a70625b847c8" providerId="ADAL" clId="{32F99C1C-8A99-4C41-A3CD-670E7FDFD8BD}" dt="2026-09-30T08:49:42.169" v="7" actId="1076"/>
        <pc:sldMkLst>
          <pc:docMk/>
          <pc:sldMk cId="0" sldId="258"/>
        </pc:sldMkLst>
        <pc:spChg chg="mod">
          <ac:chgData name="Ewa Posnjak" userId="e265e578-164d-41c7-97a4-a70625b847c8" providerId="ADAL" clId="{32F99C1C-8A99-4C41-A3CD-670E7FDFD8BD}" dt="2026-09-30T08:49:37.707" v="6" actId="1076"/>
          <ac:spMkLst>
            <pc:docMk/>
            <pc:sldMk cId="0" sldId="258"/>
            <ac:spMk id="33" creationId="{00000000-0000-0000-0000-000000000000}"/>
          </ac:spMkLst>
        </pc:spChg>
        <pc:spChg chg="mod">
          <ac:chgData name="Ewa Posnjak" userId="e265e578-164d-41c7-97a4-a70625b847c8" providerId="ADAL" clId="{32F99C1C-8A99-4C41-A3CD-670E7FDFD8BD}" dt="2026-09-30T08:49:42.169" v="7" actId="1076"/>
          <ac:spMkLst>
            <pc:docMk/>
            <pc:sldMk cId="0" sldId="258"/>
            <ac:spMk id="3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710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Moritz Hoffmann – Student B.Sc. Wirtschaftsinformatik, 6. Semester
„Ich will einfach wissen, ob mein Antrag angekommen ist und was noch fehlt.“
Aufbau nach Vorgabe: Ziele (spezifisch und allgemein), Eigenschaften, Frustrationen, Nutzungsüberwindung.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Tarek Yilmaz – Student M.Sc. Wirtschaftsinformatik, berufsbegleitend
„Zwischen Kundenprojekt und Thesis habe ich keine Zeit für Formularpost.“
Aufbau nach Vorgabe: Ziele (spezifisch und allgemein), Eigenschaften, Frustrationen, Nutzungsüberwindung.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Michael Krüger – Verwaltungsangestellter, Fachbereich MND
„Jeden unvollständigen Antrag muss ich dreimal in die Hand nehmen, mkay?“
Aufbau nach Vorgabe: Ziele (spezifisch und allgemein), Eigenschaften, Frustrationen, Nutzungsüberwindung.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560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Studierende (Bachelor)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320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1 VON 3  ·  ABSCHLUSSARBEITEN-PORTAL MND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2514600" cy="3931920"/>
          </a:xfrm>
          <a:prstGeom prst="roundRect">
            <a:avLst>
              <a:gd name="adj" fmla="val 4364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" name="Image 0" descr="photos/bache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771" y="1005840"/>
            <a:ext cx="630017" cy="1463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560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Moritz Hoffmann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880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B.Sc. Wirtschaftsinformatik, 6. Semester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„Ich will einfach wissen, ob mein Antrag angekommen ist und was noch fehlt.“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8404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Alter: 23 Jahre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Wohnort: Gießen, WG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Familienstand: ledig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Nebenjob: Werkstudent, 12 h/Woche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Geräte: Smartphone, Laptop zu Hause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00400" y="89611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 txBox="1"/>
          <p:nvPr/>
        </p:nvSpPr>
        <p:spPr>
          <a:xfrm>
            <a:off x="3200400" y="896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529584" y="86868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3246120" y="121615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in einem Durchgang korrekt einreichen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Bearbeitungsstand jederzeit am Handy sehen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Prüfende ohne Unterschriftenlauf bestätigen lassen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in Regelstudienzeit abschließen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35040" y="89611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 txBox="1"/>
          <p:nvPr/>
        </p:nvSpPr>
        <p:spPr>
          <a:xfrm>
            <a:off x="6035040" y="896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364224" y="86868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Eigenschaften und Verhalten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080760" y="121615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Abschlussarbeit, unsicher bei Formalien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Digital-native, erwartet App-Komfort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knapp, reagiert auf Erinnerungen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Volleyball, Serien, wenig Geduld mit Papier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00400" y="258775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6"/>
          <p:cNvSpPr txBox="1"/>
          <p:nvPr/>
        </p:nvSpPr>
        <p:spPr>
          <a:xfrm>
            <a:off x="3200400" y="2587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3529584" y="256032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Frustrationen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3246120" y="290779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ausdrucken, unterschreiben, scannen, mailen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Wochenlang keine Rückmeldung zum Antrag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Unsicher, ob alles vollständig ist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Sekretariat nur zu Öffnungszeiten erreichbar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035040" y="258775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0"/>
          <p:cNvSpPr txBox="1"/>
          <p:nvPr/>
        </p:nvSpPr>
        <p:spPr>
          <a:xfrm>
            <a:off x="6035040" y="2587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364224" y="256032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Nutzungsüberwindung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6080760" y="290779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Schritt-für-Schritt-Führung mit Pflichtfeldprüfung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mit THM-Konto, keine neue Registrierung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 oder Mail-Benachrichtigung bei Statuswechsel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genauso komfortabel wie am Desktop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3200400" y="4315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Technikaffinität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224528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5"/>
          <p:cNvSpPr/>
          <p:nvPr/>
        </p:nvSpPr>
        <p:spPr>
          <a:xfrm>
            <a:off x="4398264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6"/>
          <p:cNvSpPr/>
          <p:nvPr/>
        </p:nvSpPr>
        <p:spPr>
          <a:xfrm>
            <a:off x="4572000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7"/>
          <p:cNvSpPr/>
          <p:nvPr/>
        </p:nvSpPr>
        <p:spPr>
          <a:xfrm>
            <a:off x="4745736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8"/>
          <p:cNvSpPr/>
          <p:nvPr/>
        </p:nvSpPr>
        <p:spPr>
          <a:xfrm>
            <a:off x="4919472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29"/>
          <p:cNvSpPr txBox="1"/>
          <p:nvPr/>
        </p:nvSpPr>
        <p:spPr>
          <a:xfrm>
            <a:off x="5239512" y="43201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Prozesskenntnis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099048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31"/>
          <p:cNvSpPr/>
          <p:nvPr/>
        </p:nvSpPr>
        <p:spPr>
          <a:xfrm>
            <a:off x="6272784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2"/>
          <p:cNvSpPr/>
          <p:nvPr/>
        </p:nvSpPr>
        <p:spPr>
          <a:xfrm>
            <a:off x="6446520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3"/>
          <p:cNvSpPr/>
          <p:nvPr/>
        </p:nvSpPr>
        <p:spPr>
          <a:xfrm>
            <a:off x="6620256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4"/>
          <p:cNvSpPr/>
          <p:nvPr/>
        </p:nvSpPr>
        <p:spPr>
          <a:xfrm>
            <a:off x="6793992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5"/>
          <p:cNvSpPr txBox="1"/>
          <p:nvPr/>
        </p:nvSpPr>
        <p:spPr>
          <a:xfrm>
            <a:off x="7315200" y="432265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Zeitbudget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7973568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Shape 37"/>
          <p:cNvSpPr/>
          <p:nvPr/>
        </p:nvSpPr>
        <p:spPr>
          <a:xfrm>
            <a:off x="8147304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Shape 38"/>
          <p:cNvSpPr/>
          <p:nvPr/>
        </p:nvSpPr>
        <p:spPr>
          <a:xfrm>
            <a:off x="8321040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Shape 39"/>
          <p:cNvSpPr/>
          <p:nvPr/>
        </p:nvSpPr>
        <p:spPr>
          <a:xfrm>
            <a:off x="8494776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Shape 40"/>
          <p:cNvSpPr/>
          <p:nvPr/>
        </p:nvSpPr>
        <p:spPr>
          <a:xfrm>
            <a:off x="8668512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1"/>
          <p:cNvSpPr txBox="1"/>
          <p:nvPr/>
        </p:nvSpPr>
        <p:spPr>
          <a:xfrm>
            <a:off x="3200400" y="4709160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 – Praxisteil  ·  Personas  ·  Skala 1 = niedrig, 5 = hoch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560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Studierende (Master)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320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3 VON 3  ·  ABSCHLUSSARBEITEN-PORTAL MND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2514600" cy="3931920"/>
          </a:xfrm>
          <a:prstGeom prst="roundRect">
            <a:avLst>
              <a:gd name="adj" fmla="val 4364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005840" y="1005840"/>
            <a:ext cx="1325880" cy="1325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6" name="Image 0" descr="photos/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051560"/>
            <a:ext cx="1234440" cy="1234440"/>
          </a:xfrm>
          <a:prstGeom prst="ellipse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560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Tarek Yilmaz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80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M.Sc. Wirtschaftsinformatik, berufsbegleitend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„Zwischen Kundenprojekt und Thesis habe ich keine Zeit für Formularpost.“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8404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Alter: 29 Jahre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Wohnort: Frankfurt am Main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Familienstand: verheiratet, ein Kind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Beruf: IT-Consultant, Vollzeit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Geräte: Laptop, Firmenhandy, viel unterwegs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0" y="89611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 txBox="1"/>
          <p:nvPr/>
        </p:nvSpPr>
        <p:spPr>
          <a:xfrm>
            <a:off x="3200400" y="896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529584" y="86868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246120" y="121615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Externen Korreferenten aus der Firma direkt im Antrag benennen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Freigaben asynchron und ohne Präsenztermin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 bei Bedarf online beantragen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neben dem Job abschließen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35040" y="89611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 txBox="1"/>
          <p:nvPr/>
        </p:nvSpPr>
        <p:spPr>
          <a:xfrm>
            <a:off x="6035040" y="896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6364224" y="86868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Eigenschaften und Verhalten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080760" y="121615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Effizient, technikaffin, kennt den Prozess vom Bachelor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Schreibt die Masterarbeit im eigenen Unternehmen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Pragmatisch, wenig Geduld für Bürokratie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Laufen, Fußball mit dem Sohn, Podcasts beim Pendeln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00400" y="258775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 txBox="1"/>
          <p:nvPr/>
        </p:nvSpPr>
        <p:spPr>
          <a:xfrm>
            <a:off x="3200400" y="2587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3529584" y="256032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Frustrationen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3246120" y="290779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Zusatzformular und Rückfragen für den externen Korreferenten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 im Prüfungsamt kollidieren mit Kundenterminen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Fristen und Verlängerungsregeln unklar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hat keinen THM-Zugang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035040" y="258775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1"/>
          <p:cNvSpPr txBox="1"/>
          <p:nvPr/>
        </p:nvSpPr>
        <p:spPr>
          <a:xfrm>
            <a:off x="6035040" y="2587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6364224" y="256032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Nutzungsüberwindung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080760" y="290779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Funktioniert asynchron, rund um die Uhr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können per Einladungslink mitwirken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Fristen und Verlängerungsoptionen transparent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in einem Vorgang, keine Doppelerfassung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3200400" y="4315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Technikaffinität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224528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6"/>
          <p:cNvSpPr/>
          <p:nvPr/>
        </p:nvSpPr>
        <p:spPr>
          <a:xfrm>
            <a:off x="4398264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7"/>
          <p:cNvSpPr/>
          <p:nvPr/>
        </p:nvSpPr>
        <p:spPr>
          <a:xfrm>
            <a:off x="4572000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8"/>
          <p:cNvSpPr/>
          <p:nvPr/>
        </p:nvSpPr>
        <p:spPr>
          <a:xfrm>
            <a:off x="4745736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29"/>
          <p:cNvSpPr/>
          <p:nvPr/>
        </p:nvSpPr>
        <p:spPr>
          <a:xfrm>
            <a:off x="4919472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0"/>
          <p:cNvSpPr txBox="1"/>
          <p:nvPr/>
        </p:nvSpPr>
        <p:spPr>
          <a:xfrm>
            <a:off x="5276088" y="433847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Prozesskenntnis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099048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2"/>
          <p:cNvSpPr/>
          <p:nvPr/>
        </p:nvSpPr>
        <p:spPr>
          <a:xfrm>
            <a:off x="6272784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3"/>
          <p:cNvSpPr/>
          <p:nvPr/>
        </p:nvSpPr>
        <p:spPr>
          <a:xfrm>
            <a:off x="6446520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4"/>
          <p:cNvSpPr/>
          <p:nvPr/>
        </p:nvSpPr>
        <p:spPr>
          <a:xfrm>
            <a:off x="6620256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5"/>
          <p:cNvSpPr/>
          <p:nvPr/>
        </p:nvSpPr>
        <p:spPr>
          <a:xfrm>
            <a:off x="6793992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6"/>
          <p:cNvSpPr txBox="1"/>
          <p:nvPr/>
        </p:nvSpPr>
        <p:spPr>
          <a:xfrm>
            <a:off x="7362678" y="433847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Zeitbudget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973568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Shape 38"/>
          <p:cNvSpPr/>
          <p:nvPr/>
        </p:nvSpPr>
        <p:spPr>
          <a:xfrm>
            <a:off x="8147304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Shape 39"/>
          <p:cNvSpPr/>
          <p:nvPr/>
        </p:nvSpPr>
        <p:spPr>
          <a:xfrm>
            <a:off x="8321040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Shape 40"/>
          <p:cNvSpPr/>
          <p:nvPr/>
        </p:nvSpPr>
        <p:spPr>
          <a:xfrm>
            <a:off x="8494776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Shape 41"/>
          <p:cNvSpPr/>
          <p:nvPr/>
        </p:nvSpPr>
        <p:spPr>
          <a:xfrm>
            <a:off x="8668512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2"/>
          <p:cNvSpPr txBox="1"/>
          <p:nvPr/>
        </p:nvSpPr>
        <p:spPr>
          <a:xfrm>
            <a:off x="3200400" y="4709160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 – Praxisteil  ·  Personas  ·  Skala 1 = niedrig, 5 = hoch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560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Sekretariat / Prüfungsamt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320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2 VON 3  ·  ABSCHLUSSARBEITEN-PORTAL MND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2514600" cy="3931920"/>
          </a:xfrm>
          <a:prstGeom prst="roundRect">
            <a:avLst>
              <a:gd name="adj" fmla="val 4364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005840" y="1005840"/>
            <a:ext cx="1325880" cy="1325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6" name="Image 0" descr="photos/sekretari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051560"/>
            <a:ext cx="1234440" cy="1234440"/>
          </a:xfrm>
          <a:prstGeom prst="ellipse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560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Michael Krüger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80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Verwaltungsangestellter, Fachbereich MND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„Jeden unvollständigen Antrag muss ich dreimal in die Hand nehmen, mkay?“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8404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Alter: 52 Jahre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Wohnort: Wetzlar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Familienstand: verheiratet, zwei Kinder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FB MND seit: 14 Jahren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Geräte: Desktop-PC, Outlook, Excel, Papierakten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0" y="89611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 txBox="1"/>
          <p:nvPr/>
        </p:nvSpPr>
        <p:spPr>
          <a:xfrm>
            <a:off x="3200400" y="896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529584" y="86868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246120" y="121615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Vollständigkeit eines Antrags auf einen Blick prüfen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Fristen automatisch berechnen und überwachen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ohne Mail- und Telefonrunden weitergeben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Rechtssichere Ablage ohne Papierstapel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35040" y="89611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 txBox="1"/>
          <p:nvPr/>
        </p:nvSpPr>
        <p:spPr>
          <a:xfrm>
            <a:off x="6035040" y="896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6364224" y="86868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Eigenschaften und Verhalten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080760" y="121615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Sorgfältig, kennt Prüfungsordnungen auswendig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Anlaufstelle für Studierende und Prüfende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Skeptisch bei Neuerungen, offen wenn sie entlasten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Garten, Nordic Walking, Enkelkind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00400" y="258775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 txBox="1"/>
          <p:nvPr/>
        </p:nvSpPr>
        <p:spPr>
          <a:xfrm>
            <a:off x="3200400" y="2587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3529584" y="256032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Frustrationen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3246120" y="290779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Unleserliche Scans und fehlende Unterschriften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Fristen aus E-Mails heraussuchen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Telefonrückfragen binden täglich Stunden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Sonderfälle nur im eigenen Kopf dokumentiert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035040" y="258775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1"/>
          <p:cNvSpPr txBox="1"/>
          <p:nvPr/>
        </p:nvSpPr>
        <p:spPr>
          <a:xfrm>
            <a:off x="6035040" y="2587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6364224" y="256032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Nutzungsüberwindung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080760" y="290779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Läuft zuverlässig und bildet seine Prüfschritte ab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 und Listen für das Prüfungsamt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Regeln und Fristen selbst pflegbar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Kurze Einführung, keine wochenlange Schulung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3374136" y="432229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Technikaffinität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224528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6"/>
          <p:cNvSpPr/>
          <p:nvPr/>
        </p:nvSpPr>
        <p:spPr>
          <a:xfrm>
            <a:off x="4398264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7"/>
          <p:cNvSpPr/>
          <p:nvPr/>
        </p:nvSpPr>
        <p:spPr>
          <a:xfrm>
            <a:off x="4572000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8"/>
          <p:cNvSpPr/>
          <p:nvPr/>
        </p:nvSpPr>
        <p:spPr>
          <a:xfrm>
            <a:off x="4745736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29"/>
          <p:cNvSpPr/>
          <p:nvPr/>
        </p:nvSpPr>
        <p:spPr>
          <a:xfrm>
            <a:off x="4919472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0"/>
          <p:cNvSpPr txBox="1"/>
          <p:nvPr/>
        </p:nvSpPr>
        <p:spPr>
          <a:xfrm>
            <a:off x="5266944" y="4325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Prozesskenntnis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099048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2"/>
          <p:cNvSpPr/>
          <p:nvPr/>
        </p:nvSpPr>
        <p:spPr>
          <a:xfrm>
            <a:off x="6272784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3"/>
          <p:cNvSpPr/>
          <p:nvPr/>
        </p:nvSpPr>
        <p:spPr>
          <a:xfrm>
            <a:off x="6446520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4"/>
          <p:cNvSpPr/>
          <p:nvPr/>
        </p:nvSpPr>
        <p:spPr>
          <a:xfrm>
            <a:off x="6620256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5"/>
          <p:cNvSpPr/>
          <p:nvPr/>
        </p:nvSpPr>
        <p:spPr>
          <a:xfrm>
            <a:off x="6793992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6"/>
          <p:cNvSpPr txBox="1"/>
          <p:nvPr/>
        </p:nvSpPr>
        <p:spPr>
          <a:xfrm>
            <a:off x="7315200" y="432229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Zeitbudget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973568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Shape 38"/>
          <p:cNvSpPr/>
          <p:nvPr/>
        </p:nvSpPr>
        <p:spPr>
          <a:xfrm>
            <a:off x="8147304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Shape 39"/>
          <p:cNvSpPr/>
          <p:nvPr/>
        </p:nvSpPr>
        <p:spPr>
          <a:xfrm>
            <a:off x="8321040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Shape 40"/>
          <p:cNvSpPr/>
          <p:nvPr/>
        </p:nvSpPr>
        <p:spPr>
          <a:xfrm>
            <a:off x="8494776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Shape 41"/>
          <p:cNvSpPr/>
          <p:nvPr/>
        </p:nvSpPr>
        <p:spPr>
          <a:xfrm>
            <a:off x="8668512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2"/>
          <p:cNvSpPr txBox="1"/>
          <p:nvPr/>
        </p:nvSpPr>
        <p:spPr>
          <a:xfrm>
            <a:off x="3200400" y="4709160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 – Praxisteil  ·  Personas  ·  Skala 1 = niedrig, 5 = hoch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684</Words>
  <Application>Microsoft Office PowerPoint</Application>
  <PresentationFormat>Bildschirmpräsentation (16:9)</PresentationFormat>
  <Paragraphs>120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Personas Abschlussarbeiten-Portal</dc:title>
  <dc:subject>PptxGenJS Presentation</dc:subject>
  <dc:creator>PptxGenJS</dc:creator>
  <cp:lastModifiedBy>Ewa Posnjak</cp:lastModifiedBy>
  <cp:revision>1</cp:revision>
  <dcterms:created xsi:type="dcterms:W3CDTF">2026-09-30T08:48:28Z</dcterms:created>
  <dcterms:modified xsi:type="dcterms:W3CDTF">2026-09-30T08:50:01Z</dcterms:modified>
</cp:coreProperties>
</file>