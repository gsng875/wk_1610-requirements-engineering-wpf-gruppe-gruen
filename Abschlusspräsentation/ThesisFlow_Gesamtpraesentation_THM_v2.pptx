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media/image8.jpg" ContentType="image/jpeg"/>
  <Override PartName="/ppt/media/image9.jpg" ContentType="image/jpeg"/>
  <Override PartName="/ppt/media/image10.jpg" ContentType="image/jpeg"/>
  <Override PartName="/ppt/media/image11.jpg" ContentType="image/jpeg"/>
  <Override PartName="/ppt/media/image12.jpg" ContentType="image/jpeg"/>
  <Override PartName="/ppt/media/image13.jpg" ContentType="image/jpeg"/>
  <Override PartName="/ppt/media/image14.jpg" ContentType="image/jpeg"/>
  <Override PartName="/ppt/media/image15.jpg" ContentType="image/jpeg"/>
  <Override PartName="/ppt/media/image16.jpg" ContentType="image/jpeg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62092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M_INHA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inal/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0518" y="182880"/>
            <a:ext cx="2027722" cy="3657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731520"/>
            <a:ext cx="8412480" cy="0"/>
          </a:xfrm>
          <a:prstGeom prst="line">
            <a:avLst/>
          </a:prstGeom>
          <a:noFill/>
          <a:ln w="19050">
            <a:solidFill>
              <a:srgbClr val="80BA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Shape 1"/>
          <p:cNvSpPr/>
          <p:nvPr/>
        </p:nvSpPr>
        <p:spPr>
          <a:xfrm>
            <a:off x="365760" y="4818888"/>
            <a:ext cx="8412480" cy="0"/>
          </a:xfrm>
          <a:prstGeom prst="line">
            <a:avLst/>
          </a:prstGeom>
          <a:noFill/>
          <a:ln w="9525">
            <a:solidFill>
              <a:srgbClr val="C9D1D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2"/>
          <p:cNvSpPr/>
          <p:nvPr/>
        </p:nvSpPr>
        <p:spPr>
          <a:xfrm>
            <a:off x="365760" y="4855464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ThesisFlow  ·  Requirements Engineering  ·  Fachbereich MND  ·  Gruppe Grün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55464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5B6A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55464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5B6A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‹Nr.›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g"/><Relationship Id="rId3" Type="http://schemas.openxmlformats.org/officeDocument/2006/relationships/image" Target="../media/image8.jpg"/><Relationship Id="rId7" Type="http://schemas.openxmlformats.org/officeDocument/2006/relationships/image" Target="../media/image12.jpg"/><Relationship Id="rId12" Type="http://schemas.openxmlformats.org/officeDocument/2006/relationships/image" Target="../media/image17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g"/><Relationship Id="rId11" Type="http://schemas.openxmlformats.org/officeDocument/2006/relationships/image" Target="../media/image16.jpg"/><Relationship Id="rId5" Type="http://schemas.openxmlformats.org/officeDocument/2006/relationships/image" Target="../media/image10.jpg"/><Relationship Id="rId10" Type="http://schemas.openxmlformats.org/officeDocument/2006/relationships/image" Target="../media/image15.jpg"/><Relationship Id="rId4" Type="http://schemas.openxmlformats.org/officeDocument/2006/relationships/image" Target="../media/image9.jpg"/><Relationship Id="rId9" Type="http://schemas.openxmlformats.org/officeDocument/2006/relationships/image" Target="../media/image14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80BA24"/>
          </a:solidFill>
          <a:ln w="12700">
            <a:solidFill>
              <a:srgbClr val="80BA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3" name="Image 0" descr="final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57200"/>
            <a:ext cx="3142969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60020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80B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ABSCHLUSSPRÄSENTATION  ·  REQUIREMENTS ENGINEERING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31520" y="18288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ThesisFlow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731520" y="26517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Anmelden. Betreuen. Abschließen.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731520" y="3291840"/>
            <a:ext cx="7680960" cy="0"/>
          </a:xfrm>
          <a:prstGeom prst="line">
            <a:avLst/>
          </a:prstGeom>
          <a:noFill/>
          <a:ln w="9525">
            <a:solidFill>
              <a:srgbClr val="C9D1D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5"/>
          <p:cNvSpPr/>
          <p:nvPr/>
        </p:nvSpPr>
        <p:spPr>
          <a:xfrm>
            <a:off x="731520" y="342900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Fachbereich MND  ·  Technische Hochschule Mittelhessen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Dr. Carsten Lucke  </a:t>
            </a:r>
            <a:r>
              <a:rPr lang="en-US" sz="125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Prof. Dr. Thomas Farrenkopf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Gruppe Grün  ·  02.10.2026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80B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THESISFLOW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310896"/>
            <a:ext cx="6172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429768"/>
          </a:xfrm>
          <a:prstGeom prst="rect">
            <a:avLst/>
          </a:prstGeom>
          <a:solidFill>
            <a:srgbClr val="EDF5DC"/>
          </a:solidFill>
          <a:ln w="12700">
            <a:solidFill>
              <a:srgbClr val="EDF5D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29768" cy="429768"/>
          </a:xfrm>
          <a:prstGeom prst="rect">
            <a:avLst/>
          </a:prstGeom>
          <a:solidFill>
            <a:srgbClr val="4A5C66"/>
          </a:solidFill>
          <a:ln w="12700">
            <a:solidFill>
              <a:srgbClr val="4A5C6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960120"/>
            <a:ext cx="65836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Überblick und Produktvision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98080" y="960120"/>
            <a:ext cx="1143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Folie 3–4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1481328"/>
            <a:ext cx="841248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Shape 8"/>
          <p:cNvSpPr/>
          <p:nvPr/>
        </p:nvSpPr>
        <p:spPr>
          <a:xfrm>
            <a:off x="365760" y="1481328"/>
            <a:ext cx="429768" cy="429768"/>
          </a:xfrm>
          <a:prstGeom prst="rect">
            <a:avLst/>
          </a:prstGeom>
          <a:solidFill>
            <a:srgbClr val="4A5C66"/>
          </a:solidFill>
          <a:ln w="12700">
            <a:solidFill>
              <a:srgbClr val="4A5C6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365760" y="1481328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60120" y="1481328"/>
            <a:ext cx="65836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System- und Kontextabgrenzung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498080" y="1481328"/>
            <a:ext cx="1143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Folie 5–6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002536"/>
            <a:ext cx="8412480" cy="429768"/>
          </a:xfrm>
          <a:prstGeom prst="rect">
            <a:avLst/>
          </a:prstGeom>
          <a:solidFill>
            <a:srgbClr val="EDF5DC"/>
          </a:solidFill>
          <a:ln w="12700">
            <a:solidFill>
              <a:srgbClr val="EDF5D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Shape 13"/>
          <p:cNvSpPr/>
          <p:nvPr/>
        </p:nvSpPr>
        <p:spPr>
          <a:xfrm>
            <a:off x="365760" y="2002536"/>
            <a:ext cx="429768" cy="429768"/>
          </a:xfrm>
          <a:prstGeom prst="rect">
            <a:avLst/>
          </a:prstGeom>
          <a:solidFill>
            <a:srgbClr val="4A5C66"/>
          </a:solidFill>
          <a:ln w="12700">
            <a:solidFill>
              <a:srgbClr val="4A5C6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365760" y="2002536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60120" y="2002536"/>
            <a:ext cx="65836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498080" y="2002536"/>
            <a:ext cx="1143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Folie 7–10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2523744"/>
            <a:ext cx="841248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Shape 18"/>
          <p:cNvSpPr/>
          <p:nvPr/>
        </p:nvSpPr>
        <p:spPr>
          <a:xfrm>
            <a:off x="365760" y="2523744"/>
            <a:ext cx="429768" cy="429768"/>
          </a:xfrm>
          <a:prstGeom prst="rect">
            <a:avLst/>
          </a:prstGeom>
          <a:solidFill>
            <a:srgbClr val="4A5C66"/>
          </a:solidFill>
          <a:ln w="12700">
            <a:solidFill>
              <a:srgbClr val="4A5C6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365760" y="2523744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60120" y="2523744"/>
            <a:ext cx="65836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Map und Releaseplanung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498080" y="2523744"/>
            <a:ext cx="1143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Folie 11–20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3044952"/>
            <a:ext cx="8412480" cy="429768"/>
          </a:xfrm>
          <a:prstGeom prst="rect">
            <a:avLst/>
          </a:prstGeom>
          <a:solidFill>
            <a:srgbClr val="EDF5DC"/>
          </a:solidFill>
          <a:ln w="12700">
            <a:solidFill>
              <a:srgbClr val="EDF5D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Shape 23"/>
          <p:cNvSpPr/>
          <p:nvPr/>
        </p:nvSpPr>
        <p:spPr>
          <a:xfrm>
            <a:off x="365760" y="3044952"/>
            <a:ext cx="429768" cy="429768"/>
          </a:xfrm>
          <a:prstGeom prst="rect">
            <a:avLst/>
          </a:prstGeom>
          <a:solidFill>
            <a:srgbClr val="4A5C66"/>
          </a:solidFill>
          <a:ln w="12700">
            <a:solidFill>
              <a:srgbClr val="4A5C6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Text 24"/>
          <p:cNvSpPr/>
          <p:nvPr/>
        </p:nvSpPr>
        <p:spPr>
          <a:xfrm>
            <a:off x="365760" y="3044952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60120" y="3044952"/>
            <a:ext cx="65836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Gesamt-Datenmodell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498080" y="3044952"/>
            <a:ext cx="1143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Folie 21–22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3566160"/>
            <a:ext cx="841248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0" name="Shape 28"/>
          <p:cNvSpPr/>
          <p:nvPr/>
        </p:nvSpPr>
        <p:spPr>
          <a:xfrm>
            <a:off x="365760" y="3566160"/>
            <a:ext cx="429768" cy="429768"/>
          </a:xfrm>
          <a:prstGeom prst="rect">
            <a:avLst/>
          </a:prstGeom>
          <a:solidFill>
            <a:srgbClr val="4A5C66"/>
          </a:solidFill>
          <a:ln w="12700">
            <a:solidFill>
              <a:srgbClr val="4A5C6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1" name="Text 29"/>
          <p:cNvSpPr/>
          <p:nvPr/>
        </p:nvSpPr>
        <p:spPr>
          <a:xfrm>
            <a:off x="365760" y="3566160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60120" y="3566160"/>
            <a:ext cx="65836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Dialoglandkarte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498080" y="3566160"/>
            <a:ext cx="1143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Folie 23–26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65760" y="4087368"/>
            <a:ext cx="8412480" cy="429768"/>
          </a:xfrm>
          <a:prstGeom prst="rect">
            <a:avLst/>
          </a:prstGeom>
          <a:solidFill>
            <a:srgbClr val="EDF5DC"/>
          </a:solidFill>
          <a:ln w="12700">
            <a:solidFill>
              <a:srgbClr val="EDF5D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5" name="Shape 33"/>
          <p:cNvSpPr/>
          <p:nvPr/>
        </p:nvSpPr>
        <p:spPr>
          <a:xfrm>
            <a:off x="365760" y="4087368"/>
            <a:ext cx="429768" cy="429768"/>
          </a:xfrm>
          <a:prstGeom prst="rect">
            <a:avLst/>
          </a:prstGeom>
          <a:solidFill>
            <a:srgbClr val="4A5C66"/>
          </a:solidFill>
          <a:ln w="12700">
            <a:solidFill>
              <a:srgbClr val="4A5C6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6" name="Text 34"/>
          <p:cNvSpPr/>
          <p:nvPr/>
        </p:nvSpPr>
        <p:spPr>
          <a:xfrm>
            <a:off x="365760" y="4087368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960120" y="4087368"/>
            <a:ext cx="65836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 nach dem D2D-Ansatz</a:t>
            </a:r>
            <a:r>
              <a:rPr lang="en-US" sz="1000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Themenfreigabe · Verlängerungsantrag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498080" y="4087368"/>
            <a:ext cx="1143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Folie 27–42</a:t>
            </a:r>
            <a:endParaRPr lang="en-US" sz="95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55464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5B6A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80B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 1 · ÜBERBLICK UND PRODUKTVISION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310896"/>
            <a:ext cx="6172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Überblick und Produktvision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55464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5B6A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  <p:sp>
        <p:nvSpPr>
          <p:cNvPr id="4" name="brand-background">
            <a:extLst>
              <a:ext uri="{FF2B5EF4-FFF2-40B4-BE49-F238E27FC236}">
                <a16:creationId xmlns:a16="http://schemas.microsoft.com/office/drawing/2014/main" id="{1937E03D-96E6-A4A5-AB74-F9164688672C}"/>
              </a:ext>
            </a:extLst>
          </p:cNvPr>
          <p:cNvSpPr>
            <a:spLocks noGrp="1"/>
          </p:cNvSpPr>
          <p:nvPr/>
        </p:nvSpPr>
        <p:spPr>
          <a:xfrm>
            <a:off x="1214289" y="838051"/>
            <a:ext cx="2456507" cy="3924598"/>
          </a:xfrm>
          <a:prstGeom prst="rect">
            <a:avLst/>
          </a:prstGeom>
          <a:solidFill>
            <a:srgbClr val="4A5C66"/>
          </a:solidFill>
          <a:ln w="0">
            <a:noFill/>
          </a:ln>
        </p:spPr>
        <p:txBody>
          <a:bodyPr>
            <a:noAutofit/>
          </a:bodyPr>
          <a:lstStyle/>
          <a:p>
            <a:endParaRPr sz="1373"/>
          </a:p>
        </p:txBody>
      </p:sp>
      <p:sp>
        <p:nvSpPr>
          <p:cNvPr id="5" name="context">
            <a:extLst>
              <a:ext uri="{FF2B5EF4-FFF2-40B4-BE49-F238E27FC236}">
                <a16:creationId xmlns:a16="http://schemas.microsoft.com/office/drawing/2014/main" id="{BAA98EF1-5811-DACE-5E21-712A973B0558}"/>
              </a:ext>
            </a:extLst>
          </p:cNvPr>
          <p:cNvSpPr>
            <a:spLocks noGrp="1"/>
          </p:cNvSpPr>
          <p:nvPr/>
        </p:nvSpPr>
        <p:spPr>
          <a:xfrm>
            <a:off x="1475928" y="1063352"/>
            <a:ext cx="2064048" cy="203498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1">
                <a:solidFill>
                  <a:srgbClr val="97BC62"/>
                </a:solidFill>
                <a:latin typeface="Calibri"/>
                <a:ea typeface="Calibri"/>
                <a:cs typeface="Calibri"/>
              </a:defRPr>
            </a:pPr>
            <a:r>
              <a:rPr sz="744" b="1">
                <a:solidFill>
                  <a:srgbClr val="80BA24"/>
                </a:solidFill>
                <a:latin typeface="Calibri"/>
                <a:ea typeface="Calibri"/>
                <a:cs typeface="Calibri"/>
              </a:rPr>
              <a:t>THM · FACHBEREICH MND</a:t>
            </a:r>
          </a:p>
        </p:txBody>
      </p:sp>
      <p:sp>
        <p:nvSpPr>
          <p:cNvPr id="6" name="project-name">
            <a:extLst>
              <a:ext uri="{FF2B5EF4-FFF2-40B4-BE49-F238E27FC236}">
                <a16:creationId xmlns:a16="http://schemas.microsoft.com/office/drawing/2014/main" id="{EB1E0329-8A10-76CB-061C-DCF2687734EF}"/>
              </a:ext>
            </a:extLst>
          </p:cNvPr>
          <p:cNvSpPr>
            <a:spLocks noGrp="1"/>
          </p:cNvSpPr>
          <p:nvPr/>
        </p:nvSpPr>
        <p:spPr>
          <a:xfrm>
            <a:off x="1446857" y="1346795"/>
            <a:ext cx="2151261" cy="508744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518" b="1">
                <a:solidFill>
                  <a:srgbClr val="FFFFFF"/>
                </a:solidFill>
                <a:latin typeface="Calibri" panose="020F0502020204030204" pitchFamily="34" charset="0"/>
                <a:ea typeface="Cambria"/>
                <a:cs typeface="Cambria"/>
              </a:rPr>
              <a:t>ThesisFlow</a:t>
            </a:r>
          </a:p>
        </p:txBody>
      </p:sp>
      <p:sp>
        <p:nvSpPr>
          <p:cNvPr id="7" name="team-tagline">
            <a:extLst>
              <a:ext uri="{FF2B5EF4-FFF2-40B4-BE49-F238E27FC236}">
                <a16:creationId xmlns:a16="http://schemas.microsoft.com/office/drawing/2014/main" id="{09993DCC-5692-0C9C-DAC7-F155363317A5}"/>
              </a:ext>
            </a:extLst>
          </p:cNvPr>
          <p:cNvSpPr>
            <a:spLocks noGrp="1"/>
          </p:cNvSpPr>
          <p:nvPr/>
        </p:nvSpPr>
        <p:spPr>
          <a:xfrm>
            <a:off x="1475929" y="1950020"/>
            <a:ext cx="2020441" cy="78492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 i="1">
                <a:solidFill>
                  <a:srgbClr val="97BC62"/>
                </a:solidFill>
                <a:latin typeface="Cambria"/>
                <a:ea typeface="Cambria"/>
                <a:cs typeface="Cambria"/>
              </a:defRPr>
            </a:pPr>
            <a:r>
              <a:rPr sz="1431" i="1">
                <a:solidFill>
                  <a:srgbClr val="80BA24"/>
                </a:solidFill>
                <a:latin typeface="Calibri" panose="020F0502020204030204" pitchFamily="34" charset="0"/>
                <a:ea typeface="Cambria"/>
                <a:cs typeface="Cambria"/>
              </a:rPr>
              <a:t>Anmelden.</a:t>
            </a:r>
          </a:p>
          <a:p>
            <a:pPr>
              <a:defRPr sz="1875" b="0" i="1">
                <a:solidFill>
                  <a:srgbClr val="97BC62"/>
                </a:solidFill>
                <a:latin typeface="Cambria"/>
                <a:ea typeface="Cambria"/>
                <a:cs typeface="Cambria"/>
              </a:defRPr>
            </a:pPr>
            <a:r>
              <a:rPr sz="1431" i="1">
                <a:solidFill>
                  <a:srgbClr val="80BA24"/>
                </a:solidFill>
                <a:latin typeface="Calibri" panose="020F0502020204030204" pitchFamily="34" charset="0"/>
                <a:ea typeface="Cambria"/>
                <a:cs typeface="Cambria"/>
              </a:rPr>
              <a:t>Betreuen.</a:t>
            </a:r>
          </a:p>
          <a:p>
            <a:pPr>
              <a:defRPr sz="1875" b="0" i="1">
                <a:solidFill>
                  <a:srgbClr val="97BC62"/>
                </a:solidFill>
                <a:latin typeface="Cambria"/>
                <a:ea typeface="Cambria"/>
                <a:cs typeface="Cambria"/>
              </a:defRPr>
            </a:pPr>
            <a:r>
              <a:rPr sz="1431" i="1">
                <a:solidFill>
                  <a:srgbClr val="80BA24"/>
                </a:solidFill>
                <a:latin typeface="Calibri" panose="020F0502020204030204" pitchFamily="34" charset="0"/>
                <a:ea typeface="Cambria"/>
                <a:cs typeface="Cambria"/>
              </a:rPr>
              <a:t>Abschließen.</a:t>
            </a:r>
          </a:p>
        </p:txBody>
      </p:sp>
      <p:sp>
        <p:nvSpPr>
          <p:cNvPr id="8" name="vision-label">
            <a:extLst>
              <a:ext uri="{FF2B5EF4-FFF2-40B4-BE49-F238E27FC236}">
                <a16:creationId xmlns:a16="http://schemas.microsoft.com/office/drawing/2014/main" id="{0F02A80C-D874-B851-93DF-9C2D47F9D19A}"/>
              </a:ext>
            </a:extLst>
          </p:cNvPr>
          <p:cNvSpPr>
            <a:spLocks noGrp="1"/>
          </p:cNvSpPr>
          <p:nvPr/>
        </p:nvSpPr>
        <p:spPr>
          <a:xfrm>
            <a:off x="1475928" y="2865760"/>
            <a:ext cx="2064048" cy="167159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1">
                <a:solidFill>
                  <a:srgbClr val="97BC62"/>
                </a:solidFill>
                <a:latin typeface="Calibri"/>
                <a:ea typeface="Calibri"/>
                <a:cs typeface="Calibri"/>
              </a:defRPr>
            </a:pPr>
            <a:r>
              <a:rPr sz="744" b="1">
                <a:solidFill>
                  <a:srgbClr val="80BA24"/>
                </a:solidFill>
                <a:latin typeface="Calibri"/>
                <a:ea typeface="Calibri"/>
                <a:cs typeface="Calibri"/>
              </a:rPr>
              <a:t>UNSERE VISION</a:t>
            </a:r>
          </a:p>
        </p:txBody>
      </p:sp>
      <p:sp>
        <p:nvSpPr>
          <p:cNvPr id="9" name="vision">
            <a:extLst>
              <a:ext uri="{FF2B5EF4-FFF2-40B4-BE49-F238E27FC236}">
                <a16:creationId xmlns:a16="http://schemas.microsoft.com/office/drawing/2014/main" id="{59EB8263-B985-A484-C772-8EF3D4138E07}"/>
              </a:ext>
            </a:extLst>
          </p:cNvPr>
          <p:cNvSpPr>
            <a:spLocks noGrp="1"/>
          </p:cNvSpPr>
          <p:nvPr/>
        </p:nvSpPr>
        <p:spPr>
          <a:xfrm>
            <a:off x="1475929" y="3091061"/>
            <a:ext cx="2049512" cy="843062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87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Jede Abschlussarbeit im</a:t>
            </a:r>
          </a:p>
          <a:p>
            <a:pPr>
              <a:defRPr sz="142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87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Fachbereich MND wird</a:t>
            </a:r>
          </a:p>
          <a:p>
            <a:pPr>
              <a:defRPr sz="142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87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vollständig digital angemeldet,</a:t>
            </a:r>
          </a:p>
          <a:p>
            <a:pPr>
              <a:defRPr sz="142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87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freigegeben und verwaltet.</a:t>
            </a:r>
          </a:p>
        </p:txBody>
      </p:sp>
      <p:sp>
        <p:nvSpPr>
          <p:cNvPr id="10" name="platform">
            <a:extLst>
              <a:ext uri="{FF2B5EF4-FFF2-40B4-BE49-F238E27FC236}">
                <a16:creationId xmlns:a16="http://schemas.microsoft.com/office/drawing/2014/main" id="{0490AD20-2DF2-B5A4-10D2-F34170E20B4B}"/>
              </a:ext>
            </a:extLst>
          </p:cNvPr>
          <p:cNvSpPr>
            <a:spLocks noGrp="1"/>
          </p:cNvSpPr>
          <p:nvPr/>
        </p:nvSpPr>
        <p:spPr>
          <a:xfrm>
            <a:off x="1475928" y="3948658"/>
            <a:ext cx="2064048" cy="276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D9E6CF"/>
                </a:solidFill>
                <a:latin typeface="Calibri"/>
                <a:ea typeface="Calibri"/>
                <a:cs typeface="Calibri"/>
              </a:defRPr>
            </a:pPr>
            <a:r>
              <a:rPr sz="801">
                <a:solidFill>
                  <a:srgbClr val="D5E3B5"/>
                </a:solidFill>
                <a:latin typeface="Calibri"/>
                <a:ea typeface="Calibri"/>
                <a:cs typeface="Calibri"/>
              </a:rPr>
              <a:t>Webportal für B.Sc. und M.Sc.</a:t>
            </a:r>
          </a:p>
          <a:p>
            <a:pPr>
              <a:defRPr sz="1050" b="0">
                <a:solidFill>
                  <a:srgbClr val="D9E6CF"/>
                </a:solidFill>
                <a:latin typeface="Calibri"/>
                <a:ea typeface="Calibri"/>
                <a:cs typeface="Calibri"/>
              </a:defRPr>
            </a:pPr>
            <a:r>
              <a:rPr sz="801">
                <a:solidFill>
                  <a:srgbClr val="D5E3B5"/>
                </a:solidFill>
                <a:latin typeface="Calibri"/>
                <a:ea typeface="Calibri"/>
                <a:cs typeface="Calibri"/>
              </a:rPr>
              <a:t>Am Desktop und Smartphone</a:t>
            </a:r>
          </a:p>
        </p:txBody>
      </p:sp>
      <p:sp>
        <p:nvSpPr>
          <p:cNvPr id="11" name="commission">
            <a:extLst>
              <a:ext uri="{FF2B5EF4-FFF2-40B4-BE49-F238E27FC236}">
                <a16:creationId xmlns:a16="http://schemas.microsoft.com/office/drawing/2014/main" id="{7ED43A7D-5964-5828-BC6A-3E0257C13B5C}"/>
              </a:ext>
            </a:extLst>
          </p:cNvPr>
          <p:cNvSpPr>
            <a:spLocks noGrp="1"/>
          </p:cNvSpPr>
          <p:nvPr/>
        </p:nvSpPr>
        <p:spPr>
          <a:xfrm>
            <a:off x="1475928" y="4333851"/>
            <a:ext cx="2064048" cy="356121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00" b="0">
                <a:solidFill>
                  <a:srgbClr val="D9E6CF"/>
                </a:solidFill>
                <a:latin typeface="Calibri"/>
                <a:ea typeface="Calibri"/>
                <a:cs typeface="Calibri"/>
              </a:defRPr>
            </a:pPr>
            <a:r>
              <a:rPr sz="687">
                <a:solidFill>
                  <a:srgbClr val="D5E3B5"/>
                </a:solidFill>
                <a:latin typeface="Calibri"/>
                <a:ea typeface="Calibri"/>
                <a:cs typeface="Calibri"/>
              </a:rPr>
              <a:t>Auftraggeber: Fachbereich MND</a:t>
            </a:r>
          </a:p>
          <a:p>
            <a:pPr>
              <a:defRPr sz="900" b="0">
                <a:solidFill>
                  <a:srgbClr val="D9E6CF"/>
                </a:solidFill>
                <a:latin typeface="Calibri"/>
                <a:ea typeface="Calibri"/>
                <a:cs typeface="Calibri"/>
              </a:defRPr>
            </a:pPr>
            <a:r>
              <a:rPr sz="687">
                <a:solidFill>
                  <a:srgbClr val="D5E3B5"/>
                </a:solidFill>
                <a:latin typeface="Calibri"/>
                <a:ea typeface="Calibri"/>
                <a:cs typeface="Calibri"/>
              </a:rPr>
              <a:t>Prof. Dr. Carsten Lucke</a:t>
            </a:r>
          </a:p>
          <a:p>
            <a:pPr>
              <a:defRPr sz="900" b="0">
                <a:solidFill>
                  <a:srgbClr val="D9E6CF"/>
                </a:solidFill>
                <a:latin typeface="Calibri"/>
                <a:ea typeface="Calibri"/>
                <a:cs typeface="Calibri"/>
              </a:defRPr>
            </a:pPr>
            <a:r>
              <a:rPr sz="687">
                <a:solidFill>
                  <a:srgbClr val="D5E3B5"/>
                </a:solidFill>
                <a:latin typeface="Calibri"/>
                <a:ea typeface="Calibri"/>
                <a:cs typeface="Calibri"/>
              </a:rPr>
              <a:t>Auftragnehmer: Gruppe Grün</a:t>
            </a:r>
          </a:p>
        </p:txBody>
      </p:sp>
      <p:sp>
        <p:nvSpPr>
          <p:cNvPr id="12" name="problem-title">
            <a:extLst>
              <a:ext uri="{FF2B5EF4-FFF2-40B4-BE49-F238E27FC236}">
                <a16:creationId xmlns:a16="http://schemas.microsoft.com/office/drawing/2014/main" id="{A818729D-6EA2-A839-5CDC-CB2BF32C5C1B}"/>
              </a:ext>
            </a:extLst>
          </p:cNvPr>
          <p:cNvSpPr>
            <a:spLocks noGrp="1"/>
          </p:cNvSpPr>
          <p:nvPr/>
        </p:nvSpPr>
        <p:spPr>
          <a:xfrm>
            <a:off x="3903365" y="1557561"/>
            <a:ext cx="4026346" cy="225301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2C5F2D"/>
                </a:solidFill>
                <a:latin typeface="Cambria"/>
                <a:ea typeface="Cambria"/>
                <a:cs typeface="Cambria"/>
              </a:defRPr>
            </a:pPr>
            <a:r>
              <a:rPr sz="1259" b="1">
                <a:solidFill>
                  <a:srgbClr val="4A5C66"/>
                </a:solidFill>
                <a:latin typeface="Calibri" panose="020F0502020204030204" pitchFamily="34" charset="0"/>
                <a:ea typeface="Cambria"/>
                <a:cs typeface="Cambria"/>
              </a:rPr>
              <a:t>Die Ausgangslage</a:t>
            </a:r>
          </a:p>
        </p:txBody>
      </p:sp>
      <p:sp>
        <p:nvSpPr>
          <p:cNvPr id="13" name="problem-body">
            <a:extLst>
              <a:ext uri="{FF2B5EF4-FFF2-40B4-BE49-F238E27FC236}">
                <a16:creationId xmlns:a16="http://schemas.microsoft.com/office/drawing/2014/main" id="{13464414-9F21-0F01-7F9C-B5D84820310C}"/>
              </a:ext>
            </a:extLst>
          </p:cNvPr>
          <p:cNvSpPr>
            <a:spLocks noGrp="1"/>
          </p:cNvSpPr>
          <p:nvPr/>
        </p:nvSpPr>
        <p:spPr>
          <a:xfrm>
            <a:off x="3903365" y="1833736"/>
            <a:ext cx="4026346" cy="3924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88" b="0">
                <a:solidFill>
                  <a:srgbClr val="1F2A1F"/>
                </a:solidFill>
                <a:latin typeface="Calibri"/>
                <a:ea typeface="Calibri"/>
                <a:cs typeface="Calibri"/>
              </a:defRPr>
            </a:pPr>
            <a:r>
              <a:rPr sz="1059">
                <a:solidFill>
                  <a:srgbClr val="2F3E46"/>
                </a:solidFill>
                <a:latin typeface="Calibri"/>
                <a:ea typeface="Calibri"/>
                <a:cs typeface="Calibri"/>
              </a:rPr>
              <a:t>PDF-Anträge und E-Mail-Umläufe erzeugen Rückfragen.</a:t>
            </a:r>
          </a:p>
          <a:p>
            <a:pPr>
              <a:defRPr sz="1388" b="0">
                <a:solidFill>
                  <a:srgbClr val="1F2A1F"/>
                </a:solidFill>
                <a:latin typeface="Calibri"/>
                <a:ea typeface="Calibri"/>
                <a:cs typeface="Calibri"/>
              </a:defRPr>
            </a:pPr>
            <a:r>
              <a:rPr sz="1059">
                <a:solidFill>
                  <a:srgbClr val="2F3E46"/>
                </a:solidFill>
                <a:latin typeface="Calibri"/>
                <a:ea typeface="Calibri"/>
                <a:cs typeface="Calibri"/>
              </a:rPr>
              <a:t>Ein gemeinsamer Überblick über den Bearbeitungsstand fehlt.</a:t>
            </a:r>
          </a:p>
        </p:txBody>
      </p:sp>
      <p:sp>
        <p:nvSpPr>
          <p:cNvPr id="14" name="solution-title">
            <a:extLst>
              <a:ext uri="{FF2B5EF4-FFF2-40B4-BE49-F238E27FC236}">
                <a16:creationId xmlns:a16="http://schemas.microsoft.com/office/drawing/2014/main" id="{31DD6698-84EE-7077-0B64-218C3F89E75D}"/>
              </a:ext>
            </a:extLst>
          </p:cNvPr>
          <p:cNvSpPr>
            <a:spLocks noGrp="1"/>
          </p:cNvSpPr>
          <p:nvPr/>
        </p:nvSpPr>
        <p:spPr>
          <a:xfrm>
            <a:off x="3903365" y="2255267"/>
            <a:ext cx="4026346" cy="225301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2C5F2D"/>
                </a:solidFill>
                <a:latin typeface="Cambria"/>
                <a:ea typeface="Cambria"/>
                <a:cs typeface="Cambria"/>
              </a:defRPr>
            </a:pPr>
            <a:r>
              <a:rPr sz="1259" b="1">
                <a:solidFill>
                  <a:srgbClr val="4A5C66"/>
                </a:solidFill>
                <a:latin typeface="Calibri" panose="020F0502020204030204" pitchFamily="34" charset="0"/>
                <a:ea typeface="Cambria"/>
                <a:cs typeface="Cambria"/>
              </a:rPr>
              <a:t>Ein gemeinsamer Vorgang</a:t>
            </a:r>
          </a:p>
        </p:txBody>
      </p:sp>
      <p:sp>
        <p:nvSpPr>
          <p:cNvPr id="15" name="solution-body">
            <a:extLst>
              <a:ext uri="{FF2B5EF4-FFF2-40B4-BE49-F238E27FC236}">
                <a16:creationId xmlns:a16="http://schemas.microsoft.com/office/drawing/2014/main" id="{6F6ACE5E-2A01-E8B6-A51C-382D745FF8B9}"/>
              </a:ext>
            </a:extLst>
          </p:cNvPr>
          <p:cNvSpPr>
            <a:spLocks noGrp="1"/>
          </p:cNvSpPr>
          <p:nvPr/>
        </p:nvSpPr>
        <p:spPr>
          <a:xfrm>
            <a:off x="3903365" y="2538710"/>
            <a:ext cx="4026346" cy="566886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88" b="0">
                <a:solidFill>
                  <a:srgbClr val="1F2A1F"/>
                </a:solidFill>
                <a:latin typeface="Calibri"/>
                <a:ea typeface="Calibri"/>
                <a:cs typeface="Calibri"/>
              </a:defRPr>
            </a:pPr>
            <a:r>
              <a:rPr sz="1059">
                <a:solidFill>
                  <a:srgbClr val="2F3E46"/>
                </a:solidFill>
                <a:latin typeface="Calibri"/>
                <a:ea typeface="Calibri"/>
                <a:cs typeface="Calibri"/>
              </a:rPr>
              <a:t>ThesisFlow führt Anträge, Nachweise und Freigaben zusammen.</a:t>
            </a:r>
          </a:p>
          <a:p>
            <a:pPr>
              <a:defRPr sz="1388" b="0">
                <a:solidFill>
                  <a:srgbClr val="1F2A1F"/>
                </a:solidFill>
                <a:latin typeface="Calibri"/>
                <a:ea typeface="Calibri"/>
                <a:cs typeface="Calibri"/>
              </a:defRPr>
            </a:pPr>
            <a:r>
              <a:rPr sz="1059">
                <a:solidFill>
                  <a:srgbClr val="2F3E46"/>
                </a:solidFill>
                <a:latin typeface="Calibri"/>
                <a:ea typeface="Calibri"/>
                <a:cs typeface="Calibri"/>
              </a:rPr>
              <a:t>Studierende, interne und externe </a:t>
            </a:r>
            <a:r>
              <a:rPr lang="de-DE" sz="1059">
                <a:solidFill>
                  <a:srgbClr val="2F3E46"/>
                </a:solidFill>
                <a:latin typeface="Calibri"/>
                <a:ea typeface="Calibri"/>
                <a:cs typeface="Calibri"/>
              </a:rPr>
              <a:t>Prüfende sowie</a:t>
            </a:r>
            <a:endParaRPr sz="1059">
              <a:solidFill>
                <a:srgbClr val="2F3E46"/>
              </a:solidFill>
              <a:latin typeface="Calibri"/>
              <a:ea typeface="Calibri"/>
              <a:cs typeface="Calibri"/>
            </a:endParaRPr>
          </a:p>
          <a:p>
            <a:pPr>
              <a:defRPr sz="1388" b="0">
                <a:solidFill>
                  <a:srgbClr val="1F2A1F"/>
                </a:solidFill>
                <a:latin typeface="Calibri"/>
                <a:ea typeface="Calibri"/>
                <a:cs typeface="Calibri"/>
              </a:defRPr>
            </a:pPr>
            <a:r>
              <a:rPr lang="de-DE" sz="1059">
                <a:solidFill>
                  <a:srgbClr val="2F3E46"/>
                </a:solidFill>
                <a:latin typeface="Calibri"/>
                <a:ea typeface="Calibri"/>
                <a:cs typeface="Calibri"/>
              </a:rPr>
              <a:t>Dekanat / Prüfungsamt sehen den Status und ihre nächsten Schritte.</a:t>
            </a:r>
            <a:endParaRPr sz="1059">
              <a:solidFill>
                <a:srgbClr val="2F3E46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" name="value-title">
            <a:extLst>
              <a:ext uri="{FF2B5EF4-FFF2-40B4-BE49-F238E27FC236}">
                <a16:creationId xmlns:a16="http://schemas.microsoft.com/office/drawing/2014/main" id="{9C86EB72-96D6-DCB9-4F7D-E2B9D657E4AA}"/>
              </a:ext>
            </a:extLst>
          </p:cNvPr>
          <p:cNvSpPr>
            <a:spLocks noGrp="1"/>
          </p:cNvSpPr>
          <p:nvPr/>
        </p:nvSpPr>
        <p:spPr>
          <a:xfrm>
            <a:off x="3903365" y="3163739"/>
            <a:ext cx="4026346" cy="225301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2C5F2D"/>
                </a:solidFill>
                <a:latin typeface="Cambria"/>
                <a:ea typeface="Cambria"/>
                <a:cs typeface="Cambria"/>
              </a:defRPr>
            </a:pPr>
            <a:r>
              <a:rPr sz="1259" b="1">
                <a:solidFill>
                  <a:srgbClr val="4A5C66"/>
                </a:solidFill>
                <a:latin typeface="Calibri" panose="020F0502020204030204" pitchFamily="34" charset="0"/>
                <a:ea typeface="Cambria"/>
                <a:cs typeface="Cambria"/>
              </a:rPr>
              <a:t>Der Nutzen</a:t>
            </a:r>
          </a:p>
        </p:txBody>
      </p:sp>
      <p:sp>
        <p:nvSpPr>
          <p:cNvPr id="17" name="value-body">
            <a:extLst>
              <a:ext uri="{FF2B5EF4-FFF2-40B4-BE49-F238E27FC236}">
                <a16:creationId xmlns:a16="http://schemas.microsoft.com/office/drawing/2014/main" id="{B1879FE0-3EC7-1349-2C8E-6D112E719090}"/>
              </a:ext>
            </a:extLst>
          </p:cNvPr>
          <p:cNvSpPr>
            <a:spLocks noGrp="1"/>
          </p:cNvSpPr>
          <p:nvPr/>
        </p:nvSpPr>
        <p:spPr>
          <a:xfrm>
            <a:off x="3903365" y="3439914"/>
            <a:ext cx="4026346" cy="348853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88" b="0">
                <a:solidFill>
                  <a:srgbClr val="1F2A1F"/>
                </a:solidFill>
                <a:latin typeface="Calibri"/>
                <a:ea typeface="Calibri"/>
                <a:cs typeface="Calibri"/>
              </a:defRPr>
            </a:pPr>
            <a:r>
              <a:rPr sz="1059">
                <a:solidFill>
                  <a:srgbClr val="2F3E46"/>
                </a:solidFill>
                <a:latin typeface="Calibri"/>
                <a:ea typeface="Calibri"/>
                <a:cs typeface="Calibri"/>
              </a:rPr>
              <a:t>Weniger Rückfragen und Verwaltungsaufwand.</a:t>
            </a:r>
          </a:p>
          <a:p>
            <a:pPr>
              <a:defRPr sz="1388" b="0">
                <a:solidFill>
                  <a:srgbClr val="1F2A1F"/>
                </a:solidFill>
                <a:latin typeface="Calibri"/>
                <a:ea typeface="Calibri"/>
                <a:cs typeface="Calibri"/>
              </a:defRPr>
            </a:pPr>
            <a:r>
              <a:rPr sz="1059">
                <a:solidFill>
                  <a:srgbClr val="2F3E46"/>
                </a:solidFill>
                <a:latin typeface="Calibri"/>
                <a:ea typeface="Calibri"/>
                <a:cs typeface="Calibri"/>
              </a:rPr>
              <a:t>Mehr Zeit für die fachliche Betreuung.</a:t>
            </a:r>
          </a:p>
        </p:txBody>
      </p:sp>
      <p:sp>
        <p:nvSpPr>
          <p:cNvPr id="18" name="release-heading">
            <a:extLst>
              <a:ext uri="{FF2B5EF4-FFF2-40B4-BE49-F238E27FC236}">
                <a16:creationId xmlns:a16="http://schemas.microsoft.com/office/drawing/2014/main" id="{1F2BFA3B-F196-5851-45AF-29CE86A1DBAE}"/>
              </a:ext>
            </a:extLst>
          </p:cNvPr>
          <p:cNvSpPr>
            <a:spLocks noGrp="1"/>
          </p:cNvSpPr>
          <p:nvPr/>
        </p:nvSpPr>
        <p:spPr>
          <a:xfrm>
            <a:off x="3903365" y="3948658"/>
            <a:ext cx="4026346" cy="159891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2C5F2D"/>
                </a:solidFill>
                <a:latin typeface="Cambria"/>
                <a:ea typeface="Cambria"/>
                <a:cs typeface="Cambria"/>
              </a:defRPr>
            </a:pPr>
            <a:r>
              <a:rPr sz="973" b="1">
                <a:solidFill>
                  <a:srgbClr val="4A5C66"/>
                </a:solidFill>
                <a:latin typeface="Calibri" panose="020F0502020204030204" pitchFamily="34" charset="0"/>
                <a:ea typeface="Cambria"/>
                <a:cs typeface="Cambria"/>
              </a:rPr>
              <a:t>Geplanter Ausbau</a:t>
            </a:r>
          </a:p>
        </p:txBody>
      </p:sp>
      <p:sp>
        <p:nvSpPr>
          <p:cNvPr id="19" name="release-1-label">
            <a:extLst>
              <a:ext uri="{FF2B5EF4-FFF2-40B4-BE49-F238E27FC236}">
                <a16:creationId xmlns:a16="http://schemas.microsoft.com/office/drawing/2014/main" id="{C8B4CFAA-03D0-BA87-6FC4-5E1E75C07BA6}"/>
              </a:ext>
            </a:extLst>
          </p:cNvPr>
          <p:cNvSpPr>
            <a:spLocks noGrp="1"/>
          </p:cNvSpPr>
          <p:nvPr/>
        </p:nvSpPr>
        <p:spPr>
          <a:xfrm>
            <a:off x="3903365" y="4159424"/>
            <a:ext cx="1162844" cy="167159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2C5F2D"/>
                </a:solidFill>
                <a:latin typeface="Calibri"/>
                <a:ea typeface="Calibri"/>
                <a:cs typeface="Calibri"/>
              </a:defRPr>
            </a:pPr>
            <a:r>
              <a:rPr sz="916" b="1">
                <a:solidFill>
                  <a:srgbClr val="4A5C66"/>
                </a:solidFill>
                <a:latin typeface="Calibri"/>
                <a:ea typeface="Calibri"/>
                <a:cs typeface="Calibri"/>
              </a:rPr>
              <a:t>Release 1</a:t>
            </a:r>
          </a:p>
        </p:txBody>
      </p:sp>
      <p:sp>
        <p:nvSpPr>
          <p:cNvPr id="20" name="release-1-scope">
            <a:extLst>
              <a:ext uri="{FF2B5EF4-FFF2-40B4-BE49-F238E27FC236}">
                <a16:creationId xmlns:a16="http://schemas.microsoft.com/office/drawing/2014/main" id="{169EF706-AF55-B05D-A06B-CD96F7BABB8D}"/>
              </a:ext>
            </a:extLst>
          </p:cNvPr>
          <p:cNvSpPr>
            <a:spLocks noGrp="1"/>
          </p:cNvSpPr>
          <p:nvPr/>
        </p:nvSpPr>
        <p:spPr>
          <a:xfrm>
            <a:off x="3903365" y="4355654"/>
            <a:ext cx="1162844" cy="276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5C6B5C"/>
                </a:solidFill>
                <a:latin typeface="Calibri"/>
                <a:ea typeface="Calibri"/>
                <a:cs typeface="Calibri"/>
              </a:defRPr>
            </a:pPr>
            <a:r>
              <a:rPr sz="801">
                <a:solidFill>
                  <a:srgbClr val="5B6A70"/>
                </a:solidFill>
                <a:latin typeface="Calibri"/>
                <a:ea typeface="Calibri"/>
                <a:cs typeface="Calibri"/>
              </a:rPr>
              <a:t>Anmeldung und</a:t>
            </a:r>
          </a:p>
          <a:p>
            <a:pPr>
              <a:defRPr sz="1050" b="0">
                <a:solidFill>
                  <a:srgbClr val="5C6B5C"/>
                </a:solidFill>
                <a:latin typeface="Calibri"/>
                <a:ea typeface="Calibri"/>
                <a:cs typeface="Calibri"/>
              </a:defRPr>
            </a:pPr>
            <a:r>
              <a:rPr sz="801">
                <a:solidFill>
                  <a:srgbClr val="5B6A70"/>
                </a:solidFill>
                <a:latin typeface="Calibri"/>
                <a:ea typeface="Calibri"/>
                <a:cs typeface="Calibri"/>
              </a:rPr>
              <a:t>Ausgabe</a:t>
            </a:r>
          </a:p>
        </p:txBody>
      </p:sp>
      <p:sp>
        <p:nvSpPr>
          <p:cNvPr id="21" name="release-2-label">
            <a:extLst>
              <a:ext uri="{FF2B5EF4-FFF2-40B4-BE49-F238E27FC236}">
                <a16:creationId xmlns:a16="http://schemas.microsoft.com/office/drawing/2014/main" id="{987E87B6-186D-FDA8-9BDB-82E670297609}"/>
              </a:ext>
            </a:extLst>
          </p:cNvPr>
          <p:cNvSpPr>
            <a:spLocks noGrp="1"/>
          </p:cNvSpPr>
          <p:nvPr/>
        </p:nvSpPr>
        <p:spPr>
          <a:xfrm>
            <a:off x="5247903" y="4159424"/>
            <a:ext cx="1162844" cy="167159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2C5F2D"/>
                </a:solidFill>
                <a:latin typeface="Calibri"/>
                <a:ea typeface="Calibri"/>
                <a:cs typeface="Calibri"/>
              </a:defRPr>
            </a:pPr>
            <a:r>
              <a:rPr sz="916" b="1">
                <a:solidFill>
                  <a:srgbClr val="4A5C66"/>
                </a:solidFill>
                <a:latin typeface="Calibri"/>
                <a:ea typeface="Calibri"/>
                <a:cs typeface="Calibri"/>
              </a:rPr>
              <a:t>Release 2</a:t>
            </a:r>
          </a:p>
        </p:txBody>
      </p:sp>
      <p:sp>
        <p:nvSpPr>
          <p:cNvPr id="22" name="release-2-scope">
            <a:extLst>
              <a:ext uri="{FF2B5EF4-FFF2-40B4-BE49-F238E27FC236}">
                <a16:creationId xmlns:a16="http://schemas.microsoft.com/office/drawing/2014/main" id="{ADD6FFFB-A274-BD22-BB29-E4A5FD0BEBBB}"/>
              </a:ext>
            </a:extLst>
          </p:cNvPr>
          <p:cNvSpPr>
            <a:spLocks noGrp="1"/>
          </p:cNvSpPr>
          <p:nvPr/>
        </p:nvSpPr>
        <p:spPr>
          <a:xfrm>
            <a:off x="5247903" y="4355654"/>
            <a:ext cx="1162844" cy="276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5C6B5C"/>
                </a:solidFill>
                <a:latin typeface="Calibri"/>
                <a:ea typeface="Calibri"/>
                <a:cs typeface="Calibri"/>
              </a:defRPr>
            </a:pPr>
            <a:r>
              <a:rPr sz="801">
                <a:solidFill>
                  <a:srgbClr val="5B6A70"/>
                </a:solidFill>
                <a:latin typeface="Calibri"/>
                <a:ea typeface="Calibri"/>
                <a:cs typeface="Calibri"/>
              </a:rPr>
              <a:t>Fristen und</a:t>
            </a:r>
          </a:p>
          <a:p>
            <a:pPr>
              <a:defRPr sz="1050" b="0">
                <a:solidFill>
                  <a:srgbClr val="5C6B5C"/>
                </a:solidFill>
                <a:latin typeface="Calibri"/>
                <a:ea typeface="Calibri"/>
                <a:cs typeface="Calibri"/>
              </a:defRPr>
            </a:pPr>
            <a:r>
              <a:rPr sz="801">
                <a:solidFill>
                  <a:srgbClr val="5B6A70"/>
                </a:solidFill>
                <a:latin typeface="Calibri"/>
                <a:ea typeface="Calibri"/>
                <a:cs typeface="Calibri"/>
              </a:rPr>
              <a:t>Verlängerung</a:t>
            </a:r>
          </a:p>
        </p:txBody>
      </p:sp>
      <p:sp>
        <p:nvSpPr>
          <p:cNvPr id="23" name="release-3-label">
            <a:extLst>
              <a:ext uri="{FF2B5EF4-FFF2-40B4-BE49-F238E27FC236}">
                <a16:creationId xmlns:a16="http://schemas.microsoft.com/office/drawing/2014/main" id="{0836DE23-EC1C-0640-1113-4198855DCEE3}"/>
              </a:ext>
            </a:extLst>
          </p:cNvPr>
          <p:cNvSpPr>
            <a:spLocks noGrp="1"/>
          </p:cNvSpPr>
          <p:nvPr/>
        </p:nvSpPr>
        <p:spPr>
          <a:xfrm>
            <a:off x="6577906" y="4159424"/>
            <a:ext cx="1344538" cy="167159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2C5F2D"/>
                </a:solidFill>
                <a:latin typeface="Calibri"/>
                <a:ea typeface="Calibri"/>
                <a:cs typeface="Calibri"/>
              </a:defRPr>
            </a:pPr>
            <a:r>
              <a:rPr sz="916" b="1">
                <a:solidFill>
                  <a:srgbClr val="4A5C66"/>
                </a:solidFill>
                <a:latin typeface="Calibri"/>
                <a:ea typeface="Calibri"/>
                <a:cs typeface="Calibri"/>
              </a:rPr>
              <a:t>Release 3</a:t>
            </a:r>
          </a:p>
        </p:txBody>
      </p:sp>
      <p:sp>
        <p:nvSpPr>
          <p:cNvPr id="24" name="release-3-scope">
            <a:extLst>
              <a:ext uri="{FF2B5EF4-FFF2-40B4-BE49-F238E27FC236}">
                <a16:creationId xmlns:a16="http://schemas.microsoft.com/office/drawing/2014/main" id="{BEE08F9B-2133-8B15-1DAF-523763FA68E4}"/>
              </a:ext>
            </a:extLst>
          </p:cNvPr>
          <p:cNvSpPr>
            <a:spLocks noGrp="1"/>
          </p:cNvSpPr>
          <p:nvPr/>
        </p:nvSpPr>
        <p:spPr>
          <a:xfrm>
            <a:off x="6577906" y="4355654"/>
            <a:ext cx="1344538" cy="276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5C6B5C"/>
                </a:solidFill>
                <a:latin typeface="Calibri"/>
                <a:ea typeface="Calibri"/>
                <a:cs typeface="Calibri"/>
              </a:defRPr>
            </a:pPr>
            <a:r>
              <a:rPr sz="801">
                <a:solidFill>
                  <a:srgbClr val="5B6A70"/>
                </a:solidFill>
                <a:latin typeface="Calibri"/>
                <a:ea typeface="Calibri"/>
                <a:cs typeface="Calibri"/>
              </a:rPr>
              <a:t>Abgabe und Abschluss</a:t>
            </a:r>
          </a:p>
          <a:p>
            <a:pPr>
              <a:defRPr sz="1050" b="0">
                <a:solidFill>
                  <a:srgbClr val="5C6B5C"/>
                </a:solidFill>
                <a:latin typeface="Calibri"/>
                <a:ea typeface="Calibri"/>
                <a:cs typeface="Calibri"/>
              </a:defRPr>
            </a:pPr>
            <a:r>
              <a:rPr sz="801">
                <a:solidFill>
                  <a:srgbClr val="5B6A70"/>
                </a:solidFill>
                <a:latin typeface="Calibri"/>
                <a:ea typeface="Calibri"/>
                <a:cs typeface="Calibri"/>
              </a:rPr>
              <a:t>nach Abstimmung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80B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 1 · ÜBERBLICK UND PRODUKTVISION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310896"/>
            <a:ext cx="6172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ThesisFlow – Projektüberblick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55464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5B6A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18" name="Text 0">
            <a:extLst>
              <a:ext uri="{FF2B5EF4-FFF2-40B4-BE49-F238E27FC236}">
                <a16:creationId xmlns:a16="http://schemas.microsoft.com/office/drawing/2014/main" id="{446A0E7E-04AD-1AAF-F8DA-09B8FDC6DEA2}"/>
              </a:ext>
            </a:extLst>
          </p:cNvPr>
          <p:cNvSpPr txBox="1"/>
          <p:nvPr/>
        </p:nvSpPr>
        <p:spPr>
          <a:xfrm>
            <a:off x="365760" y="8407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Anmelden. Betreuen. Abschließen.</a:t>
            </a:r>
            <a:endParaRPr lang="en-US" sz="1100" dirty="0"/>
          </a:p>
        </p:txBody>
      </p:sp>
      <p:sp>
        <p:nvSpPr>
          <p:cNvPr id="19" name="Text 1">
            <a:extLst>
              <a:ext uri="{FF2B5EF4-FFF2-40B4-BE49-F238E27FC236}">
                <a16:creationId xmlns:a16="http://schemas.microsoft.com/office/drawing/2014/main" id="{BE77179F-7E98-F8B9-D022-6224A7F40DC1}"/>
              </a:ext>
            </a:extLst>
          </p:cNvPr>
          <p:cNvSpPr txBox="1"/>
          <p:nvPr/>
        </p:nvSpPr>
        <p:spPr>
          <a:xfrm>
            <a:off x="6949440" y="8407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Stand: 01.10.2026</a:t>
            </a:r>
            <a:endParaRPr lang="en-US" sz="800" dirty="0"/>
          </a:p>
        </p:txBody>
      </p:sp>
      <p:sp>
        <p:nvSpPr>
          <p:cNvPr id="20" name="Shape 2">
            <a:extLst>
              <a:ext uri="{FF2B5EF4-FFF2-40B4-BE49-F238E27FC236}">
                <a16:creationId xmlns:a16="http://schemas.microsoft.com/office/drawing/2014/main" id="{3471022E-E203-4A0E-4AAC-5026BE6AB082}"/>
              </a:ext>
            </a:extLst>
          </p:cNvPr>
          <p:cNvSpPr/>
          <p:nvPr/>
        </p:nvSpPr>
        <p:spPr>
          <a:xfrm>
            <a:off x="365760" y="1078484"/>
            <a:ext cx="1594714" cy="566928"/>
          </a:xfrm>
          <a:prstGeom prst="rect">
            <a:avLst/>
          </a:prstGeom>
          <a:solidFill>
            <a:srgbClr val="EDF5DC"/>
          </a:solidFill>
          <a:ln w="12700">
            <a:solidFill>
              <a:srgbClr val="EDF5D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Shape 3">
            <a:extLst>
              <a:ext uri="{FF2B5EF4-FFF2-40B4-BE49-F238E27FC236}">
                <a16:creationId xmlns:a16="http://schemas.microsoft.com/office/drawing/2014/main" id="{9A89D8CE-4528-37D2-66C6-333666D3A69C}"/>
              </a:ext>
            </a:extLst>
          </p:cNvPr>
          <p:cNvSpPr/>
          <p:nvPr/>
        </p:nvSpPr>
        <p:spPr>
          <a:xfrm>
            <a:off x="365760" y="1078484"/>
            <a:ext cx="45720" cy="566928"/>
          </a:xfrm>
          <a:prstGeom prst="rect">
            <a:avLst/>
          </a:prstGeom>
          <a:solidFill>
            <a:srgbClr val="80BA24"/>
          </a:solidFill>
          <a:ln w="12700">
            <a:solidFill>
              <a:srgbClr val="80BA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Text 4">
            <a:extLst>
              <a:ext uri="{FF2B5EF4-FFF2-40B4-BE49-F238E27FC236}">
                <a16:creationId xmlns:a16="http://schemas.microsoft.com/office/drawing/2014/main" id="{6B98D2C5-DD35-B700-DAD7-DBA376E2895E}"/>
              </a:ext>
            </a:extLst>
          </p:cNvPr>
          <p:cNvSpPr txBox="1"/>
          <p:nvPr/>
        </p:nvSpPr>
        <p:spPr>
          <a:xfrm>
            <a:off x="493776" y="1133348"/>
            <a:ext cx="141183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80" dirty="0">
                <a:solidFill>
                  <a:srgbClr val="4E7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AUFTRAGGEBER</a:t>
            </a:r>
            <a:endParaRPr lang="en-US" sz="700" dirty="0"/>
          </a:p>
        </p:txBody>
      </p:sp>
      <p:sp>
        <p:nvSpPr>
          <p:cNvPr id="23" name="Text 5">
            <a:extLst>
              <a:ext uri="{FF2B5EF4-FFF2-40B4-BE49-F238E27FC236}">
                <a16:creationId xmlns:a16="http://schemas.microsoft.com/office/drawing/2014/main" id="{7D754C04-1246-841E-F678-060936EDCADA}"/>
              </a:ext>
            </a:extLst>
          </p:cNvPr>
          <p:cNvSpPr txBox="1"/>
          <p:nvPr/>
        </p:nvSpPr>
        <p:spPr>
          <a:xfrm>
            <a:off x="493776" y="1270508"/>
            <a:ext cx="14118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Dr. Carsten Lucke</a:t>
            </a:r>
            <a:endParaRPr lang="en-US" sz="1050" dirty="0"/>
          </a:p>
        </p:txBody>
      </p:sp>
      <p:sp>
        <p:nvSpPr>
          <p:cNvPr id="24" name="Text 6">
            <a:extLst>
              <a:ext uri="{FF2B5EF4-FFF2-40B4-BE49-F238E27FC236}">
                <a16:creationId xmlns:a16="http://schemas.microsoft.com/office/drawing/2014/main" id="{ED637A16-BF40-8A37-FC9D-552204EA3576}"/>
              </a:ext>
            </a:extLst>
          </p:cNvPr>
          <p:cNvSpPr txBox="1"/>
          <p:nvPr/>
        </p:nvSpPr>
        <p:spPr>
          <a:xfrm>
            <a:off x="493776" y="1453388"/>
            <a:ext cx="141183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Fachbereich MND, THM</a:t>
            </a:r>
            <a:endParaRPr lang="en-US" sz="800" dirty="0"/>
          </a:p>
        </p:txBody>
      </p:sp>
      <p:sp>
        <p:nvSpPr>
          <p:cNvPr id="26" name="Shape 7">
            <a:extLst>
              <a:ext uri="{FF2B5EF4-FFF2-40B4-BE49-F238E27FC236}">
                <a16:creationId xmlns:a16="http://schemas.microsoft.com/office/drawing/2014/main" id="{85905E8A-39B9-63F3-8F1D-15A48599DBA4}"/>
              </a:ext>
            </a:extLst>
          </p:cNvPr>
          <p:cNvSpPr/>
          <p:nvPr/>
        </p:nvSpPr>
        <p:spPr>
          <a:xfrm>
            <a:off x="2070202" y="1078484"/>
            <a:ext cx="1594714" cy="566928"/>
          </a:xfrm>
          <a:prstGeom prst="rect">
            <a:avLst/>
          </a:prstGeom>
          <a:solidFill>
            <a:srgbClr val="EDF5DC"/>
          </a:solidFill>
          <a:ln w="12700">
            <a:solidFill>
              <a:srgbClr val="EDF5D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Shape 8">
            <a:extLst>
              <a:ext uri="{FF2B5EF4-FFF2-40B4-BE49-F238E27FC236}">
                <a16:creationId xmlns:a16="http://schemas.microsoft.com/office/drawing/2014/main" id="{10B70B7B-E7FD-3F4F-E577-C757432A3EBC}"/>
              </a:ext>
            </a:extLst>
          </p:cNvPr>
          <p:cNvSpPr/>
          <p:nvPr/>
        </p:nvSpPr>
        <p:spPr>
          <a:xfrm>
            <a:off x="2070202" y="1078484"/>
            <a:ext cx="45720" cy="566928"/>
          </a:xfrm>
          <a:prstGeom prst="rect">
            <a:avLst/>
          </a:prstGeom>
          <a:solidFill>
            <a:srgbClr val="80BA24"/>
          </a:solidFill>
          <a:ln w="12700">
            <a:solidFill>
              <a:srgbClr val="80BA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8" name="Text 9">
            <a:extLst>
              <a:ext uri="{FF2B5EF4-FFF2-40B4-BE49-F238E27FC236}">
                <a16:creationId xmlns:a16="http://schemas.microsoft.com/office/drawing/2014/main" id="{A956D2A4-83F2-4AB7-4777-6DBECBFD88D8}"/>
              </a:ext>
            </a:extLst>
          </p:cNvPr>
          <p:cNvSpPr txBox="1"/>
          <p:nvPr/>
        </p:nvSpPr>
        <p:spPr>
          <a:xfrm>
            <a:off x="2198218" y="1133348"/>
            <a:ext cx="141183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80" dirty="0">
                <a:solidFill>
                  <a:srgbClr val="4E7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AUFTRAGNEHMER</a:t>
            </a:r>
            <a:endParaRPr lang="en-US" sz="700" dirty="0"/>
          </a:p>
        </p:txBody>
      </p:sp>
      <p:sp>
        <p:nvSpPr>
          <p:cNvPr id="29" name="Text 10">
            <a:extLst>
              <a:ext uri="{FF2B5EF4-FFF2-40B4-BE49-F238E27FC236}">
                <a16:creationId xmlns:a16="http://schemas.microsoft.com/office/drawing/2014/main" id="{361D4AA7-713D-8D84-02C5-0C9381FF96C9}"/>
              </a:ext>
            </a:extLst>
          </p:cNvPr>
          <p:cNvSpPr txBox="1"/>
          <p:nvPr/>
        </p:nvSpPr>
        <p:spPr>
          <a:xfrm>
            <a:off x="2198218" y="1270508"/>
            <a:ext cx="14118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Gruppe Grün</a:t>
            </a:r>
            <a:endParaRPr lang="en-US" sz="1050" dirty="0"/>
          </a:p>
        </p:txBody>
      </p:sp>
      <p:sp>
        <p:nvSpPr>
          <p:cNvPr id="30" name="Text 11">
            <a:extLst>
              <a:ext uri="{FF2B5EF4-FFF2-40B4-BE49-F238E27FC236}">
                <a16:creationId xmlns:a16="http://schemas.microsoft.com/office/drawing/2014/main" id="{E61EB3A6-2585-91CA-A67B-5A80E95AC24E}"/>
              </a:ext>
            </a:extLst>
          </p:cNvPr>
          <p:cNvSpPr txBox="1"/>
          <p:nvPr/>
        </p:nvSpPr>
        <p:spPr>
          <a:xfrm>
            <a:off x="2198218" y="1453388"/>
            <a:ext cx="141183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Rolle: Softwarefirma</a:t>
            </a:r>
            <a:endParaRPr lang="en-US" sz="800" dirty="0"/>
          </a:p>
        </p:txBody>
      </p:sp>
      <p:sp>
        <p:nvSpPr>
          <p:cNvPr id="31" name="Shape 12">
            <a:extLst>
              <a:ext uri="{FF2B5EF4-FFF2-40B4-BE49-F238E27FC236}">
                <a16:creationId xmlns:a16="http://schemas.microsoft.com/office/drawing/2014/main" id="{E3169A35-2E7F-BDF8-2FBE-D9991936074C}"/>
              </a:ext>
            </a:extLst>
          </p:cNvPr>
          <p:cNvSpPr/>
          <p:nvPr/>
        </p:nvSpPr>
        <p:spPr>
          <a:xfrm>
            <a:off x="3774643" y="1078484"/>
            <a:ext cx="1594714" cy="566928"/>
          </a:xfrm>
          <a:prstGeom prst="rect">
            <a:avLst/>
          </a:prstGeom>
          <a:solidFill>
            <a:srgbClr val="EDF5DC"/>
          </a:solidFill>
          <a:ln w="12700">
            <a:solidFill>
              <a:srgbClr val="EDF5D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2" name="Shape 13">
            <a:extLst>
              <a:ext uri="{FF2B5EF4-FFF2-40B4-BE49-F238E27FC236}">
                <a16:creationId xmlns:a16="http://schemas.microsoft.com/office/drawing/2014/main" id="{A0A95796-F4DE-88D3-B6C1-00AA5E54F4BE}"/>
              </a:ext>
            </a:extLst>
          </p:cNvPr>
          <p:cNvSpPr/>
          <p:nvPr/>
        </p:nvSpPr>
        <p:spPr>
          <a:xfrm>
            <a:off x="3774643" y="1078484"/>
            <a:ext cx="45720" cy="566928"/>
          </a:xfrm>
          <a:prstGeom prst="rect">
            <a:avLst/>
          </a:prstGeom>
          <a:solidFill>
            <a:srgbClr val="80BA24"/>
          </a:solidFill>
          <a:ln w="12700">
            <a:solidFill>
              <a:srgbClr val="80BA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3" name="Text 14">
            <a:extLst>
              <a:ext uri="{FF2B5EF4-FFF2-40B4-BE49-F238E27FC236}">
                <a16:creationId xmlns:a16="http://schemas.microsoft.com/office/drawing/2014/main" id="{5E2AE98C-9957-E484-C2BA-945BD8371F79}"/>
              </a:ext>
            </a:extLst>
          </p:cNvPr>
          <p:cNvSpPr txBox="1"/>
          <p:nvPr/>
        </p:nvSpPr>
        <p:spPr>
          <a:xfrm>
            <a:off x="3902659" y="1133348"/>
            <a:ext cx="141183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80" dirty="0">
                <a:solidFill>
                  <a:srgbClr val="4E7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 (GESCHÄTZT)</a:t>
            </a:r>
            <a:endParaRPr lang="en-US" sz="700" dirty="0"/>
          </a:p>
        </p:txBody>
      </p:sp>
      <p:sp>
        <p:nvSpPr>
          <p:cNvPr id="34" name="Text 15">
            <a:extLst>
              <a:ext uri="{FF2B5EF4-FFF2-40B4-BE49-F238E27FC236}">
                <a16:creationId xmlns:a16="http://schemas.microsoft.com/office/drawing/2014/main" id="{38CA367C-C12E-0447-A43A-A8B697CFFBBB}"/>
              </a:ext>
            </a:extLst>
          </p:cNvPr>
          <p:cNvSpPr txBox="1"/>
          <p:nvPr/>
        </p:nvSpPr>
        <p:spPr>
          <a:xfrm>
            <a:off x="3902659" y="1270508"/>
            <a:ext cx="14118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Oktober 2026</a:t>
            </a:r>
            <a:endParaRPr lang="en-US" sz="1050" dirty="0"/>
          </a:p>
        </p:txBody>
      </p:sp>
      <p:sp>
        <p:nvSpPr>
          <p:cNvPr id="35" name="Shape 16">
            <a:extLst>
              <a:ext uri="{FF2B5EF4-FFF2-40B4-BE49-F238E27FC236}">
                <a16:creationId xmlns:a16="http://schemas.microsoft.com/office/drawing/2014/main" id="{A3CCE56E-19B5-F7FE-4C5B-713A44A79320}"/>
              </a:ext>
            </a:extLst>
          </p:cNvPr>
          <p:cNvSpPr/>
          <p:nvPr/>
        </p:nvSpPr>
        <p:spPr>
          <a:xfrm>
            <a:off x="5479085" y="1078484"/>
            <a:ext cx="1594714" cy="566928"/>
          </a:xfrm>
          <a:prstGeom prst="rect">
            <a:avLst/>
          </a:prstGeom>
          <a:solidFill>
            <a:srgbClr val="EDF5DC"/>
          </a:solidFill>
          <a:ln w="12700">
            <a:solidFill>
              <a:srgbClr val="EDF5D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6" name="Shape 17">
            <a:extLst>
              <a:ext uri="{FF2B5EF4-FFF2-40B4-BE49-F238E27FC236}">
                <a16:creationId xmlns:a16="http://schemas.microsoft.com/office/drawing/2014/main" id="{BD4EBB53-00AB-8DDD-622A-0A75C23D95F5}"/>
              </a:ext>
            </a:extLst>
          </p:cNvPr>
          <p:cNvSpPr/>
          <p:nvPr/>
        </p:nvSpPr>
        <p:spPr>
          <a:xfrm>
            <a:off x="5479085" y="1078484"/>
            <a:ext cx="45720" cy="566928"/>
          </a:xfrm>
          <a:prstGeom prst="rect">
            <a:avLst/>
          </a:prstGeom>
          <a:solidFill>
            <a:srgbClr val="80BA24"/>
          </a:solidFill>
          <a:ln w="12700">
            <a:solidFill>
              <a:srgbClr val="80BA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7" name="Text 18">
            <a:extLst>
              <a:ext uri="{FF2B5EF4-FFF2-40B4-BE49-F238E27FC236}">
                <a16:creationId xmlns:a16="http://schemas.microsoft.com/office/drawing/2014/main" id="{72EC0005-D2C6-951F-7ADD-DF7371643724}"/>
              </a:ext>
            </a:extLst>
          </p:cNvPr>
          <p:cNvSpPr txBox="1"/>
          <p:nvPr/>
        </p:nvSpPr>
        <p:spPr>
          <a:xfrm>
            <a:off x="5607101" y="1133348"/>
            <a:ext cx="141183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80" dirty="0">
                <a:solidFill>
                  <a:srgbClr val="4E7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ENDE (GESCHÄTZT)</a:t>
            </a:r>
            <a:endParaRPr lang="en-US" sz="700" dirty="0"/>
          </a:p>
        </p:txBody>
      </p:sp>
      <p:sp>
        <p:nvSpPr>
          <p:cNvPr id="38" name="Text 19">
            <a:extLst>
              <a:ext uri="{FF2B5EF4-FFF2-40B4-BE49-F238E27FC236}">
                <a16:creationId xmlns:a16="http://schemas.microsoft.com/office/drawing/2014/main" id="{9170232B-B031-5D27-BC52-E080B42F4252}"/>
              </a:ext>
            </a:extLst>
          </p:cNvPr>
          <p:cNvSpPr txBox="1"/>
          <p:nvPr/>
        </p:nvSpPr>
        <p:spPr>
          <a:xfrm>
            <a:off x="5607101" y="1270508"/>
            <a:ext cx="14118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März 2027</a:t>
            </a:r>
            <a:endParaRPr lang="en-US" sz="1050" dirty="0"/>
          </a:p>
        </p:txBody>
      </p:sp>
      <p:sp>
        <p:nvSpPr>
          <p:cNvPr id="39" name="Text 20">
            <a:extLst>
              <a:ext uri="{FF2B5EF4-FFF2-40B4-BE49-F238E27FC236}">
                <a16:creationId xmlns:a16="http://schemas.microsoft.com/office/drawing/2014/main" id="{9EE7B9A9-22D4-ADE1-1858-31565CBD7853}"/>
              </a:ext>
            </a:extLst>
          </p:cNvPr>
          <p:cNvSpPr txBox="1"/>
          <p:nvPr/>
        </p:nvSpPr>
        <p:spPr>
          <a:xfrm>
            <a:off x="5607101" y="1453388"/>
            <a:ext cx="141183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Ausbaustufe 1</a:t>
            </a:r>
            <a:endParaRPr lang="en-US" sz="800" dirty="0"/>
          </a:p>
        </p:txBody>
      </p:sp>
      <p:sp>
        <p:nvSpPr>
          <p:cNvPr id="40" name="Shape 21">
            <a:extLst>
              <a:ext uri="{FF2B5EF4-FFF2-40B4-BE49-F238E27FC236}">
                <a16:creationId xmlns:a16="http://schemas.microsoft.com/office/drawing/2014/main" id="{D356FF05-BEFD-AF08-BB6F-6E2CE4C461FF}"/>
              </a:ext>
            </a:extLst>
          </p:cNvPr>
          <p:cNvSpPr/>
          <p:nvPr/>
        </p:nvSpPr>
        <p:spPr>
          <a:xfrm>
            <a:off x="7183526" y="1078484"/>
            <a:ext cx="1594714" cy="566928"/>
          </a:xfrm>
          <a:prstGeom prst="rect">
            <a:avLst/>
          </a:prstGeom>
          <a:solidFill>
            <a:srgbClr val="EDF5DC"/>
          </a:solidFill>
          <a:ln w="12700">
            <a:solidFill>
              <a:srgbClr val="EDF5D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1" name="Shape 22">
            <a:extLst>
              <a:ext uri="{FF2B5EF4-FFF2-40B4-BE49-F238E27FC236}">
                <a16:creationId xmlns:a16="http://schemas.microsoft.com/office/drawing/2014/main" id="{547B9D9A-4C01-8B92-C3AD-0506E6628BC6}"/>
              </a:ext>
            </a:extLst>
          </p:cNvPr>
          <p:cNvSpPr/>
          <p:nvPr/>
        </p:nvSpPr>
        <p:spPr>
          <a:xfrm>
            <a:off x="7183526" y="1078484"/>
            <a:ext cx="45720" cy="566928"/>
          </a:xfrm>
          <a:prstGeom prst="rect">
            <a:avLst/>
          </a:prstGeom>
          <a:solidFill>
            <a:srgbClr val="80BA24"/>
          </a:solidFill>
          <a:ln w="12700">
            <a:solidFill>
              <a:srgbClr val="80BA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2" name="Text 23">
            <a:extLst>
              <a:ext uri="{FF2B5EF4-FFF2-40B4-BE49-F238E27FC236}">
                <a16:creationId xmlns:a16="http://schemas.microsoft.com/office/drawing/2014/main" id="{BD99E23A-9E54-FBAA-6423-DA3F4E4D9642}"/>
              </a:ext>
            </a:extLst>
          </p:cNvPr>
          <p:cNvSpPr txBox="1"/>
          <p:nvPr/>
        </p:nvSpPr>
        <p:spPr>
          <a:xfrm>
            <a:off x="7311542" y="1133348"/>
            <a:ext cx="141183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80" dirty="0">
                <a:solidFill>
                  <a:srgbClr val="4E7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700" dirty="0"/>
          </a:p>
        </p:txBody>
      </p:sp>
      <p:sp>
        <p:nvSpPr>
          <p:cNvPr id="43" name="Text 24">
            <a:extLst>
              <a:ext uri="{FF2B5EF4-FFF2-40B4-BE49-F238E27FC236}">
                <a16:creationId xmlns:a16="http://schemas.microsoft.com/office/drawing/2014/main" id="{ADB5918E-F512-46E4-3CCF-E75E1A8D1A72}"/>
              </a:ext>
            </a:extLst>
          </p:cNvPr>
          <p:cNvSpPr txBox="1"/>
          <p:nvPr/>
        </p:nvSpPr>
        <p:spPr>
          <a:xfrm>
            <a:off x="7311542" y="1270508"/>
            <a:ext cx="14118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----</a:t>
            </a:r>
            <a:endParaRPr lang="en-US" sz="1050" dirty="0"/>
          </a:p>
        </p:txBody>
      </p:sp>
      <p:sp>
        <p:nvSpPr>
          <p:cNvPr id="44" name="Shape 25">
            <a:extLst>
              <a:ext uri="{FF2B5EF4-FFF2-40B4-BE49-F238E27FC236}">
                <a16:creationId xmlns:a16="http://schemas.microsoft.com/office/drawing/2014/main" id="{552A6EEA-1700-1DB8-FD9A-24BFC06BEB00}"/>
              </a:ext>
            </a:extLst>
          </p:cNvPr>
          <p:cNvSpPr/>
          <p:nvPr/>
        </p:nvSpPr>
        <p:spPr>
          <a:xfrm>
            <a:off x="365760" y="1755140"/>
            <a:ext cx="2712720" cy="1591056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5" name="Shape 26">
            <a:extLst>
              <a:ext uri="{FF2B5EF4-FFF2-40B4-BE49-F238E27FC236}">
                <a16:creationId xmlns:a16="http://schemas.microsoft.com/office/drawing/2014/main" id="{D785408B-9FCE-E980-B0E0-65E678CA9324}"/>
              </a:ext>
            </a:extLst>
          </p:cNvPr>
          <p:cNvSpPr/>
          <p:nvPr/>
        </p:nvSpPr>
        <p:spPr>
          <a:xfrm>
            <a:off x="365760" y="1755140"/>
            <a:ext cx="2712720" cy="246888"/>
          </a:xfrm>
          <a:prstGeom prst="rect">
            <a:avLst/>
          </a:prstGeom>
          <a:solidFill>
            <a:srgbClr val="4A5C66"/>
          </a:solidFill>
          <a:ln w="9525">
            <a:solidFill>
              <a:srgbClr val="4A5C6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6" name="Text 27">
            <a:extLst>
              <a:ext uri="{FF2B5EF4-FFF2-40B4-BE49-F238E27FC236}">
                <a16:creationId xmlns:a16="http://schemas.microsoft.com/office/drawing/2014/main" id="{7EA1E175-A711-DC95-EA71-FC01CA2EFC6B}"/>
              </a:ext>
            </a:extLst>
          </p:cNvPr>
          <p:cNvSpPr txBox="1"/>
          <p:nvPr/>
        </p:nvSpPr>
        <p:spPr>
          <a:xfrm>
            <a:off x="457200" y="1755140"/>
            <a:ext cx="2529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Begründung der Projekt-Notwendigkeit</a:t>
            </a:r>
            <a:endParaRPr lang="en-US" sz="950" dirty="0"/>
          </a:p>
        </p:txBody>
      </p:sp>
      <p:sp>
        <p:nvSpPr>
          <p:cNvPr id="47" name="Text 28">
            <a:extLst>
              <a:ext uri="{FF2B5EF4-FFF2-40B4-BE49-F238E27FC236}">
                <a16:creationId xmlns:a16="http://schemas.microsoft.com/office/drawing/2014/main" id="{8243CF8B-554D-23EC-8289-DC155E64C06C}"/>
              </a:ext>
            </a:extLst>
          </p:cNvPr>
          <p:cNvSpPr txBox="1"/>
          <p:nvPr/>
        </p:nvSpPr>
        <p:spPr>
          <a:xfrm>
            <a:off x="457200" y="2066036"/>
            <a:ext cx="252984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830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PDF-Antrag, Ausdruck, Unterschriften und E-Mail-Umläufe: langsam und fehleranfällig.</a:t>
            </a:r>
            <a:endParaRPr lang="en-US" sz="830" dirty="0"/>
          </a:p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830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gemeinsamer Status für Studierende, Prüfende und Dekanat / Prüfungsamt.</a:t>
            </a:r>
            <a:endParaRPr lang="en-US" sz="830" dirty="0"/>
          </a:p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830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Externe Zweitprüfer:innen und Verlängerungen laufen über weitere Papierformulare.</a:t>
            </a:r>
            <a:endParaRPr lang="en-US" sz="830" dirty="0"/>
          </a:p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830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Fachbereich will die Abwicklung für alle Beteiligten effizienter gestalten.</a:t>
            </a:r>
            <a:endParaRPr lang="en-US" sz="830" dirty="0"/>
          </a:p>
        </p:txBody>
      </p:sp>
      <p:sp>
        <p:nvSpPr>
          <p:cNvPr id="48" name="Shape 29">
            <a:extLst>
              <a:ext uri="{FF2B5EF4-FFF2-40B4-BE49-F238E27FC236}">
                <a16:creationId xmlns:a16="http://schemas.microsoft.com/office/drawing/2014/main" id="{D26ADE6A-30C9-9627-17B1-81B1D4022D7C}"/>
              </a:ext>
            </a:extLst>
          </p:cNvPr>
          <p:cNvSpPr/>
          <p:nvPr/>
        </p:nvSpPr>
        <p:spPr>
          <a:xfrm>
            <a:off x="3215640" y="1755140"/>
            <a:ext cx="2712720" cy="1591056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9" name="Shape 30">
            <a:extLst>
              <a:ext uri="{FF2B5EF4-FFF2-40B4-BE49-F238E27FC236}">
                <a16:creationId xmlns:a16="http://schemas.microsoft.com/office/drawing/2014/main" id="{AE4058B8-1811-C163-C924-E8DECC48E9D8}"/>
              </a:ext>
            </a:extLst>
          </p:cNvPr>
          <p:cNvSpPr/>
          <p:nvPr/>
        </p:nvSpPr>
        <p:spPr>
          <a:xfrm>
            <a:off x="3215640" y="1755140"/>
            <a:ext cx="2712720" cy="246888"/>
          </a:xfrm>
          <a:prstGeom prst="rect">
            <a:avLst/>
          </a:prstGeom>
          <a:solidFill>
            <a:srgbClr val="4A5C66"/>
          </a:solidFill>
          <a:ln w="9525">
            <a:solidFill>
              <a:srgbClr val="4A5C6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0" name="Text 31">
            <a:extLst>
              <a:ext uri="{FF2B5EF4-FFF2-40B4-BE49-F238E27FC236}">
                <a16:creationId xmlns:a16="http://schemas.microsoft.com/office/drawing/2014/main" id="{CB1DFC7F-C754-F3CA-2ACE-CAA8B4C02F53}"/>
              </a:ext>
            </a:extLst>
          </p:cNvPr>
          <p:cNvSpPr txBox="1"/>
          <p:nvPr/>
        </p:nvSpPr>
        <p:spPr>
          <a:xfrm>
            <a:off x="3307080" y="1755140"/>
            <a:ext cx="2529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Projektziel</a:t>
            </a:r>
            <a:endParaRPr lang="en-US" sz="950" dirty="0"/>
          </a:p>
        </p:txBody>
      </p:sp>
      <p:sp>
        <p:nvSpPr>
          <p:cNvPr id="51" name="Text 32">
            <a:extLst>
              <a:ext uri="{FF2B5EF4-FFF2-40B4-BE49-F238E27FC236}">
                <a16:creationId xmlns:a16="http://schemas.microsoft.com/office/drawing/2014/main" id="{CC928B25-9ABB-027D-A618-514E239CFEC1}"/>
              </a:ext>
            </a:extLst>
          </p:cNvPr>
          <p:cNvSpPr txBox="1"/>
          <p:nvPr/>
        </p:nvSpPr>
        <p:spPr>
          <a:xfrm>
            <a:off x="3307080" y="2066036"/>
            <a:ext cx="252984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830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Für B.Sc./M.Sc. Wirtschaftsinformatik: Webportal für Anmeldung, Freigabe und Verwaltung von Abschlussarbeiten.</a:t>
            </a:r>
            <a:endParaRPr lang="en-US" sz="830" dirty="0"/>
          </a:p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830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Komfortabel im Browser am Desktop und Smartphone nutzbar.</a:t>
            </a:r>
            <a:endParaRPr lang="en-US" sz="830" dirty="0"/>
          </a:p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830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Externe Zweitprüfer:innen direkt im Anmeldeprozess einbinden.</a:t>
            </a:r>
            <a:endParaRPr lang="en-US" sz="830" dirty="0"/>
          </a:p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830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Prüfungsordnungen im Antrag prüfen.</a:t>
            </a:r>
            <a:endParaRPr lang="en-US" sz="830" dirty="0"/>
          </a:p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830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Stufe 2: Verlängerungsanträge digital.</a:t>
            </a:r>
            <a:endParaRPr lang="en-US" sz="830" dirty="0"/>
          </a:p>
        </p:txBody>
      </p:sp>
      <p:sp>
        <p:nvSpPr>
          <p:cNvPr id="52" name="Shape 33">
            <a:extLst>
              <a:ext uri="{FF2B5EF4-FFF2-40B4-BE49-F238E27FC236}">
                <a16:creationId xmlns:a16="http://schemas.microsoft.com/office/drawing/2014/main" id="{61165E08-B5D7-E2D5-C928-E8F9CCCB99C2}"/>
              </a:ext>
            </a:extLst>
          </p:cNvPr>
          <p:cNvSpPr/>
          <p:nvPr/>
        </p:nvSpPr>
        <p:spPr>
          <a:xfrm>
            <a:off x="6065520" y="1755140"/>
            <a:ext cx="2712720" cy="1591056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3" name="Shape 34">
            <a:extLst>
              <a:ext uri="{FF2B5EF4-FFF2-40B4-BE49-F238E27FC236}">
                <a16:creationId xmlns:a16="http://schemas.microsoft.com/office/drawing/2014/main" id="{9D482FBF-540A-C0CB-28E0-C8EC75B70FF6}"/>
              </a:ext>
            </a:extLst>
          </p:cNvPr>
          <p:cNvSpPr/>
          <p:nvPr/>
        </p:nvSpPr>
        <p:spPr>
          <a:xfrm>
            <a:off x="6065520" y="1755140"/>
            <a:ext cx="2712720" cy="246888"/>
          </a:xfrm>
          <a:prstGeom prst="rect">
            <a:avLst/>
          </a:prstGeom>
          <a:solidFill>
            <a:srgbClr val="4A5C66"/>
          </a:solidFill>
          <a:ln w="9525">
            <a:solidFill>
              <a:srgbClr val="4A5C6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4" name="Text 35">
            <a:extLst>
              <a:ext uri="{FF2B5EF4-FFF2-40B4-BE49-F238E27FC236}">
                <a16:creationId xmlns:a16="http://schemas.microsoft.com/office/drawing/2014/main" id="{9B3DFC56-FBAB-4926-F44C-A416F78D326F}"/>
              </a:ext>
            </a:extLst>
          </p:cNvPr>
          <p:cNvSpPr txBox="1"/>
          <p:nvPr/>
        </p:nvSpPr>
        <p:spPr>
          <a:xfrm>
            <a:off x="6156960" y="1755140"/>
            <a:ext cx="2529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Projektergebnis und Meilensteine</a:t>
            </a:r>
            <a:endParaRPr lang="en-US" sz="950" dirty="0"/>
          </a:p>
        </p:txBody>
      </p:sp>
      <p:sp>
        <p:nvSpPr>
          <p:cNvPr id="55" name="Text 36">
            <a:extLst>
              <a:ext uri="{FF2B5EF4-FFF2-40B4-BE49-F238E27FC236}">
                <a16:creationId xmlns:a16="http://schemas.microsoft.com/office/drawing/2014/main" id="{239A9C7B-3C7D-724D-E687-ED1B15888273}"/>
              </a:ext>
            </a:extLst>
          </p:cNvPr>
          <p:cNvSpPr txBox="1"/>
          <p:nvPr/>
        </p:nvSpPr>
        <p:spPr>
          <a:xfrm>
            <a:off x="6156960" y="2066036"/>
            <a:ext cx="252984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830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Anforderungsspezifikation mit FB MND abstimmen.</a:t>
            </a:r>
            <a:endParaRPr lang="en-US" sz="830" dirty="0"/>
          </a:p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830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Klickprototyp des Anmeldeprozesses für Desktop und Smartphone.</a:t>
            </a:r>
            <a:endParaRPr lang="en-US" sz="830" dirty="0"/>
          </a:p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830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Stufe 1 produktiv: digitale Anmeldung inklusive externer Zweitprüfer:innen.</a:t>
            </a:r>
            <a:endParaRPr lang="en-US" sz="830" dirty="0"/>
          </a:p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830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Stufe 2: Verlängerungsanträge digital.</a:t>
            </a:r>
            <a:endParaRPr lang="en-US" sz="830" dirty="0"/>
          </a:p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830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Ergebnis: ein Portal statt drei PDF-Formulare.</a:t>
            </a:r>
            <a:endParaRPr lang="en-US" sz="830" dirty="0"/>
          </a:p>
        </p:txBody>
      </p:sp>
      <p:sp>
        <p:nvSpPr>
          <p:cNvPr id="56" name="Shape 37">
            <a:extLst>
              <a:ext uri="{FF2B5EF4-FFF2-40B4-BE49-F238E27FC236}">
                <a16:creationId xmlns:a16="http://schemas.microsoft.com/office/drawing/2014/main" id="{3A314105-58F7-E374-9C75-1851C44F702F}"/>
              </a:ext>
            </a:extLst>
          </p:cNvPr>
          <p:cNvSpPr/>
          <p:nvPr/>
        </p:nvSpPr>
        <p:spPr>
          <a:xfrm>
            <a:off x="365760" y="3455924"/>
            <a:ext cx="2712720" cy="1069848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7" name="Shape 38">
            <a:extLst>
              <a:ext uri="{FF2B5EF4-FFF2-40B4-BE49-F238E27FC236}">
                <a16:creationId xmlns:a16="http://schemas.microsoft.com/office/drawing/2014/main" id="{C4B10B61-00AD-5ABE-8C1B-7EE8D0883D69}"/>
              </a:ext>
            </a:extLst>
          </p:cNvPr>
          <p:cNvSpPr/>
          <p:nvPr/>
        </p:nvSpPr>
        <p:spPr>
          <a:xfrm>
            <a:off x="365760" y="3455924"/>
            <a:ext cx="2712720" cy="246888"/>
          </a:xfrm>
          <a:prstGeom prst="rect">
            <a:avLst/>
          </a:prstGeom>
          <a:solidFill>
            <a:srgbClr val="4A5C66"/>
          </a:solidFill>
          <a:ln w="9525">
            <a:solidFill>
              <a:srgbClr val="4A5C6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8" name="Text 39">
            <a:extLst>
              <a:ext uri="{FF2B5EF4-FFF2-40B4-BE49-F238E27FC236}">
                <a16:creationId xmlns:a16="http://schemas.microsoft.com/office/drawing/2014/main" id="{E4CB787B-996F-8211-A3A0-7A58F137813A}"/>
              </a:ext>
            </a:extLst>
          </p:cNvPr>
          <p:cNvSpPr txBox="1"/>
          <p:nvPr/>
        </p:nvSpPr>
        <p:spPr>
          <a:xfrm>
            <a:off x="457200" y="3455924"/>
            <a:ext cx="2529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Projektrisiken und Umgang</a:t>
            </a:r>
            <a:endParaRPr lang="en-US" sz="950" dirty="0"/>
          </a:p>
        </p:txBody>
      </p:sp>
      <p:sp>
        <p:nvSpPr>
          <p:cNvPr id="59" name="Text 40">
            <a:extLst>
              <a:ext uri="{FF2B5EF4-FFF2-40B4-BE49-F238E27FC236}">
                <a16:creationId xmlns:a16="http://schemas.microsoft.com/office/drawing/2014/main" id="{36841AAE-1F02-FD4D-3725-62570AB77766}"/>
              </a:ext>
            </a:extLst>
          </p:cNvPr>
          <p:cNvSpPr txBox="1"/>
          <p:nvPr/>
        </p:nvSpPr>
        <p:spPr>
          <a:xfrm>
            <a:off x="457200" y="3766820"/>
            <a:ext cx="252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830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Unklare oder sich ändernde Vorgaben der Prüfungsordnungen.</a:t>
            </a:r>
            <a:endParaRPr lang="en-US" sz="830" dirty="0"/>
          </a:p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830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Akzeptanz bei Prüfenden und Dekanat / Prüfungsamt.</a:t>
            </a:r>
            <a:endParaRPr lang="en-US" sz="830" dirty="0"/>
          </a:p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830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Datenschutz bei externen Beteiligten.</a:t>
            </a:r>
            <a:endParaRPr lang="en-US" sz="830" dirty="0"/>
          </a:p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830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Umgang: AG-Interview und Prototyp-Tests.</a:t>
            </a:r>
            <a:endParaRPr lang="en-US" sz="830" dirty="0"/>
          </a:p>
        </p:txBody>
      </p:sp>
      <p:sp>
        <p:nvSpPr>
          <p:cNvPr id="60" name="Shape 41">
            <a:extLst>
              <a:ext uri="{FF2B5EF4-FFF2-40B4-BE49-F238E27FC236}">
                <a16:creationId xmlns:a16="http://schemas.microsoft.com/office/drawing/2014/main" id="{099E346C-0F29-3442-C7E3-2ED94A3FB0A3}"/>
              </a:ext>
            </a:extLst>
          </p:cNvPr>
          <p:cNvSpPr/>
          <p:nvPr/>
        </p:nvSpPr>
        <p:spPr>
          <a:xfrm>
            <a:off x="3215640" y="3455924"/>
            <a:ext cx="2712720" cy="1069848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1" name="Shape 42">
            <a:extLst>
              <a:ext uri="{FF2B5EF4-FFF2-40B4-BE49-F238E27FC236}">
                <a16:creationId xmlns:a16="http://schemas.microsoft.com/office/drawing/2014/main" id="{39FEBE6F-3777-E6A2-8EA1-BD3A5C51A104}"/>
              </a:ext>
            </a:extLst>
          </p:cNvPr>
          <p:cNvSpPr/>
          <p:nvPr/>
        </p:nvSpPr>
        <p:spPr>
          <a:xfrm>
            <a:off x="3215640" y="3455924"/>
            <a:ext cx="2712720" cy="246888"/>
          </a:xfrm>
          <a:prstGeom prst="rect">
            <a:avLst/>
          </a:prstGeom>
          <a:solidFill>
            <a:srgbClr val="4A5C66"/>
          </a:solidFill>
          <a:ln w="9525">
            <a:solidFill>
              <a:srgbClr val="4A5C6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2" name="Text 43">
            <a:extLst>
              <a:ext uri="{FF2B5EF4-FFF2-40B4-BE49-F238E27FC236}">
                <a16:creationId xmlns:a16="http://schemas.microsoft.com/office/drawing/2014/main" id="{666BA034-9E7C-6C63-D839-FEB71D7DECBB}"/>
              </a:ext>
            </a:extLst>
          </p:cNvPr>
          <p:cNvSpPr txBox="1"/>
          <p:nvPr/>
        </p:nvSpPr>
        <p:spPr>
          <a:xfrm>
            <a:off x="3307080" y="3455924"/>
            <a:ext cx="2529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Abhängigkeiten und offene Punkte</a:t>
            </a:r>
            <a:endParaRPr lang="en-US" sz="950" dirty="0"/>
          </a:p>
        </p:txBody>
      </p:sp>
      <p:sp>
        <p:nvSpPr>
          <p:cNvPr id="63" name="Text 44">
            <a:extLst>
              <a:ext uri="{FF2B5EF4-FFF2-40B4-BE49-F238E27FC236}">
                <a16:creationId xmlns:a16="http://schemas.microsoft.com/office/drawing/2014/main" id="{E235ADD0-AA50-4A3F-9360-38988C17E309}"/>
              </a:ext>
            </a:extLst>
          </p:cNvPr>
          <p:cNvSpPr txBox="1"/>
          <p:nvPr/>
        </p:nvSpPr>
        <p:spPr>
          <a:xfrm>
            <a:off x="3307080" y="3766820"/>
            <a:ext cx="252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830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THM-Login und Rollenmodell.</a:t>
            </a:r>
            <a:endParaRPr lang="en-US" sz="830" dirty="0"/>
          </a:p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830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Datenschutz für personenbezogene Daten.</a:t>
            </a:r>
            <a:endParaRPr lang="en-US" sz="830" dirty="0"/>
          </a:p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830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Offene Fragen im Interview mit AG klären.</a:t>
            </a:r>
            <a:endParaRPr lang="en-US" sz="830" dirty="0"/>
          </a:p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830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Benachrichtigung/Schnittstellen abstimmen.</a:t>
            </a:r>
            <a:endParaRPr lang="en-US" sz="830" dirty="0"/>
          </a:p>
        </p:txBody>
      </p:sp>
      <p:sp>
        <p:nvSpPr>
          <p:cNvPr id="64" name="Shape 45">
            <a:extLst>
              <a:ext uri="{FF2B5EF4-FFF2-40B4-BE49-F238E27FC236}">
                <a16:creationId xmlns:a16="http://schemas.microsoft.com/office/drawing/2014/main" id="{C1BC56E3-5A72-2924-9558-D48244702C46}"/>
              </a:ext>
            </a:extLst>
          </p:cNvPr>
          <p:cNvSpPr/>
          <p:nvPr/>
        </p:nvSpPr>
        <p:spPr>
          <a:xfrm>
            <a:off x="6065520" y="3455924"/>
            <a:ext cx="2712720" cy="1069848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5" name="Shape 46">
            <a:extLst>
              <a:ext uri="{FF2B5EF4-FFF2-40B4-BE49-F238E27FC236}">
                <a16:creationId xmlns:a16="http://schemas.microsoft.com/office/drawing/2014/main" id="{0E445ECA-6726-FDF0-3875-915C8F969F70}"/>
              </a:ext>
            </a:extLst>
          </p:cNvPr>
          <p:cNvSpPr/>
          <p:nvPr/>
        </p:nvSpPr>
        <p:spPr>
          <a:xfrm>
            <a:off x="6065520" y="3455924"/>
            <a:ext cx="2712720" cy="246888"/>
          </a:xfrm>
          <a:prstGeom prst="rect">
            <a:avLst/>
          </a:prstGeom>
          <a:solidFill>
            <a:srgbClr val="4A5C66"/>
          </a:solidFill>
          <a:ln w="9525">
            <a:solidFill>
              <a:srgbClr val="4A5C6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6" name="Text 47">
            <a:extLst>
              <a:ext uri="{FF2B5EF4-FFF2-40B4-BE49-F238E27FC236}">
                <a16:creationId xmlns:a16="http://schemas.microsoft.com/office/drawing/2014/main" id="{974D52E0-272B-E1BE-7BD6-0C00FE32278D}"/>
              </a:ext>
            </a:extLst>
          </p:cNvPr>
          <p:cNvSpPr txBox="1"/>
          <p:nvPr/>
        </p:nvSpPr>
        <p:spPr>
          <a:xfrm>
            <a:off x="6156960" y="3455924"/>
            <a:ext cx="2529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Projektteam und Beteiligte</a:t>
            </a:r>
            <a:endParaRPr lang="en-US" sz="950" dirty="0"/>
          </a:p>
        </p:txBody>
      </p:sp>
      <p:sp>
        <p:nvSpPr>
          <p:cNvPr id="67" name="Text 48">
            <a:extLst>
              <a:ext uri="{FF2B5EF4-FFF2-40B4-BE49-F238E27FC236}">
                <a16:creationId xmlns:a16="http://schemas.microsoft.com/office/drawing/2014/main" id="{F22D80D0-5F69-E7DD-9530-ECBC4218885F}"/>
              </a:ext>
            </a:extLst>
          </p:cNvPr>
          <p:cNvSpPr txBox="1"/>
          <p:nvPr/>
        </p:nvSpPr>
        <p:spPr>
          <a:xfrm>
            <a:off x="6156960" y="3766820"/>
            <a:ext cx="252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830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Auftraggeber: FB MND, Prof. Dr. Lucke.</a:t>
            </a:r>
            <a:endParaRPr lang="en-US" sz="830" dirty="0"/>
          </a:p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830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Auftragnehmer: Projektteam RE (Gruppe Grün).</a:t>
            </a:r>
            <a:endParaRPr lang="en-US" sz="830" dirty="0"/>
          </a:p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830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Stakeholder: Studierende, Prüfende, Dekanat / Prüfungsamt und Prüfungsausschuss.</a:t>
            </a:r>
            <a:endParaRPr lang="en-US" sz="830" dirty="0"/>
          </a:p>
        </p:txBody>
      </p:sp>
      <p:sp>
        <p:nvSpPr>
          <p:cNvPr id="68" name="Text 49">
            <a:extLst>
              <a:ext uri="{FF2B5EF4-FFF2-40B4-BE49-F238E27FC236}">
                <a16:creationId xmlns:a16="http://schemas.microsoft.com/office/drawing/2014/main" id="{877807F8-0484-A482-5B3E-55F46C410E4C}"/>
              </a:ext>
            </a:extLst>
          </p:cNvPr>
          <p:cNvSpPr txBox="1"/>
          <p:nvPr/>
        </p:nvSpPr>
        <p:spPr>
          <a:xfrm>
            <a:off x="365760" y="456234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Planungsstand: Termine geschätzt, Budget offen. Der produktive Start ist ein geplanter Meilenstein; Release 3 erfordert AG-Abstimmung.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80B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 2 · SYSTEM- UND KONTEXTABGRENZUNG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310896"/>
            <a:ext cx="6172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Use-Case-Diagramm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55464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5B6A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7F18DC5-7202-8A66-78F0-AFF5BBAF0E1F}"/>
              </a:ext>
            </a:extLst>
          </p:cNvPr>
          <p:cNvSpPr txBox="1"/>
          <p:nvPr/>
        </p:nvSpPr>
        <p:spPr>
          <a:xfrm>
            <a:off x="411480" y="99060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de-DE" sz="100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Zeigt, wer welche Funktion von ThesisFlow an der Systemgrenze nutzt: Akteure außen, Funktionen im Kasten.</a:t>
            </a:r>
            <a:endParaRPr lang="en-US" sz="950" dirty="0">
              <a:solidFill>
                <a:srgbClr val="2F3E46"/>
              </a:solidFill>
            </a:endParaRP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342D537B-9E76-25F0-993B-506E029BE71D}"/>
              </a:ext>
            </a:extLst>
          </p:cNvPr>
          <p:cNvSpPr/>
          <p:nvPr/>
        </p:nvSpPr>
        <p:spPr>
          <a:xfrm>
            <a:off x="3017520" y="1283208"/>
            <a:ext cx="3108960" cy="3310128"/>
          </a:xfrm>
          <a:prstGeom prst="rect">
            <a:avLst/>
          </a:prstGeom>
          <a:solidFill>
            <a:srgbClr val="FFFFFF"/>
          </a:solidFill>
          <a:ln w="19050">
            <a:solidFill>
              <a:srgbClr val="2F3E4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E1D89F51-DE41-28A8-FE6B-EB8386BE090F}"/>
              </a:ext>
            </a:extLst>
          </p:cNvPr>
          <p:cNvSpPr txBox="1"/>
          <p:nvPr/>
        </p:nvSpPr>
        <p:spPr>
          <a:xfrm>
            <a:off x="3017520" y="131064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E7F12"/>
                </a:solidFill>
                <a:latin typeface="Calibri" panose="020F0502020204030204" pitchFamily="34" charset="0"/>
                <a:ea typeface="Cambria" pitchFamily="34" charset="-122"/>
                <a:cs typeface="Cambria" pitchFamily="34" charset="-120"/>
              </a:rPr>
              <a:t>ThesisFlow</a:t>
            </a:r>
            <a:endParaRPr lang="en-US" sz="1100" dirty="0">
              <a:solidFill>
                <a:srgbClr val="4E7F12"/>
              </a:solidFill>
              <a:latin typeface="Calibri" panose="020F0502020204030204" pitchFamily="34" charset="0"/>
            </a:endParaRPr>
          </a:p>
        </p:txBody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CCF7E515-51C3-7F67-8D79-9ABC9F39FB1D}"/>
              </a:ext>
            </a:extLst>
          </p:cNvPr>
          <p:cNvSpPr/>
          <p:nvPr/>
        </p:nvSpPr>
        <p:spPr>
          <a:xfrm flipV="1">
            <a:off x="1600200" y="1740408"/>
            <a:ext cx="1828800" cy="45720"/>
          </a:xfrm>
          <a:prstGeom prst="line">
            <a:avLst/>
          </a:prstGeom>
          <a:noFill/>
          <a:ln w="12700">
            <a:solidFill>
              <a:srgbClr val="5B6A7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C9A499DC-28D6-BABB-7036-0D8542FA307E}"/>
              </a:ext>
            </a:extLst>
          </p:cNvPr>
          <p:cNvSpPr/>
          <p:nvPr/>
        </p:nvSpPr>
        <p:spPr>
          <a:xfrm>
            <a:off x="1600200" y="1786128"/>
            <a:ext cx="1828800" cy="320040"/>
          </a:xfrm>
          <a:prstGeom prst="line">
            <a:avLst/>
          </a:prstGeom>
          <a:noFill/>
          <a:ln w="12700">
            <a:solidFill>
              <a:srgbClr val="5B6A7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A5D28F54-98B5-A334-14C6-2A8D5ECC446D}"/>
              </a:ext>
            </a:extLst>
          </p:cNvPr>
          <p:cNvSpPr/>
          <p:nvPr/>
        </p:nvSpPr>
        <p:spPr>
          <a:xfrm>
            <a:off x="1600200" y="1786128"/>
            <a:ext cx="1828800" cy="1783080"/>
          </a:xfrm>
          <a:prstGeom prst="line">
            <a:avLst/>
          </a:prstGeom>
          <a:noFill/>
          <a:ln w="12700">
            <a:solidFill>
              <a:srgbClr val="5B6A7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Shape 9">
            <a:extLst>
              <a:ext uri="{FF2B5EF4-FFF2-40B4-BE49-F238E27FC236}">
                <a16:creationId xmlns:a16="http://schemas.microsoft.com/office/drawing/2014/main" id="{66AB998B-892A-3D6D-E7C4-1EBBEA73A50F}"/>
              </a:ext>
            </a:extLst>
          </p:cNvPr>
          <p:cNvSpPr/>
          <p:nvPr/>
        </p:nvSpPr>
        <p:spPr>
          <a:xfrm flipV="1">
            <a:off x="1600200" y="2471928"/>
            <a:ext cx="1828800" cy="411480"/>
          </a:xfrm>
          <a:prstGeom prst="line">
            <a:avLst/>
          </a:prstGeom>
          <a:noFill/>
          <a:ln w="12700">
            <a:solidFill>
              <a:srgbClr val="5B6A7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Shape 10">
            <a:extLst>
              <a:ext uri="{FF2B5EF4-FFF2-40B4-BE49-F238E27FC236}">
                <a16:creationId xmlns:a16="http://schemas.microsoft.com/office/drawing/2014/main" id="{C5BE34F6-55F2-17A1-F109-39C3F55D090B}"/>
              </a:ext>
            </a:extLst>
          </p:cNvPr>
          <p:cNvSpPr/>
          <p:nvPr/>
        </p:nvSpPr>
        <p:spPr>
          <a:xfrm flipV="1">
            <a:off x="1600200" y="2106168"/>
            <a:ext cx="1828800" cy="1874520"/>
          </a:xfrm>
          <a:prstGeom prst="line">
            <a:avLst/>
          </a:prstGeom>
          <a:noFill/>
          <a:ln w="12700">
            <a:solidFill>
              <a:srgbClr val="5B6A7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1CB58743-11B2-D205-D53A-09B396DC0531}"/>
              </a:ext>
            </a:extLst>
          </p:cNvPr>
          <p:cNvSpPr/>
          <p:nvPr/>
        </p:nvSpPr>
        <p:spPr>
          <a:xfrm flipV="1">
            <a:off x="5715000" y="2733924"/>
            <a:ext cx="1645920" cy="103764"/>
          </a:xfrm>
          <a:prstGeom prst="line">
            <a:avLst/>
          </a:prstGeom>
          <a:noFill/>
          <a:ln w="12700">
            <a:solidFill>
              <a:srgbClr val="5B6A7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Shape 12">
            <a:extLst>
              <a:ext uri="{FF2B5EF4-FFF2-40B4-BE49-F238E27FC236}">
                <a16:creationId xmlns:a16="http://schemas.microsoft.com/office/drawing/2014/main" id="{90FF5347-A29A-BF34-C4CA-2C066E38AD4F}"/>
              </a:ext>
            </a:extLst>
          </p:cNvPr>
          <p:cNvSpPr/>
          <p:nvPr/>
        </p:nvSpPr>
        <p:spPr>
          <a:xfrm>
            <a:off x="5715000" y="3203448"/>
            <a:ext cx="1645006" cy="344292"/>
          </a:xfrm>
          <a:prstGeom prst="line">
            <a:avLst/>
          </a:prstGeom>
          <a:noFill/>
          <a:ln w="12700">
            <a:solidFill>
              <a:srgbClr val="5B6A7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Shape 13">
            <a:extLst>
              <a:ext uri="{FF2B5EF4-FFF2-40B4-BE49-F238E27FC236}">
                <a16:creationId xmlns:a16="http://schemas.microsoft.com/office/drawing/2014/main" id="{51C64189-24D9-2D94-3A5C-C3E115CAC5C1}"/>
              </a:ext>
            </a:extLst>
          </p:cNvPr>
          <p:cNvSpPr/>
          <p:nvPr/>
        </p:nvSpPr>
        <p:spPr>
          <a:xfrm flipV="1">
            <a:off x="5715000" y="3554100"/>
            <a:ext cx="1645920" cy="380868"/>
          </a:xfrm>
          <a:prstGeom prst="line">
            <a:avLst/>
          </a:prstGeom>
          <a:noFill/>
          <a:ln w="12700">
            <a:solidFill>
              <a:srgbClr val="5B6A7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Shape 14">
            <a:extLst>
              <a:ext uri="{FF2B5EF4-FFF2-40B4-BE49-F238E27FC236}">
                <a16:creationId xmlns:a16="http://schemas.microsoft.com/office/drawing/2014/main" id="{46C09306-EB62-C8C9-697D-53C57775F3AC}"/>
              </a:ext>
            </a:extLst>
          </p:cNvPr>
          <p:cNvSpPr/>
          <p:nvPr/>
        </p:nvSpPr>
        <p:spPr>
          <a:xfrm flipV="1">
            <a:off x="5714999" y="1740408"/>
            <a:ext cx="1446381" cy="0"/>
          </a:xfrm>
          <a:prstGeom prst="line">
            <a:avLst/>
          </a:prstGeom>
          <a:noFill/>
          <a:ln w="12700">
            <a:solidFill>
              <a:srgbClr val="5B6A7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Shape 15">
            <a:extLst>
              <a:ext uri="{FF2B5EF4-FFF2-40B4-BE49-F238E27FC236}">
                <a16:creationId xmlns:a16="http://schemas.microsoft.com/office/drawing/2014/main" id="{AA4410BE-D611-63AE-55D3-BA597CEE59D1}"/>
              </a:ext>
            </a:extLst>
          </p:cNvPr>
          <p:cNvSpPr/>
          <p:nvPr/>
        </p:nvSpPr>
        <p:spPr>
          <a:xfrm flipV="1">
            <a:off x="5715000" y="4209288"/>
            <a:ext cx="1508760" cy="91440"/>
          </a:xfrm>
          <a:prstGeom prst="line">
            <a:avLst/>
          </a:prstGeom>
          <a:noFill/>
          <a:ln w="12700">
            <a:solidFill>
              <a:srgbClr val="5B6A7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Shape 16">
            <a:extLst>
              <a:ext uri="{FF2B5EF4-FFF2-40B4-BE49-F238E27FC236}">
                <a16:creationId xmlns:a16="http://schemas.microsoft.com/office/drawing/2014/main" id="{930F47C2-EE59-AE66-9200-5B18023C77F3}"/>
              </a:ext>
            </a:extLst>
          </p:cNvPr>
          <p:cNvSpPr/>
          <p:nvPr/>
        </p:nvSpPr>
        <p:spPr>
          <a:xfrm>
            <a:off x="3429000" y="1594104"/>
            <a:ext cx="2286000" cy="292608"/>
          </a:xfrm>
          <a:prstGeom prst="ellipse">
            <a:avLst/>
          </a:prstGeom>
          <a:solidFill>
            <a:srgbClr val="EDF5DC"/>
          </a:solidFill>
          <a:ln w="12700">
            <a:solidFill>
              <a:srgbClr val="80BA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7">
            <a:extLst>
              <a:ext uri="{FF2B5EF4-FFF2-40B4-BE49-F238E27FC236}">
                <a16:creationId xmlns:a16="http://schemas.microsoft.com/office/drawing/2014/main" id="{A6451656-9303-2589-182C-C43993F19908}"/>
              </a:ext>
            </a:extLst>
          </p:cNvPr>
          <p:cNvSpPr txBox="1"/>
          <p:nvPr/>
        </p:nvSpPr>
        <p:spPr>
          <a:xfrm>
            <a:off x="3429000" y="159410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Portal anmelden</a:t>
            </a:r>
            <a:endParaRPr lang="en-US" sz="750" dirty="0">
              <a:solidFill>
                <a:srgbClr val="2F3E46"/>
              </a:solidFill>
            </a:endParaRPr>
          </a:p>
        </p:txBody>
      </p:sp>
      <p:sp>
        <p:nvSpPr>
          <p:cNvPr id="19" name="Shape 18">
            <a:extLst>
              <a:ext uri="{FF2B5EF4-FFF2-40B4-BE49-F238E27FC236}">
                <a16:creationId xmlns:a16="http://schemas.microsoft.com/office/drawing/2014/main" id="{504E6FEB-7144-943A-7098-67353F42BED7}"/>
              </a:ext>
            </a:extLst>
          </p:cNvPr>
          <p:cNvSpPr/>
          <p:nvPr/>
        </p:nvSpPr>
        <p:spPr>
          <a:xfrm>
            <a:off x="3429000" y="1959864"/>
            <a:ext cx="2286000" cy="292608"/>
          </a:xfrm>
          <a:prstGeom prst="ellipse">
            <a:avLst/>
          </a:prstGeom>
          <a:solidFill>
            <a:srgbClr val="EDF5DC"/>
          </a:solidFill>
          <a:ln w="12700">
            <a:solidFill>
              <a:srgbClr val="80BA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9">
            <a:extLst>
              <a:ext uri="{FF2B5EF4-FFF2-40B4-BE49-F238E27FC236}">
                <a16:creationId xmlns:a16="http://schemas.microsoft.com/office/drawing/2014/main" id="{A003D485-4358-A38C-755D-C85825B73C5A}"/>
              </a:ext>
            </a:extLst>
          </p:cNvPr>
          <p:cNvSpPr txBox="1"/>
          <p:nvPr/>
        </p:nvSpPr>
        <p:spPr>
          <a:xfrm>
            <a:off x="3429000" y="195986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Abschlussarbeit anmelden</a:t>
            </a:r>
            <a:endParaRPr lang="en-US" sz="750" dirty="0">
              <a:solidFill>
                <a:srgbClr val="2F3E46"/>
              </a:solidFill>
            </a:endParaRPr>
          </a:p>
        </p:txBody>
      </p:sp>
      <p:sp>
        <p:nvSpPr>
          <p:cNvPr id="21" name="Shape 20">
            <a:extLst>
              <a:ext uri="{FF2B5EF4-FFF2-40B4-BE49-F238E27FC236}">
                <a16:creationId xmlns:a16="http://schemas.microsoft.com/office/drawing/2014/main" id="{35EA09B5-617D-07BA-0FA4-459BC8ADD4E6}"/>
              </a:ext>
            </a:extLst>
          </p:cNvPr>
          <p:cNvSpPr/>
          <p:nvPr/>
        </p:nvSpPr>
        <p:spPr>
          <a:xfrm>
            <a:off x="3429000" y="2325624"/>
            <a:ext cx="2286000" cy="292608"/>
          </a:xfrm>
          <a:prstGeom prst="ellipse">
            <a:avLst/>
          </a:prstGeom>
          <a:solidFill>
            <a:srgbClr val="EDF5DC"/>
          </a:solidFill>
          <a:ln w="12700">
            <a:solidFill>
              <a:srgbClr val="80BA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Text 21">
            <a:extLst>
              <a:ext uri="{FF2B5EF4-FFF2-40B4-BE49-F238E27FC236}">
                <a16:creationId xmlns:a16="http://schemas.microsoft.com/office/drawing/2014/main" id="{6AE8C534-8A58-5992-F625-B96051A582F2}"/>
              </a:ext>
            </a:extLst>
          </p:cNvPr>
          <p:cNvSpPr txBox="1"/>
          <p:nvPr/>
        </p:nvSpPr>
        <p:spPr>
          <a:xfrm>
            <a:off x="3429000" y="232562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 bestätigen und freigeben</a:t>
            </a:r>
            <a:endParaRPr lang="en-US" sz="750" dirty="0">
              <a:solidFill>
                <a:srgbClr val="2F3E46"/>
              </a:solidFill>
            </a:endParaRPr>
          </a:p>
        </p:txBody>
      </p:sp>
      <p:sp>
        <p:nvSpPr>
          <p:cNvPr id="23" name="Shape 22">
            <a:extLst>
              <a:ext uri="{FF2B5EF4-FFF2-40B4-BE49-F238E27FC236}">
                <a16:creationId xmlns:a16="http://schemas.microsoft.com/office/drawing/2014/main" id="{94A1BBEE-5F5B-022C-6F4F-EB586B30A6B9}"/>
              </a:ext>
            </a:extLst>
          </p:cNvPr>
          <p:cNvSpPr/>
          <p:nvPr/>
        </p:nvSpPr>
        <p:spPr>
          <a:xfrm>
            <a:off x="3429000" y="2691384"/>
            <a:ext cx="2286000" cy="292608"/>
          </a:xfrm>
          <a:prstGeom prst="ellipse">
            <a:avLst/>
          </a:prstGeom>
          <a:solidFill>
            <a:srgbClr val="EDF5DC"/>
          </a:solidFill>
          <a:ln w="12700">
            <a:solidFill>
              <a:srgbClr val="80BA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Text 23">
            <a:extLst>
              <a:ext uri="{FF2B5EF4-FFF2-40B4-BE49-F238E27FC236}">
                <a16:creationId xmlns:a16="http://schemas.microsoft.com/office/drawing/2014/main" id="{3B72B974-B589-9B86-72C4-A4DF95C6AF9C}"/>
              </a:ext>
            </a:extLst>
          </p:cNvPr>
          <p:cNvSpPr txBox="1"/>
          <p:nvPr/>
        </p:nvSpPr>
        <p:spPr>
          <a:xfrm>
            <a:off x="3429000" y="269138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Formalien prüfen</a:t>
            </a:r>
            <a:endParaRPr lang="en-US" sz="750" dirty="0">
              <a:solidFill>
                <a:srgbClr val="2F3E46"/>
              </a:solidFill>
            </a:endParaRPr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CE1B78F1-572B-29B2-1D46-41642098702F}"/>
              </a:ext>
            </a:extLst>
          </p:cNvPr>
          <p:cNvSpPr/>
          <p:nvPr/>
        </p:nvSpPr>
        <p:spPr>
          <a:xfrm>
            <a:off x="3429000" y="3057144"/>
            <a:ext cx="2286000" cy="292608"/>
          </a:xfrm>
          <a:prstGeom prst="ellipse">
            <a:avLst/>
          </a:prstGeom>
          <a:solidFill>
            <a:srgbClr val="EDF5DC"/>
          </a:solidFill>
          <a:ln w="12700">
            <a:solidFill>
              <a:srgbClr val="80BA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1ACEAAA4-B69C-F9A0-7AD9-2FCD409C6216}"/>
              </a:ext>
            </a:extLst>
          </p:cNvPr>
          <p:cNvSpPr txBox="1"/>
          <p:nvPr/>
        </p:nvSpPr>
        <p:spPr>
          <a:xfrm>
            <a:off x="3429000" y="305714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 Zulassung entscheiden</a:t>
            </a:r>
            <a:endParaRPr lang="en-US" sz="750" dirty="0">
              <a:solidFill>
                <a:srgbClr val="2F3E46"/>
              </a:solidFill>
            </a:endParaRPr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F72376CD-A00F-F831-E1C4-8EDE68DC93E4}"/>
              </a:ext>
            </a:extLst>
          </p:cNvPr>
          <p:cNvSpPr/>
          <p:nvPr/>
        </p:nvSpPr>
        <p:spPr>
          <a:xfrm>
            <a:off x="3429000" y="3422904"/>
            <a:ext cx="2286000" cy="292608"/>
          </a:xfrm>
          <a:prstGeom prst="ellipse">
            <a:avLst/>
          </a:prstGeom>
          <a:solidFill>
            <a:srgbClr val="EDF5DC"/>
          </a:solidFill>
          <a:ln w="12700">
            <a:solidFill>
              <a:srgbClr val="80BA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06689CBB-7033-9B44-7F21-A865A7BBB02B}"/>
              </a:ext>
            </a:extLst>
          </p:cNvPr>
          <p:cNvSpPr txBox="1"/>
          <p:nvPr/>
        </p:nvSpPr>
        <p:spPr>
          <a:xfrm>
            <a:off x="3429000" y="342290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Verlängerung beantragen</a:t>
            </a:r>
            <a:endParaRPr lang="en-US" sz="750" dirty="0">
              <a:solidFill>
                <a:srgbClr val="2F3E46"/>
              </a:solidFill>
            </a:endParaRPr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8C2158A8-5756-88B7-54FB-3865DC24BCF7}"/>
              </a:ext>
            </a:extLst>
          </p:cNvPr>
          <p:cNvSpPr/>
          <p:nvPr/>
        </p:nvSpPr>
        <p:spPr>
          <a:xfrm>
            <a:off x="3429000" y="3788664"/>
            <a:ext cx="2286000" cy="292608"/>
          </a:xfrm>
          <a:prstGeom prst="ellipse">
            <a:avLst/>
          </a:prstGeom>
          <a:solidFill>
            <a:srgbClr val="EDF5DC"/>
          </a:solidFill>
          <a:ln w="12700">
            <a:solidFill>
              <a:srgbClr val="80BA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CB01B8B2-E3F4-CF50-6E87-5BBB1BAE6A4F}"/>
              </a:ext>
            </a:extLst>
          </p:cNvPr>
          <p:cNvSpPr txBox="1"/>
          <p:nvPr/>
        </p:nvSpPr>
        <p:spPr>
          <a:xfrm>
            <a:off x="3429000" y="378866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 Verlängerung entscheiden</a:t>
            </a:r>
            <a:endParaRPr lang="en-US" sz="750" dirty="0">
              <a:solidFill>
                <a:srgbClr val="2F3E46"/>
              </a:solidFill>
            </a:endParaRPr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1EDF51A0-A1F7-7ECC-B3C4-44BC0439D99C}"/>
              </a:ext>
            </a:extLst>
          </p:cNvPr>
          <p:cNvSpPr/>
          <p:nvPr/>
        </p:nvSpPr>
        <p:spPr>
          <a:xfrm>
            <a:off x="3429000" y="4154424"/>
            <a:ext cx="2286000" cy="292608"/>
          </a:xfrm>
          <a:prstGeom prst="ellipse">
            <a:avLst/>
          </a:prstGeom>
          <a:solidFill>
            <a:srgbClr val="EDF5DC"/>
          </a:solidFill>
          <a:ln w="12700">
            <a:solidFill>
              <a:srgbClr val="80BA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C9450743-7349-AEC4-C102-9D5C2C5E6327}"/>
              </a:ext>
            </a:extLst>
          </p:cNvPr>
          <p:cNvSpPr txBox="1"/>
          <p:nvPr/>
        </p:nvSpPr>
        <p:spPr>
          <a:xfrm>
            <a:off x="3429000" y="415442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Beteiligte benachrichtigen</a:t>
            </a:r>
            <a:endParaRPr lang="en-US" sz="750" dirty="0">
              <a:solidFill>
                <a:srgbClr val="2F3E46"/>
              </a:solidFill>
            </a:endParaRPr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752F927A-73C9-ED15-9FB7-D2CA6E127978}"/>
              </a:ext>
            </a:extLst>
          </p:cNvPr>
          <p:cNvSpPr/>
          <p:nvPr/>
        </p:nvSpPr>
        <p:spPr>
          <a:xfrm>
            <a:off x="1399032" y="1511808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F3E4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A09B31E1-FBCA-9FD6-72FA-1BD9A3EB86A2}"/>
              </a:ext>
            </a:extLst>
          </p:cNvPr>
          <p:cNvSpPr/>
          <p:nvPr/>
        </p:nvSpPr>
        <p:spPr>
          <a:xfrm>
            <a:off x="1463040" y="1639824"/>
            <a:ext cx="914" cy="219456"/>
          </a:xfrm>
          <a:prstGeom prst="line">
            <a:avLst/>
          </a:prstGeom>
          <a:noFill/>
          <a:ln w="15875">
            <a:solidFill>
              <a:srgbClr val="2F3E4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44895896-7578-E03B-A457-C0516F9D6C1C}"/>
              </a:ext>
            </a:extLst>
          </p:cNvPr>
          <p:cNvSpPr/>
          <p:nvPr/>
        </p:nvSpPr>
        <p:spPr>
          <a:xfrm>
            <a:off x="1344168" y="1722120"/>
            <a:ext cx="237744" cy="914"/>
          </a:xfrm>
          <a:prstGeom prst="line">
            <a:avLst/>
          </a:prstGeom>
          <a:noFill/>
          <a:ln w="15875">
            <a:solidFill>
              <a:srgbClr val="2F3E4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60B377D6-21BA-4C6B-2A42-736375E22EF0}"/>
              </a:ext>
            </a:extLst>
          </p:cNvPr>
          <p:cNvSpPr/>
          <p:nvPr/>
        </p:nvSpPr>
        <p:spPr>
          <a:xfrm flipV="1">
            <a:off x="1362456" y="1859280"/>
            <a:ext cx="100584" cy="164592"/>
          </a:xfrm>
          <a:prstGeom prst="line">
            <a:avLst/>
          </a:prstGeom>
          <a:noFill/>
          <a:ln w="15875">
            <a:solidFill>
              <a:srgbClr val="2F3E4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DC24EE0B-0188-25E0-0235-183E92964A50}"/>
              </a:ext>
            </a:extLst>
          </p:cNvPr>
          <p:cNvSpPr/>
          <p:nvPr/>
        </p:nvSpPr>
        <p:spPr>
          <a:xfrm>
            <a:off x="1463040" y="1859280"/>
            <a:ext cx="100584" cy="164592"/>
          </a:xfrm>
          <a:prstGeom prst="line">
            <a:avLst/>
          </a:prstGeom>
          <a:noFill/>
          <a:ln w="15875">
            <a:solidFill>
              <a:srgbClr val="2F3E4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246250AD-BCB0-3D0E-6B4E-1DCA101A0745}"/>
              </a:ext>
            </a:extLst>
          </p:cNvPr>
          <p:cNvSpPr txBox="1"/>
          <p:nvPr/>
        </p:nvSpPr>
        <p:spPr>
          <a:xfrm>
            <a:off x="640080" y="2042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Studierende:r</a:t>
            </a:r>
            <a:endParaRPr lang="en-US" sz="750" dirty="0">
              <a:solidFill>
                <a:srgbClr val="2F3E46"/>
              </a:solidFill>
            </a:endParaRPr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9506DD2F-A216-D92E-CDE0-FFFE101A2479}"/>
              </a:ext>
            </a:extLst>
          </p:cNvPr>
          <p:cNvSpPr/>
          <p:nvPr/>
        </p:nvSpPr>
        <p:spPr>
          <a:xfrm>
            <a:off x="1399032" y="2609088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F3E4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42EA4CB9-CA45-7E16-FACB-C68B0E7FFA80}"/>
              </a:ext>
            </a:extLst>
          </p:cNvPr>
          <p:cNvSpPr/>
          <p:nvPr/>
        </p:nvSpPr>
        <p:spPr>
          <a:xfrm>
            <a:off x="1463040" y="2737104"/>
            <a:ext cx="914" cy="219456"/>
          </a:xfrm>
          <a:prstGeom prst="line">
            <a:avLst/>
          </a:prstGeom>
          <a:noFill/>
          <a:ln w="15875">
            <a:solidFill>
              <a:srgbClr val="2F3E4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E017763F-315A-0027-152E-41B9BBEDE68C}"/>
              </a:ext>
            </a:extLst>
          </p:cNvPr>
          <p:cNvSpPr/>
          <p:nvPr/>
        </p:nvSpPr>
        <p:spPr>
          <a:xfrm>
            <a:off x="1344168" y="2819400"/>
            <a:ext cx="237744" cy="914"/>
          </a:xfrm>
          <a:prstGeom prst="line">
            <a:avLst/>
          </a:prstGeom>
          <a:noFill/>
          <a:ln w="15875">
            <a:solidFill>
              <a:srgbClr val="2F3E4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3F1CD484-B47D-618A-41FE-7AE21528CFED}"/>
              </a:ext>
            </a:extLst>
          </p:cNvPr>
          <p:cNvSpPr/>
          <p:nvPr/>
        </p:nvSpPr>
        <p:spPr>
          <a:xfrm flipV="1">
            <a:off x="1362456" y="2956560"/>
            <a:ext cx="100584" cy="164592"/>
          </a:xfrm>
          <a:prstGeom prst="line">
            <a:avLst/>
          </a:prstGeom>
          <a:noFill/>
          <a:ln w="15875">
            <a:solidFill>
              <a:srgbClr val="2F3E4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74C2C0F9-532E-4321-CFEC-2CC3A92C0272}"/>
              </a:ext>
            </a:extLst>
          </p:cNvPr>
          <p:cNvSpPr/>
          <p:nvPr/>
        </p:nvSpPr>
        <p:spPr>
          <a:xfrm>
            <a:off x="1463040" y="2956560"/>
            <a:ext cx="100584" cy="164592"/>
          </a:xfrm>
          <a:prstGeom prst="line">
            <a:avLst/>
          </a:prstGeom>
          <a:noFill/>
          <a:ln w="15875">
            <a:solidFill>
              <a:srgbClr val="2F3E4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301B36B3-6945-9035-25D0-A9FE6131A728}"/>
              </a:ext>
            </a:extLst>
          </p:cNvPr>
          <p:cNvSpPr txBox="1"/>
          <p:nvPr/>
        </p:nvSpPr>
        <p:spPr>
          <a:xfrm>
            <a:off x="640080" y="31394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Erstprüfer:in</a:t>
            </a:r>
            <a:endParaRPr lang="en-US" sz="750" dirty="0">
              <a:solidFill>
                <a:srgbClr val="2F3E46"/>
              </a:solidFill>
            </a:endParaRPr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64A678E7-E92C-7C0A-31D6-8D364CBD2A9F}"/>
              </a:ext>
            </a:extLst>
          </p:cNvPr>
          <p:cNvSpPr/>
          <p:nvPr/>
        </p:nvSpPr>
        <p:spPr>
          <a:xfrm>
            <a:off x="1399032" y="3706368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F3E4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F32F3AE2-D3FA-D410-8987-5165E666BAD8}"/>
              </a:ext>
            </a:extLst>
          </p:cNvPr>
          <p:cNvSpPr/>
          <p:nvPr/>
        </p:nvSpPr>
        <p:spPr>
          <a:xfrm>
            <a:off x="1463040" y="3834384"/>
            <a:ext cx="914" cy="219456"/>
          </a:xfrm>
          <a:prstGeom prst="line">
            <a:avLst/>
          </a:prstGeom>
          <a:noFill/>
          <a:ln w="15875">
            <a:solidFill>
              <a:srgbClr val="2F3E4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E99C7913-3341-9053-6D45-65F35B153D3E}"/>
              </a:ext>
            </a:extLst>
          </p:cNvPr>
          <p:cNvSpPr/>
          <p:nvPr/>
        </p:nvSpPr>
        <p:spPr>
          <a:xfrm>
            <a:off x="1344168" y="3916680"/>
            <a:ext cx="237744" cy="914"/>
          </a:xfrm>
          <a:prstGeom prst="line">
            <a:avLst/>
          </a:prstGeom>
          <a:noFill/>
          <a:ln w="15875">
            <a:solidFill>
              <a:srgbClr val="2F3E4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588A5FEE-9172-61AE-A52C-47E8190E0A84}"/>
              </a:ext>
            </a:extLst>
          </p:cNvPr>
          <p:cNvSpPr/>
          <p:nvPr/>
        </p:nvSpPr>
        <p:spPr>
          <a:xfrm flipV="1">
            <a:off x="1362456" y="4053840"/>
            <a:ext cx="100584" cy="164592"/>
          </a:xfrm>
          <a:prstGeom prst="line">
            <a:avLst/>
          </a:prstGeom>
          <a:noFill/>
          <a:ln w="15875">
            <a:solidFill>
              <a:srgbClr val="2F3E4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0" name="Shape 48">
            <a:extLst>
              <a:ext uri="{FF2B5EF4-FFF2-40B4-BE49-F238E27FC236}">
                <a16:creationId xmlns:a16="http://schemas.microsoft.com/office/drawing/2014/main" id="{43EA1182-A26D-F859-79AC-BED62E54FEF4}"/>
              </a:ext>
            </a:extLst>
          </p:cNvPr>
          <p:cNvSpPr/>
          <p:nvPr/>
        </p:nvSpPr>
        <p:spPr>
          <a:xfrm>
            <a:off x="1463040" y="4053840"/>
            <a:ext cx="100584" cy="164592"/>
          </a:xfrm>
          <a:prstGeom prst="line">
            <a:avLst/>
          </a:prstGeom>
          <a:noFill/>
          <a:ln w="15875">
            <a:solidFill>
              <a:srgbClr val="2F3E4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15FD87A5-25A8-6721-13DF-F86C32F0164A}"/>
              </a:ext>
            </a:extLst>
          </p:cNvPr>
          <p:cNvSpPr txBox="1"/>
          <p:nvPr/>
        </p:nvSpPr>
        <p:spPr>
          <a:xfrm>
            <a:off x="640080" y="42367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Zweitprüfer:in</a:t>
            </a:r>
            <a:endParaRPr lang="en-US" sz="750" dirty="0">
              <a:solidFill>
                <a:srgbClr val="2F3E46"/>
              </a:solidFill>
            </a:endParaRPr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8421D755-6E9B-C803-124D-233C7B4EF0BC}"/>
              </a:ext>
            </a:extLst>
          </p:cNvPr>
          <p:cNvSpPr/>
          <p:nvPr/>
        </p:nvSpPr>
        <p:spPr>
          <a:xfrm>
            <a:off x="7616952" y="2337948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F3E4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3" name="Shape 51">
            <a:extLst>
              <a:ext uri="{FF2B5EF4-FFF2-40B4-BE49-F238E27FC236}">
                <a16:creationId xmlns:a16="http://schemas.microsoft.com/office/drawing/2014/main" id="{22CA3882-2C12-F49B-06D0-85B9D15EE44D}"/>
              </a:ext>
            </a:extLst>
          </p:cNvPr>
          <p:cNvSpPr/>
          <p:nvPr/>
        </p:nvSpPr>
        <p:spPr>
          <a:xfrm>
            <a:off x="7680960" y="2465964"/>
            <a:ext cx="914" cy="219456"/>
          </a:xfrm>
          <a:prstGeom prst="line">
            <a:avLst/>
          </a:prstGeom>
          <a:noFill/>
          <a:ln w="15875">
            <a:solidFill>
              <a:srgbClr val="2F3E4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CF00ACE0-23B4-383A-DDFB-6D02ACDAD15F}"/>
              </a:ext>
            </a:extLst>
          </p:cNvPr>
          <p:cNvSpPr/>
          <p:nvPr/>
        </p:nvSpPr>
        <p:spPr>
          <a:xfrm>
            <a:off x="7562088" y="2548260"/>
            <a:ext cx="237744" cy="914"/>
          </a:xfrm>
          <a:prstGeom prst="line">
            <a:avLst/>
          </a:prstGeom>
          <a:noFill/>
          <a:ln w="15875">
            <a:solidFill>
              <a:srgbClr val="2F3E4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66260E50-7E29-5E0B-4982-409832D4C4A7}"/>
              </a:ext>
            </a:extLst>
          </p:cNvPr>
          <p:cNvSpPr/>
          <p:nvPr/>
        </p:nvSpPr>
        <p:spPr>
          <a:xfrm flipV="1">
            <a:off x="7580376" y="2685420"/>
            <a:ext cx="100584" cy="164592"/>
          </a:xfrm>
          <a:prstGeom prst="line">
            <a:avLst/>
          </a:prstGeom>
          <a:noFill/>
          <a:ln w="15875">
            <a:solidFill>
              <a:srgbClr val="2F3E4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542F6D06-568D-4E09-BCAD-125F8C33FD7E}"/>
              </a:ext>
            </a:extLst>
          </p:cNvPr>
          <p:cNvSpPr/>
          <p:nvPr/>
        </p:nvSpPr>
        <p:spPr>
          <a:xfrm>
            <a:off x="7680960" y="2685420"/>
            <a:ext cx="100584" cy="164592"/>
          </a:xfrm>
          <a:prstGeom prst="line">
            <a:avLst/>
          </a:prstGeom>
          <a:noFill/>
          <a:ln w="15875">
            <a:solidFill>
              <a:srgbClr val="2F3E4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BBC319BB-E77D-5FC8-CF4F-C326B4F0BA5E}"/>
              </a:ext>
            </a:extLst>
          </p:cNvPr>
          <p:cNvSpPr txBox="1"/>
          <p:nvPr/>
        </p:nvSpPr>
        <p:spPr>
          <a:xfrm>
            <a:off x="6858000" y="28683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b="1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Dekanat / Prüfungsamt</a:t>
            </a:r>
            <a:endParaRPr lang="en-US" sz="750" dirty="0">
              <a:solidFill>
                <a:srgbClr val="2F3E46"/>
              </a:solidFill>
            </a:endParaRPr>
          </a:p>
        </p:txBody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BBC75B24-87C6-C24E-AB32-017B76F3E277}"/>
              </a:ext>
            </a:extLst>
          </p:cNvPr>
          <p:cNvSpPr/>
          <p:nvPr/>
        </p:nvSpPr>
        <p:spPr>
          <a:xfrm>
            <a:off x="7616952" y="3206628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F3E4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9" name="Shape 57">
            <a:extLst>
              <a:ext uri="{FF2B5EF4-FFF2-40B4-BE49-F238E27FC236}">
                <a16:creationId xmlns:a16="http://schemas.microsoft.com/office/drawing/2014/main" id="{E6DF9F3D-2DDE-0B45-E9E5-DB383A41078D}"/>
              </a:ext>
            </a:extLst>
          </p:cNvPr>
          <p:cNvSpPr/>
          <p:nvPr/>
        </p:nvSpPr>
        <p:spPr>
          <a:xfrm>
            <a:off x="7680960" y="3334644"/>
            <a:ext cx="914" cy="219456"/>
          </a:xfrm>
          <a:prstGeom prst="line">
            <a:avLst/>
          </a:prstGeom>
          <a:noFill/>
          <a:ln w="15875">
            <a:solidFill>
              <a:srgbClr val="2F3E4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0" name="Shape 58">
            <a:extLst>
              <a:ext uri="{FF2B5EF4-FFF2-40B4-BE49-F238E27FC236}">
                <a16:creationId xmlns:a16="http://schemas.microsoft.com/office/drawing/2014/main" id="{290CC26A-5A42-A357-297E-1AC6FEE0D059}"/>
              </a:ext>
            </a:extLst>
          </p:cNvPr>
          <p:cNvSpPr/>
          <p:nvPr/>
        </p:nvSpPr>
        <p:spPr>
          <a:xfrm>
            <a:off x="7562088" y="3416940"/>
            <a:ext cx="237744" cy="914"/>
          </a:xfrm>
          <a:prstGeom prst="line">
            <a:avLst/>
          </a:prstGeom>
          <a:noFill/>
          <a:ln w="15875">
            <a:solidFill>
              <a:srgbClr val="2F3E4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1" name="Shape 59">
            <a:extLst>
              <a:ext uri="{FF2B5EF4-FFF2-40B4-BE49-F238E27FC236}">
                <a16:creationId xmlns:a16="http://schemas.microsoft.com/office/drawing/2014/main" id="{51603B55-BAC8-F6C6-79C3-4E70BEE0ACB5}"/>
              </a:ext>
            </a:extLst>
          </p:cNvPr>
          <p:cNvSpPr/>
          <p:nvPr/>
        </p:nvSpPr>
        <p:spPr>
          <a:xfrm flipV="1">
            <a:off x="7580376" y="3554100"/>
            <a:ext cx="100584" cy="164592"/>
          </a:xfrm>
          <a:prstGeom prst="line">
            <a:avLst/>
          </a:prstGeom>
          <a:noFill/>
          <a:ln w="15875">
            <a:solidFill>
              <a:srgbClr val="2F3E4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2" name="Shape 60">
            <a:extLst>
              <a:ext uri="{FF2B5EF4-FFF2-40B4-BE49-F238E27FC236}">
                <a16:creationId xmlns:a16="http://schemas.microsoft.com/office/drawing/2014/main" id="{F48F2B26-6815-E320-EA1C-8406C1372113}"/>
              </a:ext>
            </a:extLst>
          </p:cNvPr>
          <p:cNvSpPr/>
          <p:nvPr/>
        </p:nvSpPr>
        <p:spPr>
          <a:xfrm>
            <a:off x="7680960" y="3554100"/>
            <a:ext cx="100584" cy="164592"/>
          </a:xfrm>
          <a:prstGeom prst="line">
            <a:avLst/>
          </a:prstGeom>
          <a:noFill/>
          <a:ln w="15875">
            <a:solidFill>
              <a:srgbClr val="2F3E4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3" name="Text 61">
            <a:extLst>
              <a:ext uri="{FF2B5EF4-FFF2-40B4-BE49-F238E27FC236}">
                <a16:creationId xmlns:a16="http://schemas.microsoft.com/office/drawing/2014/main" id="{E521706E-83F5-75DD-83F7-366BD8904497}"/>
              </a:ext>
            </a:extLst>
          </p:cNvPr>
          <p:cNvSpPr txBox="1"/>
          <p:nvPr/>
        </p:nvSpPr>
        <p:spPr>
          <a:xfrm>
            <a:off x="6858000" y="37369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b="1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Prüfungsausschuss</a:t>
            </a:r>
            <a:endParaRPr lang="en-US" sz="750" dirty="0">
              <a:solidFill>
                <a:srgbClr val="2F3E46"/>
              </a:solidFill>
            </a:endParaRPr>
          </a:p>
        </p:txBody>
      </p:sp>
      <p:sp>
        <p:nvSpPr>
          <p:cNvPr id="64" name="Shape 62">
            <a:extLst>
              <a:ext uri="{FF2B5EF4-FFF2-40B4-BE49-F238E27FC236}">
                <a16:creationId xmlns:a16="http://schemas.microsoft.com/office/drawing/2014/main" id="{9437D895-62C6-AD7E-F913-3AF6E1AC9D97}"/>
              </a:ext>
            </a:extLst>
          </p:cNvPr>
          <p:cNvSpPr/>
          <p:nvPr/>
        </p:nvSpPr>
        <p:spPr>
          <a:xfrm>
            <a:off x="7161381" y="1549928"/>
            <a:ext cx="10972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2F3E4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5" name="Text 63">
            <a:extLst>
              <a:ext uri="{FF2B5EF4-FFF2-40B4-BE49-F238E27FC236}">
                <a16:creationId xmlns:a16="http://schemas.microsoft.com/office/drawing/2014/main" id="{E2F37199-D534-5D20-9A81-62AB5930610D}"/>
              </a:ext>
            </a:extLst>
          </p:cNvPr>
          <p:cNvSpPr txBox="1"/>
          <p:nvPr/>
        </p:nvSpPr>
        <p:spPr>
          <a:xfrm>
            <a:off x="7161381" y="154992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«System»</a:t>
            </a:r>
            <a:endParaRPr lang="en-US" sz="600" dirty="0">
              <a:solidFill>
                <a:srgbClr val="5B6A70"/>
              </a:solidFill>
            </a:endParaRPr>
          </a:p>
          <a:p>
            <a:pPr marL="0" indent="0" algn="ctr">
              <a:buNone/>
            </a:pPr>
            <a:r>
              <a:rPr lang="en-US" sz="750" b="1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THM-Login</a:t>
            </a:r>
            <a:endParaRPr lang="en-US" sz="600" dirty="0">
              <a:solidFill>
                <a:srgbClr val="2F3E46"/>
              </a:solidFill>
            </a:endParaRPr>
          </a:p>
        </p:txBody>
      </p:sp>
      <p:sp>
        <p:nvSpPr>
          <p:cNvPr id="66" name="Shape 64">
            <a:extLst>
              <a:ext uri="{FF2B5EF4-FFF2-40B4-BE49-F238E27FC236}">
                <a16:creationId xmlns:a16="http://schemas.microsoft.com/office/drawing/2014/main" id="{7D92F82F-D258-D573-0E2E-5B538F434E2F}"/>
              </a:ext>
            </a:extLst>
          </p:cNvPr>
          <p:cNvSpPr/>
          <p:nvPr/>
        </p:nvSpPr>
        <p:spPr>
          <a:xfrm>
            <a:off x="7223760" y="4026408"/>
            <a:ext cx="10972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2F3E4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7" name="Text 65">
            <a:extLst>
              <a:ext uri="{FF2B5EF4-FFF2-40B4-BE49-F238E27FC236}">
                <a16:creationId xmlns:a16="http://schemas.microsoft.com/office/drawing/2014/main" id="{AF1AF10C-37D2-ECFF-F7D2-C932C179F53D}"/>
              </a:ext>
            </a:extLst>
          </p:cNvPr>
          <p:cNvSpPr txBox="1"/>
          <p:nvPr/>
        </p:nvSpPr>
        <p:spPr>
          <a:xfrm>
            <a:off x="7223760" y="402640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«System»</a:t>
            </a:r>
            <a:endParaRPr lang="en-US" sz="600" dirty="0">
              <a:solidFill>
                <a:srgbClr val="5B6A70"/>
              </a:solidFill>
            </a:endParaRPr>
          </a:p>
          <a:p>
            <a:pPr marL="0" indent="0" algn="ctr">
              <a:buNone/>
            </a:pPr>
            <a:r>
              <a:rPr lang="en-US" sz="750" b="1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E-Mail-Dienst</a:t>
            </a:r>
            <a:endParaRPr lang="en-US" sz="600" dirty="0">
              <a:solidFill>
                <a:srgbClr val="2F3E46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80B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 2 · SYSTEM- UND KONTEXTABGRENZUNG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310896"/>
            <a:ext cx="6172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Zonen mit Datenflüssen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55464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5B6A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7F28279-5F6F-B851-9AC4-0413B199C174}"/>
              </a:ext>
            </a:extLst>
          </p:cNvPr>
          <p:cNvSpPr txBox="1"/>
          <p:nvPr/>
        </p:nvSpPr>
        <p:spPr>
          <a:xfrm>
            <a:off x="595927" y="838188"/>
            <a:ext cx="7848648" cy="189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96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Zeigt die Abgrenzung und zugleich, welche Daten zwischen System und Systemkontext fließen.</a:t>
            </a:r>
            <a:endParaRPr lang="en-US" sz="896" dirty="0">
              <a:solidFill>
                <a:srgbClr val="5B6A70"/>
              </a:solidFill>
            </a:endParaRP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D961DFB8-B69F-809B-179A-FD67097E9C6F}"/>
              </a:ext>
            </a:extLst>
          </p:cNvPr>
          <p:cNvSpPr/>
          <p:nvPr/>
        </p:nvSpPr>
        <p:spPr>
          <a:xfrm>
            <a:off x="595927" y="1096934"/>
            <a:ext cx="7848648" cy="3225708"/>
          </a:xfrm>
          <a:prstGeom prst="roundRect">
            <a:avLst>
              <a:gd name="adj" fmla="val 2674"/>
            </a:avLst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  <p:txBody>
          <a:bodyPr/>
          <a:lstStyle/>
          <a:p>
            <a:endParaRPr lang="de-DE" sz="1698"/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FCECE30E-001C-091A-0AE5-A6E8565E8874}"/>
              </a:ext>
            </a:extLst>
          </p:cNvPr>
          <p:cNvSpPr/>
          <p:nvPr/>
        </p:nvSpPr>
        <p:spPr>
          <a:xfrm>
            <a:off x="725300" y="1174558"/>
            <a:ext cx="189748" cy="189748"/>
          </a:xfrm>
          <a:prstGeom prst="ellipse">
            <a:avLst/>
          </a:prstGeom>
          <a:solidFill>
            <a:srgbClr val="5B6A70"/>
          </a:solidFill>
          <a:ln w="12700">
            <a:solidFill>
              <a:srgbClr val="5B6A70"/>
            </a:solidFill>
            <a:prstDash val="solid"/>
          </a:ln>
        </p:spPr>
        <p:txBody>
          <a:bodyPr/>
          <a:lstStyle/>
          <a:p>
            <a:endParaRPr lang="de-DE" sz="1698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0DF0591B-BFAC-C081-ADB3-6941788560C8}"/>
              </a:ext>
            </a:extLst>
          </p:cNvPr>
          <p:cNvSpPr txBox="1"/>
          <p:nvPr/>
        </p:nvSpPr>
        <p:spPr>
          <a:xfrm>
            <a:off x="725300" y="1174558"/>
            <a:ext cx="189748" cy="18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2" dirty="0"/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52A3FC54-9BDF-28F4-7629-A36D14C4A7FE}"/>
              </a:ext>
            </a:extLst>
          </p:cNvPr>
          <p:cNvSpPr txBox="1"/>
          <p:nvPr/>
        </p:nvSpPr>
        <p:spPr>
          <a:xfrm>
            <a:off x="966797" y="1174558"/>
            <a:ext cx="1897475" cy="18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49" b="1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Irrelevante Umgebung</a:t>
            </a:r>
            <a:endParaRPr lang="en-US" sz="849" dirty="0">
              <a:solidFill>
                <a:srgbClr val="5B6A70"/>
              </a:solidFill>
            </a:endParaRPr>
          </a:p>
        </p:txBody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223E7969-8251-8BEB-73D8-7F70CB4C712C}"/>
              </a:ext>
            </a:extLst>
          </p:cNvPr>
          <p:cNvSpPr/>
          <p:nvPr/>
        </p:nvSpPr>
        <p:spPr>
          <a:xfrm>
            <a:off x="3097144" y="1165934"/>
            <a:ext cx="1854351" cy="206997"/>
          </a:xfrm>
          <a:prstGeom prst="roundRect">
            <a:avLst>
              <a:gd name="adj" fmla="val 20833"/>
            </a:avLst>
          </a:prstGeom>
          <a:solidFill>
            <a:srgbClr val="FFFF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 sz="1698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1E0564E4-47F3-C218-3C84-302CD3443CA0}"/>
              </a:ext>
            </a:extLst>
          </p:cNvPr>
          <p:cNvSpPr txBox="1"/>
          <p:nvPr/>
        </p:nvSpPr>
        <p:spPr>
          <a:xfrm>
            <a:off x="3097144" y="1165934"/>
            <a:ext cx="1854351" cy="206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07" i="1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Bewertung und Notenverbuchung</a:t>
            </a:r>
            <a:endParaRPr lang="en-US" sz="707" dirty="0">
              <a:solidFill>
                <a:srgbClr val="5B6A70"/>
              </a:solidFill>
            </a:endParaRPr>
          </a:p>
        </p:txBody>
      </p:sp>
      <p:sp>
        <p:nvSpPr>
          <p:cNvPr id="11" name="Shape 10">
            <a:extLst>
              <a:ext uri="{FF2B5EF4-FFF2-40B4-BE49-F238E27FC236}">
                <a16:creationId xmlns:a16="http://schemas.microsoft.com/office/drawing/2014/main" id="{012A9F0F-DAA1-365D-3CB3-85EC4472C066}"/>
              </a:ext>
            </a:extLst>
          </p:cNvPr>
          <p:cNvSpPr/>
          <p:nvPr/>
        </p:nvSpPr>
        <p:spPr>
          <a:xfrm>
            <a:off x="5037744" y="1165934"/>
            <a:ext cx="948738" cy="206997"/>
          </a:xfrm>
          <a:prstGeom prst="roundRect">
            <a:avLst>
              <a:gd name="adj" fmla="val 20833"/>
            </a:avLst>
          </a:prstGeom>
          <a:solidFill>
            <a:srgbClr val="FFFF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 sz="1698"/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FAE7B7DB-72CD-61AD-1E6F-CF0BF4E75272}"/>
              </a:ext>
            </a:extLst>
          </p:cNvPr>
          <p:cNvSpPr txBox="1"/>
          <p:nvPr/>
        </p:nvSpPr>
        <p:spPr>
          <a:xfrm>
            <a:off x="5037744" y="1165934"/>
            <a:ext cx="948738" cy="206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07" i="1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Kolloquium</a:t>
            </a:r>
            <a:endParaRPr lang="en-US" sz="707" dirty="0">
              <a:solidFill>
                <a:srgbClr val="5B6A70"/>
              </a:solidFill>
            </a:endParaRPr>
          </a:p>
        </p:txBody>
      </p:sp>
      <p:sp>
        <p:nvSpPr>
          <p:cNvPr id="13" name="Shape 12">
            <a:extLst>
              <a:ext uri="{FF2B5EF4-FFF2-40B4-BE49-F238E27FC236}">
                <a16:creationId xmlns:a16="http://schemas.microsoft.com/office/drawing/2014/main" id="{69B51168-D88D-0580-6FB4-DF4DA70DB6BA}"/>
              </a:ext>
            </a:extLst>
          </p:cNvPr>
          <p:cNvSpPr/>
          <p:nvPr/>
        </p:nvSpPr>
        <p:spPr>
          <a:xfrm>
            <a:off x="6072731" y="1165934"/>
            <a:ext cx="948738" cy="206997"/>
          </a:xfrm>
          <a:prstGeom prst="roundRect">
            <a:avLst>
              <a:gd name="adj" fmla="val 20833"/>
            </a:avLst>
          </a:prstGeom>
          <a:solidFill>
            <a:srgbClr val="FFFF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 sz="1698"/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E2D2C8F0-B543-730B-673C-D0081E8D299D}"/>
              </a:ext>
            </a:extLst>
          </p:cNvPr>
          <p:cNvSpPr txBox="1"/>
          <p:nvPr/>
        </p:nvSpPr>
        <p:spPr>
          <a:xfrm>
            <a:off x="6072731" y="1165934"/>
            <a:ext cx="948738" cy="206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07" i="1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Bibliothek</a:t>
            </a:r>
            <a:endParaRPr lang="en-US" sz="707" dirty="0">
              <a:solidFill>
                <a:srgbClr val="5B6A70"/>
              </a:solidFill>
            </a:endParaRPr>
          </a:p>
        </p:txBody>
      </p:sp>
      <p:sp>
        <p:nvSpPr>
          <p:cNvPr id="15" name="Shape 14">
            <a:extLst>
              <a:ext uri="{FF2B5EF4-FFF2-40B4-BE49-F238E27FC236}">
                <a16:creationId xmlns:a16="http://schemas.microsoft.com/office/drawing/2014/main" id="{CBBDE2A7-9E9D-9CB3-3D77-C72051D994C6}"/>
              </a:ext>
            </a:extLst>
          </p:cNvPr>
          <p:cNvSpPr/>
          <p:nvPr/>
        </p:nvSpPr>
        <p:spPr>
          <a:xfrm>
            <a:off x="7107717" y="1165934"/>
            <a:ext cx="1164360" cy="206997"/>
          </a:xfrm>
          <a:prstGeom prst="roundRect">
            <a:avLst>
              <a:gd name="adj" fmla="val 20833"/>
            </a:avLst>
          </a:prstGeom>
          <a:solidFill>
            <a:srgbClr val="FFFF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 sz="1698"/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1663649C-4591-9D24-86DA-1F49F70B8C20}"/>
              </a:ext>
            </a:extLst>
          </p:cNvPr>
          <p:cNvSpPr txBox="1"/>
          <p:nvPr/>
        </p:nvSpPr>
        <p:spPr>
          <a:xfrm>
            <a:off x="7107717" y="1165934"/>
            <a:ext cx="1164360" cy="206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07" i="1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Stundenplanung</a:t>
            </a:r>
            <a:endParaRPr lang="en-US" sz="707" dirty="0">
              <a:solidFill>
                <a:srgbClr val="5B6A70"/>
              </a:solidFill>
            </a:endParaRPr>
          </a:p>
        </p:txBody>
      </p:sp>
      <p:sp>
        <p:nvSpPr>
          <p:cNvPr id="17" name="Shape 16">
            <a:extLst>
              <a:ext uri="{FF2B5EF4-FFF2-40B4-BE49-F238E27FC236}">
                <a16:creationId xmlns:a16="http://schemas.microsoft.com/office/drawing/2014/main" id="{AF1A12D9-F157-C826-F1B2-A2A2E91E99A9}"/>
              </a:ext>
            </a:extLst>
          </p:cNvPr>
          <p:cNvSpPr/>
          <p:nvPr/>
        </p:nvSpPr>
        <p:spPr>
          <a:xfrm>
            <a:off x="742551" y="1441930"/>
            <a:ext cx="7555401" cy="2794464"/>
          </a:xfrm>
          <a:prstGeom prst="roundRect">
            <a:avLst>
              <a:gd name="adj" fmla="val 9259"/>
            </a:avLst>
          </a:prstGeom>
          <a:solidFill>
            <a:srgbClr val="D9DDD6"/>
          </a:solidFill>
          <a:ln w="12700">
            <a:solidFill>
              <a:srgbClr val="D9DDD6"/>
            </a:solidFill>
            <a:prstDash val="solid"/>
          </a:ln>
        </p:spPr>
        <p:txBody>
          <a:bodyPr/>
          <a:lstStyle/>
          <a:p>
            <a:endParaRPr lang="de-DE" sz="1698"/>
          </a:p>
        </p:txBody>
      </p:sp>
      <p:sp>
        <p:nvSpPr>
          <p:cNvPr id="18" name="Shape 17">
            <a:extLst>
              <a:ext uri="{FF2B5EF4-FFF2-40B4-BE49-F238E27FC236}">
                <a16:creationId xmlns:a16="http://schemas.microsoft.com/office/drawing/2014/main" id="{88D14447-79EA-3820-587D-A952955B0303}"/>
              </a:ext>
            </a:extLst>
          </p:cNvPr>
          <p:cNvSpPr/>
          <p:nvPr/>
        </p:nvSpPr>
        <p:spPr>
          <a:xfrm>
            <a:off x="897798" y="1597178"/>
            <a:ext cx="7244906" cy="2483968"/>
          </a:xfrm>
          <a:prstGeom prst="roundRect">
            <a:avLst>
              <a:gd name="adj" fmla="val 7639"/>
            </a:avLst>
          </a:prstGeom>
          <a:solidFill>
            <a:srgbClr val="F4F5F2"/>
          </a:solidFill>
          <a:ln w="12700">
            <a:solidFill>
              <a:srgbClr val="F4F5F2"/>
            </a:solidFill>
            <a:prstDash val="solid"/>
          </a:ln>
        </p:spPr>
        <p:txBody>
          <a:bodyPr/>
          <a:lstStyle/>
          <a:p>
            <a:endParaRPr lang="de-DE" sz="1698"/>
          </a:p>
        </p:txBody>
      </p:sp>
      <p:sp>
        <p:nvSpPr>
          <p:cNvPr id="19" name="Shape 18">
            <a:extLst>
              <a:ext uri="{FF2B5EF4-FFF2-40B4-BE49-F238E27FC236}">
                <a16:creationId xmlns:a16="http://schemas.microsoft.com/office/drawing/2014/main" id="{D62D51B0-68B5-71FF-523E-7596138B3EFF}"/>
              </a:ext>
            </a:extLst>
          </p:cNvPr>
          <p:cNvSpPr/>
          <p:nvPr/>
        </p:nvSpPr>
        <p:spPr>
          <a:xfrm>
            <a:off x="820175" y="1519554"/>
            <a:ext cx="7400153" cy="2639216"/>
          </a:xfrm>
          <a:prstGeom prst="roundRect">
            <a:avLst>
              <a:gd name="adj" fmla="val 8497"/>
            </a:avLst>
          </a:prstGeom>
          <a:solidFill>
            <a:srgbClr val="FFFFFF">
              <a:alpha val="0"/>
            </a:srgbClr>
          </a:solidFill>
          <a:ln w="19050">
            <a:solidFill>
              <a:srgbClr val="2F3E46"/>
            </a:solidFill>
            <a:prstDash val="dash"/>
          </a:ln>
        </p:spPr>
        <p:txBody>
          <a:bodyPr/>
          <a:lstStyle/>
          <a:p>
            <a:endParaRPr lang="de-DE" sz="1698"/>
          </a:p>
        </p:txBody>
      </p:sp>
      <p:sp>
        <p:nvSpPr>
          <p:cNvPr id="20" name="Shape 19">
            <a:extLst>
              <a:ext uri="{FF2B5EF4-FFF2-40B4-BE49-F238E27FC236}">
                <a16:creationId xmlns:a16="http://schemas.microsoft.com/office/drawing/2014/main" id="{F9A1BDE7-2E0B-A2E8-C2A8-4D5EBDDA420C}"/>
              </a:ext>
            </a:extLst>
          </p:cNvPr>
          <p:cNvSpPr/>
          <p:nvPr/>
        </p:nvSpPr>
        <p:spPr>
          <a:xfrm>
            <a:off x="1027171" y="1683426"/>
            <a:ext cx="189748" cy="189748"/>
          </a:xfrm>
          <a:prstGeom prst="ellipse">
            <a:avLst/>
          </a:prstGeom>
          <a:solidFill>
            <a:srgbClr val="2F3E46"/>
          </a:solidFill>
          <a:ln w="12700">
            <a:solidFill>
              <a:srgbClr val="2F3E46"/>
            </a:solidFill>
            <a:prstDash val="solid"/>
          </a:ln>
        </p:spPr>
        <p:txBody>
          <a:bodyPr/>
          <a:lstStyle/>
          <a:p>
            <a:endParaRPr lang="de-DE" sz="1698"/>
          </a:p>
        </p:txBody>
      </p:sp>
      <p:sp>
        <p:nvSpPr>
          <p:cNvPr id="21" name="Text 20">
            <a:extLst>
              <a:ext uri="{FF2B5EF4-FFF2-40B4-BE49-F238E27FC236}">
                <a16:creationId xmlns:a16="http://schemas.microsoft.com/office/drawing/2014/main" id="{6E4FF2AF-BCA2-4148-DADA-F9E109BD06D6}"/>
              </a:ext>
            </a:extLst>
          </p:cNvPr>
          <p:cNvSpPr txBox="1"/>
          <p:nvPr/>
        </p:nvSpPr>
        <p:spPr>
          <a:xfrm>
            <a:off x="1027171" y="1683426"/>
            <a:ext cx="189748" cy="18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2" dirty="0"/>
          </a:p>
        </p:txBody>
      </p:sp>
      <p:sp>
        <p:nvSpPr>
          <p:cNvPr id="22" name="Text 21">
            <a:extLst>
              <a:ext uri="{FF2B5EF4-FFF2-40B4-BE49-F238E27FC236}">
                <a16:creationId xmlns:a16="http://schemas.microsoft.com/office/drawing/2014/main" id="{2D4D59F5-6D4A-2B02-C7D0-D6F0BA46C715}"/>
              </a:ext>
            </a:extLst>
          </p:cNvPr>
          <p:cNvSpPr txBox="1"/>
          <p:nvPr/>
        </p:nvSpPr>
        <p:spPr>
          <a:xfrm>
            <a:off x="1268669" y="1683426"/>
            <a:ext cx="1897475" cy="18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49" b="1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Systemkontext</a:t>
            </a:r>
            <a:endParaRPr lang="en-US" sz="849" dirty="0">
              <a:solidFill>
                <a:srgbClr val="2F3E46"/>
              </a:solidFill>
            </a:endParaRPr>
          </a:p>
        </p:txBody>
      </p:sp>
      <p:sp>
        <p:nvSpPr>
          <p:cNvPr id="23" name="Shape 22">
            <a:extLst>
              <a:ext uri="{FF2B5EF4-FFF2-40B4-BE49-F238E27FC236}">
                <a16:creationId xmlns:a16="http://schemas.microsoft.com/office/drawing/2014/main" id="{8C3324A9-3E6F-A69F-57F6-24F4D8800AE7}"/>
              </a:ext>
            </a:extLst>
          </p:cNvPr>
          <p:cNvSpPr/>
          <p:nvPr/>
        </p:nvSpPr>
        <p:spPr>
          <a:xfrm>
            <a:off x="3675012" y="1933548"/>
            <a:ext cx="1690478" cy="1690478"/>
          </a:xfrm>
          <a:prstGeom prst="ellipse">
            <a:avLst/>
          </a:prstGeom>
          <a:solidFill>
            <a:srgbClr val="D9DDD6"/>
          </a:solidFill>
          <a:ln w="12700">
            <a:solidFill>
              <a:srgbClr val="D9DDD6"/>
            </a:solidFill>
            <a:prstDash val="solid"/>
          </a:ln>
        </p:spPr>
        <p:txBody>
          <a:bodyPr/>
          <a:lstStyle/>
          <a:p>
            <a:endParaRPr lang="de-DE" sz="1698"/>
          </a:p>
        </p:txBody>
      </p:sp>
      <p:sp>
        <p:nvSpPr>
          <p:cNvPr id="24" name="Shape 23">
            <a:extLst>
              <a:ext uri="{FF2B5EF4-FFF2-40B4-BE49-F238E27FC236}">
                <a16:creationId xmlns:a16="http://schemas.microsoft.com/office/drawing/2014/main" id="{0B30FA07-6B17-0043-D1BA-1239B422F815}"/>
              </a:ext>
            </a:extLst>
          </p:cNvPr>
          <p:cNvSpPr/>
          <p:nvPr/>
        </p:nvSpPr>
        <p:spPr>
          <a:xfrm>
            <a:off x="2105283" y="2110358"/>
            <a:ext cx="1697220" cy="442490"/>
          </a:xfrm>
          <a:prstGeom prst="line">
            <a:avLst/>
          </a:prstGeom>
          <a:noFill/>
          <a:ln w="15875">
            <a:solidFill>
              <a:srgbClr val="80BA24"/>
            </a:solidFill>
            <a:prstDash val="solid"/>
            <a:tailEnd type="triangle"/>
          </a:ln>
        </p:spPr>
        <p:txBody>
          <a:bodyPr/>
          <a:lstStyle/>
          <a:p>
            <a:endParaRPr lang="de-DE" sz="1698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02783963-308D-1A39-7966-7EA5CA87E02C}"/>
              </a:ext>
            </a:extLst>
          </p:cNvPr>
          <p:cNvSpPr/>
          <p:nvPr/>
        </p:nvSpPr>
        <p:spPr>
          <a:xfrm>
            <a:off x="2105283" y="2187982"/>
            <a:ext cx="1697220" cy="442490"/>
          </a:xfrm>
          <a:prstGeom prst="line">
            <a:avLst/>
          </a:prstGeom>
          <a:noFill/>
          <a:ln w="15875">
            <a:solidFill>
              <a:srgbClr val="4A7FB5"/>
            </a:solidFill>
            <a:prstDash val="solid"/>
            <a:headEnd type="triangle"/>
          </a:ln>
        </p:spPr>
        <p:txBody>
          <a:bodyPr/>
          <a:lstStyle/>
          <a:p>
            <a:endParaRPr lang="de-DE" sz="1698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2DC57DCF-499F-E8CB-6474-FB80AA4CEF24}"/>
              </a:ext>
            </a:extLst>
          </p:cNvPr>
          <p:cNvSpPr txBox="1"/>
          <p:nvPr/>
        </p:nvSpPr>
        <p:spPr>
          <a:xfrm>
            <a:off x="2369988" y="2206542"/>
            <a:ext cx="1167810" cy="327746"/>
          </a:xfrm>
          <a:prstGeom prst="rect">
            <a:avLst/>
          </a:prstGeom>
          <a:solidFill>
            <a:srgbClr val="FFFFFF"/>
          </a:solidFill>
          <a:ln w="6350">
            <a:solidFill>
              <a:srgbClr val="C9D1D6"/>
            </a:solidFill>
          </a:ln>
        </p:spPr>
        <p:txBody>
          <a:bodyPr wrap="square" lIns="23958" tIns="23958" rIns="23958" bIns="23958" rtlCol="0" anchor="ctr"/>
          <a:lstStyle/>
          <a:p>
            <a:r>
              <a:rPr lang="en-US" sz="613" dirty="0">
                <a:solidFill>
                  <a:srgbClr val="4E7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Antrag, Verlängerungsantrag</a:t>
            </a:r>
            <a:endParaRPr lang="en-US" sz="613" dirty="0">
              <a:solidFill>
                <a:srgbClr val="4E7F12"/>
              </a:solidFill>
            </a:endParaRPr>
          </a:p>
          <a:p>
            <a:r>
              <a:rPr lang="en-US" sz="613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Status, Abgabetermin</a:t>
            </a:r>
            <a:endParaRPr lang="en-US" sz="613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04E5CD28-0C05-EA51-2CC8-B54925862EFB}"/>
              </a:ext>
            </a:extLst>
          </p:cNvPr>
          <p:cNvSpPr/>
          <p:nvPr/>
        </p:nvSpPr>
        <p:spPr>
          <a:xfrm>
            <a:off x="984047" y="1985298"/>
            <a:ext cx="1121235" cy="327746"/>
          </a:xfrm>
          <a:prstGeom prst="roundRect">
            <a:avLst>
              <a:gd name="adj" fmla="val 13158"/>
            </a:avLst>
          </a:prstGeom>
          <a:solidFill>
            <a:srgbClr val="EDF5DC"/>
          </a:solidFill>
          <a:ln w="12700">
            <a:solidFill>
              <a:srgbClr val="80BA24"/>
            </a:solidFill>
            <a:prstDash val="solid"/>
          </a:ln>
        </p:spPr>
        <p:txBody>
          <a:bodyPr/>
          <a:lstStyle/>
          <a:p>
            <a:endParaRPr lang="de-DE" sz="1698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D7DD182A-608D-DDBF-8FFD-45C220588793}"/>
              </a:ext>
            </a:extLst>
          </p:cNvPr>
          <p:cNvSpPr txBox="1"/>
          <p:nvPr/>
        </p:nvSpPr>
        <p:spPr>
          <a:xfrm>
            <a:off x="984047" y="1985298"/>
            <a:ext cx="1121235" cy="3277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07" b="1" dirty="0">
                <a:solidFill>
                  <a:srgbClr val="4E7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Studierende:r</a:t>
            </a:r>
            <a:endParaRPr lang="en-US" sz="707" dirty="0">
              <a:solidFill>
                <a:srgbClr val="4E7F12"/>
              </a:solidFill>
            </a:endParaRPr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00298DFD-1F9D-832C-5848-1F19AC99897F}"/>
              </a:ext>
            </a:extLst>
          </p:cNvPr>
          <p:cNvSpPr/>
          <p:nvPr/>
        </p:nvSpPr>
        <p:spPr>
          <a:xfrm>
            <a:off x="2105283" y="2731351"/>
            <a:ext cx="1673233" cy="5976"/>
          </a:xfrm>
          <a:prstGeom prst="line">
            <a:avLst/>
          </a:prstGeom>
          <a:noFill/>
          <a:ln w="15875">
            <a:solidFill>
              <a:srgbClr val="80BA24"/>
            </a:solidFill>
            <a:prstDash val="solid"/>
            <a:tailEnd type="triangle"/>
          </a:ln>
        </p:spPr>
        <p:txBody>
          <a:bodyPr/>
          <a:lstStyle/>
          <a:p>
            <a:endParaRPr lang="de-DE" sz="1698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F24FF2E1-C291-68DF-1F93-94504B4C99A7}"/>
              </a:ext>
            </a:extLst>
          </p:cNvPr>
          <p:cNvSpPr/>
          <p:nvPr/>
        </p:nvSpPr>
        <p:spPr>
          <a:xfrm>
            <a:off x="2105283" y="2808975"/>
            <a:ext cx="1673233" cy="5976"/>
          </a:xfrm>
          <a:prstGeom prst="line">
            <a:avLst/>
          </a:prstGeom>
          <a:noFill/>
          <a:ln w="15875">
            <a:solidFill>
              <a:srgbClr val="4A7FB5"/>
            </a:solidFill>
            <a:prstDash val="solid"/>
            <a:headEnd type="triangle"/>
          </a:ln>
        </p:spPr>
        <p:txBody>
          <a:bodyPr/>
          <a:lstStyle/>
          <a:p>
            <a:endParaRPr lang="de-DE" sz="1698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6C778485-3603-66F5-0238-51B06B7718E1}"/>
              </a:ext>
            </a:extLst>
          </p:cNvPr>
          <p:cNvSpPr txBox="1"/>
          <p:nvPr/>
        </p:nvSpPr>
        <p:spPr>
          <a:xfrm>
            <a:off x="2321770" y="2609278"/>
            <a:ext cx="1240259" cy="327746"/>
          </a:xfrm>
          <a:prstGeom prst="rect">
            <a:avLst/>
          </a:prstGeom>
          <a:solidFill>
            <a:srgbClr val="FFFFFF"/>
          </a:solidFill>
          <a:ln w="6350">
            <a:solidFill>
              <a:srgbClr val="C9D1D6"/>
            </a:solidFill>
          </a:ln>
        </p:spPr>
        <p:txBody>
          <a:bodyPr wrap="square" lIns="23958" tIns="23958" rIns="23958" bIns="23958" rtlCol="0" anchor="ctr"/>
          <a:lstStyle/>
          <a:p>
            <a:r>
              <a:rPr lang="en-US" sz="613" dirty="0">
                <a:solidFill>
                  <a:srgbClr val="4E7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Themenfreigabe, Stellungnahme</a:t>
            </a:r>
            <a:endParaRPr lang="en-US" sz="613" dirty="0">
              <a:solidFill>
                <a:srgbClr val="4E7F12"/>
              </a:solidFill>
            </a:endParaRPr>
          </a:p>
          <a:p>
            <a:r>
              <a:rPr lang="en-US" sz="613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Themen, Aufgaben</a:t>
            </a:r>
            <a:endParaRPr lang="en-US" sz="613" dirty="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690A8FC4-AAA4-04C1-1AC5-339E6CD71FCD}"/>
              </a:ext>
            </a:extLst>
          </p:cNvPr>
          <p:cNvSpPr/>
          <p:nvPr/>
        </p:nvSpPr>
        <p:spPr>
          <a:xfrm>
            <a:off x="984047" y="2606290"/>
            <a:ext cx="1121235" cy="327746"/>
          </a:xfrm>
          <a:prstGeom prst="roundRect">
            <a:avLst>
              <a:gd name="adj" fmla="val 13158"/>
            </a:avLst>
          </a:prstGeom>
          <a:solidFill>
            <a:srgbClr val="EDF5DC"/>
          </a:solidFill>
          <a:ln w="12700">
            <a:solidFill>
              <a:srgbClr val="80BA24"/>
            </a:solidFill>
            <a:prstDash val="solid"/>
          </a:ln>
        </p:spPr>
        <p:txBody>
          <a:bodyPr/>
          <a:lstStyle/>
          <a:p>
            <a:endParaRPr lang="de-DE" sz="1698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5407B53F-BCA5-1567-5830-090015FFC7E6}"/>
              </a:ext>
            </a:extLst>
          </p:cNvPr>
          <p:cNvSpPr txBox="1"/>
          <p:nvPr/>
        </p:nvSpPr>
        <p:spPr>
          <a:xfrm>
            <a:off x="984047" y="2606290"/>
            <a:ext cx="1121235" cy="3277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07" b="1" dirty="0">
                <a:solidFill>
                  <a:srgbClr val="4E7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Erstprüfer:in</a:t>
            </a:r>
            <a:endParaRPr lang="en-US" sz="707" dirty="0">
              <a:solidFill>
                <a:srgbClr val="4E7F12"/>
              </a:solidFill>
            </a:endParaRPr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0B1DD22B-3599-1CC9-4F2D-8C47CCC0F057}"/>
              </a:ext>
            </a:extLst>
          </p:cNvPr>
          <p:cNvSpPr/>
          <p:nvPr/>
        </p:nvSpPr>
        <p:spPr>
          <a:xfrm flipV="1">
            <a:off x="2105282" y="2922290"/>
            <a:ext cx="1695983" cy="430053"/>
          </a:xfrm>
          <a:prstGeom prst="line">
            <a:avLst/>
          </a:prstGeom>
          <a:noFill/>
          <a:ln w="15875">
            <a:solidFill>
              <a:srgbClr val="80BA24"/>
            </a:solidFill>
            <a:prstDash val="solid"/>
            <a:tailEnd type="triangle"/>
          </a:ln>
        </p:spPr>
        <p:txBody>
          <a:bodyPr/>
          <a:lstStyle/>
          <a:p>
            <a:endParaRPr lang="de-DE" sz="1698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69626029-3505-738D-2DE2-B6D6D7211AC8}"/>
              </a:ext>
            </a:extLst>
          </p:cNvPr>
          <p:cNvSpPr/>
          <p:nvPr/>
        </p:nvSpPr>
        <p:spPr>
          <a:xfrm flipV="1">
            <a:off x="2105282" y="2999914"/>
            <a:ext cx="1695983" cy="430053"/>
          </a:xfrm>
          <a:prstGeom prst="line">
            <a:avLst/>
          </a:prstGeom>
          <a:noFill/>
          <a:ln w="15875">
            <a:solidFill>
              <a:srgbClr val="4A7FB5"/>
            </a:solidFill>
            <a:prstDash val="solid"/>
            <a:headEnd type="triangle"/>
          </a:ln>
        </p:spPr>
        <p:txBody>
          <a:bodyPr/>
          <a:lstStyle/>
          <a:p>
            <a:endParaRPr lang="de-DE" sz="1698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E0D02135-596E-E796-B8DB-200FE9543AC5}"/>
              </a:ext>
            </a:extLst>
          </p:cNvPr>
          <p:cNvSpPr txBox="1"/>
          <p:nvPr/>
        </p:nvSpPr>
        <p:spPr>
          <a:xfrm>
            <a:off x="2315032" y="3012255"/>
            <a:ext cx="1276483" cy="327746"/>
          </a:xfrm>
          <a:prstGeom prst="rect">
            <a:avLst/>
          </a:prstGeom>
          <a:solidFill>
            <a:srgbClr val="FFFFFF"/>
          </a:solidFill>
          <a:ln w="6350">
            <a:solidFill>
              <a:srgbClr val="C9D1D6"/>
            </a:solidFill>
          </a:ln>
        </p:spPr>
        <p:txBody>
          <a:bodyPr wrap="square" lIns="23958" tIns="23958" rIns="23958" bIns="23958" rtlCol="0" anchor="ctr"/>
          <a:lstStyle/>
          <a:p>
            <a:r>
              <a:rPr lang="en-US" sz="613" dirty="0">
                <a:solidFill>
                  <a:srgbClr val="4E7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Zusage, Qualifikationsnachweis</a:t>
            </a:r>
            <a:endParaRPr lang="en-US" sz="613" dirty="0">
              <a:solidFill>
                <a:srgbClr val="4E7F12"/>
              </a:solidFill>
            </a:endParaRPr>
          </a:p>
          <a:p>
            <a:r>
              <a:rPr lang="en-US" sz="613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Anfrage</a:t>
            </a:r>
            <a:endParaRPr lang="en-US" sz="613" dirty="0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DE4CC95A-76CC-9F19-FC2F-83E3E6D65A05}"/>
              </a:ext>
            </a:extLst>
          </p:cNvPr>
          <p:cNvSpPr/>
          <p:nvPr/>
        </p:nvSpPr>
        <p:spPr>
          <a:xfrm>
            <a:off x="984047" y="3227281"/>
            <a:ext cx="1121235" cy="327746"/>
          </a:xfrm>
          <a:prstGeom prst="roundRect">
            <a:avLst>
              <a:gd name="adj" fmla="val 13158"/>
            </a:avLst>
          </a:prstGeom>
          <a:solidFill>
            <a:srgbClr val="EDF5DC"/>
          </a:solidFill>
          <a:ln w="12700">
            <a:solidFill>
              <a:srgbClr val="80BA24"/>
            </a:solidFill>
            <a:prstDash val="solid"/>
          </a:ln>
        </p:spPr>
        <p:txBody>
          <a:bodyPr/>
          <a:lstStyle/>
          <a:p>
            <a:endParaRPr lang="de-DE" sz="1698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751FA12F-9A85-2D25-E762-D46ED48252B3}"/>
              </a:ext>
            </a:extLst>
          </p:cNvPr>
          <p:cNvSpPr txBox="1"/>
          <p:nvPr/>
        </p:nvSpPr>
        <p:spPr>
          <a:xfrm>
            <a:off x="984047" y="3227281"/>
            <a:ext cx="1121235" cy="3277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07" b="1" dirty="0">
                <a:solidFill>
                  <a:srgbClr val="4E7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Zweitprüfer:in</a:t>
            </a:r>
            <a:endParaRPr lang="en-US" sz="707" dirty="0">
              <a:solidFill>
                <a:srgbClr val="4E7F12"/>
              </a:solidFill>
            </a:endParaRPr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0B4176D4-98C0-91B8-3734-B50A7CBD0EFC}"/>
              </a:ext>
            </a:extLst>
          </p:cNvPr>
          <p:cNvSpPr/>
          <p:nvPr/>
        </p:nvSpPr>
        <p:spPr>
          <a:xfrm flipV="1">
            <a:off x="5216386" y="1851613"/>
            <a:ext cx="1718834" cy="632285"/>
          </a:xfrm>
          <a:prstGeom prst="line">
            <a:avLst/>
          </a:prstGeom>
          <a:noFill/>
          <a:ln w="15875">
            <a:solidFill>
              <a:srgbClr val="80BA24"/>
            </a:solidFill>
            <a:prstDash val="solid"/>
            <a:headEnd type="triangle"/>
          </a:ln>
        </p:spPr>
        <p:txBody>
          <a:bodyPr/>
          <a:lstStyle/>
          <a:p>
            <a:endParaRPr lang="de-DE" sz="1698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88537929-8283-7F34-92C2-6380CF7B6648}"/>
              </a:ext>
            </a:extLst>
          </p:cNvPr>
          <p:cNvSpPr/>
          <p:nvPr/>
        </p:nvSpPr>
        <p:spPr>
          <a:xfrm flipV="1">
            <a:off x="5216386" y="1929237"/>
            <a:ext cx="1718834" cy="632285"/>
          </a:xfrm>
          <a:prstGeom prst="line">
            <a:avLst/>
          </a:prstGeom>
          <a:noFill/>
          <a:ln w="15875">
            <a:solidFill>
              <a:srgbClr val="4A7FB5"/>
            </a:solidFill>
            <a:prstDash val="solid"/>
            <a:tailEnd type="triangle"/>
          </a:ln>
        </p:spPr>
        <p:txBody>
          <a:bodyPr/>
          <a:lstStyle/>
          <a:p>
            <a:endParaRPr lang="de-DE" sz="1698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03E5C2E8-77E9-D68B-25FB-C89DE1F429BB}"/>
              </a:ext>
            </a:extLst>
          </p:cNvPr>
          <p:cNvSpPr txBox="1"/>
          <p:nvPr/>
        </p:nvSpPr>
        <p:spPr>
          <a:xfrm>
            <a:off x="5510010" y="2042694"/>
            <a:ext cx="1131585" cy="327746"/>
          </a:xfrm>
          <a:prstGeom prst="rect">
            <a:avLst/>
          </a:prstGeom>
          <a:solidFill>
            <a:srgbClr val="FFFFFF"/>
          </a:solidFill>
          <a:ln w="6350">
            <a:solidFill>
              <a:srgbClr val="C9D1D6"/>
            </a:solidFill>
          </a:ln>
        </p:spPr>
        <p:txBody>
          <a:bodyPr wrap="square" lIns="23958" tIns="23958" rIns="23958" bIns="23958" rtlCol="0" anchor="ctr"/>
          <a:lstStyle/>
          <a:p>
            <a:r>
              <a:rPr lang="en-US" sz="613" dirty="0">
                <a:solidFill>
                  <a:srgbClr val="4E7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Prüfergebnis, Fristprüfung</a:t>
            </a:r>
            <a:endParaRPr lang="en-US" sz="613" dirty="0">
              <a:solidFill>
                <a:srgbClr val="4E7F12"/>
              </a:solidFill>
            </a:endParaRPr>
          </a:p>
          <a:p>
            <a:r>
              <a:rPr lang="en-US" sz="613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Anträge, Fristen</a:t>
            </a:r>
            <a:endParaRPr lang="en-US" sz="613" dirty="0"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FF22DE68-B5B8-1D7B-AA6A-FEEA995A0740}"/>
              </a:ext>
            </a:extLst>
          </p:cNvPr>
          <p:cNvSpPr/>
          <p:nvPr/>
        </p:nvSpPr>
        <p:spPr>
          <a:xfrm>
            <a:off x="6935220" y="1726551"/>
            <a:ext cx="1121235" cy="327746"/>
          </a:xfrm>
          <a:prstGeom prst="roundRect">
            <a:avLst>
              <a:gd name="adj" fmla="val 13158"/>
            </a:avLst>
          </a:prstGeom>
          <a:solidFill>
            <a:srgbClr val="EDF5DC"/>
          </a:solidFill>
          <a:ln w="12700">
            <a:solidFill>
              <a:srgbClr val="80BA24"/>
            </a:solidFill>
            <a:prstDash val="solid"/>
          </a:ln>
        </p:spPr>
        <p:txBody>
          <a:bodyPr/>
          <a:lstStyle/>
          <a:p>
            <a:endParaRPr lang="de-DE" sz="1698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DBAB875D-85CC-B29F-515D-040DFA33B055}"/>
              </a:ext>
            </a:extLst>
          </p:cNvPr>
          <p:cNvSpPr txBox="1"/>
          <p:nvPr/>
        </p:nvSpPr>
        <p:spPr>
          <a:xfrm>
            <a:off x="6935220" y="1726551"/>
            <a:ext cx="1121235" cy="3277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07" b="1">
                <a:solidFill>
                  <a:srgbClr val="4E7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Dekanat / Prüfungsamt</a:t>
            </a:r>
            <a:endParaRPr lang="en-US" sz="707" dirty="0">
              <a:solidFill>
                <a:srgbClr val="4E7F12"/>
              </a:solidFill>
            </a:endParaRPr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277F8764-A335-B977-2792-D979F0AD3CB8}"/>
              </a:ext>
            </a:extLst>
          </p:cNvPr>
          <p:cNvSpPr/>
          <p:nvPr/>
        </p:nvSpPr>
        <p:spPr>
          <a:xfrm flipV="1">
            <a:off x="5255254" y="2412230"/>
            <a:ext cx="1679966" cy="227995"/>
          </a:xfrm>
          <a:prstGeom prst="line">
            <a:avLst/>
          </a:prstGeom>
          <a:noFill/>
          <a:ln w="15875">
            <a:solidFill>
              <a:srgbClr val="80BA24"/>
            </a:solidFill>
            <a:prstDash val="solid"/>
            <a:headEnd type="triangle"/>
          </a:ln>
        </p:spPr>
        <p:txBody>
          <a:bodyPr/>
          <a:lstStyle/>
          <a:p>
            <a:endParaRPr lang="de-DE" sz="1698"/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D0D74C1C-2C87-4BE1-2971-2F3016AA2445}"/>
              </a:ext>
            </a:extLst>
          </p:cNvPr>
          <p:cNvSpPr/>
          <p:nvPr/>
        </p:nvSpPr>
        <p:spPr>
          <a:xfrm flipV="1">
            <a:off x="5255254" y="2489854"/>
            <a:ext cx="1679966" cy="227995"/>
          </a:xfrm>
          <a:prstGeom prst="line">
            <a:avLst/>
          </a:prstGeom>
          <a:noFill/>
          <a:ln w="15875">
            <a:solidFill>
              <a:srgbClr val="4A7FB5"/>
            </a:solidFill>
            <a:prstDash val="solid"/>
            <a:tailEnd type="triangle"/>
          </a:ln>
        </p:spPr>
        <p:txBody>
          <a:bodyPr/>
          <a:lstStyle/>
          <a:p>
            <a:endParaRPr lang="de-DE" sz="1698"/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0B11B70C-EA51-974D-A3D6-0BAB99D27710}"/>
              </a:ext>
            </a:extLst>
          </p:cNvPr>
          <p:cNvSpPr txBox="1"/>
          <p:nvPr/>
        </p:nvSpPr>
        <p:spPr>
          <a:xfrm>
            <a:off x="5638117" y="2401166"/>
            <a:ext cx="914238" cy="327746"/>
          </a:xfrm>
          <a:prstGeom prst="rect">
            <a:avLst/>
          </a:prstGeom>
          <a:solidFill>
            <a:srgbClr val="FFFFFF"/>
          </a:solidFill>
          <a:ln w="6350">
            <a:solidFill>
              <a:srgbClr val="C9D1D6"/>
            </a:solidFill>
          </a:ln>
        </p:spPr>
        <p:txBody>
          <a:bodyPr wrap="square" lIns="23958" tIns="23958" rIns="23958" bIns="23958" rtlCol="0" anchor="ctr"/>
          <a:lstStyle/>
          <a:p>
            <a:r>
              <a:rPr lang="en-US" sz="613" dirty="0">
                <a:solidFill>
                  <a:srgbClr val="4E7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Entscheidung</a:t>
            </a:r>
            <a:endParaRPr lang="en-US" sz="613" dirty="0">
              <a:solidFill>
                <a:srgbClr val="4E7F12"/>
              </a:solidFill>
            </a:endParaRPr>
          </a:p>
          <a:p>
            <a:r>
              <a:rPr lang="en-US" sz="613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Entscheidungsvorlage</a:t>
            </a:r>
            <a:endParaRPr lang="en-US" sz="613" dirty="0"/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71816060-FF9E-B0E9-A856-166EA8E6C98D}"/>
              </a:ext>
            </a:extLst>
          </p:cNvPr>
          <p:cNvSpPr/>
          <p:nvPr/>
        </p:nvSpPr>
        <p:spPr>
          <a:xfrm>
            <a:off x="6935220" y="2287169"/>
            <a:ext cx="1121235" cy="327746"/>
          </a:xfrm>
          <a:prstGeom prst="roundRect">
            <a:avLst>
              <a:gd name="adj" fmla="val 13158"/>
            </a:avLst>
          </a:prstGeom>
          <a:solidFill>
            <a:srgbClr val="EDF5DC"/>
          </a:solidFill>
          <a:ln w="12700">
            <a:solidFill>
              <a:srgbClr val="80BA24"/>
            </a:solidFill>
            <a:prstDash val="solid"/>
          </a:ln>
        </p:spPr>
        <p:txBody>
          <a:bodyPr/>
          <a:lstStyle/>
          <a:p>
            <a:endParaRPr lang="de-DE" sz="1698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D578275D-FBF0-2A7B-7433-E1A5603EE6C1}"/>
              </a:ext>
            </a:extLst>
          </p:cNvPr>
          <p:cNvSpPr txBox="1"/>
          <p:nvPr/>
        </p:nvSpPr>
        <p:spPr>
          <a:xfrm>
            <a:off x="6935220" y="2287169"/>
            <a:ext cx="1121235" cy="3277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07" b="1">
                <a:solidFill>
                  <a:srgbClr val="4E7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Prüfungsausschuss</a:t>
            </a:r>
            <a:endParaRPr lang="en-US" sz="707" dirty="0">
              <a:solidFill>
                <a:srgbClr val="4E7F12"/>
              </a:solidFill>
            </a:endParaRPr>
          </a:p>
        </p:txBody>
      </p:sp>
      <p:sp>
        <p:nvSpPr>
          <p:cNvPr id="50" name="Shape 48">
            <a:extLst>
              <a:ext uri="{FF2B5EF4-FFF2-40B4-BE49-F238E27FC236}">
                <a16:creationId xmlns:a16="http://schemas.microsoft.com/office/drawing/2014/main" id="{76CC6E11-2702-F179-FEA6-A632F15168BF}"/>
              </a:ext>
            </a:extLst>
          </p:cNvPr>
          <p:cNvSpPr/>
          <p:nvPr/>
        </p:nvSpPr>
        <p:spPr>
          <a:xfrm>
            <a:off x="5258567" y="2811170"/>
            <a:ext cx="1676653" cy="161677"/>
          </a:xfrm>
          <a:prstGeom prst="line">
            <a:avLst/>
          </a:prstGeom>
          <a:noFill/>
          <a:ln w="15875">
            <a:solidFill>
              <a:srgbClr val="80BA24"/>
            </a:solidFill>
            <a:prstDash val="solid"/>
            <a:headEnd type="triangle"/>
          </a:ln>
        </p:spPr>
        <p:txBody>
          <a:bodyPr/>
          <a:lstStyle/>
          <a:p>
            <a:endParaRPr lang="de-DE" sz="1698"/>
          </a:p>
        </p:txBody>
      </p:sp>
      <p:sp>
        <p:nvSpPr>
          <p:cNvPr id="51" name="Shape 49">
            <a:extLst>
              <a:ext uri="{FF2B5EF4-FFF2-40B4-BE49-F238E27FC236}">
                <a16:creationId xmlns:a16="http://schemas.microsoft.com/office/drawing/2014/main" id="{A649A13D-D351-7074-BDF6-CF354D6146A0}"/>
              </a:ext>
            </a:extLst>
          </p:cNvPr>
          <p:cNvSpPr/>
          <p:nvPr/>
        </p:nvSpPr>
        <p:spPr>
          <a:xfrm>
            <a:off x="5258567" y="2888794"/>
            <a:ext cx="1676653" cy="161677"/>
          </a:xfrm>
          <a:prstGeom prst="line">
            <a:avLst/>
          </a:prstGeom>
          <a:noFill/>
          <a:ln w="15875">
            <a:solidFill>
              <a:srgbClr val="4A7FB5"/>
            </a:solidFill>
            <a:prstDash val="solid"/>
            <a:tailEnd type="triangle"/>
          </a:ln>
        </p:spPr>
        <p:txBody>
          <a:bodyPr/>
          <a:lstStyle/>
          <a:p>
            <a:endParaRPr lang="de-DE" sz="1698"/>
          </a:p>
        </p:txBody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A75B0659-65C0-84CD-AE60-E6AFB2D8BD71}"/>
              </a:ext>
            </a:extLst>
          </p:cNvPr>
          <p:cNvSpPr txBox="1"/>
          <p:nvPr/>
        </p:nvSpPr>
        <p:spPr>
          <a:xfrm>
            <a:off x="5712223" y="2766948"/>
            <a:ext cx="769340" cy="327746"/>
          </a:xfrm>
          <a:prstGeom prst="rect">
            <a:avLst/>
          </a:prstGeom>
          <a:solidFill>
            <a:srgbClr val="FFFFFF"/>
          </a:solidFill>
          <a:ln w="6350">
            <a:solidFill>
              <a:srgbClr val="C9D1D6"/>
            </a:solidFill>
          </a:ln>
        </p:spPr>
        <p:txBody>
          <a:bodyPr wrap="square" lIns="23958" tIns="23958" rIns="23958" bIns="23958" rtlCol="0" anchor="ctr"/>
          <a:lstStyle/>
          <a:p>
            <a:r>
              <a:rPr lang="en-US" sz="613" dirty="0">
                <a:solidFill>
                  <a:srgbClr val="4E7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Identität, Rolle</a:t>
            </a:r>
            <a:endParaRPr lang="en-US" sz="613" dirty="0">
              <a:solidFill>
                <a:srgbClr val="4E7F12"/>
              </a:solidFill>
            </a:endParaRPr>
          </a:p>
          <a:p>
            <a:r>
              <a:rPr lang="en-US" sz="613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Anmeldeanfrage</a:t>
            </a:r>
            <a:endParaRPr lang="en-US" sz="613" dirty="0"/>
          </a:p>
        </p:txBody>
      </p:sp>
      <p:sp>
        <p:nvSpPr>
          <p:cNvPr id="53" name="Shape 51">
            <a:extLst>
              <a:ext uri="{FF2B5EF4-FFF2-40B4-BE49-F238E27FC236}">
                <a16:creationId xmlns:a16="http://schemas.microsoft.com/office/drawing/2014/main" id="{2562EEDB-28C1-C3D9-F284-BEAF17997D51}"/>
              </a:ext>
            </a:extLst>
          </p:cNvPr>
          <p:cNvSpPr/>
          <p:nvPr/>
        </p:nvSpPr>
        <p:spPr>
          <a:xfrm>
            <a:off x="6935220" y="2847786"/>
            <a:ext cx="1121235" cy="327746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9AA9AE"/>
            </a:solidFill>
            <a:prstDash val="dash"/>
          </a:ln>
        </p:spPr>
        <p:txBody>
          <a:bodyPr/>
          <a:lstStyle/>
          <a:p>
            <a:endParaRPr lang="de-DE" sz="1698"/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8B9EF7CE-8BAD-746C-C804-892697B2CB76}"/>
              </a:ext>
            </a:extLst>
          </p:cNvPr>
          <p:cNvSpPr txBox="1"/>
          <p:nvPr/>
        </p:nvSpPr>
        <p:spPr>
          <a:xfrm>
            <a:off x="6935220" y="2847786"/>
            <a:ext cx="1121235" cy="3277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07" b="1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THM-Login</a:t>
            </a:r>
            <a:endParaRPr lang="en-US" sz="707" dirty="0">
              <a:solidFill>
                <a:srgbClr val="5B6A70"/>
              </a:solidFill>
            </a:endParaRPr>
          </a:p>
        </p:txBody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AECBA8D6-36E1-84CD-3A72-3D862D8C01EB}"/>
              </a:ext>
            </a:extLst>
          </p:cNvPr>
          <p:cNvSpPr/>
          <p:nvPr/>
        </p:nvSpPr>
        <p:spPr>
          <a:xfrm>
            <a:off x="5224928" y="3049136"/>
            <a:ext cx="1710291" cy="561953"/>
          </a:xfrm>
          <a:prstGeom prst="line">
            <a:avLst/>
          </a:prstGeom>
          <a:noFill/>
          <a:ln w="15875">
            <a:solidFill>
              <a:srgbClr val="4A7FB5"/>
            </a:solidFill>
            <a:prstDash val="solid"/>
            <a:tailEnd type="triangle"/>
          </a:ln>
        </p:spPr>
        <p:txBody>
          <a:bodyPr/>
          <a:lstStyle/>
          <a:p>
            <a:endParaRPr lang="de-DE" sz="1698"/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882E9C2B-5830-C5B0-1F5F-C06259C07637}"/>
              </a:ext>
            </a:extLst>
          </p:cNvPr>
          <p:cNvSpPr txBox="1"/>
          <p:nvPr/>
        </p:nvSpPr>
        <p:spPr>
          <a:xfrm>
            <a:off x="5659179" y="3196426"/>
            <a:ext cx="841789" cy="189748"/>
          </a:xfrm>
          <a:prstGeom prst="rect">
            <a:avLst/>
          </a:prstGeom>
          <a:solidFill>
            <a:srgbClr val="FFFFFF"/>
          </a:solidFill>
          <a:ln w="6350">
            <a:solidFill>
              <a:srgbClr val="C9D1D6"/>
            </a:solidFill>
          </a:ln>
        </p:spPr>
        <p:txBody>
          <a:bodyPr wrap="square" lIns="23958" tIns="23958" rIns="23958" bIns="23958" rtlCol="0" anchor="ctr"/>
          <a:lstStyle/>
          <a:p>
            <a:r>
              <a:rPr lang="en-US" sz="613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Benachrichtigungen</a:t>
            </a:r>
            <a:endParaRPr lang="en-US" sz="613" dirty="0"/>
          </a:p>
        </p:txBody>
      </p:sp>
      <p:sp>
        <p:nvSpPr>
          <p:cNvPr id="57" name="Shape 55">
            <a:extLst>
              <a:ext uri="{FF2B5EF4-FFF2-40B4-BE49-F238E27FC236}">
                <a16:creationId xmlns:a16="http://schemas.microsoft.com/office/drawing/2014/main" id="{861E1211-5107-9477-D707-F12D7ED3AF55}"/>
              </a:ext>
            </a:extLst>
          </p:cNvPr>
          <p:cNvSpPr/>
          <p:nvPr/>
        </p:nvSpPr>
        <p:spPr>
          <a:xfrm>
            <a:off x="6935220" y="3408404"/>
            <a:ext cx="1121235" cy="327746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9AA9AE"/>
            </a:solidFill>
            <a:prstDash val="dash"/>
          </a:ln>
        </p:spPr>
        <p:txBody>
          <a:bodyPr/>
          <a:lstStyle/>
          <a:p>
            <a:endParaRPr lang="de-DE" sz="1698"/>
          </a:p>
        </p:txBody>
      </p:sp>
      <p:sp>
        <p:nvSpPr>
          <p:cNvPr id="58" name="Text 56">
            <a:extLst>
              <a:ext uri="{FF2B5EF4-FFF2-40B4-BE49-F238E27FC236}">
                <a16:creationId xmlns:a16="http://schemas.microsoft.com/office/drawing/2014/main" id="{05DAD263-F002-B0F7-D204-FBB38B4CD89F}"/>
              </a:ext>
            </a:extLst>
          </p:cNvPr>
          <p:cNvSpPr txBox="1"/>
          <p:nvPr/>
        </p:nvSpPr>
        <p:spPr>
          <a:xfrm>
            <a:off x="6935220" y="3408404"/>
            <a:ext cx="1121235" cy="3277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07" b="1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E-Mail-Dienst</a:t>
            </a:r>
            <a:endParaRPr lang="en-US" sz="707" dirty="0">
              <a:solidFill>
                <a:srgbClr val="5B6A70"/>
              </a:solidFill>
            </a:endParaRPr>
          </a:p>
        </p:txBody>
      </p:sp>
      <p:sp>
        <p:nvSpPr>
          <p:cNvPr id="59" name="Shape 57">
            <a:extLst>
              <a:ext uri="{FF2B5EF4-FFF2-40B4-BE49-F238E27FC236}">
                <a16:creationId xmlns:a16="http://schemas.microsoft.com/office/drawing/2014/main" id="{D20EB4A1-EF1E-0257-DC0B-F6090F4DBCB3}"/>
              </a:ext>
            </a:extLst>
          </p:cNvPr>
          <p:cNvSpPr/>
          <p:nvPr/>
        </p:nvSpPr>
        <p:spPr>
          <a:xfrm flipV="1">
            <a:off x="3399016" y="3250162"/>
            <a:ext cx="548537" cy="451488"/>
          </a:xfrm>
          <a:prstGeom prst="line">
            <a:avLst/>
          </a:prstGeom>
          <a:noFill/>
          <a:ln w="15875">
            <a:solidFill>
              <a:srgbClr val="80BA24"/>
            </a:solidFill>
            <a:prstDash val="solid"/>
            <a:tailEnd type="triangle"/>
          </a:ln>
        </p:spPr>
        <p:txBody>
          <a:bodyPr/>
          <a:lstStyle/>
          <a:p>
            <a:endParaRPr lang="de-DE" sz="1698"/>
          </a:p>
        </p:txBody>
      </p:sp>
      <p:sp>
        <p:nvSpPr>
          <p:cNvPr id="60" name="Shape 58">
            <a:extLst>
              <a:ext uri="{FF2B5EF4-FFF2-40B4-BE49-F238E27FC236}">
                <a16:creationId xmlns:a16="http://schemas.microsoft.com/office/drawing/2014/main" id="{07FE35CE-EFE8-FFBE-6F2B-73E7DEAD1E15}"/>
              </a:ext>
            </a:extLst>
          </p:cNvPr>
          <p:cNvSpPr/>
          <p:nvPr/>
        </p:nvSpPr>
        <p:spPr>
          <a:xfrm>
            <a:off x="2838398" y="3701650"/>
            <a:ext cx="1121235" cy="327746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80BA24"/>
            </a:solidFill>
            <a:prstDash val="sysDot"/>
          </a:ln>
        </p:spPr>
        <p:txBody>
          <a:bodyPr/>
          <a:lstStyle/>
          <a:p>
            <a:endParaRPr lang="de-DE" sz="1698"/>
          </a:p>
        </p:txBody>
      </p:sp>
      <p:sp>
        <p:nvSpPr>
          <p:cNvPr id="61" name="Text 59">
            <a:extLst>
              <a:ext uri="{FF2B5EF4-FFF2-40B4-BE49-F238E27FC236}">
                <a16:creationId xmlns:a16="http://schemas.microsoft.com/office/drawing/2014/main" id="{458E8C09-FD1D-0FEC-3FD9-5E66101223EE}"/>
              </a:ext>
            </a:extLst>
          </p:cNvPr>
          <p:cNvSpPr txBox="1"/>
          <p:nvPr/>
        </p:nvSpPr>
        <p:spPr>
          <a:xfrm>
            <a:off x="2838398" y="3701650"/>
            <a:ext cx="1121235" cy="3277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66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</a:t>
            </a:r>
            <a:endParaRPr lang="en-US" sz="566" dirty="0">
              <a:solidFill>
                <a:srgbClr val="5B6A70"/>
              </a:solidFill>
            </a:endParaRPr>
          </a:p>
          <a:p>
            <a:pPr algn="ctr"/>
            <a:r>
              <a:rPr lang="en-US" sz="707" b="1" dirty="0">
                <a:solidFill>
                  <a:srgbClr val="4E7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Prüfungsordnungen</a:t>
            </a:r>
            <a:endParaRPr lang="en-US" sz="566" dirty="0">
              <a:solidFill>
                <a:srgbClr val="4E7F12"/>
              </a:solidFill>
            </a:endParaRPr>
          </a:p>
        </p:txBody>
      </p:sp>
      <p:sp>
        <p:nvSpPr>
          <p:cNvPr id="62" name="Shape 60">
            <a:extLst>
              <a:ext uri="{FF2B5EF4-FFF2-40B4-BE49-F238E27FC236}">
                <a16:creationId xmlns:a16="http://schemas.microsoft.com/office/drawing/2014/main" id="{D79A01C7-88F2-5587-D4B6-8D4C9932506B}"/>
              </a:ext>
            </a:extLst>
          </p:cNvPr>
          <p:cNvSpPr/>
          <p:nvPr/>
        </p:nvSpPr>
        <p:spPr>
          <a:xfrm>
            <a:off x="4602919" y="3515907"/>
            <a:ext cx="20831" cy="185744"/>
          </a:xfrm>
          <a:prstGeom prst="line">
            <a:avLst/>
          </a:prstGeom>
          <a:noFill/>
          <a:ln w="15875">
            <a:solidFill>
              <a:srgbClr val="80BA24"/>
            </a:solidFill>
            <a:prstDash val="solid"/>
            <a:headEnd type="triangle"/>
          </a:ln>
        </p:spPr>
        <p:txBody>
          <a:bodyPr/>
          <a:lstStyle/>
          <a:p>
            <a:endParaRPr lang="de-DE" sz="1698"/>
          </a:p>
        </p:txBody>
      </p:sp>
      <p:sp>
        <p:nvSpPr>
          <p:cNvPr id="63" name="Shape 61">
            <a:extLst>
              <a:ext uri="{FF2B5EF4-FFF2-40B4-BE49-F238E27FC236}">
                <a16:creationId xmlns:a16="http://schemas.microsoft.com/office/drawing/2014/main" id="{BFD9C253-3E56-2742-FB17-59725351DCB5}"/>
              </a:ext>
            </a:extLst>
          </p:cNvPr>
          <p:cNvSpPr/>
          <p:nvPr/>
        </p:nvSpPr>
        <p:spPr>
          <a:xfrm>
            <a:off x="4020008" y="3701650"/>
            <a:ext cx="1207484" cy="327746"/>
          </a:xfrm>
          <a:prstGeom prst="roundRect">
            <a:avLst>
              <a:gd name="adj" fmla="val 13158"/>
            </a:avLst>
          </a:prstGeom>
          <a:solidFill>
            <a:srgbClr val="DCE8F5"/>
          </a:solidFill>
          <a:ln w="12700">
            <a:solidFill>
              <a:srgbClr val="4A7FB5"/>
            </a:solidFill>
            <a:prstDash val="solid"/>
          </a:ln>
        </p:spPr>
        <p:txBody>
          <a:bodyPr/>
          <a:lstStyle/>
          <a:p>
            <a:endParaRPr lang="de-DE" sz="1698"/>
          </a:p>
        </p:txBody>
      </p:sp>
      <p:sp>
        <p:nvSpPr>
          <p:cNvPr id="64" name="Text 62">
            <a:extLst>
              <a:ext uri="{FF2B5EF4-FFF2-40B4-BE49-F238E27FC236}">
                <a16:creationId xmlns:a16="http://schemas.microsoft.com/office/drawing/2014/main" id="{6EDA69C6-093E-81D2-4553-0B412294CD74}"/>
              </a:ext>
            </a:extLst>
          </p:cNvPr>
          <p:cNvSpPr txBox="1"/>
          <p:nvPr/>
        </p:nvSpPr>
        <p:spPr>
          <a:xfrm>
            <a:off x="4020008" y="3701650"/>
            <a:ext cx="1207484" cy="3277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66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Prozesse</a:t>
            </a:r>
            <a:endParaRPr lang="en-US" sz="566" dirty="0">
              <a:solidFill>
                <a:srgbClr val="5B6A70"/>
              </a:solidFill>
            </a:endParaRPr>
          </a:p>
          <a:p>
            <a:pPr algn="ctr"/>
            <a:r>
              <a:rPr lang="en-US" sz="707" b="1" dirty="0">
                <a:solidFill>
                  <a:srgbClr val="1F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Anmeldung, Verlängerung</a:t>
            </a:r>
            <a:endParaRPr lang="en-US" sz="566" dirty="0"/>
          </a:p>
        </p:txBody>
      </p:sp>
      <p:sp>
        <p:nvSpPr>
          <p:cNvPr id="65" name="Shape 63">
            <a:extLst>
              <a:ext uri="{FF2B5EF4-FFF2-40B4-BE49-F238E27FC236}">
                <a16:creationId xmlns:a16="http://schemas.microsoft.com/office/drawing/2014/main" id="{AA14E6FA-DF81-DDDD-05F5-2CE4C56ED7F9}"/>
              </a:ext>
            </a:extLst>
          </p:cNvPr>
          <p:cNvSpPr/>
          <p:nvPr/>
        </p:nvSpPr>
        <p:spPr>
          <a:xfrm>
            <a:off x="5104014" y="3236389"/>
            <a:ext cx="593534" cy="465261"/>
          </a:xfrm>
          <a:prstGeom prst="line">
            <a:avLst/>
          </a:prstGeom>
          <a:noFill/>
          <a:ln w="15875">
            <a:solidFill>
              <a:srgbClr val="80BA24"/>
            </a:solidFill>
            <a:prstDash val="solid"/>
            <a:headEnd type="triangle"/>
          </a:ln>
        </p:spPr>
        <p:txBody>
          <a:bodyPr/>
          <a:lstStyle/>
          <a:p>
            <a:endParaRPr lang="de-DE" sz="1698"/>
          </a:p>
        </p:txBody>
      </p:sp>
      <p:sp>
        <p:nvSpPr>
          <p:cNvPr id="66" name="Shape 64">
            <a:extLst>
              <a:ext uri="{FF2B5EF4-FFF2-40B4-BE49-F238E27FC236}">
                <a16:creationId xmlns:a16="http://schemas.microsoft.com/office/drawing/2014/main" id="{E9C0C3D0-EACA-1382-9FFA-84F373E2C51D}"/>
              </a:ext>
            </a:extLst>
          </p:cNvPr>
          <p:cNvSpPr/>
          <p:nvPr/>
        </p:nvSpPr>
        <p:spPr>
          <a:xfrm>
            <a:off x="5287866" y="3701650"/>
            <a:ext cx="819364" cy="327746"/>
          </a:xfrm>
          <a:prstGeom prst="roundRect">
            <a:avLst>
              <a:gd name="adj" fmla="val 13158"/>
            </a:avLst>
          </a:prstGeom>
          <a:solidFill>
            <a:srgbClr val="FFF7E0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de-DE" sz="1698"/>
          </a:p>
        </p:txBody>
      </p:sp>
      <p:sp>
        <p:nvSpPr>
          <p:cNvPr id="67" name="Text 65">
            <a:extLst>
              <a:ext uri="{FF2B5EF4-FFF2-40B4-BE49-F238E27FC236}">
                <a16:creationId xmlns:a16="http://schemas.microsoft.com/office/drawing/2014/main" id="{B2734D75-D81C-7D3A-F7D1-F64ABD5D2A1B}"/>
              </a:ext>
            </a:extLst>
          </p:cNvPr>
          <p:cNvSpPr txBox="1"/>
          <p:nvPr/>
        </p:nvSpPr>
        <p:spPr>
          <a:xfrm>
            <a:off x="5287866" y="3701650"/>
            <a:ext cx="819364" cy="3277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66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Ereignis</a:t>
            </a:r>
            <a:endParaRPr lang="en-US" sz="566" dirty="0">
              <a:solidFill>
                <a:srgbClr val="5B6A70"/>
              </a:solidFill>
            </a:endParaRPr>
          </a:p>
          <a:p>
            <a:pPr algn="ctr"/>
            <a:r>
              <a:rPr lang="en-US" sz="707" b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Fristablauf</a:t>
            </a:r>
            <a:endParaRPr lang="en-US" sz="566" dirty="0"/>
          </a:p>
        </p:txBody>
      </p:sp>
      <p:sp>
        <p:nvSpPr>
          <p:cNvPr id="68" name="Shape 66">
            <a:extLst>
              <a:ext uri="{FF2B5EF4-FFF2-40B4-BE49-F238E27FC236}">
                <a16:creationId xmlns:a16="http://schemas.microsoft.com/office/drawing/2014/main" id="{3BF0ADF2-4B9D-1B76-AB68-11B2DCC9C312}"/>
              </a:ext>
            </a:extLst>
          </p:cNvPr>
          <p:cNvSpPr/>
          <p:nvPr/>
        </p:nvSpPr>
        <p:spPr>
          <a:xfrm>
            <a:off x="3882010" y="2140546"/>
            <a:ext cx="1276483" cy="127648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 sz="1698"/>
          </a:p>
        </p:txBody>
      </p:sp>
      <p:sp>
        <p:nvSpPr>
          <p:cNvPr id="69" name="Shape 67">
            <a:extLst>
              <a:ext uri="{FF2B5EF4-FFF2-40B4-BE49-F238E27FC236}">
                <a16:creationId xmlns:a16="http://schemas.microsoft.com/office/drawing/2014/main" id="{5638E580-D81F-875C-4B0E-CA0323538FB0}"/>
              </a:ext>
            </a:extLst>
          </p:cNvPr>
          <p:cNvSpPr/>
          <p:nvPr/>
        </p:nvSpPr>
        <p:spPr>
          <a:xfrm>
            <a:off x="3778511" y="2037047"/>
            <a:ext cx="1483481" cy="1483481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0BA24"/>
            </a:solidFill>
            <a:prstDash val="dash"/>
          </a:ln>
        </p:spPr>
        <p:txBody>
          <a:bodyPr/>
          <a:lstStyle/>
          <a:p>
            <a:endParaRPr lang="de-DE" sz="1698"/>
          </a:p>
        </p:txBody>
      </p:sp>
      <p:sp>
        <p:nvSpPr>
          <p:cNvPr id="70" name="Shape 68">
            <a:extLst>
              <a:ext uri="{FF2B5EF4-FFF2-40B4-BE49-F238E27FC236}">
                <a16:creationId xmlns:a16="http://schemas.microsoft.com/office/drawing/2014/main" id="{4A47D440-C7ED-F141-B560-EF2E0704DD6A}"/>
              </a:ext>
            </a:extLst>
          </p:cNvPr>
          <p:cNvSpPr/>
          <p:nvPr/>
        </p:nvSpPr>
        <p:spPr>
          <a:xfrm>
            <a:off x="4425377" y="2382042"/>
            <a:ext cx="189748" cy="189748"/>
          </a:xfrm>
          <a:prstGeom prst="ellipse">
            <a:avLst/>
          </a:prstGeom>
          <a:solidFill>
            <a:srgbClr val="4A5C66"/>
          </a:solidFill>
          <a:ln w="12700">
            <a:solidFill>
              <a:srgbClr val="80BA24"/>
            </a:solidFill>
            <a:prstDash val="solid"/>
          </a:ln>
        </p:spPr>
        <p:txBody>
          <a:bodyPr/>
          <a:lstStyle/>
          <a:p>
            <a:endParaRPr lang="de-DE" sz="1698"/>
          </a:p>
        </p:txBody>
      </p:sp>
      <p:sp>
        <p:nvSpPr>
          <p:cNvPr id="71" name="Text 69">
            <a:extLst>
              <a:ext uri="{FF2B5EF4-FFF2-40B4-BE49-F238E27FC236}">
                <a16:creationId xmlns:a16="http://schemas.microsoft.com/office/drawing/2014/main" id="{39615953-8811-DDE8-7BEA-1C8300AAF5BA}"/>
              </a:ext>
            </a:extLst>
          </p:cNvPr>
          <p:cNvSpPr txBox="1"/>
          <p:nvPr/>
        </p:nvSpPr>
        <p:spPr>
          <a:xfrm>
            <a:off x="4425377" y="2382042"/>
            <a:ext cx="189748" cy="18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2" dirty="0"/>
          </a:p>
        </p:txBody>
      </p:sp>
      <p:sp>
        <p:nvSpPr>
          <p:cNvPr id="72" name="Text 70">
            <a:extLst>
              <a:ext uri="{FF2B5EF4-FFF2-40B4-BE49-F238E27FC236}">
                <a16:creationId xmlns:a16="http://schemas.microsoft.com/office/drawing/2014/main" id="{54AC84F1-C804-2437-FA9E-12148EEF9752}"/>
              </a:ext>
            </a:extLst>
          </p:cNvPr>
          <p:cNvSpPr txBox="1"/>
          <p:nvPr/>
        </p:nvSpPr>
        <p:spPr>
          <a:xfrm>
            <a:off x="3882010" y="2623540"/>
            <a:ext cx="1276483" cy="275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20" b="1" dirty="0">
                <a:solidFill>
                  <a:srgbClr val="4E7F12"/>
                </a:solidFill>
                <a:latin typeface="Calibri" panose="020F0502020204030204" pitchFamily="34" charset="0"/>
                <a:ea typeface="Cambria" pitchFamily="34" charset="-122"/>
                <a:cs typeface="Cambria" pitchFamily="34" charset="-120"/>
              </a:rPr>
              <a:t>ThesisFlow</a:t>
            </a:r>
            <a:endParaRPr lang="en-US" sz="1320" dirty="0">
              <a:solidFill>
                <a:srgbClr val="4E7F12"/>
              </a:solidFill>
              <a:latin typeface="Calibri" panose="020F0502020204030204" pitchFamily="34" charset="0"/>
            </a:endParaRPr>
          </a:p>
        </p:txBody>
      </p:sp>
      <p:sp>
        <p:nvSpPr>
          <p:cNvPr id="73" name="Text 71">
            <a:extLst>
              <a:ext uri="{FF2B5EF4-FFF2-40B4-BE49-F238E27FC236}">
                <a16:creationId xmlns:a16="http://schemas.microsoft.com/office/drawing/2014/main" id="{D69529A0-6948-2175-B4FD-0001FEECE2CD}"/>
              </a:ext>
            </a:extLst>
          </p:cNvPr>
          <p:cNvSpPr txBox="1"/>
          <p:nvPr/>
        </p:nvSpPr>
        <p:spPr>
          <a:xfrm>
            <a:off x="3882010" y="2899536"/>
            <a:ext cx="1276483" cy="172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5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755" dirty="0">
              <a:solidFill>
                <a:srgbClr val="5B6A70"/>
              </a:solidFill>
            </a:endParaRPr>
          </a:p>
        </p:txBody>
      </p:sp>
      <p:sp>
        <p:nvSpPr>
          <p:cNvPr id="74" name="Shape 72">
            <a:extLst>
              <a:ext uri="{FF2B5EF4-FFF2-40B4-BE49-F238E27FC236}">
                <a16:creationId xmlns:a16="http://schemas.microsoft.com/office/drawing/2014/main" id="{4C2F216B-886F-D4B5-A5B3-7258AC29C035}"/>
              </a:ext>
            </a:extLst>
          </p:cNvPr>
          <p:cNvSpPr/>
          <p:nvPr/>
        </p:nvSpPr>
        <p:spPr>
          <a:xfrm>
            <a:off x="3899259" y="1830050"/>
            <a:ext cx="1241984" cy="215622"/>
          </a:xfrm>
          <a:prstGeom prst="roundRect">
            <a:avLst>
              <a:gd name="adj" fmla="val 20000"/>
            </a:avLst>
          </a:prstGeom>
          <a:solidFill>
            <a:srgbClr val="ECECEC"/>
          </a:solidFill>
          <a:ln w="12700">
            <a:solidFill>
              <a:srgbClr val="9AA9AE"/>
            </a:solidFill>
            <a:prstDash val="sysDot"/>
          </a:ln>
        </p:spPr>
        <p:txBody>
          <a:bodyPr/>
          <a:lstStyle/>
          <a:p>
            <a:endParaRPr lang="de-DE" sz="1698"/>
          </a:p>
        </p:txBody>
      </p:sp>
      <p:sp>
        <p:nvSpPr>
          <p:cNvPr id="75" name="Text 73">
            <a:extLst>
              <a:ext uri="{FF2B5EF4-FFF2-40B4-BE49-F238E27FC236}">
                <a16:creationId xmlns:a16="http://schemas.microsoft.com/office/drawing/2014/main" id="{57DD5244-7B97-7CCF-FEE4-B916981F7E3C}"/>
              </a:ext>
            </a:extLst>
          </p:cNvPr>
          <p:cNvSpPr txBox="1"/>
          <p:nvPr/>
        </p:nvSpPr>
        <p:spPr>
          <a:xfrm>
            <a:off x="3899259" y="1830050"/>
            <a:ext cx="1241984" cy="215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07" i="1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Abgabe der Arbeit ?</a:t>
            </a:r>
            <a:endParaRPr lang="en-US" sz="707" dirty="0">
              <a:solidFill>
                <a:srgbClr val="5B6A70"/>
              </a:solidFill>
            </a:endParaRPr>
          </a:p>
        </p:txBody>
      </p:sp>
      <p:sp>
        <p:nvSpPr>
          <p:cNvPr id="76" name="Shape 76">
            <a:extLst>
              <a:ext uri="{FF2B5EF4-FFF2-40B4-BE49-F238E27FC236}">
                <a16:creationId xmlns:a16="http://schemas.microsoft.com/office/drawing/2014/main" id="{79CD146C-0BD0-A636-483C-39FB458B8167}"/>
              </a:ext>
            </a:extLst>
          </p:cNvPr>
          <p:cNvSpPr/>
          <p:nvPr/>
        </p:nvSpPr>
        <p:spPr>
          <a:xfrm>
            <a:off x="6202104" y="4046646"/>
            <a:ext cx="1897475" cy="215622"/>
          </a:xfrm>
          <a:prstGeom prst="roundRect">
            <a:avLst>
              <a:gd name="adj" fmla="val 20000"/>
            </a:avLst>
          </a:prstGeom>
          <a:solidFill>
            <a:srgbClr val="ECECEC"/>
          </a:solidFill>
          <a:ln w="12700">
            <a:solidFill>
              <a:srgbClr val="9AA9AE"/>
            </a:solidFill>
            <a:prstDash val="sysDot"/>
          </a:ln>
        </p:spPr>
        <p:txBody>
          <a:bodyPr/>
          <a:lstStyle/>
          <a:p>
            <a:endParaRPr lang="de-DE" sz="1698"/>
          </a:p>
        </p:txBody>
      </p:sp>
      <p:sp>
        <p:nvSpPr>
          <p:cNvPr id="77" name="Text 77">
            <a:extLst>
              <a:ext uri="{FF2B5EF4-FFF2-40B4-BE49-F238E27FC236}">
                <a16:creationId xmlns:a16="http://schemas.microsoft.com/office/drawing/2014/main" id="{9AF4B577-65D1-BB27-C2F9-0B7F7C41263E}"/>
              </a:ext>
            </a:extLst>
          </p:cNvPr>
          <p:cNvSpPr txBox="1"/>
          <p:nvPr/>
        </p:nvSpPr>
        <p:spPr>
          <a:xfrm>
            <a:off x="6202104" y="4046646"/>
            <a:ext cx="1897475" cy="215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07" i="1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Unternehmen der Studierenden ?</a:t>
            </a:r>
            <a:endParaRPr lang="en-US" sz="707" dirty="0">
              <a:solidFill>
                <a:srgbClr val="5B6A70"/>
              </a:solidFill>
            </a:endParaRPr>
          </a:p>
        </p:txBody>
      </p:sp>
      <p:sp>
        <p:nvSpPr>
          <p:cNvPr id="78" name="Shape 78">
            <a:extLst>
              <a:ext uri="{FF2B5EF4-FFF2-40B4-BE49-F238E27FC236}">
                <a16:creationId xmlns:a16="http://schemas.microsoft.com/office/drawing/2014/main" id="{7E198636-47A8-EA0A-1CCD-0CE3FED3667C}"/>
              </a:ext>
            </a:extLst>
          </p:cNvPr>
          <p:cNvSpPr/>
          <p:nvPr/>
        </p:nvSpPr>
        <p:spPr>
          <a:xfrm>
            <a:off x="595927" y="4417516"/>
            <a:ext cx="293246" cy="120748"/>
          </a:xfrm>
          <a:prstGeom prst="roundRect">
            <a:avLst>
              <a:gd name="adj" fmla="val 21429"/>
            </a:avLst>
          </a:prstGeom>
          <a:solidFill>
            <a:srgbClr val="EDF5DC"/>
          </a:solidFill>
          <a:ln w="12700">
            <a:solidFill>
              <a:srgbClr val="80BA24"/>
            </a:solidFill>
            <a:prstDash val="solid"/>
          </a:ln>
        </p:spPr>
        <p:txBody>
          <a:bodyPr/>
          <a:lstStyle/>
          <a:p>
            <a:endParaRPr lang="de-DE" sz="1698"/>
          </a:p>
        </p:txBody>
      </p:sp>
      <p:sp>
        <p:nvSpPr>
          <p:cNvPr id="79" name="Text 79">
            <a:extLst>
              <a:ext uri="{FF2B5EF4-FFF2-40B4-BE49-F238E27FC236}">
                <a16:creationId xmlns:a16="http://schemas.microsoft.com/office/drawing/2014/main" id="{A0531B37-00A3-B317-AACC-2AB6C70BB852}"/>
              </a:ext>
            </a:extLst>
          </p:cNvPr>
          <p:cNvSpPr txBox="1"/>
          <p:nvPr/>
        </p:nvSpPr>
        <p:spPr>
          <a:xfrm>
            <a:off x="958173" y="4391641"/>
            <a:ext cx="1207484" cy="172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60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oder Rolle</a:t>
            </a:r>
            <a:endParaRPr lang="en-US" sz="660" dirty="0">
              <a:solidFill>
                <a:srgbClr val="5B6A70"/>
              </a:solidFill>
            </a:endParaRPr>
          </a:p>
        </p:txBody>
      </p:sp>
      <p:sp>
        <p:nvSpPr>
          <p:cNvPr id="80" name="Shape 80">
            <a:extLst>
              <a:ext uri="{FF2B5EF4-FFF2-40B4-BE49-F238E27FC236}">
                <a16:creationId xmlns:a16="http://schemas.microsoft.com/office/drawing/2014/main" id="{63F6757A-1D83-9E9E-1F1A-E1C83C4FFFAF}"/>
              </a:ext>
            </a:extLst>
          </p:cNvPr>
          <p:cNvSpPr/>
          <p:nvPr/>
        </p:nvSpPr>
        <p:spPr>
          <a:xfrm>
            <a:off x="2191531" y="4417516"/>
            <a:ext cx="293246" cy="120748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9AA9AE"/>
            </a:solidFill>
            <a:prstDash val="dash"/>
          </a:ln>
        </p:spPr>
        <p:txBody>
          <a:bodyPr/>
          <a:lstStyle/>
          <a:p>
            <a:endParaRPr lang="de-DE" sz="1698"/>
          </a:p>
        </p:txBody>
      </p:sp>
      <p:sp>
        <p:nvSpPr>
          <p:cNvPr id="81" name="Text 81">
            <a:extLst>
              <a:ext uri="{FF2B5EF4-FFF2-40B4-BE49-F238E27FC236}">
                <a16:creationId xmlns:a16="http://schemas.microsoft.com/office/drawing/2014/main" id="{B3941317-6C8B-1CE8-0FAA-0B773E392305}"/>
              </a:ext>
            </a:extLst>
          </p:cNvPr>
          <p:cNvSpPr txBox="1"/>
          <p:nvPr/>
        </p:nvSpPr>
        <p:spPr>
          <a:xfrm>
            <a:off x="2553777" y="4391641"/>
            <a:ext cx="1207484" cy="172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60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im Betrieb</a:t>
            </a:r>
            <a:endParaRPr lang="en-US" sz="660" dirty="0">
              <a:solidFill>
                <a:srgbClr val="5B6A70"/>
              </a:solidFill>
            </a:endParaRPr>
          </a:p>
        </p:txBody>
      </p:sp>
      <p:sp>
        <p:nvSpPr>
          <p:cNvPr id="82" name="Shape 82">
            <a:extLst>
              <a:ext uri="{FF2B5EF4-FFF2-40B4-BE49-F238E27FC236}">
                <a16:creationId xmlns:a16="http://schemas.microsoft.com/office/drawing/2014/main" id="{13AA5673-7D5F-D385-16E4-8B25022A8B94}"/>
              </a:ext>
            </a:extLst>
          </p:cNvPr>
          <p:cNvSpPr/>
          <p:nvPr/>
        </p:nvSpPr>
        <p:spPr>
          <a:xfrm>
            <a:off x="3787136" y="4417516"/>
            <a:ext cx="293246" cy="120748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80BA24"/>
            </a:solidFill>
            <a:prstDash val="sysDot"/>
          </a:ln>
        </p:spPr>
        <p:txBody>
          <a:bodyPr/>
          <a:lstStyle/>
          <a:p>
            <a:endParaRPr lang="de-DE" sz="1698"/>
          </a:p>
        </p:txBody>
      </p:sp>
      <p:sp>
        <p:nvSpPr>
          <p:cNvPr id="83" name="Text 83">
            <a:extLst>
              <a:ext uri="{FF2B5EF4-FFF2-40B4-BE49-F238E27FC236}">
                <a16:creationId xmlns:a16="http://schemas.microsoft.com/office/drawing/2014/main" id="{16E52FD3-A317-BAAA-2677-7037B82D77B6}"/>
              </a:ext>
            </a:extLst>
          </p:cNvPr>
          <p:cNvSpPr txBox="1"/>
          <p:nvPr/>
        </p:nvSpPr>
        <p:spPr>
          <a:xfrm>
            <a:off x="4149381" y="4391641"/>
            <a:ext cx="1207484" cy="172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60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</a:t>
            </a:r>
            <a:endParaRPr lang="en-US" sz="660" dirty="0">
              <a:solidFill>
                <a:srgbClr val="5B6A70"/>
              </a:solidFill>
            </a:endParaRPr>
          </a:p>
        </p:txBody>
      </p:sp>
      <p:sp>
        <p:nvSpPr>
          <p:cNvPr id="84" name="Shape 84">
            <a:extLst>
              <a:ext uri="{FF2B5EF4-FFF2-40B4-BE49-F238E27FC236}">
                <a16:creationId xmlns:a16="http://schemas.microsoft.com/office/drawing/2014/main" id="{E30CBA45-CC89-8881-B9FB-27E571C917B1}"/>
              </a:ext>
            </a:extLst>
          </p:cNvPr>
          <p:cNvSpPr/>
          <p:nvPr/>
        </p:nvSpPr>
        <p:spPr>
          <a:xfrm>
            <a:off x="5382740" y="4417516"/>
            <a:ext cx="293246" cy="120748"/>
          </a:xfrm>
          <a:prstGeom prst="roundRect">
            <a:avLst>
              <a:gd name="adj" fmla="val 21429"/>
            </a:avLst>
          </a:prstGeom>
          <a:solidFill>
            <a:srgbClr val="DCE8F5"/>
          </a:solidFill>
          <a:ln w="12700">
            <a:solidFill>
              <a:srgbClr val="4A7FB5"/>
            </a:solidFill>
            <a:prstDash val="solid"/>
          </a:ln>
        </p:spPr>
        <p:txBody>
          <a:bodyPr/>
          <a:lstStyle/>
          <a:p>
            <a:endParaRPr lang="de-DE" sz="1698"/>
          </a:p>
        </p:txBody>
      </p:sp>
      <p:sp>
        <p:nvSpPr>
          <p:cNvPr id="85" name="Text 85">
            <a:extLst>
              <a:ext uri="{FF2B5EF4-FFF2-40B4-BE49-F238E27FC236}">
                <a16:creationId xmlns:a16="http://schemas.microsoft.com/office/drawing/2014/main" id="{C630E788-4D81-9742-5EEF-6577295F09E0}"/>
              </a:ext>
            </a:extLst>
          </p:cNvPr>
          <p:cNvSpPr txBox="1"/>
          <p:nvPr/>
        </p:nvSpPr>
        <p:spPr>
          <a:xfrm>
            <a:off x="5744985" y="4391641"/>
            <a:ext cx="1207484" cy="172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60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Prozess</a:t>
            </a:r>
            <a:endParaRPr lang="en-US" sz="660" dirty="0">
              <a:solidFill>
                <a:srgbClr val="5B6A70"/>
              </a:solidFill>
            </a:endParaRPr>
          </a:p>
        </p:txBody>
      </p:sp>
      <p:sp>
        <p:nvSpPr>
          <p:cNvPr id="86" name="Shape 86">
            <a:extLst>
              <a:ext uri="{FF2B5EF4-FFF2-40B4-BE49-F238E27FC236}">
                <a16:creationId xmlns:a16="http://schemas.microsoft.com/office/drawing/2014/main" id="{E8A2B08E-EBDE-8B99-3AFA-4AC8032C5B44}"/>
              </a:ext>
            </a:extLst>
          </p:cNvPr>
          <p:cNvSpPr/>
          <p:nvPr/>
        </p:nvSpPr>
        <p:spPr>
          <a:xfrm>
            <a:off x="6978345" y="4417516"/>
            <a:ext cx="293246" cy="120748"/>
          </a:xfrm>
          <a:prstGeom prst="roundRect">
            <a:avLst>
              <a:gd name="adj" fmla="val 21429"/>
            </a:avLst>
          </a:prstGeom>
          <a:solidFill>
            <a:srgbClr val="FFF7E0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de-DE" sz="1698"/>
          </a:p>
        </p:txBody>
      </p:sp>
      <p:sp>
        <p:nvSpPr>
          <p:cNvPr id="87" name="Text 87">
            <a:extLst>
              <a:ext uri="{FF2B5EF4-FFF2-40B4-BE49-F238E27FC236}">
                <a16:creationId xmlns:a16="http://schemas.microsoft.com/office/drawing/2014/main" id="{3EBC1607-D89C-06FE-A4A7-1CB781C4B3F5}"/>
              </a:ext>
            </a:extLst>
          </p:cNvPr>
          <p:cNvSpPr txBox="1"/>
          <p:nvPr/>
        </p:nvSpPr>
        <p:spPr>
          <a:xfrm>
            <a:off x="7340589" y="4391641"/>
            <a:ext cx="1207484" cy="172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60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Ereignis</a:t>
            </a:r>
            <a:endParaRPr lang="en-US" sz="660" dirty="0">
              <a:solidFill>
                <a:srgbClr val="5B6A70"/>
              </a:solidFill>
            </a:endParaRPr>
          </a:p>
        </p:txBody>
      </p:sp>
      <p:sp>
        <p:nvSpPr>
          <p:cNvPr id="88" name="Shape 88">
            <a:extLst>
              <a:ext uri="{FF2B5EF4-FFF2-40B4-BE49-F238E27FC236}">
                <a16:creationId xmlns:a16="http://schemas.microsoft.com/office/drawing/2014/main" id="{BDEAE37B-A1C8-5F93-67F9-9B762B113F0A}"/>
              </a:ext>
            </a:extLst>
          </p:cNvPr>
          <p:cNvSpPr/>
          <p:nvPr/>
        </p:nvSpPr>
        <p:spPr>
          <a:xfrm>
            <a:off x="595927" y="4676263"/>
            <a:ext cx="293246" cy="862"/>
          </a:xfrm>
          <a:prstGeom prst="line">
            <a:avLst/>
          </a:prstGeom>
          <a:noFill/>
          <a:ln w="15875">
            <a:solidFill>
              <a:srgbClr val="80BA24"/>
            </a:solidFill>
            <a:prstDash val="solid"/>
            <a:tailEnd type="triangle"/>
          </a:ln>
        </p:spPr>
        <p:txBody>
          <a:bodyPr/>
          <a:lstStyle/>
          <a:p>
            <a:endParaRPr lang="de-DE" sz="1698"/>
          </a:p>
        </p:txBody>
      </p:sp>
      <p:sp>
        <p:nvSpPr>
          <p:cNvPr id="89" name="Text 89">
            <a:extLst>
              <a:ext uri="{FF2B5EF4-FFF2-40B4-BE49-F238E27FC236}">
                <a16:creationId xmlns:a16="http://schemas.microsoft.com/office/drawing/2014/main" id="{718BA7B5-7FE9-F957-6486-D94728EBE283}"/>
              </a:ext>
            </a:extLst>
          </p:cNvPr>
          <p:cNvSpPr txBox="1"/>
          <p:nvPr/>
        </p:nvSpPr>
        <p:spPr>
          <a:xfrm>
            <a:off x="958173" y="4590014"/>
            <a:ext cx="1207484" cy="172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60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Eingabe in das System</a:t>
            </a:r>
            <a:endParaRPr lang="en-US" sz="660" dirty="0">
              <a:solidFill>
                <a:srgbClr val="5B6A70"/>
              </a:solidFill>
            </a:endParaRPr>
          </a:p>
        </p:txBody>
      </p:sp>
      <p:sp>
        <p:nvSpPr>
          <p:cNvPr id="90" name="Shape 90">
            <a:extLst>
              <a:ext uri="{FF2B5EF4-FFF2-40B4-BE49-F238E27FC236}">
                <a16:creationId xmlns:a16="http://schemas.microsoft.com/office/drawing/2014/main" id="{9B8D5738-6E6F-38B6-2FDF-6DC5BE4A0C4D}"/>
              </a:ext>
            </a:extLst>
          </p:cNvPr>
          <p:cNvSpPr/>
          <p:nvPr/>
        </p:nvSpPr>
        <p:spPr>
          <a:xfrm>
            <a:off x="2191531" y="4676263"/>
            <a:ext cx="293246" cy="862"/>
          </a:xfrm>
          <a:prstGeom prst="line">
            <a:avLst/>
          </a:prstGeom>
          <a:noFill/>
          <a:ln w="15875">
            <a:solidFill>
              <a:srgbClr val="4A7FB5"/>
            </a:solidFill>
            <a:prstDash val="solid"/>
            <a:headEnd type="triangle"/>
          </a:ln>
        </p:spPr>
        <p:txBody>
          <a:bodyPr/>
          <a:lstStyle/>
          <a:p>
            <a:endParaRPr lang="de-DE" sz="1698"/>
          </a:p>
        </p:txBody>
      </p:sp>
      <p:sp>
        <p:nvSpPr>
          <p:cNvPr id="91" name="Text 91">
            <a:extLst>
              <a:ext uri="{FF2B5EF4-FFF2-40B4-BE49-F238E27FC236}">
                <a16:creationId xmlns:a16="http://schemas.microsoft.com/office/drawing/2014/main" id="{1A2675FC-1FF4-0318-BA66-EF277F628455}"/>
              </a:ext>
            </a:extLst>
          </p:cNvPr>
          <p:cNvSpPr txBox="1"/>
          <p:nvPr/>
        </p:nvSpPr>
        <p:spPr>
          <a:xfrm>
            <a:off x="2553777" y="4590014"/>
            <a:ext cx="1207484" cy="172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60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Ausgabe des Systems</a:t>
            </a:r>
            <a:endParaRPr lang="en-US" sz="660" dirty="0">
              <a:solidFill>
                <a:srgbClr val="5B6A70"/>
              </a:solidFill>
            </a:endParaRPr>
          </a:p>
        </p:txBody>
      </p:sp>
      <p:sp>
        <p:nvSpPr>
          <p:cNvPr id="92" name="Shape 92">
            <a:extLst>
              <a:ext uri="{FF2B5EF4-FFF2-40B4-BE49-F238E27FC236}">
                <a16:creationId xmlns:a16="http://schemas.microsoft.com/office/drawing/2014/main" id="{BF03E321-42B1-3C66-BE89-94ADF8007DD8}"/>
              </a:ext>
            </a:extLst>
          </p:cNvPr>
          <p:cNvSpPr/>
          <p:nvPr/>
        </p:nvSpPr>
        <p:spPr>
          <a:xfrm>
            <a:off x="3787136" y="4676263"/>
            <a:ext cx="293246" cy="862"/>
          </a:xfrm>
          <a:prstGeom prst="line">
            <a:avLst/>
          </a:prstGeom>
          <a:noFill/>
          <a:ln w="25400">
            <a:solidFill>
              <a:srgbClr val="80BA24"/>
            </a:solidFill>
            <a:prstDash val="dash"/>
          </a:ln>
        </p:spPr>
        <p:txBody>
          <a:bodyPr/>
          <a:lstStyle/>
          <a:p>
            <a:endParaRPr lang="de-DE" sz="1698"/>
          </a:p>
        </p:txBody>
      </p:sp>
      <p:sp>
        <p:nvSpPr>
          <p:cNvPr id="93" name="Text 93">
            <a:extLst>
              <a:ext uri="{FF2B5EF4-FFF2-40B4-BE49-F238E27FC236}">
                <a16:creationId xmlns:a16="http://schemas.microsoft.com/office/drawing/2014/main" id="{88E35BE3-5109-1C8A-730D-D63AED321CA7}"/>
              </a:ext>
            </a:extLst>
          </p:cNvPr>
          <p:cNvSpPr txBox="1"/>
          <p:nvPr/>
        </p:nvSpPr>
        <p:spPr>
          <a:xfrm>
            <a:off x="4149381" y="4590014"/>
            <a:ext cx="1207484" cy="172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60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Systemgrenze</a:t>
            </a:r>
            <a:endParaRPr lang="en-US" sz="660" dirty="0">
              <a:solidFill>
                <a:srgbClr val="5B6A70"/>
              </a:solidFill>
            </a:endParaRPr>
          </a:p>
        </p:txBody>
      </p:sp>
      <p:sp>
        <p:nvSpPr>
          <p:cNvPr id="94" name="Shape 94">
            <a:extLst>
              <a:ext uri="{FF2B5EF4-FFF2-40B4-BE49-F238E27FC236}">
                <a16:creationId xmlns:a16="http://schemas.microsoft.com/office/drawing/2014/main" id="{5FD3079A-792F-3933-3E3C-9588DA6F1619}"/>
              </a:ext>
            </a:extLst>
          </p:cNvPr>
          <p:cNvSpPr/>
          <p:nvPr/>
        </p:nvSpPr>
        <p:spPr>
          <a:xfrm>
            <a:off x="5382740" y="4676263"/>
            <a:ext cx="293246" cy="862"/>
          </a:xfrm>
          <a:prstGeom prst="line">
            <a:avLst/>
          </a:prstGeom>
          <a:noFill/>
          <a:ln w="19050">
            <a:solidFill>
              <a:srgbClr val="2F3E46"/>
            </a:solidFill>
            <a:prstDash val="dash"/>
          </a:ln>
        </p:spPr>
        <p:txBody>
          <a:bodyPr/>
          <a:lstStyle/>
          <a:p>
            <a:endParaRPr lang="de-DE" sz="1698"/>
          </a:p>
        </p:txBody>
      </p:sp>
      <p:sp>
        <p:nvSpPr>
          <p:cNvPr id="95" name="Text 95">
            <a:extLst>
              <a:ext uri="{FF2B5EF4-FFF2-40B4-BE49-F238E27FC236}">
                <a16:creationId xmlns:a16="http://schemas.microsoft.com/office/drawing/2014/main" id="{4C46C177-E6C7-FACF-8602-6B69FC9D8C7C}"/>
              </a:ext>
            </a:extLst>
          </p:cNvPr>
          <p:cNvSpPr txBox="1"/>
          <p:nvPr/>
        </p:nvSpPr>
        <p:spPr>
          <a:xfrm>
            <a:off x="5744985" y="4590014"/>
            <a:ext cx="1207484" cy="172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60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Kontextgrenze</a:t>
            </a:r>
            <a:endParaRPr lang="en-US" sz="660" dirty="0">
              <a:solidFill>
                <a:srgbClr val="5B6A70"/>
              </a:solidFill>
            </a:endParaRPr>
          </a:p>
        </p:txBody>
      </p:sp>
      <p:sp>
        <p:nvSpPr>
          <p:cNvPr id="96" name="Shape 96">
            <a:extLst>
              <a:ext uri="{FF2B5EF4-FFF2-40B4-BE49-F238E27FC236}">
                <a16:creationId xmlns:a16="http://schemas.microsoft.com/office/drawing/2014/main" id="{FFBA3DE0-1F22-7284-3C4D-4FE1DED7ADA8}"/>
              </a:ext>
            </a:extLst>
          </p:cNvPr>
          <p:cNvSpPr/>
          <p:nvPr/>
        </p:nvSpPr>
        <p:spPr>
          <a:xfrm>
            <a:off x="6978345" y="4615889"/>
            <a:ext cx="293246" cy="120748"/>
          </a:xfrm>
          <a:prstGeom prst="roundRect">
            <a:avLst>
              <a:gd name="adj" fmla="val 21429"/>
            </a:avLst>
          </a:prstGeom>
          <a:solidFill>
            <a:srgbClr val="D9DDD6"/>
          </a:solidFill>
          <a:ln w="12700">
            <a:solidFill>
              <a:srgbClr val="D9DDD6"/>
            </a:solidFill>
            <a:prstDash val="solid"/>
          </a:ln>
        </p:spPr>
        <p:txBody>
          <a:bodyPr/>
          <a:lstStyle/>
          <a:p>
            <a:endParaRPr lang="de-DE" sz="1698"/>
          </a:p>
        </p:txBody>
      </p:sp>
      <p:sp>
        <p:nvSpPr>
          <p:cNvPr id="97" name="Text 97">
            <a:extLst>
              <a:ext uri="{FF2B5EF4-FFF2-40B4-BE49-F238E27FC236}">
                <a16:creationId xmlns:a16="http://schemas.microsoft.com/office/drawing/2014/main" id="{2F224ED6-A97E-2747-2817-8043763F93B7}"/>
              </a:ext>
            </a:extLst>
          </p:cNvPr>
          <p:cNvSpPr txBox="1"/>
          <p:nvPr/>
        </p:nvSpPr>
        <p:spPr>
          <a:xfrm>
            <a:off x="7340589" y="4590014"/>
            <a:ext cx="1207484" cy="172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60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Grauzone, mit ? noch offen</a:t>
            </a:r>
            <a:endParaRPr lang="en-US" sz="660" dirty="0">
              <a:solidFill>
                <a:srgbClr val="5B6A7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80B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 3 · PERSONAS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310896"/>
            <a:ext cx="6172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Persona: Studierende:r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55464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5B6A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E1AEB1E-EDD9-A08B-8DBE-24C921E36658}"/>
              </a:ext>
            </a:extLst>
          </p:cNvPr>
          <p:cNvSpPr/>
          <p:nvPr/>
        </p:nvSpPr>
        <p:spPr>
          <a:xfrm>
            <a:off x="524280" y="838220"/>
            <a:ext cx="2425105" cy="3791982"/>
          </a:xfrm>
          <a:prstGeom prst="roundRect">
            <a:avLst>
              <a:gd name="adj" fmla="val 4364"/>
            </a:avLst>
          </a:prstGeom>
          <a:solidFill>
            <a:srgbClr val="EDF5DC"/>
          </a:solidFill>
          <a:ln w="12700">
            <a:solidFill>
              <a:srgbClr val="EDF5D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70EDADB-1192-A5BB-F3D9-E0C223E8CDC9}"/>
              </a:ext>
            </a:extLst>
          </p:cNvPr>
          <p:cNvSpPr/>
          <p:nvPr/>
        </p:nvSpPr>
        <p:spPr>
          <a:xfrm>
            <a:off x="1097486" y="970498"/>
            <a:ext cx="1278692" cy="1278692"/>
          </a:xfrm>
          <a:prstGeom prst="ellipse">
            <a:avLst/>
          </a:prstGeom>
          <a:solidFill>
            <a:srgbClr val="4A5C66"/>
          </a:solidFill>
          <a:ln w="12700">
            <a:solidFill>
              <a:srgbClr val="80BA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6" name="Image 0" descr="photos/u1.jpg">
            <a:extLst>
              <a:ext uri="{FF2B5EF4-FFF2-40B4-BE49-F238E27FC236}">
                <a16:creationId xmlns:a16="http://schemas.microsoft.com/office/drawing/2014/main" id="{8196C94F-0C95-56E1-65AF-CA76B4E722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579" y="1014591"/>
            <a:ext cx="1190506" cy="1190506"/>
          </a:xfrm>
          <a:prstGeom prst="ellipse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2FB8BB49-6726-7757-5519-DDBF155C03AE}"/>
              </a:ext>
            </a:extLst>
          </p:cNvPr>
          <p:cNvSpPr txBox="1"/>
          <p:nvPr/>
        </p:nvSpPr>
        <p:spPr>
          <a:xfrm>
            <a:off x="656558" y="2469654"/>
            <a:ext cx="2160548" cy="30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43" b="1" dirty="0">
                <a:solidFill>
                  <a:srgbClr val="2F3E46"/>
                </a:solidFill>
                <a:latin typeface="Calibri" panose="020F0502020204030204" pitchFamily="34" charset="0"/>
                <a:ea typeface="Cambria" pitchFamily="34" charset="-122"/>
                <a:cs typeface="Cambria" pitchFamily="34" charset="-120"/>
              </a:rPr>
              <a:t>Jonas Rosamann</a:t>
            </a:r>
            <a:endParaRPr lang="en-US" sz="1543" dirty="0">
              <a:solidFill>
                <a:srgbClr val="2F3E46"/>
              </a:solidFill>
              <a:latin typeface="Calibri" panose="020F0502020204030204" pitchFamily="34" charset="0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6280FA29-AA2C-569A-8E15-3C39890F184A}"/>
              </a:ext>
            </a:extLst>
          </p:cNvPr>
          <p:cNvSpPr txBox="1"/>
          <p:nvPr/>
        </p:nvSpPr>
        <p:spPr>
          <a:xfrm>
            <a:off x="656558" y="2778303"/>
            <a:ext cx="2160548" cy="30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868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Wirtschaftsinformatik, kurz vor der Abschlussarbeit</a:t>
            </a:r>
            <a:endParaRPr lang="en-US" sz="868" dirty="0">
              <a:solidFill>
                <a:srgbClr val="5B6A70"/>
              </a:solidFill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8542F825-7969-3964-069B-B43E5AE25717}"/>
              </a:ext>
            </a:extLst>
          </p:cNvPr>
          <p:cNvSpPr txBox="1"/>
          <p:nvPr/>
        </p:nvSpPr>
        <p:spPr>
          <a:xfrm>
            <a:off x="700651" y="3131046"/>
            <a:ext cx="2072362" cy="529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964" i="1" dirty="0">
                <a:solidFill>
                  <a:srgbClr val="4A5C66"/>
                </a:solidFill>
                <a:latin typeface="Calibri" panose="020F0502020204030204" pitchFamily="34" charset="0"/>
                <a:ea typeface="Cambria" pitchFamily="34" charset="-122"/>
                <a:cs typeface="Cambria" pitchFamily="34" charset="-120"/>
              </a:rPr>
              <a:t>„Ich will einfach wissen, ob mein Antrag angekommen ist und was noch fehlt.“</a:t>
            </a:r>
            <a:endParaRPr lang="en-US" sz="964" dirty="0">
              <a:solidFill>
                <a:srgbClr val="4A5C66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F9B1F49B-BC92-173D-759B-7E9CCFCDBEF3}"/>
              </a:ext>
            </a:extLst>
          </p:cNvPr>
          <p:cNvSpPr txBox="1"/>
          <p:nvPr/>
        </p:nvSpPr>
        <p:spPr>
          <a:xfrm>
            <a:off x="700651" y="3704253"/>
            <a:ext cx="2072362" cy="837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193"/>
              </a:spcAft>
            </a:pPr>
            <a:r>
              <a:rPr lang="en-US" sz="820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Alter: 23 Jahre</a:t>
            </a:r>
            <a:endParaRPr lang="en-US" sz="820" dirty="0">
              <a:solidFill>
                <a:srgbClr val="2F3E46"/>
              </a:solidFill>
            </a:endParaRPr>
          </a:p>
          <a:p>
            <a:pPr>
              <a:spcAft>
                <a:spcPts val="193"/>
              </a:spcAft>
            </a:pPr>
            <a:r>
              <a:rPr lang="en-US" sz="820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Wohnort: Gießen, WG</a:t>
            </a:r>
            <a:endParaRPr lang="en-US" sz="820" dirty="0">
              <a:solidFill>
                <a:srgbClr val="2F3E46"/>
              </a:solidFill>
            </a:endParaRPr>
          </a:p>
          <a:p>
            <a:pPr>
              <a:spcAft>
                <a:spcPts val="193"/>
              </a:spcAft>
            </a:pPr>
            <a:r>
              <a:rPr lang="en-US" sz="820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Familienstand: ledig</a:t>
            </a:r>
            <a:endParaRPr lang="en-US" sz="820" dirty="0">
              <a:solidFill>
                <a:srgbClr val="2F3E46"/>
              </a:solidFill>
            </a:endParaRPr>
          </a:p>
          <a:p>
            <a:pPr>
              <a:spcAft>
                <a:spcPts val="193"/>
              </a:spcAft>
            </a:pPr>
            <a:r>
              <a:rPr lang="en-US" sz="820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Nebenjob: Werkstudent, 12 h/Woche</a:t>
            </a:r>
            <a:endParaRPr lang="en-US" sz="820" dirty="0">
              <a:solidFill>
                <a:srgbClr val="2F3E46"/>
              </a:solidFill>
            </a:endParaRPr>
          </a:p>
          <a:p>
            <a:pPr>
              <a:spcAft>
                <a:spcPts val="193"/>
              </a:spcAft>
            </a:pPr>
            <a:r>
              <a:rPr lang="en-US" sz="820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Geräte: Smartphone, Laptop zu Hause</a:t>
            </a:r>
            <a:endParaRPr lang="en-US" sz="820" dirty="0">
              <a:solidFill>
                <a:srgbClr val="2F3E46"/>
              </a:solidFill>
            </a:endParaRP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2BA67706-844C-79BD-A3FC-66B9647AC1D4}"/>
              </a:ext>
            </a:extLst>
          </p:cNvPr>
          <p:cNvSpPr/>
          <p:nvPr/>
        </p:nvSpPr>
        <p:spPr>
          <a:xfrm>
            <a:off x="3213941" y="864675"/>
            <a:ext cx="229283" cy="229283"/>
          </a:xfrm>
          <a:prstGeom prst="ellipse">
            <a:avLst/>
          </a:prstGeom>
          <a:solidFill>
            <a:srgbClr val="4A5C66"/>
          </a:solidFill>
          <a:ln w="12700">
            <a:solidFill>
              <a:srgbClr val="80BA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1F784F45-6F88-2946-B5DF-17655864B7FC}"/>
              </a:ext>
            </a:extLst>
          </p:cNvPr>
          <p:cNvSpPr txBox="1"/>
          <p:nvPr/>
        </p:nvSpPr>
        <p:spPr>
          <a:xfrm>
            <a:off x="3213941" y="864675"/>
            <a:ext cx="229283" cy="2292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68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D4F98F53-F231-1B56-BCD1-37DC7AE4DA9D}"/>
              </a:ext>
            </a:extLst>
          </p:cNvPr>
          <p:cNvSpPr txBox="1"/>
          <p:nvPr/>
        </p:nvSpPr>
        <p:spPr>
          <a:xfrm>
            <a:off x="3531410" y="838220"/>
            <a:ext cx="2284008" cy="282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6" b="1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Ziele</a:t>
            </a:r>
            <a:endParaRPr lang="en-US" sz="1206" dirty="0">
              <a:solidFill>
                <a:srgbClr val="4A5C66"/>
              </a:solidFill>
            </a:endParaRP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28767040-3D65-BF8F-9E6B-E2FD0D29254C}"/>
              </a:ext>
            </a:extLst>
          </p:cNvPr>
          <p:cNvSpPr txBox="1"/>
          <p:nvPr/>
        </p:nvSpPr>
        <p:spPr>
          <a:xfrm>
            <a:off x="3258035" y="1173325"/>
            <a:ext cx="2557383" cy="1190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46975" indent="-146975">
              <a:spcAft>
                <a:spcPts val="289"/>
              </a:spcAft>
              <a:buSzPct val="100000"/>
              <a:buChar char="•"/>
            </a:pPr>
            <a:r>
              <a:rPr lang="en-US" sz="916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Antrag in einem Durchgang korrekt einreichen</a:t>
            </a:r>
            <a:endParaRPr lang="en-US" sz="916" dirty="0">
              <a:solidFill>
                <a:srgbClr val="2F3E46"/>
              </a:solidFill>
            </a:endParaRPr>
          </a:p>
          <a:p>
            <a:pPr marL="146975" indent="-146975">
              <a:spcAft>
                <a:spcPts val="289"/>
              </a:spcAft>
              <a:buSzPct val="100000"/>
              <a:buChar char="•"/>
            </a:pPr>
            <a:r>
              <a:rPr lang="en-US" sz="916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Bearbeitungsstand jederzeit am Handy sehen</a:t>
            </a:r>
            <a:endParaRPr lang="en-US" sz="916" dirty="0">
              <a:solidFill>
                <a:srgbClr val="2F3E46"/>
              </a:solidFill>
            </a:endParaRPr>
          </a:p>
          <a:p>
            <a:pPr marL="146975" indent="-146975">
              <a:spcAft>
                <a:spcPts val="289"/>
              </a:spcAft>
              <a:buSzPct val="100000"/>
              <a:buChar char="•"/>
            </a:pPr>
            <a:r>
              <a:rPr lang="en-US" sz="916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Prüfende ohne Unterschriftenlauf bestätigen lassen</a:t>
            </a:r>
            <a:endParaRPr lang="en-US" sz="916" dirty="0">
              <a:solidFill>
                <a:srgbClr val="2F3E46"/>
              </a:solidFill>
            </a:endParaRPr>
          </a:p>
          <a:p>
            <a:pPr marL="146975" indent="-146975">
              <a:spcAft>
                <a:spcPts val="289"/>
              </a:spcAft>
              <a:buSzPct val="100000"/>
              <a:buChar char="•"/>
            </a:pPr>
            <a:r>
              <a:rPr lang="en-US" sz="916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Studium in Regelstudienzeit abschließen</a:t>
            </a:r>
            <a:endParaRPr lang="en-US" sz="916" dirty="0">
              <a:solidFill>
                <a:srgbClr val="2F3E46"/>
              </a:solidFill>
            </a:endParaRPr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4AD1B541-189F-1E4B-BC4E-95DF62F5983A}"/>
              </a:ext>
            </a:extLst>
          </p:cNvPr>
          <p:cNvSpPr/>
          <p:nvPr/>
        </p:nvSpPr>
        <p:spPr>
          <a:xfrm>
            <a:off x="5947696" y="864675"/>
            <a:ext cx="229283" cy="229283"/>
          </a:xfrm>
          <a:prstGeom prst="ellipse">
            <a:avLst/>
          </a:prstGeom>
          <a:solidFill>
            <a:srgbClr val="4A5C66"/>
          </a:solidFill>
          <a:ln w="12700">
            <a:solidFill>
              <a:srgbClr val="80BA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084BD342-ABAF-D22E-FF0F-167DC6F3C01C}"/>
              </a:ext>
            </a:extLst>
          </p:cNvPr>
          <p:cNvSpPr txBox="1"/>
          <p:nvPr/>
        </p:nvSpPr>
        <p:spPr>
          <a:xfrm>
            <a:off x="5947696" y="864675"/>
            <a:ext cx="229283" cy="2292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68" dirty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0D4F5D19-D965-0B4A-11DC-EAA2D3D93504}"/>
              </a:ext>
            </a:extLst>
          </p:cNvPr>
          <p:cNvSpPr txBox="1"/>
          <p:nvPr/>
        </p:nvSpPr>
        <p:spPr>
          <a:xfrm>
            <a:off x="6265164" y="838220"/>
            <a:ext cx="2284008" cy="282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6" b="1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Eigenschaften und Verhalten</a:t>
            </a:r>
            <a:endParaRPr lang="en-US" sz="1206" dirty="0">
              <a:solidFill>
                <a:srgbClr val="4A5C66"/>
              </a:solidFill>
            </a:endParaRPr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190CDD24-29FE-02B9-73D2-0D5CADFA475D}"/>
              </a:ext>
            </a:extLst>
          </p:cNvPr>
          <p:cNvSpPr txBox="1"/>
          <p:nvPr/>
        </p:nvSpPr>
        <p:spPr>
          <a:xfrm>
            <a:off x="5991789" y="1173325"/>
            <a:ext cx="2557383" cy="1190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46975" indent="-146975">
              <a:spcAft>
                <a:spcPts val="289"/>
              </a:spcAft>
              <a:buSzPct val="100000"/>
              <a:buChar char="•"/>
            </a:pPr>
            <a:r>
              <a:rPr lang="en-US" sz="916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Erste Abschlussarbeit, unsicher bei Formalien</a:t>
            </a:r>
            <a:endParaRPr lang="en-US" sz="916" dirty="0">
              <a:solidFill>
                <a:srgbClr val="2F3E46"/>
              </a:solidFill>
            </a:endParaRPr>
          </a:p>
          <a:p>
            <a:pPr marL="146975" indent="-146975">
              <a:spcAft>
                <a:spcPts val="289"/>
              </a:spcAft>
              <a:buSzPct val="100000"/>
              <a:buChar char="•"/>
            </a:pPr>
            <a:r>
              <a:rPr lang="en-US" sz="916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Digital-native, erwartet App-Komfort</a:t>
            </a:r>
            <a:endParaRPr lang="en-US" sz="916" dirty="0">
              <a:solidFill>
                <a:srgbClr val="2F3E46"/>
              </a:solidFill>
            </a:endParaRPr>
          </a:p>
          <a:p>
            <a:pPr marL="146975" indent="-146975">
              <a:spcAft>
                <a:spcPts val="289"/>
              </a:spcAft>
              <a:buSzPct val="100000"/>
              <a:buChar char="•"/>
            </a:pPr>
            <a:r>
              <a:rPr lang="en-US" sz="916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knapp, reagiert auf Erinnerungen</a:t>
            </a:r>
            <a:endParaRPr lang="en-US" sz="916" dirty="0">
              <a:solidFill>
                <a:srgbClr val="2F3E46"/>
              </a:solidFill>
            </a:endParaRPr>
          </a:p>
          <a:p>
            <a:pPr marL="146975" indent="-146975">
              <a:spcAft>
                <a:spcPts val="289"/>
              </a:spcAft>
              <a:buSzPct val="100000"/>
              <a:buChar char="•"/>
            </a:pPr>
            <a:r>
              <a:rPr lang="en-US" sz="916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Volleyball, Serien, wenig Geduld mit Papier</a:t>
            </a:r>
            <a:endParaRPr lang="en-US" sz="916" dirty="0">
              <a:solidFill>
                <a:srgbClr val="2F3E46"/>
              </a:solidFill>
            </a:endParaRPr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C9D7AA8B-7986-E9FD-40F6-48FA50BE66E4}"/>
              </a:ext>
            </a:extLst>
          </p:cNvPr>
          <p:cNvSpPr/>
          <p:nvPr/>
        </p:nvSpPr>
        <p:spPr>
          <a:xfrm>
            <a:off x="3213941" y="2496109"/>
            <a:ext cx="229283" cy="229283"/>
          </a:xfrm>
          <a:prstGeom prst="ellipse">
            <a:avLst/>
          </a:prstGeom>
          <a:solidFill>
            <a:srgbClr val="4A5C66"/>
          </a:solidFill>
          <a:ln w="12700">
            <a:solidFill>
              <a:srgbClr val="80BA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25003F75-9A74-7820-B34F-98DE48070DD9}"/>
              </a:ext>
            </a:extLst>
          </p:cNvPr>
          <p:cNvSpPr txBox="1"/>
          <p:nvPr/>
        </p:nvSpPr>
        <p:spPr>
          <a:xfrm>
            <a:off x="3213941" y="2496109"/>
            <a:ext cx="229283" cy="2292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68" dirty="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FBCEEC8B-9EC7-2C21-2A7B-CAFA12BCBFD9}"/>
              </a:ext>
            </a:extLst>
          </p:cNvPr>
          <p:cNvSpPr txBox="1"/>
          <p:nvPr/>
        </p:nvSpPr>
        <p:spPr>
          <a:xfrm>
            <a:off x="3531410" y="2469654"/>
            <a:ext cx="2284008" cy="282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6" b="1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Frustrationen</a:t>
            </a:r>
            <a:endParaRPr lang="en-US" sz="1206" dirty="0">
              <a:solidFill>
                <a:srgbClr val="4A5C66"/>
              </a:solidFill>
            </a:endParaRPr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CB19EB44-BA0C-FE3F-22E0-F6E105939B6D}"/>
              </a:ext>
            </a:extLst>
          </p:cNvPr>
          <p:cNvSpPr txBox="1"/>
          <p:nvPr/>
        </p:nvSpPr>
        <p:spPr>
          <a:xfrm>
            <a:off x="3258035" y="2804759"/>
            <a:ext cx="2557383" cy="1190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46975" indent="-146975">
              <a:spcAft>
                <a:spcPts val="289"/>
              </a:spcAft>
              <a:buSzPct val="100000"/>
              <a:buChar char="•"/>
            </a:pPr>
            <a:r>
              <a:rPr lang="en-US" sz="916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ausdrucken, unterschreiben, scannen, mailen</a:t>
            </a:r>
            <a:endParaRPr lang="en-US" sz="916" dirty="0">
              <a:solidFill>
                <a:srgbClr val="2F3E46"/>
              </a:solidFill>
            </a:endParaRPr>
          </a:p>
          <a:p>
            <a:pPr marL="146975" indent="-146975">
              <a:spcAft>
                <a:spcPts val="289"/>
              </a:spcAft>
              <a:buSzPct val="100000"/>
              <a:buChar char="•"/>
            </a:pPr>
            <a:r>
              <a:rPr lang="en-US" sz="916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Wochenlang keine Rückmeldung zum Antrag</a:t>
            </a:r>
            <a:endParaRPr lang="en-US" sz="916" dirty="0">
              <a:solidFill>
                <a:srgbClr val="2F3E46"/>
              </a:solidFill>
            </a:endParaRPr>
          </a:p>
          <a:p>
            <a:pPr marL="146975" indent="-146975">
              <a:spcAft>
                <a:spcPts val="289"/>
              </a:spcAft>
              <a:buSzPct val="100000"/>
              <a:buChar char="•"/>
            </a:pPr>
            <a:r>
              <a:rPr lang="en-US" sz="916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Unsicher, ob alles vollständig ist</a:t>
            </a:r>
            <a:endParaRPr lang="en-US" sz="916" dirty="0">
              <a:solidFill>
                <a:srgbClr val="2F3E46"/>
              </a:solidFill>
            </a:endParaRPr>
          </a:p>
          <a:p>
            <a:pPr marL="146975" indent="-146975">
              <a:spcAft>
                <a:spcPts val="289"/>
              </a:spcAft>
              <a:buSzPct val="100000"/>
              <a:buChar char="•"/>
            </a:pPr>
            <a:r>
              <a:rPr lang="de-DE" sz="916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Dekanat / Prüfungsamt nur zu Öffnungszeiten erreichbar</a:t>
            </a:r>
            <a:endParaRPr lang="en-US" sz="916" dirty="0">
              <a:solidFill>
                <a:srgbClr val="2F3E46"/>
              </a:solidFill>
            </a:endParaRPr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8378853D-D429-52A0-9F19-36939C925D5B}"/>
              </a:ext>
            </a:extLst>
          </p:cNvPr>
          <p:cNvSpPr/>
          <p:nvPr/>
        </p:nvSpPr>
        <p:spPr>
          <a:xfrm>
            <a:off x="5947696" y="2496109"/>
            <a:ext cx="229283" cy="229283"/>
          </a:xfrm>
          <a:prstGeom prst="ellipse">
            <a:avLst/>
          </a:prstGeom>
          <a:solidFill>
            <a:srgbClr val="4A5C66"/>
          </a:solidFill>
          <a:ln w="12700">
            <a:solidFill>
              <a:srgbClr val="80BA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9A81689E-F7B1-3BFF-0675-7983E22B1492}"/>
              </a:ext>
            </a:extLst>
          </p:cNvPr>
          <p:cNvSpPr txBox="1"/>
          <p:nvPr/>
        </p:nvSpPr>
        <p:spPr>
          <a:xfrm>
            <a:off x="5947696" y="2496109"/>
            <a:ext cx="229283" cy="2292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68" dirty="0"/>
          </a:p>
        </p:txBody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A8074038-F3D3-5D4D-72AB-BE737236D7D2}"/>
              </a:ext>
            </a:extLst>
          </p:cNvPr>
          <p:cNvSpPr txBox="1"/>
          <p:nvPr/>
        </p:nvSpPr>
        <p:spPr>
          <a:xfrm>
            <a:off x="6265164" y="2469654"/>
            <a:ext cx="2284008" cy="282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6" b="1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Nutzungsüberwindung</a:t>
            </a:r>
            <a:endParaRPr lang="en-US" sz="1206" dirty="0">
              <a:solidFill>
                <a:srgbClr val="4A5C66"/>
              </a:solidFill>
            </a:endParaRPr>
          </a:p>
        </p:txBody>
      </p:sp>
      <p:sp>
        <p:nvSpPr>
          <p:cNvPr id="27" name="Text 23">
            <a:extLst>
              <a:ext uri="{FF2B5EF4-FFF2-40B4-BE49-F238E27FC236}">
                <a16:creationId xmlns:a16="http://schemas.microsoft.com/office/drawing/2014/main" id="{619D6252-623B-B397-E7CB-711191D2D6B1}"/>
              </a:ext>
            </a:extLst>
          </p:cNvPr>
          <p:cNvSpPr txBox="1"/>
          <p:nvPr/>
        </p:nvSpPr>
        <p:spPr>
          <a:xfrm>
            <a:off x="5991789" y="2804759"/>
            <a:ext cx="2557383" cy="1190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46975" indent="-146975">
              <a:spcAft>
                <a:spcPts val="289"/>
              </a:spcAft>
              <a:buSzPct val="100000"/>
              <a:buChar char="•"/>
            </a:pPr>
            <a:r>
              <a:rPr lang="en-US" sz="916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Schritt-für-Schritt-Führung mit Pflichtfeldprüfung</a:t>
            </a:r>
            <a:endParaRPr lang="en-US" sz="916" dirty="0">
              <a:solidFill>
                <a:srgbClr val="2F3E46"/>
              </a:solidFill>
            </a:endParaRPr>
          </a:p>
          <a:p>
            <a:pPr marL="146975" indent="-146975">
              <a:spcAft>
                <a:spcPts val="289"/>
              </a:spcAft>
              <a:buSzPct val="100000"/>
              <a:buChar char="•"/>
            </a:pPr>
            <a:r>
              <a:rPr lang="en-US" sz="916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mit THM-Konto, keine neue Registrierung</a:t>
            </a:r>
            <a:endParaRPr lang="en-US" sz="916" dirty="0">
              <a:solidFill>
                <a:srgbClr val="2F3E46"/>
              </a:solidFill>
            </a:endParaRPr>
          </a:p>
          <a:p>
            <a:pPr marL="146975" indent="-146975">
              <a:spcAft>
                <a:spcPts val="289"/>
              </a:spcAft>
              <a:buSzPct val="100000"/>
              <a:buChar char="•"/>
            </a:pPr>
            <a:r>
              <a:rPr lang="en-US" sz="916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Push- oder Mail-Benachrichtigung bei Statuswechsel</a:t>
            </a:r>
            <a:endParaRPr lang="en-US" sz="916" dirty="0">
              <a:solidFill>
                <a:srgbClr val="2F3E46"/>
              </a:solidFill>
            </a:endParaRPr>
          </a:p>
          <a:p>
            <a:pPr marL="146975" indent="-146975">
              <a:spcAft>
                <a:spcPts val="289"/>
              </a:spcAft>
              <a:buSzPct val="100000"/>
              <a:buChar char="•"/>
            </a:pPr>
            <a:r>
              <a:rPr lang="en-US" sz="916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 genauso komfortabel wie am Desktop</a:t>
            </a:r>
            <a:endParaRPr lang="en-US" sz="916" dirty="0">
              <a:solidFill>
                <a:srgbClr val="2F3E46"/>
              </a:solidFill>
            </a:endParaRPr>
          </a:p>
        </p:txBody>
      </p:sp>
      <p:sp>
        <p:nvSpPr>
          <p:cNvPr id="28" name="Text 24">
            <a:extLst>
              <a:ext uri="{FF2B5EF4-FFF2-40B4-BE49-F238E27FC236}">
                <a16:creationId xmlns:a16="http://schemas.microsoft.com/office/drawing/2014/main" id="{C9BD7AD3-05AD-D8E0-7F21-DE6C50E591A3}"/>
              </a:ext>
            </a:extLst>
          </p:cNvPr>
          <p:cNvSpPr txBox="1"/>
          <p:nvPr/>
        </p:nvSpPr>
        <p:spPr>
          <a:xfrm>
            <a:off x="3213942" y="4162818"/>
            <a:ext cx="970042" cy="220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68" b="1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Technikaffinität</a:t>
            </a:r>
            <a:endParaRPr lang="en-US" sz="868" dirty="0">
              <a:solidFill>
                <a:srgbClr val="5B6A70"/>
              </a:solidFill>
            </a:endParaRPr>
          </a:p>
        </p:txBody>
      </p:sp>
      <p:sp>
        <p:nvSpPr>
          <p:cNvPr id="29" name="Shape 25">
            <a:extLst>
              <a:ext uri="{FF2B5EF4-FFF2-40B4-BE49-F238E27FC236}">
                <a16:creationId xmlns:a16="http://schemas.microsoft.com/office/drawing/2014/main" id="{CFEBF22E-BD24-4838-3D53-21AA82CAD026}"/>
              </a:ext>
            </a:extLst>
          </p:cNvPr>
          <p:cNvSpPr/>
          <p:nvPr/>
        </p:nvSpPr>
        <p:spPr>
          <a:xfrm>
            <a:off x="4034680" y="4206911"/>
            <a:ext cx="132278" cy="132278"/>
          </a:xfrm>
          <a:prstGeom prst="ellipse">
            <a:avLst/>
          </a:prstGeom>
          <a:solidFill>
            <a:srgbClr val="4A5C66"/>
          </a:solidFill>
          <a:ln w="12700">
            <a:solidFill>
              <a:srgbClr val="80BA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0" name="Shape 26">
            <a:extLst>
              <a:ext uri="{FF2B5EF4-FFF2-40B4-BE49-F238E27FC236}">
                <a16:creationId xmlns:a16="http://schemas.microsoft.com/office/drawing/2014/main" id="{4C63933B-A0B7-387B-B6AB-19584A8CD81E}"/>
              </a:ext>
            </a:extLst>
          </p:cNvPr>
          <p:cNvSpPr/>
          <p:nvPr/>
        </p:nvSpPr>
        <p:spPr>
          <a:xfrm>
            <a:off x="4202233" y="4206911"/>
            <a:ext cx="132278" cy="132278"/>
          </a:xfrm>
          <a:prstGeom prst="ellipse">
            <a:avLst/>
          </a:prstGeom>
          <a:solidFill>
            <a:srgbClr val="4A5C66"/>
          </a:solidFill>
          <a:ln w="12700">
            <a:solidFill>
              <a:srgbClr val="80BA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1" name="Shape 27">
            <a:extLst>
              <a:ext uri="{FF2B5EF4-FFF2-40B4-BE49-F238E27FC236}">
                <a16:creationId xmlns:a16="http://schemas.microsoft.com/office/drawing/2014/main" id="{DA7A4C36-B923-2CFA-5372-FA81BDB800AF}"/>
              </a:ext>
            </a:extLst>
          </p:cNvPr>
          <p:cNvSpPr/>
          <p:nvPr/>
        </p:nvSpPr>
        <p:spPr>
          <a:xfrm>
            <a:off x="4369785" y="4206911"/>
            <a:ext cx="132278" cy="132278"/>
          </a:xfrm>
          <a:prstGeom prst="ellipse">
            <a:avLst/>
          </a:prstGeom>
          <a:solidFill>
            <a:srgbClr val="4A5C66"/>
          </a:solidFill>
          <a:ln w="12700">
            <a:solidFill>
              <a:srgbClr val="80BA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2" name="Shape 28">
            <a:extLst>
              <a:ext uri="{FF2B5EF4-FFF2-40B4-BE49-F238E27FC236}">
                <a16:creationId xmlns:a16="http://schemas.microsoft.com/office/drawing/2014/main" id="{C75F9743-8C1A-DF6D-C277-F31D567791A7}"/>
              </a:ext>
            </a:extLst>
          </p:cNvPr>
          <p:cNvSpPr/>
          <p:nvPr/>
        </p:nvSpPr>
        <p:spPr>
          <a:xfrm>
            <a:off x="4537338" y="4206911"/>
            <a:ext cx="132278" cy="132278"/>
          </a:xfrm>
          <a:prstGeom prst="ellipse">
            <a:avLst/>
          </a:prstGeom>
          <a:solidFill>
            <a:srgbClr val="4A5C66"/>
          </a:solidFill>
          <a:ln w="12700">
            <a:solidFill>
              <a:srgbClr val="80BA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3" name="Shape 29">
            <a:extLst>
              <a:ext uri="{FF2B5EF4-FFF2-40B4-BE49-F238E27FC236}">
                <a16:creationId xmlns:a16="http://schemas.microsoft.com/office/drawing/2014/main" id="{8D5842E7-98FC-8CB5-7D92-788E5296E918}"/>
              </a:ext>
            </a:extLst>
          </p:cNvPr>
          <p:cNvSpPr/>
          <p:nvPr/>
        </p:nvSpPr>
        <p:spPr>
          <a:xfrm>
            <a:off x="4704891" y="4206911"/>
            <a:ext cx="132278" cy="132278"/>
          </a:xfrm>
          <a:prstGeom prst="ellipse">
            <a:avLst/>
          </a:prstGeom>
          <a:solidFill>
            <a:srgbClr val="D5E3B5"/>
          </a:solidFill>
          <a:ln w="12700">
            <a:solidFill>
              <a:srgbClr val="D5E3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4" name="Text 30">
            <a:extLst>
              <a:ext uri="{FF2B5EF4-FFF2-40B4-BE49-F238E27FC236}">
                <a16:creationId xmlns:a16="http://schemas.microsoft.com/office/drawing/2014/main" id="{42F0E5B2-3637-73B3-3F1C-5A16FDC77888}"/>
              </a:ext>
            </a:extLst>
          </p:cNvPr>
          <p:cNvSpPr txBox="1"/>
          <p:nvPr/>
        </p:nvSpPr>
        <p:spPr>
          <a:xfrm>
            <a:off x="5021747" y="4162818"/>
            <a:ext cx="970042" cy="220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68" b="1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Prozesskenntnis</a:t>
            </a:r>
            <a:endParaRPr lang="en-US" sz="868" dirty="0">
              <a:solidFill>
                <a:srgbClr val="5B6A70"/>
              </a:solidFill>
            </a:endParaRPr>
          </a:p>
        </p:txBody>
      </p:sp>
      <p:sp>
        <p:nvSpPr>
          <p:cNvPr id="35" name="Shape 31">
            <a:extLst>
              <a:ext uri="{FF2B5EF4-FFF2-40B4-BE49-F238E27FC236}">
                <a16:creationId xmlns:a16="http://schemas.microsoft.com/office/drawing/2014/main" id="{938813EC-EA2F-C7C6-7BD5-47AD2E1EF305}"/>
              </a:ext>
            </a:extLst>
          </p:cNvPr>
          <p:cNvSpPr/>
          <p:nvPr/>
        </p:nvSpPr>
        <p:spPr>
          <a:xfrm>
            <a:off x="5863122" y="4206911"/>
            <a:ext cx="132278" cy="132278"/>
          </a:xfrm>
          <a:prstGeom prst="ellipse">
            <a:avLst/>
          </a:prstGeom>
          <a:solidFill>
            <a:srgbClr val="4A5C66"/>
          </a:solidFill>
          <a:ln w="12700">
            <a:solidFill>
              <a:srgbClr val="80BA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6" name="Shape 32">
            <a:extLst>
              <a:ext uri="{FF2B5EF4-FFF2-40B4-BE49-F238E27FC236}">
                <a16:creationId xmlns:a16="http://schemas.microsoft.com/office/drawing/2014/main" id="{3052042B-8949-0C53-BA1F-2B48BBAABDEA}"/>
              </a:ext>
            </a:extLst>
          </p:cNvPr>
          <p:cNvSpPr/>
          <p:nvPr/>
        </p:nvSpPr>
        <p:spPr>
          <a:xfrm>
            <a:off x="6030675" y="4206911"/>
            <a:ext cx="132278" cy="132278"/>
          </a:xfrm>
          <a:prstGeom prst="ellipse">
            <a:avLst/>
          </a:prstGeom>
          <a:solidFill>
            <a:srgbClr val="D5E3B5"/>
          </a:solidFill>
          <a:ln w="12700">
            <a:solidFill>
              <a:srgbClr val="D5E3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7" name="Shape 33">
            <a:extLst>
              <a:ext uri="{FF2B5EF4-FFF2-40B4-BE49-F238E27FC236}">
                <a16:creationId xmlns:a16="http://schemas.microsoft.com/office/drawing/2014/main" id="{42B0C228-586A-44EB-90B5-A5660D67E3FB}"/>
              </a:ext>
            </a:extLst>
          </p:cNvPr>
          <p:cNvSpPr/>
          <p:nvPr/>
        </p:nvSpPr>
        <p:spPr>
          <a:xfrm>
            <a:off x="6198229" y="4206911"/>
            <a:ext cx="132278" cy="132278"/>
          </a:xfrm>
          <a:prstGeom prst="ellipse">
            <a:avLst/>
          </a:prstGeom>
          <a:solidFill>
            <a:srgbClr val="D5E3B5"/>
          </a:solidFill>
          <a:ln w="12700">
            <a:solidFill>
              <a:srgbClr val="D5E3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8" name="Shape 34">
            <a:extLst>
              <a:ext uri="{FF2B5EF4-FFF2-40B4-BE49-F238E27FC236}">
                <a16:creationId xmlns:a16="http://schemas.microsoft.com/office/drawing/2014/main" id="{0F568773-84EE-4246-1DE0-9CE26E9503F0}"/>
              </a:ext>
            </a:extLst>
          </p:cNvPr>
          <p:cNvSpPr/>
          <p:nvPr/>
        </p:nvSpPr>
        <p:spPr>
          <a:xfrm>
            <a:off x="6365780" y="4206911"/>
            <a:ext cx="132278" cy="132278"/>
          </a:xfrm>
          <a:prstGeom prst="ellipse">
            <a:avLst/>
          </a:prstGeom>
          <a:solidFill>
            <a:srgbClr val="D5E3B5"/>
          </a:solidFill>
          <a:ln w="12700">
            <a:solidFill>
              <a:srgbClr val="D5E3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9" name="Shape 35">
            <a:extLst>
              <a:ext uri="{FF2B5EF4-FFF2-40B4-BE49-F238E27FC236}">
                <a16:creationId xmlns:a16="http://schemas.microsoft.com/office/drawing/2014/main" id="{0BE1B07F-44C8-1B0E-554F-80FB55DB7D4A}"/>
              </a:ext>
            </a:extLst>
          </p:cNvPr>
          <p:cNvSpPr/>
          <p:nvPr/>
        </p:nvSpPr>
        <p:spPr>
          <a:xfrm>
            <a:off x="6533333" y="4206911"/>
            <a:ext cx="132278" cy="132278"/>
          </a:xfrm>
          <a:prstGeom prst="ellipse">
            <a:avLst/>
          </a:prstGeom>
          <a:solidFill>
            <a:srgbClr val="D5E3B5"/>
          </a:solidFill>
          <a:ln w="12700">
            <a:solidFill>
              <a:srgbClr val="D5E3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0" name="Text 36">
            <a:extLst>
              <a:ext uri="{FF2B5EF4-FFF2-40B4-BE49-F238E27FC236}">
                <a16:creationId xmlns:a16="http://schemas.microsoft.com/office/drawing/2014/main" id="{6AF327E6-E1D8-8644-7331-410984E5AB57}"/>
              </a:ext>
            </a:extLst>
          </p:cNvPr>
          <p:cNvSpPr txBox="1"/>
          <p:nvPr/>
        </p:nvSpPr>
        <p:spPr>
          <a:xfrm>
            <a:off x="6829552" y="4162818"/>
            <a:ext cx="970042" cy="220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68" b="1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Zeitbudget</a:t>
            </a:r>
            <a:endParaRPr lang="en-US" sz="868" dirty="0">
              <a:solidFill>
                <a:srgbClr val="5B6A70"/>
              </a:solidFill>
            </a:endParaRPr>
          </a:p>
        </p:txBody>
      </p:sp>
      <p:sp>
        <p:nvSpPr>
          <p:cNvPr id="41" name="Shape 37">
            <a:extLst>
              <a:ext uri="{FF2B5EF4-FFF2-40B4-BE49-F238E27FC236}">
                <a16:creationId xmlns:a16="http://schemas.microsoft.com/office/drawing/2014/main" id="{A0F8EB69-67AA-1E77-915C-0F3028AFAC05}"/>
              </a:ext>
            </a:extLst>
          </p:cNvPr>
          <p:cNvSpPr/>
          <p:nvPr/>
        </p:nvSpPr>
        <p:spPr>
          <a:xfrm>
            <a:off x="7426452" y="4206911"/>
            <a:ext cx="132278" cy="132278"/>
          </a:xfrm>
          <a:prstGeom prst="ellipse">
            <a:avLst/>
          </a:prstGeom>
          <a:solidFill>
            <a:srgbClr val="4A5C66"/>
          </a:solidFill>
          <a:ln w="12700">
            <a:solidFill>
              <a:srgbClr val="80BA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2" name="Shape 38">
            <a:extLst>
              <a:ext uri="{FF2B5EF4-FFF2-40B4-BE49-F238E27FC236}">
                <a16:creationId xmlns:a16="http://schemas.microsoft.com/office/drawing/2014/main" id="{EEB4EAD9-FE86-6DDE-1306-6DCF4F8D8B3D}"/>
              </a:ext>
            </a:extLst>
          </p:cNvPr>
          <p:cNvSpPr/>
          <p:nvPr/>
        </p:nvSpPr>
        <p:spPr>
          <a:xfrm>
            <a:off x="7594005" y="4206911"/>
            <a:ext cx="132278" cy="132278"/>
          </a:xfrm>
          <a:prstGeom prst="ellipse">
            <a:avLst/>
          </a:prstGeom>
          <a:solidFill>
            <a:srgbClr val="4A5C66"/>
          </a:solidFill>
          <a:ln w="12700">
            <a:solidFill>
              <a:srgbClr val="80BA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3" name="Shape 39">
            <a:extLst>
              <a:ext uri="{FF2B5EF4-FFF2-40B4-BE49-F238E27FC236}">
                <a16:creationId xmlns:a16="http://schemas.microsoft.com/office/drawing/2014/main" id="{EC04B7B1-94B4-5063-5CAE-967C68DD4CAF}"/>
              </a:ext>
            </a:extLst>
          </p:cNvPr>
          <p:cNvSpPr/>
          <p:nvPr/>
        </p:nvSpPr>
        <p:spPr>
          <a:xfrm>
            <a:off x="7761558" y="4206911"/>
            <a:ext cx="132278" cy="132278"/>
          </a:xfrm>
          <a:prstGeom prst="ellipse">
            <a:avLst/>
          </a:prstGeom>
          <a:solidFill>
            <a:srgbClr val="4A5C66"/>
          </a:solidFill>
          <a:ln w="12700">
            <a:solidFill>
              <a:srgbClr val="80BA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4" name="Shape 40">
            <a:extLst>
              <a:ext uri="{FF2B5EF4-FFF2-40B4-BE49-F238E27FC236}">
                <a16:creationId xmlns:a16="http://schemas.microsoft.com/office/drawing/2014/main" id="{6292827D-38B6-3F46-04ED-FD3B228F0A14}"/>
              </a:ext>
            </a:extLst>
          </p:cNvPr>
          <p:cNvSpPr/>
          <p:nvPr/>
        </p:nvSpPr>
        <p:spPr>
          <a:xfrm>
            <a:off x="7929111" y="4206911"/>
            <a:ext cx="132278" cy="132278"/>
          </a:xfrm>
          <a:prstGeom prst="ellipse">
            <a:avLst/>
          </a:prstGeom>
          <a:solidFill>
            <a:srgbClr val="D5E3B5"/>
          </a:solidFill>
          <a:ln w="12700">
            <a:solidFill>
              <a:srgbClr val="D5E3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5" name="Shape 41">
            <a:extLst>
              <a:ext uri="{FF2B5EF4-FFF2-40B4-BE49-F238E27FC236}">
                <a16:creationId xmlns:a16="http://schemas.microsoft.com/office/drawing/2014/main" id="{95D121FE-434A-4E4D-34C0-D150AAE82692}"/>
              </a:ext>
            </a:extLst>
          </p:cNvPr>
          <p:cNvSpPr/>
          <p:nvPr/>
        </p:nvSpPr>
        <p:spPr>
          <a:xfrm>
            <a:off x="8096662" y="4206911"/>
            <a:ext cx="132278" cy="132278"/>
          </a:xfrm>
          <a:prstGeom prst="ellipse">
            <a:avLst/>
          </a:prstGeom>
          <a:solidFill>
            <a:srgbClr val="D5E3B5"/>
          </a:solidFill>
          <a:ln w="12700">
            <a:solidFill>
              <a:srgbClr val="D5E3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6" name="Text 42">
            <a:extLst>
              <a:ext uri="{FF2B5EF4-FFF2-40B4-BE49-F238E27FC236}">
                <a16:creationId xmlns:a16="http://schemas.microsoft.com/office/drawing/2014/main" id="{8FD79A84-698A-4C74-872E-4C777BA07566}"/>
              </a:ext>
            </a:extLst>
          </p:cNvPr>
          <p:cNvSpPr txBox="1"/>
          <p:nvPr/>
        </p:nvSpPr>
        <p:spPr>
          <a:xfrm>
            <a:off x="3213942" y="4542016"/>
            <a:ext cx="5335230" cy="2204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en-US" sz="723" dirty="0">
                <a:solidFill>
                  <a:srgbClr val="9AA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Engineering – Praxisteil  ·  Personas  ·  Skala 1 = niedrig, 5 = hoch</a:t>
            </a:r>
            <a:endParaRPr lang="en-US" sz="723" dirty="0">
              <a:solidFill>
                <a:srgbClr val="9AA9AE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80B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 3 · PERSONAS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310896"/>
            <a:ext cx="6172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Persona: Prüfer:in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55464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5B6A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244A420-8C07-7B8F-9777-BD1FC994BB89}"/>
              </a:ext>
            </a:extLst>
          </p:cNvPr>
          <p:cNvSpPr/>
          <p:nvPr/>
        </p:nvSpPr>
        <p:spPr>
          <a:xfrm>
            <a:off x="524280" y="838220"/>
            <a:ext cx="2425105" cy="3791982"/>
          </a:xfrm>
          <a:prstGeom prst="roundRect">
            <a:avLst>
              <a:gd name="adj" fmla="val 4364"/>
            </a:avLst>
          </a:prstGeom>
          <a:solidFill>
            <a:srgbClr val="EDF5DC"/>
          </a:solidFill>
          <a:ln w="12700">
            <a:solidFill>
              <a:srgbClr val="EDF5D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6D1D119-0291-86D5-C0CB-D77F6C7CFCE0}"/>
              </a:ext>
            </a:extLst>
          </p:cNvPr>
          <p:cNvSpPr/>
          <p:nvPr/>
        </p:nvSpPr>
        <p:spPr>
          <a:xfrm>
            <a:off x="1097486" y="970498"/>
            <a:ext cx="1278692" cy="1278692"/>
          </a:xfrm>
          <a:prstGeom prst="ellipse">
            <a:avLst/>
          </a:prstGeom>
          <a:solidFill>
            <a:srgbClr val="4A5C66"/>
          </a:solidFill>
          <a:ln w="12700">
            <a:solidFill>
              <a:srgbClr val="80BA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6" name="Image 0" descr="photos/u2.jpg">
            <a:extLst>
              <a:ext uri="{FF2B5EF4-FFF2-40B4-BE49-F238E27FC236}">
                <a16:creationId xmlns:a16="http://schemas.microsoft.com/office/drawing/2014/main" id="{A5CCA99F-9DEA-6036-5425-8CECAEF999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579" y="1014591"/>
            <a:ext cx="1190506" cy="1190506"/>
          </a:xfrm>
          <a:prstGeom prst="ellipse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E322A0D6-6717-582D-7577-49B66703DEC9}"/>
              </a:ext>
            </a:extLst>
          </p:cNvPr>
          <p:cNvSpPr txBox="1"/>
          <p:nvPr/>
        </p:nvSpPr>
        <p:spPr>
          <a:xfrm>
            <a:off x="656558" y="2469654"/>
            <a:ext cx="2160548" cy="30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43" b="1" dirty="0">
                <a:solidFill>
                  <a:srgbClr val="2F3E46"/>
                </a:solidFill>
                <a:latin typeface="Calibri" panose="020F0502020204030204" pitchFamily="34" charset="0"/>
                <a:ea typeface="Cambria" pitchFamily="34" charset="-122"/>
                <a:cs typeface="Cambria" pitchFamily="34" charset="-120"/>
              </a:rPr>
              <a:t>Walter Weiß</a:t>
            </a:r>
            <a:endParaRPr lang="en-US" sz="1543" dirty="0">
              <a:solidFill>
                <a:srgbClr val="2F3E46"/>
              </a:solidFill>
              <a:latin typeface="Calibri" panose="020F0502020204030204" pitchFamily="34" charset="0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2CBA2C4B-7E9F-48DA-547A-80A7AFE0254A}"/>
              </a:ext>
            </a:extLst>
          </p:cNvPr>
          <p:cNvSpPr txBox="1"/>
          <p:nvPr/>
        </p:nvSpPr>
        <p:spPr>
          <a:xfrm>
            <a:off x="656558" y="2778303"/>
            <a:ext cx="2160548" cy="30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868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 für Wirtschaftsinformatik, Fachbereich MND</a:t>
            </a:r>
            <a:endParaRPr lang="en-US" sz="868" dirty="0">
              <a:solidFill>
                <a:srgbClr val="5B6A70"/>
              </a:solidFill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41572510-505A-D0EF-B0FA-97F712D2634F}"/>
              </a:ext>
            </a:extLst>
          </p:cNvPr>
          <p:cNvSpPr txBox="1"/>
          <p:nvPr/>
        </p:nvSpPr>
        <p:spPr>
          <a:xfrm>
            <a:off x="700651" y="3131046"/>
            <a:ext cx="2072362" cy="529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964" i="1" dirty="0">
                <a:solidFill>
                  <a:srgbClr val="4A5C66"/>
                </a:solidFill>
                <a:latin typeface="Calibri" panose="020F0502020204030204" pitchFamily="34" charset="0"/>
                <a:ea typeface="Cambria" pitchFamily="34" charset="-122"/>
                <a:cs typeface="Cambria" pitchFamily="34" charset="-120"/>
              </a:rPr>
              <a:t>„Ich akzeptiere Software sofort, wenn sie mir Zeit spart.“</a:t>
            </a:r>
            <a:endParaRPr lang="en-US" sz="964" dirty="0">
              <a:solidFill>
                <a:srgbClr val="4A5C66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89470F6E-D530-1900-8C3D-A638DAE955E6}"/>
              </a:ext>
            </a:extLst>
          </p:cNvPr>
          <p:cNvSpPr txBox="1"/>
          <p:nvPr/>
        </p:nvSpPr>
        <p:spPr>
          <a:xfrm>
            <a:off x="700651" y="3704253"/>
            <a:ext cx="2072362" cy="837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193"/>
              </a:spcAft>
            </a:pPr>
            <a:r>
              <a:rPr lang="en-US" sz="820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Alter: 50 Jahre</a:t>
            </a:r>
            <a:endParaRPr lang="en-US" sz="820" dirty="0">
              <a:solidFill>
                <a:srgbClr val="2F3E46"/>
              </a:solidFill>
            </a:endParaRPr>
          </a:p>
          <a:p>
            <a:pPr>
              <a:spcAft>
                <a:spcPts val="193"/>
              </a:spcAft>
            </a:pPr>
            <a:r>
              <a:rPr lang="en-US" sz="820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Ort: THM Friedberg</a:t>
            </a:r>
            <a:endParaRPr lang="en-US" sz="820" dirty="0">
              <a:solidFill>
                <a:srgbClr val="2F3E46"/>
              </a:solidFill>
            </a:endParaRPr>
          </a:p>
          <a:p>
            <a:pPr>
              <a:spcAft>
                <a:spcPts val="193"/>
              </a:spcAft>
            </a:pPr>
            <a:r>
              <a:rPr lang="en-US" sz="820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der Hochschule seit: über 10 Jahren</a:t>
            </a:r>
            <a:endParaRPr lang="en-US" sz="820" dirty="0">
              <a:solidFill>
                <a:srgbClr val="2F3E46"/>
              </a:solidFill>
            </a:endParaRPr>
          </a:p>
          <a:p>
            <a:pPr>
              <a:spcAft>
                <a:spcPts val="193"/>
              </a:spcAft>
            </a:pPr>
            <a:r>
              <a:rPr lang="en-US" sz="820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Betreut 10 bis 16 Arbeiten pro Semester</a:t>
            </a:r>
            <a:endParaRPr lang="en-US" sz="820" dirty="0">
              <a:solidFill>
                <a:srgbClr val="2F3E46"/>
              </a:solidFill>
            </a:endParaRPr>
          </a:p>
          <a:p>
            <a:pPr>
              <a:spcAft>
                <a:spcPts val="193"/>
              </a:spcAft>
            </a:pPr>
            <a:r>
              <a:rPr lang="en-US" sz="820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Geräte: Büro-PC, privates iPad, Smartphone</a:t>
            </a:r>
            <a:endParaRPr lang="en-US" sz="820" dirty="0">
              <a:solidFill>
                <a:srgbClr val="2F3E46"/>
              </a:solidFill>
            </a:endParaRP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243BD322-8B61-3896-3B62-DC49017EE3F6}"/>
              </a:ext>
            </a:extLst>
          </p:cNvPr>
          <p:cNvSpPr/>
          <p:nvPr/>
        </p:nvSpPr>
        <p:spPr>
          <a:xfrm>
            <a:off x="3213941" y="864675"/>
            <a:ext cx="229283" cy="229283"/>
          </a:xfrm>
          <a:prstGeom prst="ellipse">
            <a:avLst/>
          </a:prstGeom>
          <a:solidFill>
            <a:srgbClr val="4A5C66"/>
          </a:solidFill>
          <a:ln w="12700">
            <a:solidFill>
              <a:srgbClr val="80BA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24C1F4C2-61CF-8443-7958-A5452006F9FC}"/>
              </a:ext>
            </a:extLst>
          </p:cNvPr>
          <p:cNvSpPr txBox="1"/>
          <p:nvPr/>
        </p:nvSpPr>
        <p:spPr>
          <a:xfrm>
            <a:off x="3213941" y="864675"/>
            <a:ext cx="229283" cy="2292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68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ED0ECC7D-83C9-0671-25C6-0C6676A4492A}"/>
              </a:ext>
            </a:extLst>
          </p:cNvPr>
          <p:cNvSpPr txBox="1"/>
          <p:nvPr/>
        </p:nvSpPr>
        <p:spPr>
          <a:xfrm>
            <a:off x="3531410" y="838220"/>
            <a:ext cx="2284008" cy="282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6" b="1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Ziele</a:t>
            </a:r>
            <a:endParaRPr lang="en-US" sz="1206" dirty="0">
              <a:solidFill>
                <a:srgbClr val="4A5C66"/>
              </a:solidFill>
            </a:endParaRP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CAC5CAD7-60EA-9099-A186-6FD78BAA333D}"/>
              </a:ext>
            </a:extLst>
          </p:cNvPr>
          <p:cNvSpPr txBox="1"/>
          <p:nvPr/>
        </p:nvSpPr>
        <p:spPr>
          <a:xfrm>
            <a:off x="3258035" y="1173325"/>
            <a:ext cx="2557383" cy="1190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46975" indent="-146975">
              <a:spcAft>
                <a:spcPts val="289"/>
              </a:spcAft>
              <a:buSzPct val="100000"/>
              <a:buChar char="•"/>
            </a:pPr>
            <a:r>
              <a:rPr lang="en-US" sz="916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Betreuung mit einem Klick bestätigen</a:t>
            </a:r>
            <a:endParaRPr lang="en-US" sz="916" dirty="0">
              <a:solidFill>
                <a:srgbClr val="2F3E46"/>
              </a:solidFill>
            </a:endParaRPr>
          </a:p>
          <a:p>
            <a:pPr marL="146975" indent="-146975">
              <a:spcAft>
                <a:spcPts val="289"/>
              </a:spcAft>
              <a:buSzPct val="100000"/>
              <a:buChar char="•"/>
            </a:pPr>
            <a:r>
              <a:rPr lang="en-US" sz="916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Freigabe geht ohne Medienbruch direkt weiter</a:t>
            </a:r>
            <a:endParaRPr lang="en-US" sz="916" dirty="0">
              <a:solidFill>
                <a:srgbClr val="2F3E46"/>
              </a:solidFill>
            </a:endParaRPr>
          </a:p>
          <a:p>
            <a:pPr marL="146975" indent="-146975">
              <a:spcAft>
                <a:spcPts val="289"/>
              </a:spcAft>
              <a:buSzPct val="100000"/>
              <a:buChar char="•"/>
            </a:pPr>
            <a:r>
              <a:rPr lang="en-US" sz="916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Übersicht aller laufenden Arbeiten, um Engpässe zu vermeiden</a:t>
            </a:r>
            <a:endParaRPr lang="en-US" sz="916" dirty="0">
              <a:solidFill>
                <a:srgbClr val="2F3E46"/>
              </a:solidFill>
            </a:endParaRPr>
          </a:p>
          <a:p>
            <a:pPr marL="146975" indent="-146975">
              <a:spcAft>
                <a:spcPts val="289"/>
              </a:spcAft>
              <a:buSzPct val="100000"/>
              <a:buChar char="•"/>
            </a:pPr>
            <a:r>
              <a:rPr lang="en-US" sz="916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 für inhaltliche Betreuung statt Bürokratie</a:t>
            </a:r>
            <a:endParaRPr lang="en-US" sz="916" dirty="0">
              <a:solidFill>
                <a:srgbClr val="2F3E46"/>
              </a:solidFill>
            </a:endParaRPr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40868D9C-297B-5FE4-1740-A3E11FBAD092}"/>
              </a:ext>
            </a:extLst>
          </p:cNvPr>
          <p:cNvSpPr/>
          <p:nvPr/>
        </p:nvSpPr>
        <p:spPr>
          <a:xfrm>
            <a:off x="5947696" y="864675"/>
            <a:ext cx="229283" cy="229283"/>
          </a:xfrm>
          <a:prstGeom prst="ellipse">
            <a:avLst/>
          </a:prstGeom>
          <a:solidFill>
            <a:srgbClr val="4A5C66"/>
          </a:solidFill>
          <a:ln w="12700">
            <a:solidFill>
              <a:srgbClr val="80BA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1808EAF9-1CD2-3FF8-4205-B48323CCF4C6}"/>
              </a:ext>
            </a:extLst>
          </p:cNvPr>
          <p:cNvSpPr txBox="1"/>
          <p:nvPr/>
        </p:nvSpPr>
        <p:spPr>
          <a:xfrm>
            <a:off x="5947696" y="864675"/>
            <a:ext cx="229283" cy="2292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68" dirty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8468D955-BDCE-4357-4DFB-DB8BDB3E9E7A}"/>
              </a:ext>
            </a:extLst>
          </p:cNvPr>
          <p:cNvSpPr txBox="1"/>
          <p:nvPr/>
        </p:nvSpPr>
        <p:spPr>
          <a:xfrm>
            <a:off x="6265164" y="838220"/>
            <a:ext cx="2284008" cy="282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6" b="1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Eigenschaften und Verhalten</a:t>
            </a:r>
            <a:endParaRPr lang="en-US" sz="1206" dirty="0">
              <a:solidFill>
                <a:srgbClr val="4A5C66"/>
              </a:solidFill>
            </a:endParaRPr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99802A64-7255-D598-927D-8E93CBBD4AB3}"/>
              </a:ext>
            </a:extLst>
          </p:cNvPr>
          <p:cNvSpPr txBox="1"/>
          <p:nvPr/>
        </p:nvSpPr>
        <p:spPr>
          <a:xfrm>
            <a:off x="5991789" y="1173325"/>
            <a:ext cx="2557383" cy="1190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46975" indent="-146975">
              <a:spcAft>
                <a:spcPts val="289"/>
              </a:spcAft>
              <a:buSzPct val="100000"/>
              <a:buChar char="•"/>
            </a:pPr>
            <a:r>
              <a:rPr lang="en-US" sz="916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Hohe Betreuungsbereitschaft, engagiert in Lehre und Praxis</a:t>
            </a:r>
            <a:endParaRPr lang="en-US" sz="916" dirty="0">
              <a:solidFill>
                <a:srgbClr val="2F3E46"/>
              </a:solidFill>
            </a:endParaRPr>
          </a:p>
          <a:p>
            <a:pPr marL="146975" indent="-146975">
              <a:spcAft>
                <a:spcPts val="289"/>
              </a:spcAft>
              <a:buSzPct val="100000"/>
              <a:buChar char="•"/>
            </a:pPr>
            <a:r>
              <a:rPr lang="en-US" sz="916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Betreut neben Vorlesungen und Forschungsprojekten</a:t>
            </a:r>
            <a:endParaRPr lang="en-US" sz="916" dirty="0">
              <a:solidFill>
                <a:srgbClr val="2F3E46"/>
              </a:solidFill>
            </a:endParaRPr>
          </a:p>
          <a:p>
            <a:pPr marL="146975" indent="-146975">
              <a:spcAft>
                <a:spcPts val="289"/>
              </a:spcAft>
              <a:buSzPct val="100000"/>
              <a:buChar char="•"/>
            </a:pPr>
            <a:r>
              <a:rPr lang="en-US" sz="916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Arbeitet viel asynchron von unterwegs</a:t>
            </a:r>
            <a:endParaRPr lang="en-US" sz="916" dirty="0">
              <a:solidFill>
                <a:srgbClr val="2F3E46"/>
              </a:solidFill>
            </a:endParaRPr>
          </a:p>
          <a:p>
            <a:pPr marL="146975" indent="-146975">
              <a:spcAft>
                <a:spcPts val="289"/>
              </a:spcAft>
              <a:buSzPct val="100000"/>
              <a:buChar char="•"/>
            </a:pPr>
            <a:r>
              <a:rPr lang="en-US" sz="916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Erst- oder Zweitprüfer:in, je nach Arbeit</a:t>
            </a:r>
            <a:endParaRPr lang="en-US" sz="916" dirty="0">
              <a:solidFill>
                <a:srgbClr val="2F3E46"/>
              </a:solidFill>
            </a:endParaRPr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7113E281-1340-4CF4-8843-F50B52DD7E37}"/>
              </a:ext>
            </a:extLst>
          </p:cNvPr>
          <p:cNvSpPr/>
          <p:nvPr/>
        </p:nvSpPr>
        <p:spPr>
          <a:xfrm>
            <a:off x="3213941" y="2496109"/>
            <a:ext cx="229283" cy="229283"/>
          </a:xfrm>
          <a:prstGeom prst="ellipse">
            <a:avLst/>
          </a:prstGeom>
          <a:solidFill>
            <a:srgbClr val="4A5C66"/>
          </a:solidFill>
          <a:ln w="12700">
            <a:solidFill>
              <a:srgbClr val="80BA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E0F3E63C-1139-0DE9-EC35-AD3E854C33FD}"/>
              </a:ext>
            </a:extLst>
          </p:cNvPr>
          <p:cNvSpPr txBox="1"/>
          <p:nvPr/>
        </p:nvSpPr>
        <p:spPr>
          <a:xfrm>
            <a:off x="3213941" y="2496109"/>
            <a:ext cx="229283" cy="2292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68" dirty="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01960747-9FD0-EF81-AA56-8992BCDDF438}"/>
              </a:ext>
            </a:extLst>
          </p:cNvPr>
          <p:cNvSpPr txBox="1"/>
          <p:nvPr/>
        </p:nvSpPr>
        <p:spPr>
          <a:xfrm>
            <a:off x="3531410" y="2469654"/>
            <a:ext cx="2284008" cy="282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6" b="1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Frustrationen</a:t>
            </a:r>
            <a:endParaRPr lang="en-US" sz="1206" dirty="0">
              <a:solidFill>
                <a:srgbClr val="4A5C66"/>
              </a:solidFill>
            </a:endParaRPr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17591C9F-5C36-1FEC-E02C-9737FE942BD8}"/>
              </a:ext>
            </a:extLst>
          </p:cNvPr>
          <p:cNvSpPr txBox="1"/>
          <p:nvPr/>
        </p:nvSpPr>
        <p:spPr>
          <a:xfrm>
            <a:off x="3258035" y="2804759"/>
            <a:ext cx="2557383" cy="1190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46975" indent="-146975">
              <a:spcAft>
                <a:spcPts val="289"/>
              </a:spcAft>
              <a:buSzPct val="100000"/>
              <a:buChar char="•"/>
            </a:pPr>
            <a:r>
              <a:rPr lang="en-US" sz="916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Unleserliche Scans und fehlerhaft ausgefüllte Anträge</a:t>
            </a:r>
            <a:endParaRPr lang="en-US" sz="916" dirty="0">
              <a:solidFill>
                <a:srgbClr val="2F3E46"/>
              </a:solidFill>
            </a:endParaRPr>
          </a:p>
          <a:p>
            <a:pPr marL="146975" indent="-146975">
              <a:spcAft>
                <a:spcPts val="289"/>
              </a:spcAft>
              <a:buSzPct val="100000"/>
              <a:buChar char="•"/>
            </a:pPr>
            <a:r>
              <a:rPr lang="en-US" sz="916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Freigaben gehen im vollen Postfach unter</a:t>
            </a:r>
            <a:endParaRPr lang="en-US" sz="916" dirty="0">
              <a:solidFill>
                <a:srgbClr val="2F3E46"/>
              </a:solidFill>
            </a:endParaRPr>
          </a:p>
          <a:p>
            <a:pPr marL="146975" indent="-146975">
              <a:spcAft>
                <a:spcPts val="289"/>
              </a:spcAft>
              <a:buSzPct val="100000"/>
              <a:buChar char="•"/>
            </a:pPr>
            <a:r>
              <a:rPr lang="en-US" sz="916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Mühsame Abstimmung mit externen Zweitprüfer:innen ohne THM-Konto</a:t>
            </a:r>
            <a:endParaRPr lang="en-US" sz="916" dirty="0">
              <a:solidFill>
                <a:srgbClr val="2F3E46"/>
              </a:solidFill>
            </a:endParaRPr>
          </a:p>
          <a:p>
            <a:pPr marL="146975" indent="-146975">
              <a:spcAft>
                <a:spcPts val="289"/>
              </a:spcAft>
              <a:buSzPct val="100000"/>
              <a:buChar char="•"/>
            </a:pPr>
            <a:r>
              <a:rPr lang="en-US" sz="916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Überblick über Zeitplan und Begründung bei Verlängerungen</a:t>
            </a:r>
            <a:endParaRPr lang="en-US" sz="916" dirty="0">
              <a:solidFill>
                <a:srgbClr val="2F3E46"/>
              </a:solidFill>
            </a:endParaRPr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0CFEBAD4-0238-A1CF-C40F-7482DC912039}"/>
              </a:ext>
            </a:extLst>
          </p:cNvPr>
          <p:cNvSpPr/>
          <p:nvPr/>
        </p:nvSpPr>
        <p:spPr>
          <a:xfrm>
            <a:off x="5947696" y="2496109"/>
            <a:ext cx="229283" cy="229283"/>
          </a:xfrm>
          <a:prstGeom prst="ellipse">
            <a:avLst/>
          </a:prstGeom>
          <a:solidFill>
            <a:srgbClr val="4A5C66"/>
          </a:solidFill>
          <a:ln w="12700">
            <a:solidFill>
              <a:srgbClr val="80BA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3609BDEB-F885-B325-23FF-9B28BC6B69CD}"/>
              </a:ext>
            </a:extLst>
          </p:cNvPr>
          <p:cNvSpPr txBox="1"/>
          <p:nvPr/>
        </p:nvSpPr>
        <p:spPr>
          <a:xfrm>
            <a:off x="5947696" y="2496109"/>
            <a:ext cx="229283" cy="2292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68" dirty="0"/>
          </a:p>
        </p:txBody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9A3F0372-6EB8-0B1D-A165-A1991708FD97}"/>
              </a:ext>
            </a:extLst>
          </p:cNvPr>
          <p:cNvSpPr txBox="1"/>
          <p:nvPr/>
        </p:nvSpPr>
        <p:spPr>
          <a:xfrm>
            <a:off x="6265164" y="2469654"/>
            <a:ext cx="2284008" cy="282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6" b="1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Nutzungsüberwindung</a:t>
            </a:r>
            <a:endParaRPr lang="en-US" sz="1206" dirty="0">
              <a:solidFill>
                <a:srgbClr val="4A5C66"/>
              </a:solidFill>
            </a:endParaRPr>
          </a:p>
        </p:txBody>
      </p:sp>
      <p:sp>
        <p:nvSpPr>
          <p:cNvPr id="27" name="Text 23">
            <a:extLst>
              <a:ext uri="{FF2B5EF4-FFF2-40B4-BE49-F238E27FC236}">
                <a16:creationId xmlns:a16="http://schemas.microsoft.com/office/drawing/2014/main" id="{C4D6BD1B-5F74-12ED-2633-678671066A1A}"/>
              </a:ext>
            </a:extLst>
          </p:cNvPr>
          <p:cNvSpPr txBox="1"/>
          <p:nvPr/>
        </p:nvSpPr>
        <p:spPr>
          <a:xfrm>
            <a:off x="5991789" y="2804759"/>
            <a:ext cx="2557383" cy="1190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46975" indent="-146975">
              <a:spcAft>
                <a:spcPts val="289"/>
              </a:spcAft>
              <a:buSzPct val="100000"/>
              <a:buChar char="•"/>
            </a:pPr>
            <a:r>
              <a:rPr lang="en-US" sz="916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Spart spürbar Zeit gegenüber PDF und E-Mail</a:t>
            </a:r>
            <a:endParaRPr lang="en-US" sz="916" dirty="0">
              <a:solidFill>
                <a:srgbClr val="2F3E46"/>
              </a:solidFill>
            </a:endParaRPr>
          </a:p>
          <a:p>
            <a:pPr marL="146975" indent="-146975">
              <a:spcAft>
                <a:spcPts val="289"/>
              </a:spcAft>
              <a:buSzPct val="100000"/>
              <a:buChar char="•"/>
            </a:pPr>
            <a:r>
              <a:rPr lang="en-US" sz="916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Intuitiv bedienbar, ohne Schulung</a:t>
            </a:r>
            <a:endParaRPr lang="en-US" sz="916" dirty="0">
              <a:solidFill>
                <a:srgbClr val="2F3E46"/>
              </a:solidFill>
            </a:endParaRPr>
          </a:p>
          <a:p>
            <a:pPr marL="146975" indent="-146975">
              <a:spcAft>
                <a:spcPts val="289"/>
              </a:spcAft>
              <a:buSzPct val="100000"/>
              <a:buChar char="•"/>
            </a:pPr>
            <a:r>
              <a:rPr lang="en-US" sz="916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überkomplizierten Masken</a:t>
            </a:r>
            <a:endParaRPr lang="en-US" sz="916" dirty="0">
              <a:solidFill>
                <a:srgbClr val="2F3E46"/>
              </a:solidFill>
            </a:endParaRPr>
          </a:p>
          <a:p>
            <a:pPr marL="146975" indent="-146975">
              <a:spcAft>
                <a:spcPts val="289"/>
              </a:spcAft>
              <a:buSzPct val="100000"/>
              <a:buChar char="•"/>
            </a:pPr>
            <a:r>
              <a:rPr lang="en-US" sz="916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Funktioniert auch auf iPad und Smartphone</a:t>
            </a:r>
            <a:endParaRPr lang="en-US" sz="916" dirty="0">
              <a:solidFill>
                <a:srgbClr val="2F3E46"/>
              </a:solidFill>
            </a:endParaRPr>
          </a:p>
        </p:txBody>
      </p:sp>
      <p:sp>
        <p:nvSpPr>
          <p:cNvPr id="28" name="Text 24">
            <a:extLst>
              <a:ext uri="{FF2B5EF4-FFF2-40B4-BE49-F238E27FC236}">
                <a16:creationId xmlns:a16="http://schemas.microsoft.com/office/drawing/2014/main" id="{DF962774-A330-3656-6543-0633880FADE6}"/>
              </a:ext>
            </a:extLst>
          </p:cNvPr>
          <p:cNvSpPr txBox="1"/>
          <p:nvPr/>
        </p:nvSpPr>
        <p:spPr>
          <a:xfrm>
            <a:off x="3213942" y="4162818"/>
            <a:ext cx="970042" cy="220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68" b="1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Technikaffinität</a:t>
            </a:r>
            <a:endParaRPr lang="en-US" sz="868" dirty="0">
              <a:solidFill>
                <a:srgbClr val="5B6A70"/>
              </a:solidFill>
            </a:endParaRPr>
          </a:p>
        </p:txBody>
      </p:sp>
      <p:sp>
        <p:nvSpPr>
          <p:cNvPr id="29" name="Shape 25">
            <a:extLst>
              <a:ext uri="{FF2B5EF4-FFF2-40B4-BE49-F238E27FC236}">
                <a16:creationId xmlns:a16="http://schemas.microsoft.com/office/drawing/2014/main" id="{66FE1408-CD2F-0CE9-7ECC-24B38A437EF4}"/>
              </a:ext>
            </a:extLst>
          </p:cNvPr>
          <p:cNvSpPr/>
          <p:nvPr/>
        </p:nvSpPr>
        <p:spPr>
          <a:xfrm>
            <a:off x="4034680" y="4206911"/>
            <a:ext cx="132278" cy="132278"/>
          </a:xfrm>
          <a:prstGeom prst="ellipse">
            <a:avLst/>
          </a:prstGeom>
          <a:solidFill>
            <a:srgbClr val="4A5C66"/>
          </a:solidFill>
          <a:ln w="12700">
            <a:solidFill>
              <a:srgbClr val="80BA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0" name="Shape 26">
            <a:extLst>
              <a:ext uri="{FF2B5EF4-FFF2-40B4-BE49-F238E27FC236}">
                <a16:creationId xmlns:a16="http://schemas.microsoft.com/office/drawing/2014/main" id="{4B123E6E-D65B-73D4-254F-D30A6ADAAF7C}"/>
              </a:ext>
            </a:extLst>
          </p:cNvPr>
          <p:cNvSpPr/>
          <p:nvPr/>
        </p:nvSpPr>
        <p:spPr>
          <a:xfrm>
            <a:off x="4202233" y="4206911"/>
            <a:ext cx="132278" cy="132278"/>
          </a:xfrm>
          <a:prstGeom prst="ellipse">
            <a:avLst/>
          </a:prstGeom>
          <a:solidFill>
            <a:srgbClr val="4A5C66"/>
          </a:solidFill>
          <a:ln w="12700">
            <a:solidFill>
              <a:srgbClr val="80BA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1" name="Shape 27">
            <a:extLst>
              <a:ext uri="{FF2B5EF4-FFF2-40B4-BE49-F238E27FC236}">
                <a16:creationId xmlns:a16="http://schemas.microsoft.com/office/drawing/2014/main" id="{F59690F0-8122-277E-5D3E-EAC3E0D85619}"/>
              </a:ext>
            </a:extLst>
          </p:cNvPr>
          <p:cNvSpPr/>
          <p:nvPr/>
        </p:nvSpPr>
        <p:spPr>
          <a:xfrm>
            <a:off x="4369785" y="4206911"/>
            <a:ext cx="132278" cy="132278"/>
          </a:xfrm>
          <a:prstGeom prst="ellipse">
            <a:avLst/>
          </a:prstGeom>
          <a:solidFill>
            <a:srgbClr val="4A5C66"/>
          </a:solidFill>
          <a:ln w="12700">
            <a:solidFill>
              <a:srgbClr val="80BA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2" name="Shape 28">
            <a:extLst>
              <a:ext uri="{FF2B5EF4-FFF2-40B4-BE49-F238E27FC236}">
                <a16:creationId xmlns:a16="http://schemas.microsoft.com/office/drawing/2014/main" id="{262F14A7-645F-FCB5-42D3-0BE54531EF00}"/>
              </a:ext>
            </a:extLst>
          </p:cNvPr>
          <p:cNvSpPr/>
          <p:nvPr/>
        </p:nvSpPr>
        <p:spPr>
          <a:xfrm>
            <a:off x="4537338" y="4206911"/>
            <a:ext cx="132278" cy="132278"/>
          </a:xfrm>
          <a:prstGeom prst="ellipse">
            <a:avLst/>
          </a:prstGeom>
          <a:solidFill>
            <a:srgbClr val="4A5C66"/>
          </a:solidFill>
          <a:ln w="12700">
            <a:solidFill>
              <a:srgbClr val="80BA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3" name="Shape 29">
            <a:extLst>
              <a:ext uri="{FF2B5EF4-FFF2-40B4-BE49-F238E27FC236}">
                <a16:creationId xmlns:a16="http://schemas.microsoft.com/office/drawing/2014/main" id="{EA601E2D-4958-B3DC-EA11-6CB05EC65270}"/>
              </a:ext>
            </a:extLst>
          </p:cNvPr>
          <p:cNvSpPr/>
          <p:nvPr/>
        </p:nvSpPr>
        <p:spPr>
          <a:xfrm>
            <a:off x="4704891" y="4206911"/>
            <a:ext cx="132278" cy="132278"/>
          </a:xfrm>
          <a:prstGeom prst="ellipse">
            <a:avLst/>
          </a:prstGeom>
          <a:solidFill>
            <a:srgbClr val="D5E3B5"/>
          </a:solidFill>
          <a:ln w="12700">
            <a:solidFill>
              <a:srgbClr val="D5E3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4" name="Text 30">
            <a:extLst>
              <a:ext uri="{FF2B5EF4-FFF2-40B4-BE49-F238E27FC236}">
                <a16:creationId xmlns:a16="http://schemas.microsoft.com/office/drawing/2014/main" id="{DC2E108A-6EEC-D112-BBF4-712C24E29C0B}"/>
              </a:ext>
            </a:extLst>
          </p:cNvPr>
          <p:cNvSpPr txBox="1"/>
          <p:nvPr/>
        </p:nvSpPr>
        <p:spPr>
          <a:xfrm>
            <a:off x="5021747" y="4162818"/>
            <a:ext cx="970042" cy="220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68" b="1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Prozesskenntnis</a:t>
            </a:r>
            <a:endParaRPr lang="en-US" sz="868" dirty="0">
              <a:solidFill>
                <a:srgbClr val="5B6A70"/>
              </a:solidFill>
            </a:endParaRPr>
          </a:p>
        </p:txBody>
      </p:sp>
      <p:sp>
        <p:nvSpPr>
          <p:cNvPr id="35" name="Shape 31">
            <a:extLst>
              <a:ext uri="{FF2B5EF4-FFF2-40B4-BE49-F238E27FC236}">
                <a16:creationId xmlns:a16="http://schemas.microsoft.com/office/drawing/2014/main" id="{BBE7C9B0-F6C7-EF74-B6E6-A261DC4F6ACD}"/>
              </a:ext>
            </a:extLst>
          </p:cNvPr>
          <p:cNvSpPr/>
          <p:nvPr/>
        </p:nvSpPr>
        <p:spPr>
          <a:xfrm>
            <a:off x="5863122" y="4206911"/>
            <a:ext cx="132278" cy="132278"/>
          </a:xfrm>
          <a:prstGeom prst="ellipse">
            <a:avLst/>
          </a:prstGeom>
          <a:solidFill>
            <a:srgbClr val="4A5C66"/>
          </a:solidFill>
          <a:ln w="12700">
            <a:solidFill>
              <a:srgbClr val="80BA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6" name="Shape 32">
            <a:extLst>
              <a:ext uri="{FF2B5EF4-FFF2-40B4-BE49-F238E27FC236}">
                <a16:creationId xmlns:a16="http://schemas.microsoft.com/office/drawing/2014/main" id="{A2022F31-A81F-2795-558D-118CE7D4B911}"/>
              </a:ext>
            </a:extLst>
          </p:cNvPr>
          <p:cNvSpPr/>
          <p:nvPr/>
        </p:nvSpPr>
        <p:spPr>
          <a:xfrm>
            <a:off x="6030675" y="4206911"/>
            <a:ext cx="132278" cy="132278"/>
          </a:xfrm>
          <a:prstGeom prst="ellipse">
            <a:avLst/>
          </a:prstGeom>
          <a:solidFill>
            <a:srgbClr val="4A5C66"/>
          </a:solidFill>
          <a:ln w="12700">
            <a:solidFill>
              <a:srgbClr val="80BA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7" name="Shape 33">
            <a:extLst>
              <a:ext uri="{FF2B5EF4-FFF2-40B4-BE49-F238E27FC236}">
                <a16:creationId xmlns:a16="http://schemas.microsoft.com/office/drawing/2014/main" id="{57741717-FF61-5742-7273-8F42B7E98B52}"/>
              </a:ext>
            </a:extLst>
          </p:cNvPr>
          <p:cNvSpPr/>
          <p:nvPr/>
        </p:nvSpPr>
        <p:spPr>
          <a:xfrm>
            <a:off x="6198229" y="4206911"/>
            <a:ext cx="132278" cy="132278"/>
          </a:xfrm>
          <a:prstGeom prst="ellipse">
            <a:avLst/>
          </a:prstGeom>
          <a:solidFill>
            <a:srgbClr val="4A5C66"/>
          </a:solidFill>
          <a:ln w="12700">
            <a:solidFill>
              <a:srgbClr val="80BA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8" name="Shape 34">
            <a:extLst>
              <a:ext uri="{FF2B5EF4-FFF2-40B4-BE49-F238E27FC236}">
                <a16:creationId xmlns:a16="http://schemas.microsoft.com/office/drawing/2014/main" id="{3530291B-91CF-63E5-AC54-06B4D3B8798B}"/>
              </a:ext>
            </a:extLst>
          </p:cNvPr>
          <p:cNvSpPr/>
          <p:nvPr/>
        </p:nvSpPr>
        <p:spPr>
          <a:xfrm>
            <a:off x="6365780" y="4206911"/>
            <a:ext cx="132278" cy="132278"/>
          </a:xfrm>
          <a:prstGeom prst="ellipse">
            <a:avLst/>
          </a:prstGeom>
          <a:solidFill>
            <a:srgbClr val="4A5C66"/>
          </a:solidFill>
          <a:ln w="12700">
            <a:solidFill>
              <a:srgbClr val="80BA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9" name="Shape 35">
            <a:extLst>
              <a:ext uri="{FF2B5EF4-FFF2-40B4-BE49-F238E27FC236}">
                <a16:creationId xmlns:a16="http://schemas.microsoft.com/office/drawing/2014/main" id="{519FE721-D1B7-7094-E878-52C385CDCF46}"/>
              </a:ext>
            </a:extLst>
          </p:cNvPr>
          <p:cNvSpPr/>
          <p:nvPr/>
        </p:nvSpPr>
        <p:spPr>
          <a:xfrm>
            <a:off x="6533333" y="4206911"/>
            <a:ext cx="132278" cy="132278"/>
          </a:xfrm>
          <a:prstGeom prst="ellipse">
            <a:avLst/>
          </a:prstGeom>
          <a:solidFill>
            <a:srgbClr val="D5E3B5"/>
          </a:solidFill>
          <a:ln w="12700">
            <a:solidFill>
              <a:srgbClr val="D5E3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0" name="Text 36">
            <a:extLst>
              <a:ext uri="{FF2B5EF4-FFF2-40B4-BE49-F238E27FC236}">
                <a16:creationId xmlns:a16="http://schemas.microsoft.com/office/drawing/2014/main" id="{CB87F236-66ED-767A-9966-F2A1E8F66F19}"/>
              </a:ext>
            </a:extLst>
          </p:cNvPr>
          <p:cNvSpPr txBox="1"/>
          <p:nvPr/>
        </p:nvSpPr>
        <p:spPr>
          <a:xfrm>
            <a:off x="6829552" y="4162818"/>
            <a:ext cx="970042" cy="220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68" b="1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Zeitbudget</a:t>
            </a:r>
            <a:endParaRPr lang="en-US" sz="868" dirty="0">
              <a:solidFill>
                <a:srgbClr val="5B6A70"/>
              </a:solidFill>
            </a:endParaRPr>
          </a:p>
        </p:txBody>
      </p:sp>
      <p:sp>
        <p:nvSpPr>
          <p:cNvPr id="41" name="Shape 37">
            <a:extLst>
              <a:ext uri="{FF2B5EF4-FFF2-40B4-BE49-F238E27FC236}">
                <a16:creationId xmlns:a16="http://schemas.microsoft.com/office/drawing/2014/main" id="{C49FB59B-3315-9EEF-4FCE-ED1F9D013776}"/>
              </a:ext>
            </a:extLst>
          </p:cNvPr>
          <p:cNvSpPr/>
          <p:nvPr/>
        </p:nvSpPr>
        <p:spPr>
          <a:xfrm>
            <a:off x="7426452" y="4206911"/>
            <a:ext cx="132278" cy="132278"/>
          </a:xfrm>
          <a:prstGeom prst="ellipse">
            <a:avLst/>
          </a:prstGeom>
          <a:solidFill>
            <a:srgbClr val="4A5C66"/>
          </a:solidFill>
          <a:ln w="12700">
            <a:solidFill>
              <a:srgbClr val="80BA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2" name="Shape 38">
            <a:extLst>
              <a:ext uri="{FF2B5EF4-FFF2-40B4-BE49-F238E27FC236}">
                <a16:creationId xmlns:a16="http://schemas.microsoft.com/office/drawing/2014/main" id="{05F6CDDA-23DE-8D08-F78A-8D6C0DD6ED27}"/>
              </a:ext>
            </a:extLst>
          </p:cNvPr>
          <p:cNvSpPr/>
          <p:nvPr/>
        </p:nvSpPr>
        <p:spPr>
          <a:xfrm>
            <a:off x="7594005" y="4206911"/>
            <a:ext cx="132278" cy="132278"/>
          </a:xfrm>
          <a:prstGeom prst="ellipse">
            <a:avLst/>
          </a:prstGeom>
          <a:solidFill>
            <a:srgbClr val="D5E3B5"/>
          </a:solidFill>
          <a:ln w="12700">
            <a:solidFill>
              <a:srgbClr val="D5E3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3" name="Shape 39">
            <a:extLst>
              <a:ext uri="{FF2B5EF4-FFF2-40B4-BE49-F238E27FC236}">
                <a16:creationId xmlns:a16="http://schemas.microsoft.com/office/drawing/2014/main" id="{372FE4CB-2075-F3F9-9F6C-4D500F075CD9}"/>
              </a:ext>
            </a:extLst>
          </p:cNvPr>
          <p:cNvSpPr/>
          <p:nvPr/>
        </p:nvSpPr>
        <p:spPr>
          <a:xfrm>
            <a:off x="7761558" y="4206911"/>
            <a:ext cx="132278" cy="132278"/>
          </a:xfrm>
          <a:prstGeom prst="ellipse">
            <a:avLst/>
          </a:prstGeom>
          <a:solidFill>
            <a:srgbClr val="D5E3B5"/>
          </a:solidFill>
          <a:ln w="12700">
            <a:solidFill>
              <a:srgbClr val="D5E3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4" name="Shape 40">
            <a:extLst>
              <a:ext uri="{FF2B5EF4-FFF2-40B4-BE49-F238E27FC236}">
                <a16:creationId xmlns:a16="http://schemas.microsoft.com/office/drawing/2014/main" id="{A5DD34A7-CB6C-6410-5F57-4A9925BFEAC9}"/>
              </a:ext>
            </a:extLst>
          </p:cNvPr>
          <p:cNvSpPr/>
          <p:nvPr/>
        </p:nvSpPr>
        <p:spPr>
          <a:xfrm>
            <a:off x="7929111" y="4206911"/>
            <a:ext cx="132278" cy="132278"/>
          </a:xfrm>
          <a:prstGeom prst="ellipse">
            <a:avLst/>
          </a:prstGeom>
          <a:solidFill>
            <a:srgbClr val="D5E3B5"/>
          </a:solidFill>
          <a:ln w="12700">
            <a:solidFill>
              <a:srgbClr val="D5E3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5" name="Shape 41">
            <a:extLst>
              <a:ext uri="{FF2B5EF4-FFF2-40B4-BE49-F238E27FC236}">
                <a16:creationId xmlns:a16="http://schemas.microsoft.com/office/drawing/2014/main" id="{57DA3371-0862-1350-6FFA-98EBC660F1B0}"/>
              </a:ext>
            </a:extLst>
          </p:cNvPr>
          <p:cNvSpPr/>
          <p:nvPr/>
        </p:nvSpPr>
        <p:spPr>
          <a:xfrm>
            <a:off x="8096662" y="4206911"/>
            <a:ext cx="132278" cy="132278"/>
          </a:xfrm>
          <a:prstGeom prst="ellipse">
            <a:avLst/>
          </a:prstGeom>
          <a:solidFill>
            <a:srgbClr val="D5E3B5"/>
          </a:solidFill>
          <a:ln w="12700">
            <a:solidFill>
              <a:srgbClr val="D5E3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6" name="Text 42">
            <a:extLst>
              <a:ext uri="{FF2B5EF4-FFF2-40B4-BE49-F238E27FC236}">
                <a16:creationId xmlns:a16="http://schemas.microsoft.com/office/drawing/2014/main" id="{5B29FF3A-30CE-9946-1507-9CB218981B29}"/>
              </a:ext>
            </a:extLst>
          </p:cNvPr>
          <p:cNvSpPr txBox="1"/>
          <p:nvPr/>
        </p:nvSpPr>
        <p:spPr>
          <a:xfrm>
            <a:off x="3213942" y="4542016"/>
            <a:ext cx="5335230" cy="2204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en-US" sz="723" dirty="0">
                <a:solidFill>
                  <a:srgbClr val="9AA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Engineering – Praxisteil  ·  Personas  ·  Skala 1 = niedrig, 5 = hoch</a:t>
            </a:r>
            <a:endParaRPr lang="en-US" sz="723" dirty="0">
              <a:solidFill>
                <a:srgbClr val="9AA9AE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80B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 3 · PERSONAS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310896"/>
            <a:ext cx="6172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Persona: Prüfungsausschuss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55464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5B6A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F668DFB-AEA6-6DEB-E72F-0E5C5481135D}"/>
              </a:ext>
            </a:extLst>
          </p:cNvPr>
          <p:cNvSpPr/>
          <p:nvPr/>
        </p:nvSpPr>
        <p:spPr>
          <a:xfrm>
            <a:off x="524280" y="838220"/>
            <a:ext cx="2425105" cy="3791982"/>
          </a:xfrm>
          <a:prstGeom prst="roundRect">
            <a:avLst>
              <a:gd name="adj" fmla="val 4364"/>
            </a:avLst>
          </a:prstGeom>
          <a:solidFill>
            <a:srgbClr val="EDF5DC"/>
          </a:solidFill>
          <a:ln w="12700">
            <a:solidFill>
              <a:srgbClr val="EDF5D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0DA993A-9BDC-7476-5A5C-1C1AB7F623FB}"/>
              </a:ext>
            </a:extLst>
          </p:cNvPr>
          <p:cNvSpPr/>
          <p:nvPr/>
        </p:nvSpPr>
        <p:spPr>
          <a:xfrm>
            <a:off x="1097486" y="970498"/>
            <a:ext cx="1278692" cy="1278692"/>
          </a:xfrm>
          <a:prstGeom prst="ellipse">
            <a:avLst/>
          </a:prstGeom>
          <a:solidFill>
            <a:srgbClr val="4A5C66"/>
          </a:solidFill>
          <a:ln w="12700">
            <a:solidFill>
              <a:srgbClr val="80BA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6" name="Image 0" descr="photos/u3.jpg">
            <a:extLst>
              <a:ext uri="{FF2B5EF4-FFF2-40B4-BE49-F238E27FC236}">
                <a16:creationId xmlns:a16="http://schemas.microsoft.com/office/drawing/2014/main" id="{0DE1591E-F398-9AFD-0E6B-6F5419E898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579" y="1014591"/>
            <a:ext cx="1190506" cy="1190506"/>
          </a:xfrm>
          <a:prstGeom prst="ellipse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B356A1B9-CE75-A5AF-5278-7A3E20138587}"/>
              </a:ext>
            </a:extLst>
          </p:cNvPr>
          <p:cNvSpPr txBox="1"/>
          <p:nvPr/>
        </p:nvSpPr>
        <p:spPr>
          <a:xfrm>
            <a:off x="656558" y="2469654"/>
            <a:ext cx="2160548" cy="30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43" b="1" dirty="0">
                <a:solidFill>
                  <a:srgbClr val="2F3E46"/>
                </a:solidFill>
                <a:latin typeface="Calibri" panose="020F0502020204030204" pitchFamily="34" charset="0"/>
                <a:ea typeface="Cambria" pitchFamily="34" charset="-122"/>
                <a:cs typeface="Cambria" pitchFamily="34" charset="-120"/>
              </a:rPr>
              <a:t>Gustav Freimann</a:t>
            </a:r>
            <a:endParaRPr lang="en-US" sz="1543" dirty="0">
              <a:solidFill>
                <a:srgbClr val="2F3E46"/>
              </a:solidFill>
              <a:latin typeface="Calibri" panose="020F0502020204030204" pitchFamily="34" charset="0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8DF25FE7-5D76-CC87-16DE-79971E835C06}"/>
              </a:ext>
            </a:extLst>
          </p:cNvPr>
          <p:cNvSpPr txBox="1"/>
          <p:nvPr/>
        </p:nvSpPr>
        <p:spPr>
          <a:xfrm>
            <a:off x="656558" y="2778303"/>
            <a:ext cx="2160548" cy="30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868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Prüfungsausschussvorsitzender, Fachbereich MND</a:t>
            </a:r>
            <a:endParaRPr lang="en-US" sz="868" dirty="0">
              <a:solidFill>
                <a:srgbClr val="5B6A70"/>
              </a:solidFill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FD8A5190-E935-5849-33B6-838C9C70C978}"/>
              </a:ext>
            </a:extLst>
          </p:cNvPr>
          <p:cNvSpPr txBox="1"/>
          <p:nvPr/>
        </p:nvSpPr>
        <p:spPr>
          <a:xfrm>
            <a:off x="700651" y="3131046"/>
            <a:ext cx="2072362" cy="529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964" i="1" dirty="0">
                <a:solidFill>
                  <a:srgbClr val="4A5C66"/>
                </a:solidFill>
                <a:latin typeface="Calibri" panose="020F0502020204030204" pitchFamily="34" charset="0"/>
                <a:ea typeface="Cambria" pitchFamily="34" charset="-122"/>
                <a:cs typeface="Cambria" pitchFamily="34" charset="-120"/>
              </a:rPr>
              <a:t>„Fehlerfrei und nachvollziehbar geht vor optischen Spielereien.“</a:t>
            </a:r>
            <a:endParaRPr lang="en-US" sz="964" dirty="0">
              <a:solidFill>
                <a:srgbClr val="4A5C66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6B808FED-8AB6-27D3-8024-37BA943AAE29}"/>
              </a:ext>
            </a:extLst>
          </p:cNvPr>
          <p:cNvSpPr txBox="1"/>
          <p:nvPr/>
        </p:nvSpPr>
        <p:spPr>
          <a:xfrm>
            <a:off x="700651" y="3704253"/>
            <a:ext cx="2072362" cy="837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193"/>
              </a:spcAft>
            </a:pPr>
            <a:r>
              <a:rPr lang="en-US" sz="820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Alter: 55 Jahre</a:t>
            </a:r>
            <a:endParaRPr lang="en-US" sz="820" dirty="0">
              <a:solidFill>
                <a:srgbClr val="2F3E46"/>
              </a:solidFill>
            </a:endParaRPr>
          </a:p>
          <a:p>
            <a:pPr>
              <a:spcAft>
                <a:spcPts val="193"/>
              </a:spcAft>
            </a:pPr>
            <a:r>
              <a:rPr lang="en-US" sz="820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Ort: THM Friedberg</a:t>
            </a:r>
            <a:endParaRPr lang="en-US" sz="820" dirty="0">
              <a:solidFill>
                <a:srgbClr val="2F3E46"/>
              </a:solidFill>
            </a:endParaRPr>
          </a:p>
          <a:p>
            <a:pPr>
              <a:spcAft>
                <a:spcPts val="193"/>
              </a:spcAft>
            </a:pPr>
            <a:r>
              <a:rPr lang="en-US" sz="820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Verantwortung: Prüfungsordnungen</a:t>
            </a:r>
            <a:endParaRPr lang="en-US" sz="820" dirty="0">
              <a:solidFill>
                <a:srgbClr val="2F3E46"/>
              </a:solidFill>
            </a:endParaRPr>
          </a:p>
          <a:p>
            <a:pPr>
              <a:spcAft>
                <a:spcPts val="193"/>
              </a:spcAft>
            </a:pPr>
            <a:r>
              <a:rPr lang="en-US" sz="820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Prüft Anträge gesammelt vor Sitzungen</a:t>
            </a:r>
            <a:endParaRPr lang="en-US" sz="820" dirty="0">
              <a:solidFill>
                <a:srgbClr val="2F3E46"/>
              </a:solidFill>
            </a:endParaRPr>
          </a:p>
          <a:p>
            <a:pPr>
              <a:spcAft>
                <a:spcPts val="193"/>
              </a:spcAft>
            </a:pPr>
            <a:r>
              <a:rPr lang="en-US" sz="820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Geräte: Desktop-PC im Hochschulbüro</a:t>
            </a:r>
            <a:endParaRPr lang="en-US" sz="820" dirty="0">
              <a:solidFill>
                <a:srgbClr val="2F3E46"/>
              </a:solidFill>
            </a:endParaRP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BCA511A3-1F68-185B-C22E-0CA67F2D43EE}"/>
              </a:ext>
            </a:extLst>
          </p:cNvPr>
          <p:cNvSpPr/>
          <p:nvPr/>
        </p:nvSpPr>
        <p:spPr>
          <a:xfrm>
            <a:off x="3213941" y="864675"/>
            <a:ext cx="229283" cy="229283"/>
          </a:xfrm>
          <a:prstGeom prst="ellipse">
            <a:avLst/>
          </a:prstGeom>
          <a:solidFill>
            <a:srgbClr val="4A5C66"/>
          </a:solidFill>
          <a:ln w="12700">
            <a:solidFill>
              <a:srgbClr val="80BA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9D2C5A29-494A-F258-8012-E1DBC554A2B4}"/>
              </a:ext>
            </a:extLst>
          </p:cNvPr>
          <p:cNvSpPr txBox="1"/>
          <p:nvPr/>
        </p:nvSpPr>
        <p:spPr>
          <a:xfrm>
            <a:off x="3213941" y="864675"/>
            <a:ext cx="229283" cy="2292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68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72473BB1-A6B0-4851-710E-63C034AB5569}"/>
              </a:ext>
            </a:extLst>
          </p:cNvPr>
          <p:cNvSpPr txBox="1"/>
          <p:nvPr/>
        </p:nvSpPr>
        <p:spPr>
          <a:xfrm>
            <a:off x="3531410" y="838220"/>
            <a:ext cx="2284008" cy="282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6" b="1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Ziele</a:t>
            </a:r>
            <a:endParaRPr lang="en-US" sz="1206" dirty="0">
              <a:solidFill>
                <a:srgbClr val="4A5C66"/>
              </a:solidFill>
            </a:endParaRP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7858A8C2-4818-EB41-2003-55B91A0EA351}"/>
              </a:ext>
            </a:extLst>
          </p:cNvPr>
          <p:cNvSpPr txBox="1"/>
          <p:nvPr/>
        </p:nvSpPr>
        <p:spPr>
          <a:xfrm>
            <a:off x="3258035" y="1173325"/>
            <a:ext cx="2557383" cy="1190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46975" indent="-146975">
              <a:spcAft>
                <a:spcPts val="289"/>
              </a:spcAft>
              <a:buSzPct val="100000"/>
              <a:buChar char="•"/>
            </a:pPr>
            <a:r>
              <a:rPr lang="en-US" sz="916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Abschlussarbeiten rechtssicher nach Prüfungsordnung abwickeln</a:t>
            </a:r>
            <a:endParaRPr lang="en-US" sz="916" dirty="0">
              <a:solidFill>
                <a:srgbClr val="2F3E46"/>
              </a:solidFill>
            </a:endParaRPr>
          </a:p>
          <a:p>
            <a:pPr marL="146975" indent="-146975">
              <a:spcAft>
                <a:spcPts val="289"/>
              </a:spcAft>
              <a:buSzPct val="100000"/>
              <a:buChar char="•"/>
            </a:pPr>
            <a:r>
              <a:rPr lang="en-US" sz="916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Zulassung und Fristen automatisch vorgeprüft</a:t>
            </a:r>
            <a:endParaRPr lang="en-US" sz="916" dirty="0">
              <a:solidFill>
                <a:srgbClr val="2F3E46"/>
              </a:solidFill>
            </a:endParaRPr>
          </a:p>
          <a:p>
            <a:pPr marL="146975" indent="-146975">
              <a:spcAft>
                <a:spcPts val="289"/>
              </a:spcAft>
              <a:buSzPct val="100000"/>
              <a:buChar char="•"/>
            </a:pPr>
            <a:r>
              <a:rPr lang="en-US" sz="916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Einwandfreie Anträge mit einem Klick bewilligen</a:t>
            </a:r>
            <a:endParaRPr lang="en-US" sz="916" dirty="0">
              <a:solidFill>
                <a:srgbClr val="2F3E46"/>
              </a:solidFill>
            </a:endParaRPr>
          </a:p>
          <a:p>
            <a:pPr marL="146975" indent="-146975">
              <a:spcAft>
                <a:spcPts val="289"/>
              </a:spcAft>
              <a:buSzPct val="100000"/>
              <a:buChar char="•"/>
            </a:pPr>
            <a:r>
              <a:rPr lang="en-US" sz="916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Verlängerungen mit Nachweis und neuem Abgabetermin dokumentiert</a:t>
            </a:r>
            <a:endParaRPr lang="en-US" sz="916" dirty="0">
              <a:solidFill>
                <a:srgbClr val="2F3E46"/>
              </a:solidFill>
            </a:endParaRPr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D661AE99-3793-9B4D-33CC-18861931E234}"/>
              </a:ext>
            </a:extLst>
          </p:cNvPr>
          <p:cNvSpPr/>
          <p:nvPr/>
        </p:nvSpPr>
        <p:spPr>
          <a:xfrm>
            <a:off x="5947696" y="864675"/>
            <a:ext cx="229283" cy="229283"/>
          </a:xfrm>
          <a:prstGeom prst="ellipse">
            <a:avLst/>
          </a:prstGeom>
          <a:solidFill>
            <a:srgbClr val="4A5C66"/>
          </a:solidFill>
          <a:ln w="12700">
            <a:solidFill>
              <a:srgbClr val="80BA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AECBCD74-4041-4AE6-074A-D1B7DFE0DD0E}"/>
              </a:ext>
            </a:extLst>
          </p:cNvPr>
          <p:cNvSpPr txBox="1"/>
          <p:nvPr/>
        </p:nvSpPr>
        <p:spPr>
          <a:xfrm>
            <a:off x="5947696" y="864675"/>
            <a:ext cx="229283" cy="2292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68" dirty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65B2EAE4-F277-A6C0-C958-6C91794A7553}"/>
              </a:ext>
            </a:extLst>
          </p:cNvPr>
          <p:cNvSpPr txBox="1"/>
          <p:nvPr/>
        </p:nvSpPr>
        <p:spPr>
          <a:xfrm>
            <a:off x="6265164" y="838220"/>
            <a:ext cx="2284008" cy="282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6" b="1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Eigenschaften und Verhalten</a:t>
            </a:r>
            <a:endParaRPr lang="en-US" sz="1206" dirty="0">
              <a:solidFill>
                <a:srgbClr val="4A5C66"/>
              </a:solidFill>
            </a:endParaRPr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84551C8D-534F-CE7C-6814-6FFC6436A192}"/>
              </a:ext>
            </a:extLst>
          </p:cNvPr>
          <p:cNvSpPr txBox="1"/>
          <p:nvPr/>
        </p:nvSpPr>
        <p:spPr>
          <a:xfrm>
            <a:off x="5991789" y="1173325"/>
            <a:ext cx="2557383" cy="1190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46975" indent="-146975">
              <a:spcAft>
                <a:spcPts val="289"/>
              </a:spcAft>
              <a:buSzPct val="100000"/>
              <a:buChar char="•"/>
            </a:pPr>
            <a:r>
              <a:rPr lang="en-US" sz="916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Trägt die rechtliche Letztverantwortung</a:t>
            </a:r>
            <a:endParaRPr lang="en-US" sz="916" dirty="0">
              <a:solidFill>
                <a:srgbClr val="2F3E46"/>
              </a:solidFill>
            </a:endParaRPr>
          </a:p>
          <a:p>
            <a:pPr marL="146975" indent="-146975">
              <a:spcAft>
                <a:spcPts val="289"/>
              </a:spcAft>
              <a:buSzPct val="100000"/>
              <a:buChar char="•"/>
            </a:pPr>
            <a:r>
              <a:rPr lang="en-US" sz="916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Entscheidet über Zulassung und Verlängerung</a:t>
            </a:r>
            <a:endParaRPr lang="en-US" sz="916" dirty="0">
              <a:solidFill>
                <a:srgbClr val="2F3E46"/>
              </a:solidFill>
            </a:endParaRPr>
          </a:p>
          <a:p>
            <a:pPr marL="146975" indent="-146975">
              <a:spcAft>
                <a:spcPts val="289"/>
              </a:spcAft>
              <a:buSzPct val="100000"/>
              <a:buChar char="•"/>
            </a:pPr>
            <a:r>
              <a:rPr lang="en-US" sz="916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Arbeitet mit tabellarischen Übersichten</a:t>
            </a:r>
            <a:endParaRPr lang="en-US" sz="916" dirty="0">
              <a:solidFill>
                <a:srgbClr val="2F3E46"/>
              </a:solidFill>
            </a:endParaRPr>
          </a:p>
          <a:p>
            <a:pPr marL="146975" indent="-146975">
              <a:spcAft>
                <a:spcPts val="289"/>
              </a:spcAft>
              <a:buSzPct val="100000"/>
              <a:buChar char="•"/>
            </a:pPr>
            <a:r>
              <a:rPr lang="en-US" sz="916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Verlässlichkeit ist wichtiger als Optik</a:t>
            </a:r>
            <a:endParaRPr lang="en-US" sz="916" dirty="0">
              <a:solidFill>
                <a:srgbClr val="2F3E46"/>
              </a:solidFill>
            </a:endParaRPr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2A9FB10A-353B-F40D-21C8-63ECEE0F874E}"/>
              </a:ext>
            </a:extLst>
          </p:cNvPr>
          <p:cNvSpPr/>
          <p:nvPr/>
        </p:nvSpPr>
        <p:spPr>
          <a:xfrm>
            <a:off x="3213941" y="2496109"/>
            <a:ext cx="229283" cy="229283"/>
          </a:xfrm>
          <a:prstGeom prst="ellipse">
            <a:avLst/>
          </a:prstGeom>
          <a:solidFill>
            <a:srgbClr val="4A5C66"/>
          </a:solidFill>
          <a:ln w="12700">
            <a:solidFill>
              <a:srgbClr val="80BA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576AE01C-B9DE-0952-4ABD-3EF16D7299C2}"/>
              </a:ext>
            </a:extLst>
          </p:cNvPr>
          <p:cNvSpPr txBox="1"/>
          <p:nvPr/>
        </p:nvSpPr>
        <p:spPr>
          <a:xfrm>
            <a:off x="3213941" y="2496109"/>
            <a:ext cx="229283" cy="2292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68" dirty="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2C8F4D1B-8004-1584-ABB3-372116ADAC13}"/>
              </a:ext>
            </a:extLst>
          </p:cNvPr>
          <p:cNvSpPr txBox="1"/>
          <p:nvPr/>
        </p:nvSpPr>
        <p:spPr>
          <a:xfrm>
            <a:off x="3531410" y="2469654"/>
            <a:ext cx="2284008" cy="282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6" b="1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Frustrationen</a:t>
            </a:r>
            <a:endParaRPr lang="en-US" sz="1206" dirty="0">
              <a:solidFill>
                <a:srgbClr val="4A5C66"/>
              </a:solidFill>
            </a:endParaRPr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59C7ABD7-2106-52C4-B9E2-1FA941B50FF3}"/>
              </a:ext>
            </a:extLst>
          </p:cNvPr>
          <p:cNvSpPr txBox="1"/>
          <p:nvPr/>
        </p:nvSpPr>
        <p:spPr>
          <a:xfrm>
            <a:off x="3258035" y="2804759"/>
            <a:ext cx="2557383" cy="1190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46975" indent="-146975">
              <a:spcAft>
                <a:spcPts val="289"/>
              </a:spcAft>
              <a:buSzPct val="100000"/>
              <a:buChar char="•"/>
            </a:pPr>
            <a:r>
              <a:rPr lang="en-US" sz="916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Fehlende Unterschriften und unvollständige Formulare</a:t>
            </a:r>
            <a:endParaRPr lang="en-US" sz="916" dirty="0">
              <a:solidFill>
                <a:srgbClr val="2F3E46"/>
              </a:solidFill>
            </a:endParaRPr>
          </a:p>
          <a:p>
            <a:pPr marL="146975" indent="-146975">
              <a:spcAft>
                <a:spcPts val="289"/>
              </a:spcAft>
              <a:buSzPct val="100000"/>
              <a:buChar char="•"/>
            </a:pPr>
            <a:r>
              <a:rPr lang="en-US" sz="916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Points, Bearbeitungszeiten und Fristen von Hand nachrechnen</a:t>
            </a:r>
            <a:endParaRPr lang="en-US" sz="916" dirty="0">
              <a:solidFill>
                <a:srgbClr val="2F3E46"/>
              </a:solidFill>
            </a:endParaRPr>
          </a:p>
          <a:p>
            <a:pPr marL="146975" indent="-146975">
              <a:spcAft>
                <a:spcPts val="289"/>
              </a:spcAft>
              <a:buSzPct val="100000"/>
              <a:buChar char="•"/>
            </a:pPr>
            <a:r>
              <a:rPr lang="en-US" sz="916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Unklare Qualifikationsnachweise externer Zweitprüfer:innen</a:t>
            </a:r>
            <a:endParaRPr lang="en-US" sz="916" dirty="0">
              <a:solidFill>
                <a:srgbClr val="2F3E46"/>
              </a:solidFill>
            </a:endParaRPr>
          </a:p>
          <a:p>
            <a:pPr marL="146975" indent="-146975">
              <a:spcAft>
                <a:spcPts val="289"/>
              </a:spcAft>
              <a:buSzPct val="100000"/>
              <a:buChar char="•"/>
            </a:pPr>
            <a:r>
              <a:rPr lang="en-US" sz="916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Verlängerungsanträge ohne Überblick über bisherige Verzögerungen</a:t>
            </a:r>
            <a:endParaRPr lang="en-US" sz="916" dirty="0">
              <a:solidFill>
                <a:srgbClr val="2F3E46"/>
              </a:solidFill>
            </a:endParaRPr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5175A847-E433-4020-5A91-709F82AA43A9}"/>
              </a:ext>
            </a:extLst>
          </p:cNvPr>
          <p:cNvSpPr/>
          <p:nvPr/>
        </p:nvSpPr>
        <p:spPr>
          <a:xfrm>
            <a:off x="5947696" y="2496109"/>
            <a:ext cx="229283" cy="229283"/>
          </a:xfrm>
          <a:prstGeom prst="ellipse">
            <a:avLst/>
          </a:prstGeom>
          <a:solidFill>
            <a:srgbClr val="4A5C66"/>
          </a:solidFill>
          <a:ln w="12700">
            <a:solidFill>
              <a:srgbClr val="80BA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E589765A-914D-13C7-00A1-E9D7AED972B3}"/>
              </a:ext>
            </a:extLst>
          </p:cNvPr>
          <p:cNvSpPr txBox="1"/>
          <p:nvPr/>
        </p:nvSpPr>
        <p:spPr>
          <a:xfrm>
            <a:off x="5947696" y="2496109"/>
            <a:ext cx="229283" cy="2292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68" dirty="0"/>
          </a:p>
        </p:txBody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05DCD3F8-EF54-44EF-2396-7A7BB2517705}"/>
              </a:ext>
            </a:extLst>
          </p:cNvPr>
          <p:cNvSpPr txBox="1"/>
          <p:nvPr/>
        </p:nvSpPr>
        <p:spPr>
          <a:xfrm>
            <a:off x="6265164" y="2469654"/>
            <a:ext cx="2284008" cy="282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6" b="1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Nutzungsüberwindung</a:t>
            </a:r>
            <a:endParaRPr lang="en-US" sz="1206" dirty="0">
              <a:solidFill>
                <a:srgbClr val="4A5C66"/>
              </a:solidFill>
            </a:endParaRPr>
          </a:p>
        </p:txBody>
      </p:sp>
      <p:sp>
        <p:nvSpPr>
          <p:cNvPr id="27" name="Text 23">
            <a:extLst>
              <a:ext uri="{FF2B5EF4-FFF2-40B4-BE49-F238E27FC236}">
                <a16:creationId xmlns:a16="http://schemas.microsoft.com/office/drawing/2014/main" id="{51365743-25BC-96B8-0FD9-1CFF80A1E674}"/>
              </a:ext>
            </a:extLst>
          </p:cNvPr>
          <p:cNvSpPr txBox="1"/>
          <p:nvPr/>
        </p:nvSpPr>
        <p:spPr>
          <a:xfrm>
            <a:off x="5991789" y="2804759"/>
            <a:ext cx="2557383" cy="1190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46975" indent="-146975">
              <a:spcAft>
                <a:spcPts val="289"/>
              </a:spcAft>
              <a:buSzPct val="100000"/>
              <a:buChar char="•"/>
            </a:pPr>
            <a:r>
              <a:rPr lang="en-US" sz="916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Fehlerfreie, nachvollziehbare Automatisierung</a:t>
            </a:r>
            <a:endParaRPr lang="en-US" sz="916" dirty="0">
              <a:solidFill>
                <a:srgbClr val="2F3E46"/>
              </a:solidFill>
            </a:endParaRPr>
          </a:p>
          <a:p>
            <a:pPr marL="146975" indent="-146975">
              <a:spcAft>
                <a:spcPts val="289"/>
              </a:spcAft>
              <a:buSzPct val="100000"/>
              <a:buChar char="•"/>
            </a:pPr>
            <a:r>
              <a:rPr lang="en-US" sz="916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Lückenloses Protokoll jeder Entscheidung</a:t>
            </a:r>
            <a:endParaRPr lang="en-US" sz="916" dirty="0">
              <a:solidFill>
                <a:srgbClr val="2F3E46"/>
              </a:solidFill>
            </a:endParaRPr>
          </a:p>
          <a:p>
            <a:pPr marL="146975" indent="-146975">
              <a:spcAft>
                <a:spcPts val="289"/>
              </a:spcAft>
              <a:buSzPct val="100000"/>
              <a:buChar char="•"/>
            </a:pPr>
            <a:r>
              <a:rPr lang="en-US" sz="916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Prüfung nach Prüfungsordnung vor der Freigabe</a:t>
            </a:r>
            <a:endParaRPr lang="en-US" sz="916" dirty="0">
              <a:solidFill>
                <a:srgbClr val="2F3E46"/>
              </a:solidFill>
            </a:endParaRPr>
          </a:p>
          <a:p>
            <a:pPr marL="146975" indent="-146975">
              <a:spcAft>
                <a:spcPts val="289"/>
              </a:spcAft>
              <a:buSzPct val="100000"/>
              <a:buChar char="•"/>
            </a:pPr>
            <a:r>
              <a:rPr lang="en-US" sz="916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Übersichten als Vorbereitung für die Sitzung</a:t>
            </a:r>
            <a:endParaRPr lang="en-US" sz="916" dirty="0">
              <a:solidFill>
                <a:srgbClr val="2F3E46"/>
              </a:solidFill>
            </a:endParaRPr>
          </a:p>
        </p:txBody>
      </p:sp>
      <p:sp>
        <p:nvSpPr>
          <p:cNvPr id="28" name="Text 24">
            <a:extLst>
              <a:ext uri="{FF2B5EF4-FFF2-40B4-BE49-F238E27FC236}">
                <a16:creationId xmlns:a16="http://schemas.microsoft.com/office/drawing/2014/main" id="{1041AF49-EB7D-663E-7D3A-8DADBE275758}"/>
              </a:ext>
            </a:extLst>
          </p:cNvPr>
          <p:cNvSpPr txBox="1"/>
          <p:nvPr/>
        </p:nvSpPr>
        <p:spPr>
          <a:xfrm>
            <a:off x="3213942" y="4162818"/>
            <a:ext cx="970042" cy="220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68" b="1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Technikaffinität</a:t>
            </a:r>
            <a:endParaRPr lang="en-US" sz="868" dirty="0">
              <a:solidFill>
                <a:srgbClr val="5B6A70"/>
              </a:solidFill>
            </a:endParaRPr>
          </a:p>
        </p:txBody>
      </p:sp>
      <p:sp>
        <p:nvSpPr>
          <p:cNvPr id="29" name="Shape 25">
            <a:extLst>
              <a:ext uri="{FF2B5EF4-FFF2-40B4-BE49-F238E27FC236}">
                <a16:creationId xmlns:a16="http://schemas.microsoft.com/office/drawing/2014/main" id="{89EF066E-4696-1D80-6DE1-1FE372D7A810}"/>
              </a:ext>
            </a:extLst>
          </p:cNvPr>
          <p:cNvSpPr/>
          <p:nvPr/>
        </p:nvSpPr>
        <p:spPr>
          <a:xfrm>
            <a:off x="4034680" y="4206911"/>
            <a:ext cx="132278" cy="132278"/>
          </a:xfrm>
          <a:prstGeom prst="ellipse">
            <a:avLst/>
          </a:prstGeom>
          <a:solidFill>
            <a:srgbClr val="4A5C66"/>
          </a:solidFill>
          <a:ln w="12700">
            <a:solidFill>
              <a:srgbClr val="80BA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0" name="Shape 26">
            <a:extLst>
              <a:ext uri="{FF2B5EF4-FFF2-40B4-BE49-F238E27FC236}">
                <a16:creationId xmlns:a16="http://schemas.microsoft.com/office/drawing/2014/main" id="{9AD7BC22-5CA4-6799-15DA-2B6591BF628A}"/>
              </a:ext>
            </a:extLst>
          </p:cNvPr>
          <p:cNvSpPr/>
          <p:nvPr/>
        </p:nvSpPr>
        <p:spPr>
          <a:xfrm>
            <a:off x="4202233" y="4206911"/>
            <a:ext cx="132278" cy="132278"/>
          </a:xfrm>
          <a:prstGeom prst="ellipse">
            <a:avLst/>
          </a:prstGeom>
          <a:solidFill>
            <a:srgbClr val="4A5C66"/>
          </a:solidFill>
          <a:ln w="12700">
            <a:solidFill>
              <a:srgbClr val="80BA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1" name="Shape 27">
            <a:extLst>
              <a:ext uri="{FF2B5EF4-FFF2-40B4-BE49-F238E27FC236}">
                <a16:creationId xmlns:a16="http://schemas.microsoft.com/office/drawing/2014/main" id="{BC560960-3253-48A7-978D-D7074DAA92FC}"/>
              </a:ext>
            </a:extLst>
          </p:cNvPr>
          <p:cNvSpPr/>
          <p:nvPr/>
        </p:nvSpPr>
        <p:spPr>
          <a:xfrm>
            <a:off x="4369785" y="4206911"/>
            <a:ext cx="132278" cy="132278"/>
          </a:xfrm>
          <a:prstGeom prst="ellipse">
            <a:avLst/>
          </a:prstGeom>
          <a:solidFill>
            <a:srgbClr val="4A5C66"/>
          </a:solidFill>
          <a:ln w="12700">
            <a:solidFill>
              <a:srgbClr val="80BA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2" name="Shape 28">
            <a:extLst>
              <a:ext uri="{FF2B5EF4-FFF2-40B4-BE49-F238E27FC236}">
                <a16:creationId xmlns:a16="http://schemas.microsoft.com/office/drawing/2014/main" id="{E26048E3-6BF8-7DE1-518A-958599CE36C4}"/>
              </a:ext>
            </a:extLst>
          </p:cNvPr>
          <p:cNvSpPr/>
          <p:nvPr/>
        </p:nvSpPr>
        <p:spPr>
          <a:xfrm>
            <a:off x="4537338" y="4206911"/>
            <a:ext cx="132278" cy="132278"/>
          </a:xfrm>
          <a:prstGeom prst="ellipse">
            <a:avLst/>
          </a:prstGeom>
          <a:solidFill>
            <a:srgbClr val="D5E3B5"/>
          </a:solidFill>
          <a:ln w="12700">
            <a:solidFill>
              <a:srgbClr val="D5E3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3" name="Shape 29">
            <a:extLst>
              <a:ext uri="{FF2B5EF4-FFF2-40B4-BE49-F238E27FC236}">
                <a16:creationId xmlns:a16="http://schemas.microsoft.com/office/drawing/2014/main" id="{0521BB09-392F-7188-FEE2-B69CEDBB800C}"/>
              </a:ext>
            </a:extLst>
          </p:cNvPr>
          <p:cNvSpPr/>
          <p:nvPr/>
        </p:nvSpPr>
        <p:spPr>
          <a:xfrm>
            <a:off x="4704891" y="4206911"/>
            <a:ext cx="132278" cy="132278"/>
          </a:xfrm>
          <a:prstGeom prst="ellipse">
            <a:avLst/>
          </a:prstGeom>
          <a:solidFill>
            <a:srgbClr val="D5E3B5"/>
          </a:solidFill>
          <a:ln w="12700">
            <a:solidFill>
              <a:srgbClr val="D5E3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4" name="Text 30">
            <a:extLst>
              <a:ext uri="{FF2B5EF4-FFF2-40B4-BE49-F238E27FC236}">
                <a16:creationId xmlns:a16="http://schemas.microsoft.com/office/drawing/2014/main" id="{1CDD18EE-7C88-06B2-6A18-CE1AE1901B4A}"/>
              </a:ext>
            </a:extLst>
          </p:cNvPr>
          <p:cNvSpPr txBox="1"/>
          <p:nvPr/>
        </p:nvSpPr>
        <p:spPr>
          <a:xfrm>
            <a:off x="5021747" y="4162818"/>
            <a:ext cx="970042" cy="220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68" b="1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Prozesskenntnis</a:t>
            </a:r>
            <a:endParaRPr lang="en-US" sz="868" dirty="0">
              <a:solidFill>
                <a:srgbClr val="5B6A70"/>
              </a:solidFill>
            </a:endParaRPr>
          </a:p>
        </p:txBody>
      </p:sp>
      <p:sp>
        <p:nvSpPr>
          <p:cNvPr id="35" name="Shape 31">
            <a:extLst>
              <a:ext uri="{FF2B5EF4-FFF2-40B4-BE49-F238E27FC236}">
                <a16:creationId xmlns:a16="http://schemas.microsoft.com/office/drawing/2014/main" id="{6C74D846-3D88-4DEE-71B4-1355A746969E}"/>
              </a:ext>
            </a:extLst>
          </p:cNvPr>
          <p:cNvSpPr/>
          <p:nvPr/>
        </p:nvSpPr>
        <p:spPr>
          <a:xfrm>
            <a:off x="5863122" y="4206911"/>
            <a:ext cx="132278" cy="132278"/>
          </a:xfrm>
          <a:prstGeom prst="ellipse">
            <a:avLst/>
          </a:prstGeom>
          <a:solidFill>
            <a:srgbClr val="4A5C66"/>
          </a:solidFill>
          <a:ln w="12700">
            <a:solidFill>
              <a:srgbClr val="80BA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6" name="Shape 32">
            <a:extLst>
              <a:ext uri="{FF2B5EF4-FFF2-40B4-BE49-F238E27FC236}">
                <a16:creationId xmlns:a16="http://schemas.microsoft.com/office/drawing/2014/main" id="{0A5C4F4D-AACE-74BB-5F94-3A4008FE848E}"/>
              </a:ext>
            </a:extLst>
          </p:cNvPr>
          <p:cNvSpPr/>
          <p:nvPr/>
        </p:nvSpPr>
        <p:spPr>
          <a:xfrm>
            <a:off x="6030675" y="4206911"/>
            <a:ext cx="132278" cy="132278"/>
          </a:xfrm>
          <a:prstGeom prst="ellipse">
            <a:avLst/>
          </a:prstGeom>
          <a:solidFill>
            <a:srgbClr val="4A5C66"/>
          </a:solidFill>
          <a:ln w="12700">
            <a:solidFill>
              <a:srgbClr val="80BA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7" name="Shape 33">
            <a:extLst>
              <a:ext uri="{FF2B5EF4-FFF2-40B4-BE49-F238E27FC236}">
                <a16:creationId xmlns:a16="http://schemas.microsoft.com/office/drawing/2014/main" id="{41D4E6F9-80E0-0A09-0993-50826DFACE89}"/>
              </a:ext>
            </a:extLst>
          </p:cNvPr>
          <p:cNvSpPr/>
          <p:nvPr/>
        </p:nvSpPr>
        <p:spPr>
          <a:xfrm>
            <a:off x="6198229" y="4206911"/>
            <a:ext cx="132278" cy="132278"/>
          </a:xfrm>
          <a:prstGeom prst="ellipse">
            <a:avLst/>
          </a:prstGeom>
          <a:solidFill>
            <a:srgbClr val="4A5C66"/>
          </a:solidFill>
          <a:ln w="12700">
            <a:solidFill>
              <a:srgbClr val="80BA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8" name="Shape 34">
            <a:extLst>
              <a:ext uri="{FF2B5EF4-FFF2-40B4-BE49-F238E27FC236}">
                <a16:creationId xmlns:a16="http://schemas.microsoft.com/office/drawing/2014/main" id="{E6BBA94A-915B-17C3-8CC3-ADE952B9292C}"/>
              </a:ext>
            </a:extLst>
          </p:cNvPr>
          <p:cNvSpPr/>
          <p:nvPr/>
        </p:nvSpPr>
        <p:spPr>
          <a:xfrm>
            <a:off x="6365780" y="4206911"/>
            <a:ext cx="132278" cy="132278"/>
          </a:xfrm>
          <a:prstGeom prst="ellipse">
            <a:avLst/>
          </a:prstGeom>
          <a:solidFill>
            <a:srgbClr val="4A5C66"/>
          </a:solidFill>
          <a:ln w="12700">
            <a:solidFill>
              <a:srgbClr val="80BA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9" name="Shape 35">
            <a:extLst>
              <a:ext uri="{FF2B5EF4-FFF2-40B4-BE49-F238E27FC236}">
                <a16:creationId xmlns:a16="http://schemas.microsoft.com/office/drawing/2014/main" id="{5315BCCD-59C9-38FE-94D6-8594AC6B282D}"/>
              </a:ext>
            </a:extLst>
          </p:cNvPr>
          <p:cNvSpPr/>
          <p:nvPr/>
        </p:nvSpPr>
        <p:spPr>
          <a:xfrm>
            <a:off x="6533333" y="4206911"/>
            <a:ext cx="132278" cy="132278"/>
          </a:xfrm>
          <a:prstGeom prst="ellipse">
            <a:avLst/>
          </a:prstGeom>
          <a:solidFill>
            <a:srgbClr val="4A5C66"/>
          </a:solidFill>
          <a:ln w="12700">
            <a:solidFill>
              <a:srgbClr val="80BA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0" name="Text 36">
            <a:extLst>
              <a:ext uri="{FF2B5EF4-FFF2-40B4-BE49-F238E27FC236}">
                <a16:creationId xmlns:a16="http://schemas.microsoft.com/office/drawing/2014/main" id="{757352D2-FC2A-4B55-7B45-2BFEB6C8FB61}"/>
              </a:ext>
            </a:extLst>
          </p:cNvPr>
          <p:cNvSpPr txBox="1"/>
          <p:nvPr/>
        </p:nvSpPr>
        <p:spPr>
          <a:xfrm>
            <a:off x="6829552" y="4162818"/>
            <a:ext cx="970042" cy="220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68" b="1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Zeitbudget</a:t>
            </a:r>
            <a:endParaRPr lang="en-US" sz="868" dirty="0">
              <a:solidFill>
                <a:srgbClr val="5B6A70"/>
              </a:solidFill>
            </a:endParaRPr>
          </a:p>
        </p:txBody>
      </p:sp>
      <p:sp>
        <p:nvSpPr>
          <p:cNvPr id="41" name="Shape 37">
            <a:extLst>
              <a:ext uri="{FF2B5EF4-FFF2-40B4-BE49-F238E27FC236}">
                <a16:creationId xmlns:a16="http://schemas.microsoft.com/office/drawing/2014/main" id="{16ACE093-B311-2340-D24B-EFBF4BDA646E}"/>
              </a:ext>
            </a:extLst>
          </p:cNvPr>
          <p:cNvSpPr/>
          <p:nvPr/>
        </p:nvSpPr>
        <p:spPr>
          <a:xfrm>
            <a:off x="7426452" y="4206911"/>
            <a:ext cx="132278" cy="132278"/>
          </a:xfrm>
          <a:prstGeom prst="ellipse">
            <a:avLst/>
          </a:prstGeom>
          <a:solidFill>
            <a:srgbClr val="4A5C66"/>
          </a:solidFill>
          <a:ln w="12700">
            <a:solidFill>
              <a:srgbClr val="80BA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2" name="Shape 38">
            <a:extLst>
              <a:ext uri="{FF2B5EF4-FFF2-40B4-BE49-F238E27FC236}">
                <a16:creationId xmlns:a16="http://schemas.microsoft.com/office/drawing/2014/main" id="{A55835DF-3186-5263-6CE3-73EC2DE11105}"/>
              </a:ext>
            </a:extLst>
          </p:cNvPr>
          <p:cNvSpPr/>
          <p:nvPr/>
        </p:nvSpPr>
        <p:spPr>
          <a:xfrm>
            <a:off x="7594005" y="4206911"/>
            <a:ext cx="132278" cy="132278"/>
          </a:xfrm>
          <a:prstGeom prst="ellipse">
            <a:avLst/>
          </a:prstGeom>
          <a:solidFill>
            <a:srgbClr val="4A5C66"/>
          </a:solidFill>
          <a:ln w="12700">
            <a:solidFill>
              <a:srgbClr val="80BA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3" name="Shape 39">
            <a:extLst>
              <a:ext uri="{FF2B5EF4-FFF2-40B4-BE49-F238E27FC236}">
                <a16:creationId xmlns:a16="http://schemas.microsoft.com/office/drawing/2014/main" id="{BD6EAC23-7764-C69D-945E-CC4E3B3AACAA}"/>
              </a:ext>
            </a:extLst>
          </p:cNvPr>
          <p:cNvSpPr/>
          <p:nvPr/>
        </p:nvSpPr>
        <p:spPr>
          <a:xfrm>
            <a:off x="7761558" y="4206911"/>
            <a:ext cx="132278" cy="132278"/>
          </a:xfrm>
          <a:prstGeom prst="ellipse">
            <a:avLst/>
          </a:prstGeom>
          <a:solidFill>
            <a:srgbClr val="D5E3B5"/>
          </a:solidFill>
          <a:ln w="12700">
            <a:solidFill>
              <a:srgbClr val="D5E3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4" name="Shape 40">
            <a:extLst>
              <a:ext uri="{FF2B5EF4-FFF2-40B4-BE49-F238E27FC236}">
                <a16:creationId xmlns:a16="http://schemas.microsoft.com/office/drawing/2014/main" id="{E235419B-0E18-C882-C2BA-4685B9995A5B}"/>
              </a:ext>
            </a:extLst>
          </p:cNvPr>
          <p:cNvSpPr/>
          <p:nvPr/>
        </p:nvSpPr>
        <p:spPr>
          <a:xfrm>
            <a:off x="7929111" y="4206911"/>
            <a:ext cx="132278" cy="132278"/>
          </a:xfrm>
          <a:prstGeom prst="ellipse">
            <a:avLst/>
          </a:prstGeom>
          <a:solidFill>
            <a:srgbClr val="D5E3B5"/>
          </a:solidFill>
          <a:ln w="12700">
            <a:solidFill>
              <a:srgbClr val="D5E3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5" name="Shape 41">
            <a:extLst>
              <a:ext uri="{FF2B5EF4-FFF2-40B4-BE49-F238E27FC236}">
                <a16:creationId xmlns:a16="http://schemas.microsoft.com/office/drawing/2014/main" id="{C3389AFA-62E0-1658-65A6-13852CCEB9ED}"/>
              </a:ext>
            </a:extLst>
          </p:cNvPr>
          <p:cNvSpPr/>
          <p:nvPr/>
        </p:nvSpPr>
        <p:spPr>
          <a:xfrm>
            <a:off x="8096662" y="4206911"/>
            <a:ext cx="132278" cy="132278"/>
          </a:xfrm>
          <a:prstGeom prst="ellipse">
            <a:avLst/>
          </a:prstGeom>
          <a:solidFill>
            <a:srgbClr val="D5E3B5"/>
          </a:solidFill>
          <a:ln w="12700">
            <a:solidFill>
              <a:srgbClr val="D5E3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6" name="Text 42">
            <a:extLst>
              <a:ext uri="{FF2B5EF4-FFF2-40B4-BE49-F238E27FC236}">
                <a16:creationId xmlns:a16="http://schemas.microsoft.com/office/drawing/2014/main" id="{FBD9A875-DC7F-1DAD-C7C7-F251B57B8103}"/>
              </a:ext>
            </a:extLst>
          </p:cNvPr>
          <p:cNvSpPr txBox="1"/>
          <p:nvPr/>
        </p:nvSpPr>
        <p:spPr>
          <a:xfrm>
            <a:off x="3213942" y="4542016"/>
            <a:ext cx="5335230" cy="2204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en-US" sz="723" dirty="0">
                <a:solidFill>
                  <a:srgbClr val="9AA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Engineering – Praxisteil  ·  Personas  ·  Skala 1 = niedrig, 5 = hoch</a:t>
            </a:r>
            <a:endParaRPr lang="en-US" sz="723" dirty="0">
              <a:solidFill>
                <a:srgbClr val="9AA9AE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80B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 3 · PERSONAS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310896"/>
            <a:ext cx="6172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Persona: Dekanat / Prüfungsamt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55464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5B6A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4693920-E7A0-0D27-7240-DF2055815931}"/>
              </a:ext>
            </a:extLst>
          </p:cNvPr>
          <p:cNvSpPr/>
          <p:nvPr/>
        </p:nvSpPr>
        <p:spPr>
          <a:xfrm>
            <a:off x="524280" y="838220"/>
            <a:ext cx="2425105" cy="3791982"/>
          </a:xfrm>
          <a:prstGeom prst="roundRect">
            <a:avLst>
              <a:gd name="adj" fmla="val 4364"/>
            </a:avLst>
          </a:prstGeom>
          <a:solidFill>
            <a:srgbClr val="EDF5DC"/>
          </a:solidFill>
          <a:ln w="12700">
            <a:solidFill>
              <a:srgbClr val="EDF5D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C5325E7-6012-3100-DABA-86CB52326C51}"/>
              </a:ext>
            </a:extLst>
          </p:cNvPr>
          <p:cNvSpPr/>
          <p:nvPr/>
        </p:nvSpPr>
        <p:spPr>
          <a:xfrm>
            <a:off x="1097486" y="970498"/>
            <a:ext cx="1278692" cy="1278692"/>
          </a:xfrm>
          <a:prstGeom prst="ellipse">
            <a:avLst/>
          </a:prstGeom>
          <a:solidFill>
            <a:srgbClr val="4A5C66"/>
          </a:solidFill>
          <a:ln w="12700">
            <a:solidFill>
              <a:srgbClr val="80BA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6" name="Image 0" descr="photos/u4.jpg">
            <a:extLst>
              <a:ext uri="{FF2B5EF4-FFF2-40B4-BE49-F238E27FC236}">
                <a16:creationId xmlns:a16="http://schemas.microsoft.com/office/drawing/2014/main" id="{9763D538-5B10-C1A6-16C8-0AD421CB38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579" y="1014591"/>
            <a:ext cx="1190506" cy="1190506"/>
          </a:xfrm>
          <a:prstGeom prst="ellipse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968C442D-DB3E-E4AF-3EDA-226CE8B581C6}"/>
              </a:ext>
            </a:extLst>
          </p:cNvPr>
          <p:cNvSpPr txBox="1"/>
          <p:nvPr/>
        </p:nvSpPr>
        <p:spPr>
          <a:xfrm>
            <a:off x="656558" y="2469654"/>
            <a:ext cx="2160548" cy="30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43" b="1">
                <a:solidFill>
                  <a:srgbClr val="2F3E46"/>
                </a:solidFill>
                <a:latin typeface="Calibri" panose="020F0502020204030204" pitchFamily="34" charset="0"/>
                <a:ea typeface="Cambria" pitchFamily="34" charset="-122"/>
                <a:cs typeface="Cambria" pitchFamily="34" charset="-120"/>
              </a:rPr>
              <a:t>Selman Cok</a:t>
            </a:r>
            <a:endParaRPr lang="en-US" sz="1543" dirty="0">
              <a:solidFill>
                <a:srgbClr val="2F3E46"/>
              </a:solidFill>
              <a:latin typeface="Calibri" panose="020F0502020204030204" pitchFamily="34" charset="0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C6B9D965-3419-2321-90A6-DFED359759F0}"/>
              </a:ext>
            </a:extLst>
          </p:cNvPr>
          <p:cNvSpPr txBox="1"/>
          <p:nvPr/>
        </p:nvSpPr>
        <p:spPr>
          <a:xfrm>
            <a:off x="656558" y="2778303"/>
            <a:ext cx="2160548" cy="30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de-DE" sz="868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Verwaltungsangestellter im Dekanat / Prüfungsamt, Fachbereich MND</a:t>
            </a:r>
            <a:endParaRPr lang="en-US" sz="868" dirty="0">
              <a:solidFill>
                <a:srgbClr val="5B6A70"/>
              </a:solidFill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CAA3DE9A-39C2-3265-931C-4AAC5990019F}"/>
              </a:ext>
            </a:extLst>
          </p:cNvPr>
          <p:cNvSpPr txBox="1"/>
          <p:nvPr/>
        </p:nvSpPr>
        <p:spPr>
          <a:xfrm>
            <a:off x="700651" y="3131046"/>
            <a:ext cx="2072362" cy="529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964" i="1" dirty="0">
                <a:solidFill>
                  <a:srgbClr val="4A5C66"/>
                </a:solidFill>
                <a:latin typeface="Calibri" panose="020F0502020204030204" pitchFamily="34" charset="0"/>
                <a:ea typeface="Cambria" pitchFamily="34" charset="-122"/>
                <a:cs typeface="Cambria" pitchFamily="34" charset="-120"/>
              </a:rPr>
              <a:t>„Jeden unvollständigen Antrag muss ich dreimal in die Hand nehmen.“</a:t>
            </a:r>
            <a:endParaRPr lang="en-US" sz="964" dirty="0">
              <a:solidFill>
                <a:srgbClr val="4A5C66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E5FFBCF5-06D6-666A-4B82-DE32EBE7B9BD}"/>
              </a:ext>
            </a:extLst>
          </p:cNvPr>
          <p:cNvSpPr txBox="1"/>
          <p:nvPr/>
        </p:nvSpPr>
        <p:spPr>
          <a:xfrm>
            <a:off x="700651" y="3704253"/>
            <a:ext cx="2072362" cy="837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193"/>
              </a:spcAft>
            </a:pPr>
            <a:r>
              <a:rPr lang="en-US" sz="820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Alter: 52 Jahre</a:t>
            </a:r>
            <a:endParaRPr lang="en-US" sz="820" dirty="0">
              <a:solidFill>
                <a:srgbClr val="2F3E46"/>
              </a:solidFill>
            </a:endParaRPr>
          </a:p>
          <a:p>
            <a:pPr>
              <a:spcAft>
                <a:spcPts val="193"/>
              </a:spcAft>
            </a:pPr>
            <a:r>
              <a:rPr lang="en-US" sz="820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Wohnort: Wetzlar</a:t>
            </a:r>
            <a:endParaRPr lang="en-US" sz="820" dirty="0">
              <a:solidFill>
                <a:srgbClr val="2F3E46"/>
              </a:solidFill>
            </a:endParaRPr>
          </a:p>
          <a:p>
            <a:pPr>
              <a:spcAft>
                <a:spcPts val="193"/>
              </a:spcAft>
            </a:pPr>
            <a:r>
              <a:rPr lang="en-US" sz="820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Familienstand: verheiratet, zwei Kinder</a:t>
            </a:r>
            <a:endParaRPr lang="en-US" sz="820" dirty="0">
              <a:solidFill>
                <a:srgbClr val="2F3E46"/>
              </a:solidFill>
            </a:endParaRPr>
          </a:p>
          <a:p>
            <a:pPr>
              <a:spcAft>
                <a:spcPts val="193"/>
              </a:spcAft>
            </a:pPr>
            <a:r>
              <a:rPr lang="en-US" sz="820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FB MND seit: 14 Jahren</a:t>
            </a:r>
            <a:endParaRPr lang="en-US" sz="820" dirty="0">
              <a:solidFill>
                <a:srgbClr val="2F3E46"/>
              </a:solidFill>
            </a:endParaRPr>
          </a:p>
          <a:p>
            <a:pPr>
              <a:spcAft>
                <a:spcPts val="193"/>
              </a:spcAft>
            </a:pPr>
            <a:r>
              <a:rPr lang="en-US" sz="820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Geräte: Desktop-PC, Outlook, Excel, Papierakten</a:t>
            </a:r>
            <a:endParaRPr lang="en-US" sz="820" dirty="0">
              <a:solidFill>
                <a:srgbClr val="2F3E46"/>
              </a:solidFill>
            </a:endParaRP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2D8E1BFF-639C-91A1-5866-8A3871076E4F}"/>
              </a:ext>
            </a:extLst>
          </p:cNvPr>
          <p:cNvSpPr/>
          <p:nvPr/>
        </p:nvSpPr>
        <p:spPr>
          <a:xfrm>
            <a:off x="3213941" y="864675"/>
            <a:ext cx="229283" cy="229283"/>
          </a:xfrm>
          <a:prstGeom prst="ellipse">
            <a:avLst/>
          </a:prstGeom>
          <a:solidFill>
            <a:srgbClr val="4A5C66"/>
          </a:solidFill>
          <a:ln w="12700">
            <a:solidFill>
              <a:srgbClr val="80BA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123F12D4-1465-9DB0-F1F9-1F37A4F76C00}"/>
              </a:ext>
            </a:extLst>
          </p:cNvPr>
          <p:cNvSpPr txBox="1"/>
          <p:nvPr/>
        </p:nvSpPr>
        <p:spPr>
          <a:xfrm>
            <a:off x="3213941" y="864675"/>
            <a:ext cx="229283" cy="2292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68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271CE1B7-927A-1928-F48D-8E09EAD79C32}"/>
              </a:ext>
            </a:extLst>
          </p:cNvPr>
          <p:cNvSpPr txBox="1"/>
          <p:nvPr/>
        </p:nvSpPr>
        <p:spPr>
          <a:xfrm>
            <a:off x="3531410" y="838220"/>
            <a:ext cx="2284008" cy="282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6" b="1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Ziele</a:t>
            </a:r>
            <a:endParaRPr lang="en-US" sz="1206" dirty="0">
              <a:solidFill>
                <a:srgbClr val="4A5C66"/>
              </a:solidFill>
            </a:endParaRP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CB6A4EB3-56E0-0937-BBEE-460CABB48FC1}"/>
              </a:ext>
            </a:extLst>
          </p:cNvPr>
          <p:cNvSpPr txBox="1"/>
          <p:nvPr/>
        </p:nvSpPr>
        <p:spPr>
          <a:xfrm>
            <a:off x="3258035" y="1173325"/>
            <a:ext cx="2557383" cy="1190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46975" indent="-146975">
              <a:spcAft>
                <a:spcPts val="289"/>
              </a:spcAft>
              <a:buSzPct val="100000"/>
              <a:buChar char="•"/>
            </a:pPr>
            <a:r>
              <a:rPr lang="en-US" sz="916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Vollständigkeit eines Antrags auf einen Blick prüfen</a:t>
            </a:r>
            <a:endParaRPr lang="en-US" sz="916" dirty="0">
              <a:solidFill>
                <a:srgbClr val="2F3E46"/>
              </a:solidFill>
            </a:endParaRPr>
          </a:p>
          <a:p>
            <a:pPr marL="146975" indent="-146975">
              <a:spcAft>
                <a:spcPts val="289"/>
              </a:spcAft>
              <a:buSzPct val="100000"/>
              <a:buChar char="•"/>
            </a:pPr>
            <a:r>
              <a:rPr lang="en-US" sz="916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Fristen automatisch berechnen und überwachen</a:t>
            </a:r>
            <a:endParaRPr lang="en-US" sz="916" dirty="0">
              <a:solidFill>
                <a:srgbClr val="2F3E46"/>
              </a:solidFill>
            </a:endParaRPr>
          </a:p>
          <a:p>
            <a:pPr marL="146975" indent="-146975">
              <a:spcAft>
                <a:spcPts val="289"/>
              </a:spcAft>
              <a:buSzPct val="100000"/>
              <a:buChar char="•"/>
            </a:pPr>
            <a:r>
              <a:rPr lang="en-US" sz="916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ohne Mail- und Telefonrunden weitergeben</a:t>
            </a:r>
            <a:endParaRPr lang="en-US" sz="916" dirty="0">
              <a:solidFill>
                <a:srgbClr val="2F3E46"/>
              </a:solidFill>
            </a:endParaRPr>
          </a:p>
          <a:p>
            <a:pPr marL="146975" indent="-146975">
              <a:spcAft>
                <a:spcPts val="289"/>
              </a:spcAft>
              <a:buSzPct val="100000"/>
              <a:buChar char="•"/>
            </a:pPr>
            <a:r>
              <a:rPr lang="en-US" sz="916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Rechtssichere Ablage ohne Papierstapel</a:t>
            </a:r>
            <a:endParaRPr lang="en-US" sz="916" dirty="0">
              <a:solidFill>
                <a:srgbClr val="2F3E46"/>
              </a:solidFill>
            </a:endParaRPr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07DB6860-A0AA-3C21-432B-6C271FA3EAE2}"/>
              </a:ext>
            </a:extLst>
          </p:cNvPr>
          <p:cNvSpPr/>
          <p:nvPr/>
        </p:nvSpPr>
        <p:spPr>
          <a:xfrm>
            <a:off x="5947696" y="864675"/>
            <a:ext cx="229283" cy="229283"/>
          </a:xfrm>
          <a:prstGeom prst="ellipse">
            <a:avLst/>
          </a:prstGeom>
          <a:solidFill>
            <a:srgbClr val="4A5C66"/>
          </a:solidFill>
          <a:ln w="12700">
            <a:solidFill>
              <a:srgbClr val="80BA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84D2A58C-5E01-8B2F-A432-9E64DDA8C11E}"/>
              </a:ext>
            </a:extLst>
          </p:cNvPr>
          <p:cNvSpPr txBox="1"/>
          <p:nvPr/>
        </p:nvSpPr>
        <p:spPr>
          <a:xfrm>
            <a:off x="5947696" y="864675"/>
            <a:ext cx="229283" cy="2292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68" dirty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7DD3BA10-9F17-0CE6-F593-123CD3FFB741}"/>
              </a:ext>
            </a:extLst>
          </p:cNvPr>
          <p:cNvSpPr txBox="1"/>
          <p:nvPr/>
        </p:nvSpPr>
        <p:spPr>
          <a:xfrm>
            <a:off x="6265164" y="838220"/>
            <a:ext cx="2284008" cy="282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6" b="1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Eigenschaften und Verhalten</a:t>
            </a:r>
            <a:endParaRPr lang="en-US" sz="1206" dirty="0">
              <a:solidFill>
                <a:srgbClr val="4A5C66"/>
              </a:solidFill>
            </a:endParaRPr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E148D65D-E469-AD54-9039-1A6CC26F1773}"/>
              </a:ext>
            </a:extLst>
          </p:cNvPr>
          <p:cNvSpPr txBox="1"/>
          <p:nvPr/>
        </p:nvSpPr>
        <p:spPr>
          <a:xfrm>
            <a:off x="5991789" y="1173325"/>
            <a:ext cx="2557383" cy="1190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46975" indent="-146975">
              <a:spcAft>
                <a:spcPts val="289"/>
              </a:spcAft>
              <a:buSzPct val="100000"/>
              <a:buChar char="•"/>
            </a:pPr>
            <a:r>
              <a:rPr lang="en-US" sz="916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Sorgfältig, kennt Prüfungsordnungen auswendig</a:t>
            </a:r>
            <a:endParaRPr lang="en-US" sz="916" dirty="0">
              <a:solidFill>
                <a:srgbClr val="2F3E46"/>
              </a:solidFill>
            </a:endParaRPr>
          </a:p>
          <a:p>
            <a:pPr marL="146975" indent="-146975">
              <a:spcAft>
                <a:spcPts val="289"/>
              </a:spcAft>
              <a:buSzPct val="100000"/>
              <a:buChar char="•"/>
            </a:pPr>
            <a:r>
              <a:rPr lang="en-US" sz="916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Erste Anlaufstelle für Studierende und Prüfende</a:t>
            </a:r>
            <a:endParaRPr lang="en-US" sz="916" dirty="0">
              <a:solidFill>
                <a:srgbClr val="2F3E46"/>
              </a:solidFill>
            </a:endParaRPr>
          </a:p>
          <a:p>
            <a:pPr marL="146975" indent="-146975">
              <a:spcAft>
                <a:spcPts val="289"/>
              </a:spcAft>
              <a:buSzPct val="100000"/>
              <a:buChar char="•"/>
            </a:pPr>
            <a:r>
              <a:rPr lang="en-US" sz="916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Skeptisch bei Neuerungen, offen wenn sie entlasten</a:t>
            </a:r>
            <a:endParaRPr lang="en-US" sz="916" dirty="0">
              <a:solidFill>
                <a:srgbClr val="2F3E46"/>
              </a:solidFill>
            </a:endParaRPr>
          </a:p>
          <a:p>
            <a:pPr marL="146975" indent="-146975">
              <a:spcAft>
                <a:spcPts val="289"/>
              </a:spcAft>
              <a:buSzPct val="100000"/>
              <a:buChar char="•"/>
            </a:pPr>
            <a:r>
              <a:rPr lang="en-US" sz="916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Garten, Nordic Walking, Enkelkind</a:t>
            </a:r>
            <a:endParaRPr lang="en-US" sz="916" dirty="0">
              <a:solidFill>
                <a:srgbClr val="2F3E46"/>
              </a:solidFill>
            </a:endParaRPr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1E3FE15A-2E21-4C16-318D-060C05EED5E7}"/>
              </a:ext>
            </a:extLst>
          </p:cNvPr>
          <p:cNvSpPr/>
          <p:nvPr/>
        </p:nvSpPr>
        <p:spPr>
          <a:xfrm>
            <a:off x="3213941" y="2496109"/>
            <a:ext cx="229283" cy="229283"/>
          </a:xfrm>
          <a:prstGeom prst="ellipse">
            <a:avLst/>
          </a:prstGeom>
          <a:solidFill>
            <a:srgbClr val="4A5C66"/>
          </a:solidFill>
          <a:ln w="12700">
            <a:solidFill>
              <a:srgbClr val="80BA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F55BDB57-152E-CC63-917F-6BA2512B04F0}"/>
              </a:ext>
            </a:extLst>
          </p:cNvPr>
          <p:cNvSpPr txBox="1"/>
          <p:nvPr/>
        </p:nvSpPr>
        <p:spPr>
          <a:xfrm>
            <a:off x="3213941" y="2496109"/>
            <a:ext cx="229283" cy="2292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68" dirty="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43EC6025-AEDB-40AB-7EEA-C1E2829F490B}"/>
              </a:ext>
            </a:extLst>
          </p:cNvPr>
          <p:cNvSpPr txBox="1"/>
          <p:nvPr/>
        </p:nvSpPr>
        <p:spPr>
          <a:xfrm>
            <a:off x="3531410" y="2469654"/>
            <a:ext cx="2284008" cy="282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6" b="1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Frustrationen</a:t>
            </a:r>
            <a:endParaRPr lang="en-US" sz="1206" dirty="0">
              <a:solidFill>
                <a:srgbClr val="4A5C66"/>
              </a:solidFill>
            </a:endParaRPr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3EE9C39C-6C85-A856-0D5A-69B9CC5B2B4A}"/>
              </a:ext>
            </a:extLst>
          </p:cNvPr>
          <p:cNvSpPr txBox="1"/>
          <p:nvPr/>
        </p:nvSpPr>
        <p:spPr>
          <a:xfrm>
            <a:off x="3258035" y="2804759"/>
            <a:ext cx="2557383" cy="1190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46975" indent="-146975">
              <a:spcAft>
                <a:spcPts val="289"/>
              </a:spcAft>
              <a:buSzPct val="100000"/>
              <a:buChar char="•"/>
            </a:pPr>
            <a:r>
              <a:rPr lang="en-US" sz="916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Unleserliche Scans und fehlende Unterschriften</a:t>
            </a:r>
            <a:endParaRPr lang="en-US" sz="916" dirty="0">
              <a:solidFill>
                <a:srgbClr val="2F3E46"/>
              </a:solidFill>
            </a:endParaRPr>
          </a:p>
          <a:p>
            <a:pPr marL="146975" indent="-146975">
              <a:spcAft>
                <a:spcPts val="289"/>
              </a:spcAft>
              <a:buSzPct val="100000"/>
              <a:buChar char="•"/>
            </a:pPr>
            <a:r>
              <a:rPr lang="en-US" sz="916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Fristen aus E-Mails heraussuchen</a:t>
            </a:r>
            <a:endParaRPr lang="en-US" sz="916" dirty="0">
              <a:solidFill>
                <a:srgbClr val="2F3E46"/>
              </a:solidFill>
            </a:endParaRPr>
          </a:p>
          <a:p>
            <a:pPr marL="146975" indent="-146975">
              <a:spcAft>
                <a:spcPts val="289"/>
              </a:spcAft>
              <a:buSzPct val="100000"/>
              <a:buChar char="•"/>
            </a:pPr>
            <a:r>
              <a:rPr lang="en-US" sz="916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Telefonrückfragen binden täglich Stunden</a:t>
            </a:r>
            <a:endParaRPr lang="en-US" sz="916" dirty="0">
              <a:solidFill>
                <a:srgbClr val="2F3E46"/>
              </a:solidFill>
            </a:endParaRPr>
          </a:p>
          <a:p>
            <a:pPr marL="146975" indent="-146975">
              <a:spcAft>
                <a:spcPts val="289"/>
              </a:spcAft>
              <a:buSzPct val="100000"/>
              <a:buChar char="•"/>
            </a:pPr>
            <a:r>
              <a:rPr lang="en-US" sz="916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Sonderfälle nur im eigenen Kopf dokumentiert</a:t>
            </a:r>
            <a:endParaRPr lang="en-US" sz="916" dirty="0">
              <a:solidFill>
                <a:srgbClr val="2F3E46"/>
              </a:solidFill>
            </a:endParaRPr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781F1A04-8C1C-E1BC-F5E2-5D7187995B92}"/>
              </a:ext>
            </a:extLst>
          </p:cNvPr>
          <p:cNvSpPr/>
          <p:nvPr/>
        </p:nvSpPr>
        <p:spPr>
          <a:xfrm>
            <a:off x="5947696" y="2496109"/>
            <a:ext cx="229283" cy="229283"/>
          </a:xfrm>
          <a:prstGeom prst="ellipse">
            <a:avLst/>
          </a:prstGeom>
          <a:solidFill>
            <a:srgbClr val="4A5C66"/>
          </a:solidFill>
          <a:ln w="12700">
            <a:solidFill>
              <a:srgbClr val="80BA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91F63249-AFA8-75BE-235A-4106C33F26D8}"/>
              </a:ext>
            </a:extLst>
          </p:cNvPr>
          <p:cNvSpPr txBox="1"/>
          <p:nvPr/>
        </p:nvSpPr>
        <p:spPr>
          <a:xfrm>
            <a:off x="5947696" y="2496109"/>
            <a:ext cx="229283" cy="2292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68" dirty="0"/>
          </a:p>
        </p:txBody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DC224E33-DE03-F13E-4E8F-D5FE3A91F092}"/>
              </a:ext>
            </a:extLst>
          </p:cNvPr>
          <p:cNvSpPr txBox="1"/>
          <p:nvPr/>
        </p:nvSpPr>
        <p:spPr>
          <a:xfrm>
            <a:off x="6265164" y="2469654"/>
            <a:ext cx="2284008" cy="282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6" b="1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Nutzungsüberwindung</a:t>
            </a:r>
            <a:endParaRPr lang="en-US" sz="1206" dirty="0">
              <a:solidFill>
                <a:srgbClr val="4A5C66"/>
              </a:solidFill>
            </a:endParaRPr>
          </a:p>
        </p:txBody>
      </p:sp>
      <p:sp>
        <p:nvSpPr>
          <p:cNvPr id="27" name="Text 23">
            <a:extLst>
              <a:ext uri="{FF2B5EF4-FFF2-40B4-BE49-F238E27FC236}">
                <a16:creationId xmlns:a16="http://schemas.microsoft.com/office/drawing/2014/main" id="{5E2B4D9E-63CA-75F1-4B21-0DE92F456CE2}"/>
              </a:ext>
            </a:extLst>
          </p:cNvPr>
          <p:cNvSpPr txBox="1"/>
          <p:nvPr/>
        </p:nvSpPr>
        <p:spPr>
          <a:xfrm>
            <a:off x="5991789" y="2804759"/>
            <a:ext cx="2557383" cy="1190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46975" indent="-146975">
              <a:spcAft>
                <a:spcPts val="289"/>
              </a:spcAft>
              <a:buSzPct val="100000"/>
              <a:buChar char="•"/>
            </a:pPr>
            <a:r>
              <a:rPr lang="en-US" sz="916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Läuft zuverlässig und bildet seine Prüfschritte ab</a:t>
            </a:r>
            <a:endParaRPr lang="en-US" sz="916" dirty="0">
              <a:solidFill>
                <a:srgbClr val="2F3E46"/>
              </a:solidFill>
            </a:endParaRPr>
          </a:p>
          <a:p>
            <a:pPr marL="146975" indent="-146975">
              <a:spcAft>
                <a:spcPts val="289"/>
              </a:spcAft>
              <a:buSzPct val="100000"/>
              <a:buChar char="•"/>
            </a:pPr>
            <a:r>
              <a:rPr lang="en-US" sz="916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 und Listen für die Prüfungsverwaltung</a:t>
            </a:r>
            <a:endParaRPr lang="en-US" sz="916" dirty="0">
              <a:solidFill>
                <a:srgbClr val="2F3E46"/>
              </a:solidFill>
            </a:endParaRPr>
          </a:p>
          <a:p>
            <a:pPr marL="146975" indent="-146975">
              <a:spcAft>
                <a:spcPts val="289"/>
              </a:spcAft>
              <a:buSzPct val="100000"/>
              <a:buChar char="•"/>
            </a:pPr>
            <a:r>
              <a:rPr lang="en-US" sz="916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Regeln und Fristen selbst pflegbar</a:t>
            </a:r>
            <a:endParaRPr lang="en-US" sz="916" dirty="0">
              <a:solidFill>
                <a:srgbClr val="2F3E46"/>
              </a:solidFill>
            </a:endParaRPr>
          </a:p>
          <a:p>
            <a:pPr marL="146975" indent="-146975">
              <a:spcAft>
                <a:spcPts val="289"/>
              </a:spcAft>
              <a:buSzPct val="100000"/>
              <a:buChar char="•"/>
            </a:pPr>
            <a:r>
              <a:rPr lang="en-US" sz="916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Kurze Einführung, keine wochenlange Schulung</a:t>
            </a:r>
            <a:endParaRPr lang="en-US" sz="916" dirty="0">
              <a:solidFill>
                <a:srgbClr val="2F3E46"/>
              </a:solidFill>
            </a:endParaRPr>
          </a:p>
        </p:txBody>
      </p:sp>
      <p:sp>
        <p:nvSpPr>
          <p:cNvPr id="28" name="Text 24">
            <a:extLst>
              <a:ext uri="{FF2B5EF4-FFF2-40B4-BE49-F238E27FC236}">
                <a16:creationId xmlns:a16="http://schemas.microsoft.com/office/drawing/2014/main" id="{B49E7C36-9582-6A37-2A81-E0005A9EA227}"/>
              </a:ext>
            </a:extLst>
          </p:cNvPr>
          <p:cNvSpPr txBox="1"/>
          <p:nvPr/>
        </p:nvSpPr>
        <p:spPr>
          <a:xfrm>
            <a:off x="3213942" y="4162818"/>
            <a:ext cx="970042" cy="220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68" b="1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Technikaffinität</a:t>
            </a:r>
            <a:endParaRPr lang="en-US" sz="868" dirty="0">
              <a:solidFill>
                <a:srgbClr val="5B6A70"/>
              </a:solidFill>
            </a:endParaRPr>
          </a:p>
        </p:txBody>
      </p:sp>
      <p:sp>
        <p:nvSpPr>
          <p:cNvPr id="29" name="Shape 25">
            <a:extLst>
              <a:ext uri="{FF2B5EF4-FFF2-40B4-BE49-F238E27FC236}">
                <a16:creationId xmlns:a16="http://schemas.microsoft.com/office/drawing/2014/main" id="{8F8C4099-E780-B51B-A58D-00E7F742A3D8}"/>
              </a:ext>
            </a:extLst>
          </p:cNvPr>
          <p:cNvSpPr/>
          <p:nvPr/>
        </p:nvSpPr>
        <p:spPr>
          <a:xfrm>
            <a:off x="4034680" y="4206911"/>
            <a:ext cx="132278" cy="132278"/>
          </a:xfrm>
          <a:prstGeom prst="ellipse">
            <a:avLst/>
          </a:prstGeom>
          <a:solidFill>
            <a:srgbClr val="4A5C66"/>
          </a:solidFill>
          <a:ln w="12700">
            <a:solidFill>
              <a:srgbClr val="80BA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0" name="Shape 26">
            <a:extLst>
              <a:ext uri="{FF2B5EF4-FFF2-40B4-BE49-F238E27FC236}">
                <a16:creationId xmlns:a16="http://schemas.microsoft.com/office/drawing/2014/main" id="{89DBCF0C-ECCB-7522-D2E4-BCD615223D71}"/>
              </a:ext>
            </a:extLst>
          </p:cNvPr>
          <p:cNvSpPr/>
          <p:nvPr/>
        </p:nvSpPr>
        <p:spPr>
          <a:xfrm>
            <a:off x="4202233" y="4206911"/>
            <a:ext cx="132278" cy="132278"/>
          </a:xfrm>
          <a:prstGeom prst="ellipse">
            <a:avLst/>
          </a:prstGeom>
          <a:solidFill>
            <a:srgbClr val="4A5C66"/>
          </a:solidFill>
          <a:ln w="12700">
            <a:solidFill>
              <a:srgbClr val="80BA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1" name="Shape 27">
            <a:extLst>
              <a:ext uri="{FF2B5EF4-FFF2-40B4-BE49-F238E27FC236}">
                <a16:creationId xmlns:a16="http://schemas.microsoft.com/office/drawing/2014/main" id="{85134297-A58E-39FF-8B67-708105692B9D}"/>
              </a:ext>
            </a:extLst>
          </p:cNvPr>
          <p:cNvSpPr/>
          <p:nvPr/>
        </p:nvSpPr>
        <p:spPr>
          <a:xfrm>
            <a:off x="4369785" y="4206911"/>
            <a:ext cx="132278" cy="132278"/>
          </a:xfrm>
          <a:prstGeom prst="ellipse">
            <a:avLst/>
          </a:prstGeom>
          <a:solidFill>
            <a:srgbClr val="D5E3B5"/>
          </a:solidFill>
          <a:ln w="12700">
            <a:solidFill>
              <a:srgbClr val="D5E3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2" name="Shape 28">
            <a:extLst>
              <a:ext uri="{FF2B5EF4-FFF2-40B4-BE49-F238E27FC236}">
                <a16:creationId xmlns:a16="http://schemas.microsoft.com/office/drawing/2014/main" id="{960C043B-DBE6-2F5B-57B0-201B78C14EF9}"/>
              </a:ext>
            </a:extLst>
          </p:cNvPr>
          <p:cNvSpPr/>
          <p:nvPr/>
        </p:nvSpPr>
        <p:spPr>
          <a:xfrm>
            <a:off x="4537338" y="4206911"/>
            <a:ext cx="132278" cy="132278"/>
          </a:xfrm>
          <a:prstGeom prst="ellipse">
            <a:avLst/>
          </a:prstGeom>
          <a:solidFill>
            <a:srgbClr val="D5E3B5"/>
          </a:solidFill>
          <a:ln w="12700">
            <a:solidFill>
              <a:srgbClr val="D5E3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3" name="Shape 29">
            <a:extLst>
              <a:ext uri="{FF2B5EF4-FFF2-40B4-BE49-F238E27FC236}">
                <a16:creationId xmlns:a16="http://schemas.microsoft.com/office/drawing/2014/main" id="{387FDC0A-3AA1-31E4-ED0F-35E2B318BDE7}"/>
              </a:ext>
            </a:extLst>
          </p:cNvPr>
          <p:cNvSpPr/>
          <p:nvPr/>
        </p:nvSpPr>
        <p:spPr>
          <a:xfrm>
            <a:off x="4704891" y="4206911"/>
            <a:ext cx="132278" cy="132278"/>
          </a:xfrm>
          <a:prstGeom prst="ellipse">
            <a:avLst/>
          </a:prstGeom>
          <a:solidFill>
            <a:srgbClr val="D5E3B5"/>
          </a:solidFill>
          <a:ln w="12700">
            <a:solidFill>
              <a:srgbClr val="D5E3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4" name="Text 30">
            <a:extLst>
              <a:ext uri="{FF2B5EF4-FFF2-40B4-BE49-F238E27FC236}">
                <a16:creationId xmlns:a16="http://schemas.microsoft.com/office/drawing/2014/main" id="{145E3951-F1B5-2A88-6EE0-66E03090B45D}"/>
              </a:ext>
            </a:extLst>
          </p:cNvPr>
          <p:cNvSpPr txBox="1"/>
          <p:nvPr/>
        </p:nvSpPr>
        <p:spPr>
          <a:xfrm>
            <a:off x="5021747" y="4162818"/>
            <a:ext cx="970042" cy="220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68" b="1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Prozesskenntnis</a:t>
            </a:r>
            <a:endParaRPr lang="en-US" sz="868" dirty="0">
              <a:solidFill>
                <a:srgbClr val="5B6A70"/>
              </a:solidFill>
            </a:endParaRPr>
          </a:p>
        </p:txBody>
      </p:sp>
      <p:sp>
        <p:nvSpPr>
          <p:cNvPr id="35" name="Shape 31">
            <a:extLst>
              <a:ext uri="{FF2B5EF4-FFF2-40B4-BE49-F238E27FC236}">
                <a16:creationId xmlns:a16="http://schemas.microsoft.com/office/drawing/2014/main" id="{BD90D70D-F3B6-C575-6F96-5F38B3A06C21}"/>
              </a:ext>
            </a:extLst>
          </p:cNvPr>
          <p:cNvSpPr/>
          <p:nvPr/>
        </p:nvSpPr>
        <p:spPr>
          <a:xfrm>
            <a:off x="5863122" y="4206911"/>
            <a:ext cx="132278" cy="132278"/>
          </a:xfrm>
          <a:prstGeom prst="ellipse">
            <a:avLst/>
          </a:prstGeom>
          <a:solidFill>
            <a:srgbClr val="4A5C66"/>
          </a:solidFill>
          <a:ln w="12700">
            <a:solidFill>
              <a:srgbClr val="80BA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6" name="Shape 32">
            <a:extLst>
              <a:ext uri="{FF2B5EF4-FFF2-40B4-BE49-F238E27FC236}">
                <a16:creationId xmlns:a16="http://schemas.microsoft.com/office/drawing/2014/main" id="{8DC09969-1DD1-50C9-4DAB-0706B43E8809}"/>
              </a:ext>
            </a:extLst>
          </p:cNvPr>
          <p:cNvSpPr/>
          <p:nvPr/>
        </p:nvSpPr>
        <p:spPr>
          <a:xfrm>
            <a:off x="6030675" y="4206911"/>
            <a:ext cx="132278" cy="132278"/>
          </a:xfrm>
          <a:prstGeom prst="ellipse">
            <a:avLst/>
          </a:prstGeom>
          <a:solidFill>
            <a:srgbClr val="4A5C66"/>
          </a:solidFill>
          <a:ln w="12700">
            <a:solidFill>
              <a:srgbClr val="80BA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7" name="Shape 33">
            <a:extLst>
              <a:ext uri="{FF2B5EF4-FFF2-40B4-BE49-F238E27FC236}">
                <a16:creationId xmlns:a16="http://schemas.microsoft.com/office/drawing/2014/main" id="{3B36DED4-8923-A1D5-64F0-B1CC14F3B716}"/>
              </a:ext>
            </a:extLst>
          </p:cNvPr>
          <p:cNvSpPr/>
          <p:nvPr/>
        </p:nvSpPr>
        <p:spPr>
          <a:xfrm>
            <a:off x="6198229" y="4206911"/>
            <a:ext cx="132278" cy="132278"/>
          </a:xfrm>
          <a:prstGeom prst="ellipse">
            <a:avLst/>
          </a:prstGeom>
          <a:solidFill>
            <a:srgbClr val="4A5C66"/>
          </a:solidFill>
          <a:ln w="12700">
            <a:solidFill>
              <a:srgbClr val="80BA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8" name="Shape 34">
            <a:extLst>
              <a:ext uri="{FF2B5EF4-FFF2-40B4-BE49-F238E27FC236}">
                <a16:creationId xmlns:a16="http://schemas.microsoft.com/office/drawing/2014/main" id="{40849726-4E48-D621-9AA1-3244E69AA490}"/>
              </a:ext>
            </a:extLst>
          </p:cNvPr>
          <p:cNvSpPr/>
          <p:nvPr/>
        </p:nvSpPr>
        <p:spPr>
          <a:xfrm>
            <a:off x="6365780" y="4206911"/>
            <a:ext cx="132278" cy="132278"/>
          </a:xfrm>
          <a:prstGeom prst="ellipse">
            <a:avLst/>
          </a:prstGeom>
          <a:solidFill>
            <a:srgbClr val="4A5C66"/>
          </a:solidFill>
          <a:ln w="12700">
            <a:solidFill>
              <a:srgbClr val="80BA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9" name="Shape 35">
            <a:extLst>
              <a:ext uri="{FF2B5EF4-FFF2-40B4-BE49-F238E27FC236}">
                <a16:creationId xmlns:a16="http://schemas.microsoft.com/office/drawing/2014/main" id="{68C4506A-7384-AA3C-5A2E-FD806BE0139E}"/>
              </a:ext>
            </a:extLst>
          </p:cNvPr>
          <p:cNvSpPr/>
          <p:nvPr/>
        </p:nvSpPr>
        <p:spPr>
          <a:xfrm>
            <a:off x="6533333" y="4206911"/>
            <a:ext cx="132278" cy="132278"/>
          </a:xfrm>
          <a:prstGeom prst="ellipse">
            <a:avLst/>
          </a:prstGeom>
          <a:solidFill>
            <a:srgbClr val="4A5C66"/>
          </a:solidFill>
          <a:ln w="12700">
            <a:solidFill>
              <a:srgbClr val="80BA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0" name="Text 36">
            <a:extLst>
              <a:ext uri="{FF2B5EF4-FFF2-40B4-BE49-F238E27FC236}">
                <a16:creationId xmlns:a16="http://schemas.microsoft.com/office/drawing/2014/main" id="{39C3CFB6-2F9F-BFA1-B93C-55A9C8472095}"/>
              </a:ext>
            </a:extLst>
          </p:cNvPr>
          <p:cNvSpPr txBox="1"/>
          <p:nvPr/>
        </p:nvSpPr>
        <p:spPr>
          <a:xfrm>
            <a:off x="6829552" y="4162818"/>
            <a:ext cx="970042" cy="220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68" b="1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Zeitbudget</a:t>
            </a:r>
            <a:endParaRPr lang="en-US" sz="868" dirty="0">
              <a:solidFill>
                <a:srgbClr val="5B6A70"/>
              </a:solidFill>
            </a:endParaRPr>
          </a:p>
        </p:txBody>
      </p:sp>
      <p:sp>
        <p:nvSpPr>
          <p:cNvPr id="41" name="Shape 37">
            <a:extLst>
              <a:ext uri="{FF2B5EF4-FFF2-40B4-BE49-F238E27FC236}">
                <a16:creationId xmlns:a16="http://schemas.microsoft.com/office/drawing/2014/main" id="{07B442D7-0848-4A33-4C66-E327FC80DCBB}"/>
              </a:ext>
            </a:extLst>
          </p:cNvPr>
          <p:cNvSpPr/>
          <p:nvPr/>
        </p:nvSpPr>
        <p:spPr>
          <a:xfrm>
            <a:off x="7426452" y="4206911"/>
            <a:ext cx="132278" cy="132278"/>
          </a:xfrm>
          <a:prstGeom prst="ellipse">
            <a:avLst/>
          </a:prstGeom>
          <a:solidFill>
            <a:srgbClr val="4A5C66"/>
          </a:solidFill>
          <a:ln w="12700">
            <a:solidFill>
              <a:srgbClr val="80BA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2" name="Shape 38">
            <a:extLst>
              <a:ext uri="{FF2B5EF4-FFF2-40B4-BE49-F238E27FC236}">
                <a16:creationId xmlns:a16="http://schemas.microsoft.com/office/drawing/2014/main" id="{8C396023-46A4-FB60-21F8-4624257D1CBB}"/>
              </a:ext>
            </a:extLst>
          </p:cNvPr>
          <p:cNvSpPr/>
          <p:nvPr/>
        </p:nvSpPr>
        <p:spPr>
          <a:xfrm>
            <a:off x="7594005" y="4206911"/>
            <a:ext cx="132278" cy="132278"/>
          </a:xfrm>
          <a:prstGeom prst="ellipse">
            <a:avLst/>
          </a:prstGeom>
          <a:solidFill>
            <a:srgbClr val="4A5C66"/>
          </a:solidFill>
          <a:ln w="12700">
            <a:solidFill>
              <a:srgbClr val="80BA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3" name="Shape 39">
            <a:extLst>
              <a:ext uri="{FF2B5EF4-FFF2-40B4-BE49-F238E27FC236}">
                <a16:creationId xmlns:a16="http://schemas.microsoft.com/office/drawing/2014/main" id="{E0B9E798-F959-886A-5D23-0D10B659DB2A}"/>
              </a:ext>
            </a:extLst>
          </p:cNvPr>
          <p:cNvSpPr/>
          <p:nvPr/>
        </p:nvSpPr>
        <p:spPr>
          <a:xfrm>
            <a:off x="7761558" y="4206911"/>
            <a:ext cx="132278" cy="132278"/>
          </a:xfrm>
          <a:prstGeom prst="ellipse">
            <a:avLst/>
          </a:prstGeom>
          <a:solidFill>
            <a:srgbClr val="D5E3B5"/>
          </a:solidFill>
          <a:ln w="12700">
            <a:solidFill>
              <a:srgbClr val="D5E3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4" name="Shape 40">
            <a:extLst>
              <a:ext uri="{FF2B5EF4-FFF2-40B4-BE49-F238E27FC236}">
                <a16:creationId xmlns:a16="http://schemas.microsoft.com/office/drawing/2014/main" id="{295344C5-900D-9F65-3548-E29C4603368B}"/>
              </a:ext>
            </a:extLst>
          </p:cNvPr>
          <p:cNvSpPr/>
          <p:nvPr/>
        </p:nvSpPr>
        <p:spPr>
          <a:xfrm>
            <a:off x="7929111" y="4206911"/>
            <a:ext cx="132278" cy="132278"/>
          </a:xfrm>
          <a:prstGeom prst="ellipse">
            <a:avLst/>
          </a:prstGeom>
          <a:solidFill>
            <a:srgbClr val="D5E3B5"/>
          </a:solidFill>
          <a:ln w="12700">
            <a:solidFill>
              <a:srgbClr val="D5E3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5" name="Shape 41">
            <a:extLst>
              <a:ext uri="{FF2B5EF4-FFF2-40B4-BE49-F238E27FC236}">
                <a16:creationId xmlns:a16="http://schemas.microsoft.com/office/drawing/2014/main" id="{C7BC2A82-1332-4DE3-97F0-6F21C463F5FD}"/>
              </a:ext>
            </a:extLst>
          </p:cNvPr>
          <p:cNvSpPr/>
          <p:nvPr/>
        </p:nvSpPr>
        <p:spPr>
          <a:xfrm>
            <a:off x="8096662" y="4206911"/>
            <a:ext cx="132278" cy="132278"/>
          </a:xfrm>
          <a:prstGeom prst="ellipse">
            <a:avLst/>
          </a:prstGeom>
          <a:solidFill>
            <a:srgbClr val="D5E3B5"/>
          </a:solidFill>
          <a:ln w="12700">
            <a:solidFill>
              <a:srgbClr val="D5E3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6" name="Text 42">
            <a:extLst>
              <a:ext uri="{FF2B5EF4-FFF2-40B4-BE49-F238E27FC236}">
                <a16:creationId xmlns:a16="http://schemas.microsoft.com/office/drawing/2014/main" id="{6C41D093-BA7A-812D-FDFF-A8AC53302813}"/>
              </a:ext>
            </a:extLst>
          </p:cNvPr>
          <p:cNvSpPr txBox="1"/>
          <p:nvPr/>
        </p:nvSpPr>
        <p:spPr>
          <a:xfrm>
            <a:off x="3213942" y="4542016"/>
            <a:ext cx="5335230" cy="2204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en-US" sz="723" dirty="0">
                <a:solidFill>
                  <a:srgbClr val="9AA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Engineering – Praxisteil  ·  Personas  ·  Skala 1 = niedrig, 5 = hoch</a:t>
            </a:r>
            <a:endParaRPr lang="en-US" sz="723" dirty="0">
              <a:solidFill>
                <a:srgbClr val="9AA9AE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80B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 4 · STORY MAP UND RELEASEPLANUNG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310896"/>
            <a:ext cx="6172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Map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55464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5B6A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1D74363F-0488-796A-EDF5-2B0F075E3ED5}"/>
              </a:ext>
            </a:extLst>
          </p:cNvPr>
          <p:cNvSpPr txBox="1"/>
          <p:nvPr/>
        </p:nvSpPr>
        <p:spPr>
          <a:xfrm>
            <a:off x="413207" y="990600"/>
            <a:ext cx="8364795" cy="5576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94" dirty="0">
                <a:latin typeface="Calibri" panose="020F0502020204030204" pitchFamily="34" charset="0"/>
                <a:ea typeface="Calibri" pitchFamily="34" charset="-122"/>
                <a:cs typeface="Arial" panose="020B0604020202020204" pitchFamily="34" charset="0"/>
              </a:rPr>
              <a:t>Das Portal unterstützt die Beteiligten von der Vorbereitung des </a:t>
            </a:r>
            <a:r>
              <a:rPr lang="en-US" sz="1394">
                <a:latin typeface="Calibri" panose="020F0502020204030204" pitchFamily="34" charset="0"/>
                <a:ea typeface="Calibri" pitchFamily="34" charset="-122"/>
                <a:cs typeface="Arial" panose="020B0604020202020204" pitchFamily="34" charset="0"/>
              </a:rPr>
              <a:t>Antrags bis zur Abschlussdokumentation.</a:t>
            </a:r>
            <a:endParaRPr lang="en-US" sz="1394" dirty="0"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DA98F8AE-E341-B421-FC61-74C87BE840F6}"/>
              </a:ext>
            </a:extLst>
          </p:cNvPr>
          <p:cNvSpPr/>
          <p:nvPr/>
        </p:nvSpPr>
        <p:spPr>
          <a:xfrm>
            <a:off x="365998" y="2185571"/>
            <a:ext cx="2469606" cy="2270444"/>
          </a:xfrm>
          <a:prstGeom prst="roundRect">
            <a:avLst>
              <a:gd name="adj" fmla="val 4706"/>
            </a:avLst>
          </a:prstGeom>
          <a:solidFill>
            <a:srgbClr val="3A4851"/>
          </a:solidFill>
          <a:ln/>
        </p:spPr>
        <p:txBody>
          <a:bodyPr/>
          <a:lstStyle/>
          <a:p>
            <a:endParaRPr lang="de-DE" sz="1568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AA1EA467-06AA-7877-69DD-3F2097219B4A}"/>
              </a:ext>
            </a:extLst>
          </p:cNvPr>
          <p:cNvSpPr txBox="1"/>
          <p:nvPr/>
        </p:nvSpPr>
        <p:spPr>
          <a:xfrm>
            <a:off x="557784" y="2902554"/>
            <a:ext cx="1991618" cy="7169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704" b="1" dirty="0">
                <a:solidFill>
                  <a:srgbClr val="80BA24"/>
                </a:solidFill>
                <a:latin typeface="Calibri" panose="020F0502020204030204" pitchFamily="34" charset="0"/>
                <a:ea typeface="Cambria" pitchFamily="34" charset="-122"/>
                <a:cs typeface="Arial" panose="020B0604020202020204" pitchFamily="34" charset="0"/>
              </a:rPr>
              <a:t>7</a:t>
            </a:r>
            <a:endParaRPr lang="en-US" sz="4704" dirty="0">
              <a:solidFill>
                <a:srgbClr val="80BA24"/>
              </a:solidFill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7506509B-96E7-1308-0074-39752C378D7C}"/>
              </a:ext>
            </a:extLst>
          </p:cNvPr>
          <p:cNvSpPr txBox="1"/>
          <p:nvPr/>
        </p:nvSpPr>
        <p:spPr>
          <a:xfrm>
            <a:off x="604992" y="3743459"/>
            <a:ext cx="1991618" cy="318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94" dirty="0">
                <a:solidFill>
                  <a:srgbClr val="E4EBE7"/>
                </a:solidFill>
                <a:latin typeface="Calibri" panose="020F0502020204030204" pitchFamily="34" charset="0"/>
                <a:ea typeface="Calibri" pitchFamily="34" charset="-122"/>
                <a:cs typeface="Arial" panose="020B0604020202020204" pitchFamily="34" charset="0"/>
              </a:rPr>
              <a:t>Activities</a:t>
            </a:r>
            <a:endParaRPr lang="en-US" sz="1394" dirty="0"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54DC76C1-2526-E9A0-0781-41663E0625C1}"/>
              </a:ext>
            </a:extLst>
          </p:cNvPr>
          <p:cNvSpPr/>
          <p:nvPr/>
        </p:nvSpPr>
        <p:spPr>
          <a:xfrm>
            <a:off x="3074598" y="2185571"/>
            <a:ext cx="2469606" cy="2270444"/>
          </a:xfrm>
          <a:prstGeom prst="roundRect">
            <a:avLst>
              <a:gd name="adj" fmla="val 4706"/>
            </a:avLst>
          </a:prstGeom>
          <a:solidFill>
            <a:srgbClr val="3A4851"/>
          </a:solidFill>
          <a:ln/>
        </p:spPr>
        <p:txBody>
          <a:bodyPr/>
          <a:lstStyle/>
          <a:p>
            <a:endParaRPr lang="de-DE" sz="1568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E7F45903-46DA-8C5A-0F6A-19F998325B45}"/>
              </a:ext>
            </a:extLst>
          </p:cNvPr>
          <p:cNvSpPr txBox="1"/>
          <p:nvPr/>
        </p:nvSpPr>
        <p:spPr>
          <a:xfrm>
            <a:off x="3207373" y="2902554"/>
            <a:ext cx="1991618" cy="7169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704" b="1" dirty="0">
                <a:solidFill>
                  <a:srgbClr val="80BA24"/>
                </a:solidFill>
                <a:latin typeface="Calibri" panose="020F0502020204030204" pitchFamily="34" charset="0"/>
                <a:ea typeface="Cambria" pitchFamily="34" charset="-122"/>
                <a:cs typeface="Arial" panose="020B0604020202020204" pitchFamily="34" charset="0"/>
              </a:rPr>
              <a:t>27</a:t>
            </a:r>
            <a:endParaRPr lang="en-US" sz="4704" dirty="0">
              <a:solidFill>
                <a:srgbClr val="80BA24"/>
              </a:solidFill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03D2B2D6-A97B-2D7D-0C6D-6AC2BE0482C0}"/>
              </a:ext>
            </a:extLst>
          </p:cNvPr>
          <p:cNvSpPr txBox="1"/>
          <p:nvPr/>
        </p:nvSpPr>
        <p:spPr>
          <a:xfrm>
            <a:off x="3313592" y="3719117"/>
            <a:ext cx="1991618" cy="318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94" dirty="0">
                <a:solidFill>
                  <a:srgbClr val="E4EBE7"/>
                </a:solidFill>
                <a:latin typeface="Calibri" panose="020F0502020204030204" pitchFamily="34" charset="0"/>
                <a:ea typeface="Calibri" pitchFamily="34" charset="-122"/>
                <a:cs typeface="Arial" panose="020B0604020202020204" pitchFamily="34" charset="0"/>
              </a:rPr>
              <a:t>User Tasks</a:t>
            </a:r>
            <a:endParaRPr lang="en-US" sz="1394" dirty="0"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10">
            <a:extLst>
              <a:ext uri="{FF2B5EF4-FFF2-40B4-BE49-F238E27FC236}">
                <a16:creationId xmlns:a16="http://schemas.microsoft.com/office/drawing/2014/main" id="{0BB5A7F9-6E41-1E1B-82A0-D272A6282AEA}"/>
              </a:ext>
            </a:extLst>
          </p:cNvPr>
          <p:cNvSpPr/>
          <p:nvPr/>
        </p:nvSpPr>
        <p:spPr>
          <a:xfrm>
            <a:off x="5783199" y="2185571"/>
            <a:ext cx="2469606" cy="2270444"/>
          </a:xfrm>
          <a:prstGeom prst="roundRect">
            <a:avLst>
              <a:gd name="adj" fmla="val 4706"/>
            </a:avLst>
          </a:prstGeom>
          <a:solidFill>
            <a:srgbClr val="3A4851"/>
          </a:solidFill>
          <a:ln/>
        </p:spPr>
        <p:txBody>
          <a:bodyPr/>
          <a:lstStyle/>
          <a:p>
            <a:endParaRPr lang="de-DE" sz="1568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7B690008-D086-6653-0670-0BEDED51D982}"/>
              </a:ext>
            </a:extLst>
          </p:cNvPr>
          <p:cNvSpPr txBox="1"/>
          <p:nvPr/>
        </p:nvSpPr>
        <p:spPr>
          <a:xfrm>
            <a:off x="5972033" y="2902554"/>
            <a:ext cx="1991618" cy="7169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704" b="1" dirty="0">
                <a:solidFill>
                  <a:srgbClr val="80BA24"/>
                </a:solidFill>
                <a:latin typeface="Calibri" panose="020F0502020204030204" pitchFamily="34" charset="0"/>
                <a:ea typeface="Cambria" pitchFamily="34" charset="-122"/>
                <a:cs typeface="Arial" panose="020B0604020202020204" pitchFamily="34" charset="0"/>
              </a:rPr>
              <a:t>66</a:t>
            </a:r>
            <a:endParaRPr lang="en-US" sz="4704" dirty="0">
              <a:solidFill>
                <a:srgbClr val="80BA24"/>
              </a:solidFill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D36787C9-A6EC-70BD-2797-82A93278D004}"/>
              </a:ext>
            </a:extLst>
          </p:cNvPr>
          <p:cNvSpPr txBox="1"/>
          <p:nvPr/>
        </p:nvSpPr>
        <p:spPr>
          <a:xfrm>
            <a:off x="6022193" y="3778865"/>
            <a:ext cx="1991618" cy="318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94" dirty="0">
                <a:solidFill>
                  <a:srgbClr val="E4EBE7"/>
                </a:solidFill>
                <a:latin typeface="Calibri" panose="020F0502020204030204" pitchFamily="34" charset="0"/>
                <a:ea typeface="Calibri" pitchFamily="34" charset="-122"/>
                <a:cs typeface="Arial" panose="020B0604020202020204" pitchFamily="34" charset="0"/>
              </a:rPr>
              <a:t>User Stories</a:t>
            </a:r>
            <a:endParaRPr lang="en-US" sz="1394" dirty="0"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80B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 4 · STORY MAP UND RELEASEPLANUNG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310896"/>
            <a:ext cx="6172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Prozess in sieben Activities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55464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5B6A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217F8663-D940-0219-ED28-5ACCCD65455B}"/>
              </a:ext>
            </a:extLst>
          </p:cNvPr>
          <p:cNvSpPr/>
          <p:nvPr/>
        </p:nvSpPr>
        <p:spPr>
          <a:xfrm>
            <a:off x="365591" y="990600"/>
            <a:ext cx="2011168" cy="1602117"/>
          </a:xfrm>
          <a:prstGeom prst="roundRect">
            <a:avLst>
              <a:gd name="adj" fmla="val 2553"/>
            </a:avLst>
          </a:prstGeom>
          <a:solidFill>
            <a:srgbClr val="E4F2C2"/>
          </a:solidFill>
          <a:ln/>
        </p:spPr>
        <p:txBody>
          <a:bodyPr/>
          <a:lstStyle/>
          <a:p>
            <a:endParaRPr lang="de-DE" sz="1342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5B68EFE9-8E11-B0D2-BA6A-E1F5B68EA770}"/>
              </a:ext>
            </a:extLst>
          </p:cNvPr>
          <p:cNvSpPr/>
          <p:nvPr/>
        </p:nvSpPr>
        <p:spPr>
          <a:xfrm>
            <a:off x="501942" y="1126950"/>
            <a:ext cx="340876" cy="340876"/>
          </a:xfrm>
          <a:prstGeom prst="rect">
            <a:avLst/>
          </a:prstGeom>
          <a:solidFill>
            <a:srgbClr val="80BA24"/>
          </a:solidFill>
          <a:ln/>
        </p:spPr>
        <p:txBody>
          <a:bodyPr/>
          <a:lstStyle/>
          <a:p>
            <a:endParaRPr lang="de-DE" sz="1342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9082401D-AEE9-72F1-C1EB-B0E2A7CF4140}"/>
              </a:ext>
            </a:extLst>
          </p:cNvPr>
          <p:cNvSpPr txBox="1"/>
          <p:nvPr/>
        </p:nvSpPr>
        <p:spPr>
          <a:xfrm>
            <a:off x="501942" y="1126950"/>
            <a:ext cx="340876" cy="34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91" b="1" dirty="0">
                <a:solidFill>
                  <a:srgbClr val="2F3E46"/>
                </a:solidFill>
                <a:latin typeface="Calibri" panose="020F0502020204030204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91" dirty="0">
              <a:solidFill>
                <a:srgbClr val="2F3E46"/>
              </a:solidFill>
              <a:latin typeface="Calibri" panose="020F0502020204030204" pitchFamily="34" charset="0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3DA07299-791D-03CE-8801-C914BD32EFCD}"/>
              </a:ext>
            </a:extLst>
          </p:cNvPr>
          <p:cNvSpPr txBox="1"/>
          <p:nvPr/>
        </p:nvSpPr>
        <p:spPr>
          <a:xfrm>
            <a:off x="501942" y="1570089"/>
            <a:ext cx="1738467" cy="5794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8" b="1" dirty="0">
                <a:solidFill>
                  <a:srgbClr val="2F3E46"/>
                </a:solidFill>
                <a:latin typeface="Calibri" panose="020F0502020204030204" pitchFamily="34" charset="0"/>
                <a:ea typeface="Cambria" pitchFamily="34" charset="-122"/>
                <a:cs typeface="Cambria" pitchFamily="34" charset="-120"/>
              </a:rPr>
              <a:t>Anmeldung der Abschlussarbeit vorbereiten</a:t>
            </a:r>
            <a:endParaRPr lang="en-US" sz="1268" dirty="0">
              <a:solidFill>
                <a:srgbClr val="2F3E46"/>
              </a:solidFill>
              <a:latin typeface="Calibri" panose="020F0502020204030204" pitchFamily="34" charset="0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3E7437FE-3055-E481-7EA9-177EBCC09E47}"/>
              </a:ext>
            </a:extLst>
          </p:cNvPr>
          <p:cNvSpPr txBox="1"/>
          <p:nvPr/>
        </p:nvSpPr>
        <p:spPr>
          <a:xfrm>
            <a:off x="501942" y="2217753"/>
            <a:ext cx="1738467" cy="2386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95" dirty="0">
                <a:solidFill>
                  <a:srgbClr val="465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Tasks · 5 Stories</a:t>
            </a:r>
            <a:endParaRPr lang="en-US" sz="895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2F7E9668-FE6E-DD10-D44B-0FBF6517C574}"/>
              </a:ext>
            </a:extLst>
          </p:cNvPr>
          <p:cNvSpPr/>
          <p:nvPr/>
        </p:nvSpPr>
        <p:spPr>
          <a:xfrm>
            <a:off x="2499475" y="990600"/>
            <a:ext cx="2011168" cy="1602117"/>
          </a:xfrm>
          <a:prstGeom prst="roundRect">
            <a:avLst>
              <a:gd name="adj" fmla="val 2553"/>
            </a:avLst>
          </a:prstGeom>
          <a:solidFill>
            <a:srgbClr val="E4F2C2"/>
          </a:solidFill>
          <a:ln/>
        </p:spPr>
        <p:txBody>
          <a:bodyPr/>
          <a:lstStyle/>
          <a:p>
            <a:endParaRPr lang="de-DE" sz="1342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D292F9CB-FF25-D3B7-AE29-FBC3673AC69C}"/>
              </a:ext>
            </a:extLst>
          </p:cNvPr>
          <p:cNvSpPr/>
          <p:nvPr/>
        </p:nvSpPr>
        <p:spPr>
          <a:xfrm>
            <a:off x="2635825" y="1126950"/>
            <a:ext cx="340876" cy="340876"/>
          </a:xfrm>
          <a:prstGeom prst="rect">
            <a:avLst/>
          </a:prstGeom>
          <a:solidFill>
            <a:srgbClr val="80BA24"/>
          </a:solidFill>
          <a:ln/>
        </p:spPr>
        <p:txBody>
          <a:bodyPr/>
          <a:lstStyle/>
          <a:p>
            <a:endParaRPr lang="de-DE" sz="1342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9BC67F9A-F733-E1DB-1982-811B3186FA6D}"/>
              </a:ext>
            </a:extLst>
          </p:cNvPr>
          <p:cNvSpPr txBox="1"/>
          <p:nvPr/>
        </p:nvSpPr>
        <p:spPr>
          <a:xfrm>
            <a:off x="2635825" y="1126950"/>
            <a:ext cx="340876" cy="34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91" b="1" dirty="0">
                <a:solidFill>
                  <a:srgbClr val="2F3E46"/>
                </a:solidFill>
                <a:latin typeface="Calibri" panose="020F0502020204030204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91" dirty="0">
              <a:solidFill>
                <a:srgbClr val="2F3E46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07FBF1F5-B400-8137-E097-256F4E99AB34}"/>
              </a:ext>
            </a:extLst>
          </p:cNvPr>
          <p:cNvSpPr txBox="1"/>
          <p:nvPr/>
        </p:nvSpPr>
        <p:spPr>
          <a:xfrm>
            <a:off x="2635825" y="1570089"/>
            <a:ext cx="1738467" cy="5794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8" b="1" dirty="0">
                <a:solidFill>
                  <a:srgbClr val="2F3E46"/>
                </a:solidFill>
                <a:latin typeface="Calibri" panose="020F0502020204030204" pitchFamily="34" charset="0"/>
                <a:ea typeface="Cambria" pitchFamily="34" charset="-122"/>
                <a:cs typeface="Cambria" pitchFamily="34" charset="-120"/>
              </a:rPr>
              <a:t>Antragstellung</a:t>
            </a:r>
            <a:endParaRPr lang="en-US" sz="1268" dirty="0">
              <a:solidFill>
                <a:srgbClr val="2F3E46"/>
              </a:solidFill>
              <a:latin typeface="Calibri" panose="020F0502020204030204" pitchFamily="34" charset="0"/>
            </a:endParaRP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637CE70B-6799-12BA-EB09-39F1C909D66B}"/>
              </a:ext>
            </a:extLst>
          </p:cNvPr>
          <p:cNvSpPr txBox="1"/>
          <p:nvPr/>
        </p:nvSpPr>
        <p:spPr>
          <a:xfrm>
            <a:off x="2635825" y="2217753"/>
            <a:ext cx="1738467" cy="2386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95" dirty="0">
                <a:solidFill>
                  <a:srgbClr val="465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Tasks · 13 Stories</a:t>
            </a:r>
            <a:endParaRPr lang="en-US" sz="895" dirty="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986D8829-415E-FD77-0716-83D2D6F591C6}"/>
              </a:ext>
            </a:extLst>
          </p:cNvPr>
          <p:cNvSpPr/>
          <p:nvPr/>
        </p:nvSpPr>
        <p:spPr>
          <a:xfrm>
            <a:off x="4633357" y="990600"/>
            <a:ext cx="2011168" cy="1602117"/>
          </a:xfrm>
          <a:prstGeom prst="roundRect">
            <a:avLst>
              <a:gd name="adj" fmla="val 2553"/>
            </a:avLst>
          </a:prstGeom>
          <a:solidFill>
            <a:srgbClr val="E4F2C2"/>
          </a:solidFill>
          <a:ln/>
        </p:spPr>
        <p:txBody>
          <a:bodyPr/>
          <a:lstStyle/>
          <a:p>
            <a:endParaRPr lang="de-DE" sz="1342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CEC4E415-4A28-3163-3F28-4859337EE442}"/>
              </a:ext>
            </a:extLst>
          </p:cNvPr>
          <p:cNvSpPr/>
          <p:nvPr/>
        </p:nvSpPr>
        <p:spPr>
          <a:xfrm>
            <a:off x="4769708" y="1126950"/>
            <a:ext cx="340876" cy="340876"/>
          </a:xfrm>
          <a:prstGeom prst="rect">
            <a:avLst/>
          </a:prstGeom>
          <a:solidFill>
            <a:srgbClr val="80BA24"/>
          </a:solidFill>
          <a:ln/>
        </p:spPr>
        <p:txBody>
          <a:bodyPr/>
          <a:lstStyle/>
          <a:p>
            <a:endParaRPr lang="de-DE" sz="1342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75914DDE-38C3-EC56-C558-D32281D99800}"/>
              </a:ext>
            </a:extLst>
          </p:cNvPr>
          <p:cNvSpPr txBox="1"/>
          <p:nvPr/>
        </p:nvSpPr>
        <p:spPr>
          <a:xfrm>
            <a:off x="4769708" y="1126950"/>
            <a:ext cx="340876" cy="34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91" b="1" dirty="0">
                <a:solidFill>
                  <a:srgbClr val="2F3E46"/>
                </a:solidFill>
                <a:latin typeface="Calibri" panose="020F0502020204030204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91" dirty="0">
              <a:solidFill>
                <a:srgbClr val="2F3E46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A11CA3E4-621C-94D6-6002-C8B922A214CD}"/>
              </a:ext>
            </a:extLst>
          </p:cNvPr>
          <p:cNvSpPr txBox="1"/>
          <p:nvPr/>
        </p:nvSpPr>
        <p:spPr>
          <a:xfrm>
            <a:off x="4769708" y="1570089"/>
            <a:ext cx="1738467" cy="5794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8" b="1" dirty="0">
                <a:solidFill>
                  <a:srgbClr val="2F3E46"/>
                </a:solidFill>
                <a:latin typeface="Calibri" panose="020F0502020204030204" pitchFamily="34" charset="0"/>
                <a:ea typeface="Cambria" pitchFamily="34" charset="-122"/>
                <a:cs typeface="Cambria" pitchFamily="34" charset="-120"/>
              </a:rPr>
              <a:t>Prüfung des Antrags</a:t>
            </a:r>
            <a:endParaRPr lang="en-US" sz="1268" dirty="0">
              <a:solidFill>
                <a:srgbClr val="2F3E46"/>
              </a:solidFill>
              <a:latin typeface="Calibri" panose="020F0502020204030204" pitchFamily="34" charset="0"/>
            </a:endParaRPr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73A0CAFB-EF58-97CE-7F82-43D9D71E5886}"/>
              </a:ext>
            </a:extLst>
          </p:cNvPr>
          <p:cNvSpPr txBox="1"/>
          <p:nvPr/>
        </p:nvSpPr>
        <p:spPr>
          <a:xfrm>
            <a:off x="4769708" y="2217753"/>
            <a:ext cx="1738467" cy="2386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95" dirty="0">
                <a:solidFill>
                  <a:srgbClr val="465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Tasks · 5 Stories</a:t>
            </a:r>
            <a:endParaRPr lang="en-US" sz="895" dirty="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DCF3B956-6CCE-5693-D3F0-156EEB7D4296}"/>
              </a:ext>
            </a:extLst>
          </p:cNvPr>
          <p:cNvSpPr/>
          <p:nvPr/>
        </p:nvSpPr>
        <p:spPr>
          <a:xfrm>
            <a:off x="6767241" y="990600"/>
            <a:ext cx="2011168" cy="1602117"/>
          </a:xfrm>
          <a:prstGeom prst="roundRect">
            <a:avLst>
              <a:gd name="adj" fmla="val 2553"/>
            </a:avLst>
          </a:prstGeom>
          <a:solidFill>
            <a:srgbClr val="E4F2C2"/>
          </a:solidFill>
          <a:ln/>
        </p:spPr>
        <p:txBody>
          <a:bodyPr/>
          <a:lstStyle/>
          <a:p>
            <a:endParaRPr lang="de-DE" sz="1342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C1D33986-394C-EB74-5E4D-6335727CB7FF}"/>
              </a:ext>
            </a:extLst>
          </p:cNvPr>
          <p:cNvSpPr/>
          <p:nvPr/>
        </p:nvSpPr>
        <p:spPr>
          <a:xfrm>
            <a:off x="6903592" y="1126950"/>
            <a:ext cx="340876" cy="340876"/>
          </a:xfrm>
          <a:prstGeom prst="rect">
            <a:avLst/>
          </a:prstGeom>
          <a:solidFill>
            <a:srgbClr val="80BA24"/>
          </a:solidFill>
          <a:ln/>
        </p:spPr>
        <p:txBody>
          <a:bodyPr/>
          <a:lstStyle/>
          <a:p>
            <a:endParaRPr lang="de-DE" sz="1342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82BE84C9-7D14-2E7B-547F-19EBC890400A}"/>
              </a:ext>
            </a:extLst>
          </p:cNvPr>
          <p:cNvSpPr txBox="1"/>
          <p:nvPr/>
        </p:nvSpPr>
        <p:spPr>
          <a:xfrm>
            <a:off x="6903592" y="1126950"/>
            <a:ext cx="340876" cy="34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91" b="1" dirty="0">
                <a:solidFill>
                  <a:srgbClr val="2F3E46"/>
                </a:solidFill>
                <a:latin typeface="Calibri" panose="020F0502020204030204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91" dirty="0">
              <a:solidFill>
                <a:srgbClr val="2F3E46"/>
              </a:solidFill>
              <a:latin typeface="Calibri" panose="020F0502020204030204" pitchFamily="34" charset="0"/>
            </a:endParaRPr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27A5137C-9BAE-F975-4B81-9F29DB60D352}"/>
              </a:ext>
            </a:extLst>
          </p:cNvPr>
          <p:cNvSpPr txBox="1"/>
          <p:nvPr/>
        </p:nvSpPr>
        <p:spPr>
          <a:xfrm>
            <a:off x="6903592" y="1570089"/>
            <a:ext cx="1738467" cy="5794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8" b="1" dirty="0">
                <a:solidFill>
                  <a:srgbClr val="2F3E46"/>
                </a:solidFill>
                <a:latin typeface="Calibri" panose="020F0502020204030204" pitchFamily="34" charset="0"/>
                <a:ea typeface="Cambria" pitchFamily="34" charset="-122"/>
                <a:cs typeface="Cambria" pitchFamily="34" charset="-120"/>
              </a:rPr>
              <a:t>Ausgabe der Abschlussarbeit</a:t>
            </a:r>
            <a:endParaRPr lang="en-US" sz="1268" dirty="0">
              <a:solidFill>
                <a:srgbClr val="2F3E46"/>
              </a:solidFill>
              <a:latin typeface="Calibri" panose="020F0502020204030204" pitchFamily="34" charset="0"/>
            </a:endParaRPr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56C192BB-5F16-EF9D-779A-0FBAB75E02C5}"/>
              </a:ext>
            </a:extLst>
          </p:cNvPr>
          <p:cNvSpPr txBox="1"/>
          <p:nvPr/>
        </p:nvSpPr>
        <p:spPr>
          <a:xfrm>
            <a:off x="6903592" y="2217753"/>
            <a:ext cx="1738467" cy="2386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95" dirty="0">
                <a:solidFill>
                  <a:srgbClr val="465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Tasks · 6 Stories</a:t>
            </a:r>
            <a:endParaRPr lang="en-US" sz="895" dirty="0"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B4253C48-6CDB-075F-F513-FBEC85563002}"/>
              </a:ext>
            </a:extLst>
          </p:cNvPr>
          <p:cNvSpPr/>
          <p:nvPr/>
        </p:nvSpPr>
        <p:spPr>
          <a:xfrm>
            <a:off x="365591" y="2742702"/>
            <a:ext cx="2011168" cy="1602117"/>
          </a:xfrm>
          <a:prstGeom prst="roundRect">
            <a:avLst>
              <a:gd name="adj" fmla="val 2553"/>
            </a:avLst>
          </a:prstGeom>
          <a:solidFill>
            <a:srgbClr val="E4F2C2"/>
          </a:solidFill>
          <a:ln/>
        </p:spPr>
        <p:txBody>
          <a:bodyPr/>
          <a:lstStyle/>
          <a:p>
            <a:endParaRPr lang="de-DE" sz="1342"/>
          </a:p>
        </p:txBody>
      </p:sp>
      <p:sp>
        <p:nvSpPr>
          <p:cNvPr id="26" name="Shape 22">
            <a:extLst>
              <a:ext uri="{FF2B5EF4-FFF2-40B4-BE49-F238E27FC236}">
                <a16:creationId xmlns:a16="http://schemas.microsoft.com/office/drawing/2014/main" id="{5DF8A59A-DB24-607B-958F-9BA93CD4BDDE}"/>
              </a:ext>
            </a:extLst>
          </p:cNvPr>
          <p:cNvSpPr/>
          <p:nvPr/>
        </p:nvSpPr>
        <p:spPr>
          <a:xfrm>
            <a:off x="501942" y="2879052"/>
            <a:ext cx="340876" cy="340876"/>
          </a:xfrm>
          <a:prstGeom prst="rect">
            <a:avLst/>
          </a:prstGeom>
          <a:solidFill>
            <a:srgbClr val="80BA24"/>
          </a:solidFill>
          <a:ln/>
        </p:spPr>
        <p:txBody>
          <a:bodyPr/>
          <a:lstStyle/>
          <a:p>
            <a:endParaRPr lang="de-DE" sz="1342"/>
          </a:p>
        </p:txBody>
      </p:sp>
      <p:sp>
        <p:nvSpPr>
          <p:cNvPr id="27" name="Text 23">
            <a:extLst>
              <a:ext uri="{FF2B5EF4-FFF2-40B4-BE49-F238E27FC236}">
                <a16:creationId xmlns:a16="http://schemas.microsoft.com/office/drawing/2014/main" id="{80072FBF-EC42-1E98-4E4E-9A645425EE41}"/>
              </a:ext>
            </a:extLst>
          </p:cNvPr>
          <p:cNvSpPr txBox="1"/>
          <p:nvPr/>
        </p:nvSpPr>
        <p:spPr>
          <a:xfrm>
            <a:off x="501942" y="2879052"/>
            <a:ext cx="340876" cy="34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91" b="1" dirty="0">
                <a:solidFill>
                  <a:srgbClr val="2F3E46"/>
                </a:solidFill>
                <a:latin typeface="Calibri" panose="020F0502020204030204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91" dirty="0">
              <a:solidFill>
                <a:srgbClr val="2F3E46"/>
              </a:solidFill>
              <a:latin typeface="Calibri" panose="020F0502020204030204" pitchFamily="34" charset="0"/>
            </a:endParaRPr>
          </a:p>
        </p:txBody>
      </p:sp>
      <p:sp>
        <p:nvSpPr>
          <p:cNvPr id="28" name="Text 24">
            <a:extLst>
              <a:ext uri="{FF2B5EF4-FFF2-40B4-BE49-F238E27FC236}">
                <a16:creationId xmlns:a16="http://schemas.microsoft.com/office/drawing/2014/main" id="{84121DF6-BE3C-A7FD-4BD2-C2A9D77C6378}"/>
              </a:ext>
            </a:extLst>
          </p:cNvPr>
          <p:cNvSpPr txBox="1"/>
          <p:nvPr/>
        </p:nvSpPr>
        <p:spPr>
          <a:xfrm>
            <a:off x="501942" y="3322191"/>
            <a:ext cx="1738467" cy="5794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8" b="1" dirty="0">
                <a:solidFill>
                  <a:srgbClr val="2F3E46"/>
                </a:solidFill>
                <a:latin typeface="Calibri" panose="020F0502020204030204" pitchFamily="34" charset="0"/>
                <a:ea typeface="Cambria" pitchFamily="34" charset="-122"/>
                <a:cs typeface="Cambria" pitchFamily="34" charset="-120"/>
              </a:rPr>
              <a:t>Durchführung der Arbeit</a:t>
            </a:r>
            <a:endParaRPr lang="en-US" sz="1268" dirty="0">
              <a:solidFill>
                <a:srgbClr val="2F3E46"/>
              </a:solidFill>
              <a:latin typeface="Calibri" panose="020F0502020204030204" pitchFamily="34" charset="0"/>
            </a:endParaRPr>
          </a:p>
        </p:txBody>
      </p:sp>
      <p:sp>
        <p:nvSpPr>
          <p:cNvPr id="29" name="Text 25">
            <a:extLst>
              <a:ext uri="{FF2B5EF4-FFF2-40B4-BE49-F238E27FC236}">
                <a16:creationId xmlns:a16="http://schemas.microsoft.com/office/drawing/2014/main" id="{31CA184E-B62A-0261-EBF9-74F945F159A3}"/>
              </a:ext>
            </a:extLst>
          </p:cNvPr>
          <p:cNvSpPr txBox="1"/>
          <p:nvPr/>
        </p:nvSpPr>
        <p:spPr>
          <a:xfrm>
            <a:off x="501942" y="3969855"/>
            <a:ext cx="1738467" cy="2386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95" dirty="0">
                <a:solidFill>
                  <a:srgbClr val="465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Tasks · 15 Stories</a:t>
            </a:r>
            <a:endParaRPr lang="en-US" sz="895" dirty="0"/>
          </a:p>
        </p:txBody>
      </p:sp>
      <p:sp>
        <p:nvSpPr>
          <p:cNvPr id="30" name="Shape 26">
            <a:extLst>
              <a:ext uri="{FF2B5EF4-FFF2-40B4-BE49-F238E27FC236}">
                <a16:creationId xmlns:a16="http://schemas.microsoft.com/office/drawing/2014/main" id="{3ECF6060-62F7-CCBA-F079-F4CC80EFF2DD}"/>
              </a:ext>
            </a:extLst>
          </p:cNvPr>
          <p:cNvSpPr/>
          <p:nvPr/>
        </p:nvSpPr>
        <p:spPr>
          <a:xfrm>
            <a:off x="2499475" y="2742702"/>
            <a:ext cx="2011168" cy="1602117"/>
          </a:xfrm>
          <a:prstGeom prst="roundRect">
            <a:avLst>
              <a:gd name="adj" fmla="val 2553"/>
            </a:avLst>
          </a:prstGeom>
          <a:solidFill>
            <a:srgbClr val="E4F2C2"/>
          </a:solidFill>
          <a:ln/>
        </p:spPr>
        <p:txBody>
          <a:bodyPr/>
          <a:lstStyle/>
          <a:p>
            <a:endParaRPr lang="de-DE" sz="1342"/>
          </a:p>
        </p:txBody>
      </p:sp>
      <p:sp>
        <p:nvSpPr>
          <p:cNvPr id="31" name="Shape 27">
            <a:extLst>
              <a:ext uri="{FF2B5EF4-FFF2-40B4-BE49-F238E27FC236}">
                <a16:creationId xmlns:a16="http://schemas.microsoft.com/office/drawing/2014/main" id="{CB3A5849-A5EF-FD7C-067F-B51B21DC8043}"/>
              </a:ext>
            </a:extLst>
          </p:cNvPr>
          <p:cNvSpPr/>
          <p:nvPr/>
        </p:nvSpPr>
        <p:spPr>
          <a:xfrm>
            <a:off x="2635825" y="2879052"/>
            <a:ext cx="340876" cy="340876"/>
          </a:xfrm>
          <a:prstGeom prst="rect">
            <a:avLst/>
          </a:prstGeom>
          <a:solidFill>
            <a:srgbClr val="80BA24"/>
          </a:solidFill>
          <a:ln/>
        </p:spPr>
        <p:txBody>
          <a:bodyPr/>
          <a:lstStyle/>
          <a:p>
            <a:endParaRPr lang="de-DE" sz="1342"/>
          </a:p>
        </p:txBody>
      </p:sp>
      <p:sp>
        <p:nvSpPr>
          <p:cNvPr id="32" name="Text 28">
            <a:extLst>
              <a:ext uri="{FF2B5EF4-FFF2-40B4-BE49-F238E27FC236}">
                <a16:creationId xmlns:a16="http://schemas.microsoft.com/office/drawing/2014/main" id="{E9C8BF68-3936-6363-DFDF-01EEAE644435}"/>
              </a:ext>
            </a:extLst>
          </p:cNvPr>
          <p:cNvSpPr txBox="1"/>
          <p:nvPr/>
        </p:nvSpPr>
        <p:spPr>
          <a:xfrm>
            <a:off x="2635825" y="2879052"/>
            <a:ext cx="340876" cy="34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91" b="1" dirty="0">
                <a:solidFill>
                  <a:srgbClr val="2F3E46"/>
                </a:solidFill>
                <a:latin typeface="Calibri" panose="020F0502020204030204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91" dirty="0">
              <a:solidFill>
                <a:srgbClr val="2F3E46"/>
              </a:solidFill>
              <a:latin typeface="Calibri" panose="020F0502020204030204" pitchFamily="34" charset="0"/>
            </a:endParaRPr>
          </a:p>
        </p:txBody>
      </p:sp>
      <p:sp>
        <p:nvSpPr>
          <p:cNvPr id="33" name="Text 29">
            <a:extLst>
              <a:ext uri="{FF2B5EF4-FFF2-40B4-BE49-F238E27FC236}">
                <a16:creationId xmlns:a16="http://schemas.microsoft.com/office/drawing/2014/main" id="{5D204878-B863-8BAA-F15D-2898A88825AB}"/>
              </a:ext>
            </a:extLst>
          </p:cNvPr>
          <p:cNvSpPr txBox="1"/>
          <p:nvPr/>
        </p:nvSpPr>
        <p:spPr>
          <a:xfrm>
            <a:off x="2635825" y="3322191"/>
            <a:ext cx="1738467" cy="5794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8" b="1" dirty="0">
                <a:solidFill>
                  <a:srgbClr val="2F3E46"/>
                </a:solidFill>
                <a:latin typeface="Calibri" panose="020F0502020204030204" pitchFamily="34" charset="0"/>
                <a:ea typeface="Cambria" pitchFamily="34" charset="-122"/>
                <a:cs typeface="Cambria" pitchFamily="34" charset="-120"/>
              </a:rPr>
              <a:t>Abgabe der Arbeit</a:t>
            </a:r>
            <a:endParaRPr lang="en-US" sz="1268" dirty="0">
              <a:solidFill>
                <a:srgbClr val="2F3E46"/>
              </a:solidFill>
              <a:latin typeface="Calibri" panose="020F0502020204030204" pitchFamily="34" charset="0"/>
            </a:endParaRPr>
          </a:p>
        </p:txBody>
      </p:sp>
      <p:sp>
        <p:nvSpPr>
          <p:cNvPr id="34" name="Text 30">
            <a:extLst>
              <a:ext uri="{FF2B5EF4-FFF2-40B4-BE49-F238E27FC236}">
                <a16:creationId xmlns:a16="http://schemas.microsoft.com/office/drawing/2014/main" id="{1D26DA9F-542C-C807-779E-D594D8E1F9FE}"/>
              </a:ext>
            </a:extLst>
          </p:cNvPr>
          <p:cNvSpPr txBox="1"/>
          <p:nvPr/>
        </p:nvSpPr>
        <p:spPr>
          <a:xfrm>
            <a:off x="2635825" y="3969855"/>
            <a:ext cx="1738467" cy="2386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95" dirty="0">
                <a:solidFill>
                  <a:srgbClr val="465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Tasks · 10 Stories</a:t>
            </a:r>
            <a:endParaRPr lang="en-US" sz="895" dirty="0"/>
          </a:p>
        </p:txBody>
      </p:sp>
      <p:sp>
        <p:nvSpPr>
          <p:cNvPr id="35" name="Shape 31">
            <a:extLst>
              <a:ext uri="{FF2B5EF4-FFF2-40B4-BE49-F238E27FC236}">
                <a16:creationId xmlns:a16="http://schemas.microsoft.com/office/drawing/2014/main" id="{5EE8E2AE-D17F-417D-A9A2-53A54393E076}"/>
              </a:ext>
            </a:extLst>
          </p:cNvPr>
          <p:cNvSpPr/>
          <p:nvPr/>
        </p:nvSpPr>
        <p:spPr>
          <a:xfrm>
            <a:off x="4633357" y="2742702"/>
            <a:ext cx="2011168" cy="1602117"/>
          </a:xfrm>
          <a:prstGeom prst="roundRect">
            <a:avLst>
              <a:gd name="adj" fmla="val 2553"/>
            </a:avLst>
          </a:prstGeom>
          <a:solidFill>
            <a:srgbClr val="E4F2C2"/>
          </a:solidFill>
          <a:ln/>
        </p:spPr>
        <p:txBody>
          <a:bodyPr/>
          <a:lstStyle/>
          <a:p>
            <a:endParaRPr lang="de-DE" sz="1342"/>
          </a:p>
        </p:txBody>
      </p:sp>
      <p:sp>
        <p:nvSpPr>
          <p:cNvPr id="36" name="Shape 32">
            <a:extLst>
              <a:ext uri="{FF2B5EF4-FFF2-40B4-BE49-F238E27FC236}">
                <a16:creationId xmlns:a16="http://schemas.microsoft.com/office/drawing/2014/main" id="{04ACF0DA-867D-5DB4-F922-0B9E1B883CF5}"/>
              </a:ext>
            </a:extLst>
          </p:cNvPr>
          <p:cNvSpPr/>
          <p:nvPr/>
        </p:nvSpPr>
        <p:spPr>
          <a:xfrm>
            <a:off x="4769708" y="2879052"/>
            <a:ext cx="340876" cy="340876"/>
          </a:xfrm>
          <a:prstGeom prst="rect">
            <a:avLst/>
          </a:prstGeom>
          <a:solidFill>
            <a:srgbClr val="80BA24"/>
          </a:solidFill>
          <a:ln/>
        </p:spPr>
        <p:txBody>
          <a:bodyPr/>
          <a:lstStyle/>
          <a:p>
            <a:endParaRPr lang="de-DE" sz="1342"/>
          </a:p>
        </p:txBody>
      </p:sp>
      <p:sp>
        <p:nvSpPr>
          <p:cNvPr id="37" name="Text 33">
            <a:extLst>
              <a:ext uri="{FF2B5EF4-FFF2-40B4-BE49-F238E27FC236}">
                <a16:creationId xmlns:a16="http://schemas.microsoft.com/office/drawing/2014/main" id="{C30C7455-1EE6-8379-FCD0-AEB89F130037}"/>
              </a:ext>
            </a:extLst>
          </p:cNvPr>
          <p:cNvSpPr txBox="1"/>
          <p:nvPr/>
        </p:nvSpPr>
        <p:spPr>
          <a:xfrm>
            <a:off x="4769708" y="2879052"/>
            <a:ext cx="340876" cy="34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91" b="1" dirty="0">
                <a:solidFill>
                  <a:srgbClr val="2F3E46"/>
                </a:solidFill>
                <a:latin typeface="Calibri" panose="020F0502020204030204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91" dirty="0">
              <a:solidFill>
                <a:srgbClr val="2F3E46"/>
              </a:solidFill>
              <a:latin typeface="Calibri" panose="020F0502020204030204" pitchFamily="34" charset="0"/>
            </a:endParaRPr>
          </a:p>
        </p:txBody>
      </p:sp>
      <p:sp>
        <p:nvSpPr>
          <p:cNvPr id="38" name="Text 34">
            <a:extLst>
              <a:ext uri="{FF2B5EF4-FFF2-40B4-BE49-F238E27FC236}">
                <a16:creationId xmlns:a16="http://schemas.microsoft.com/office/drawing/2014/main" id="{E381FBD3-9C44-6F8C-722F-4007A6E5D39B}"/>
              </a:ext>
            </a:extLst>
          </p:cNvPr>
          <p:cNvSpPr txBox="1"/>
          <p:nvPr/>
        </p:nvSpPr>
        <p:spPr>
          <a:xfrm>
            <a:off x="4769708" y="3322191"/>
            <a:ext cx="1738467" cy="5794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8" b="1" dirty="0">
                <a:solidFill>
                  <a:srgbClr val="2F3E46"/>
                </a:solidFill>
                <a:latin typeface="Calibri" panose="020F0502020204030204" pitchFamily="34" charset="0"/>
                <a:ea typeface="Cambria" pitchFamily="34" charset="-122"/>
                <a:cs typeface="Cambria" pitchFamily="34" charset="-120"/>
              </a:rPr>
              <a:t>Abschlussdokumentation</a:t>
            </a:r>
            <a:endParaRPr lang="en-US" sz="1268" dirty="0">
              <a:solidFill>
                <a:srgbClr val="2F3E46"/>
              </a:solidFill>
              <a:latin typeface="Calibri" panose="020F0502020204030204" pitchFamily="34" charset="0"/>
            </a:endParaRPr>
          </a:p>
        </p:txBody>
      </p:sp>
      <p:sp>
        <p:nvSpPr>
          <p:cNvPr id="39" name="Text 35">
            <a:extLst>
              <a:ext uri="{FF2B5EF4-FFF2-40B4-BE49-F238E27FC236}">
                <a16:creationId xmlns:a16="http://schemas.microsoft.com/office/drawing/2014/main" id="{25CAFA07-36DD-BB5C-1E63-6DF42F3897F2}"/>
              </a:ext>
            </a:extLst>
          </p:cNvPr>
          <p:cNvSpPr txBox="1"/>
          <p:nvPr/>
        </p:nvSpPr>
        <p:spPr>
          <a:xfrm>
            <a:off x="4769708" y="3969855"/>
            <a:ext cx="1738467" cy="2386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95" dirty="0">
                <a:solidFill>
                  <a:srgbClr val="465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Tasks · 12 Stories</a:t>
            </a:r>
            <a:endParaRPr lang="en-US" sz="895" dirty="0"/>
          </a:p>
        </p:txBody>
      </p:sp>
      <p:sp>
        <p:nvSpPr>
          <p:cNvPr id="40" name="Text 36">
            <a:extLst>
              <a:ext uri="{FF2B5EF4-FFF2-40B4-BE49-F238E27FC236}">
                <a16:creationId xmlns:a16="http://schemas.microsoft.com/office/drawing/2014/main" id="{4F8E5C7F-97D6-DF7E-111A-5983973328A1}"/>
              </a:ext>
            </a:extLst>
          </p:cNvPr>
          <p:cNvSpPr txBox="1"/>
          <p:nvPr/>
        </p:nvSpPr>
        <p:spPr>
          <a:xfrm>
            <a:off x="6767241" y="2742702"/>
            <a:ext cx="2011168" cy="2386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44" dirty="0"/>
          </a:p>
        </p:txBody>
      </p:sp>
      <p:sp>
        <p:nvSpPr>
          <p:cNvPr id="41" name="Text 37">
            <a:extLst>
              <a:ext uri="{FF2B5EF4-FFF2-40B4-BE49-F238E27FC236}">
                <a16:creationId xmlns:a16="http://schemas.microsoft.com/office/drawing/2014/main" id="{2762AD1B-6D8C-823B-6007-F7F2E9765A52}"/>
              </a:ext>
            </a:extLst>
          </p:cNvPr>
          <p:cNvSpPr txBox="1"/>
          <p:nvPr/>
        </p:nvSpPr>
        <p:spPr>
          <a:xfrm>
            <a:off x="6767241" y="3015403"/>
            <a:ext cx="2011168" cy="12953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298"/>
              </a:spcAft>
            </a:pPr>
            <a:endParaRPr lang="en-US" sz="89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80B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 4 · STORY MAP UND RELEASEPLANUNG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310896"/>
            <a:ext cx="6172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Map mit Releaseplanung: Activity 1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55464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5B6A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4D44649F-0B58-0015-1AED-451478D4A997}"/>
              </a:ext>
            </a:extLst>
          </p:cNvPr>
          <p:cNvSpPr/>
          <p:nvPr/>
        </p:nvSpPr>
        <p:spPr>
          <a:xfrm>
            <a:off x="6047513" y="1010421"/>
            <a:ext cx="118922" cy="118922"/>
          </a:xfrm>
          <a:prstGeom prst="rect">
            <a:avLst/>
          </a:prstGeom>
          <a:solidFill>
            <a:srgbClr val="FFF2B3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66068" tIns="33034" rIns="66068" bIns="33034" rtlCol="0" anchor="ctr"/>
          <a:lstStyle/>
          <a:p>
            <a:endParaRPr lang="de-DE" sz="1301"/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D76FEF8B-ABAC-28A0-08E9-440BA8AB7B6C}"/>
              </a:ext>
            </a:extLst>
          </p:cNvPr>
          <p:cNvSpPr txBox="1"/>
          <p:nvPr/>
        </p:nvSpPr>
        <p:spPr>
          <a:xfrm>
            <a:off x="6206075" y="990600"/>
            <a:ext cx="660678" cy="158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de-DE" sz="723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Release 1</a:t>
            </a:r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1C1DD932-D75C-D795-4303-32F6BDBED01D}"/>
              </a:ext>
            </a:extLst>
          </p:cNvPr>
          <p:cNvSpPr/>
          <p:nvPr/>
        </p:nvSpPr>
        <p:spPr>
          <a:xfrm>
            <a:off x="6959249" y="1010421"/>
            <a:ext cx="118922" cy="118922"/>
          </a:xfrm>
          <a:prstGeom prst="rect">
            <a:avLst/>
          </a:prstGeom>
          <a:solidFill>
            <a:srgbClr val="D6E9F8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66068" tIns="33034" rIns="66068" bIns="33034" rtlCol="0" anchor="ctr"/>
          <a:lstStyle/>
          <a:p>
            <a:endParaRPr lang="de-DE" sz="1301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88A92A11-5F19-0873-C0AD-0EF1CAE4C01F}"/>
              </a:ext>
            </a:extLst>
          </p:cNvPr>
          <p:cNvSpPr txBox="1"/>
          <p:nvPr/>
        </p:nvSpPr>
        <p:spPr>
          <a:xfrm>
            <a:off x="7117811" y="990600"/>
            <a:ext cx="660678" cy="158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de-DE" sz="723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Release 2</a:t>
            </a:r>
          </a:p>
        </p:txBody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E8E233A0-C30B-20D6-A725-E137E64C0558}"/>
              </a:ext>
            </a:extLst>
          </p:cNvPr>
          <p:cNvSpPr/>
          <p:nvPr/>
        </p:nvSpPr>
        <p:spPr>
          <a:xfrm>
            <a:off x="7870985" y="1010421"/>
            <a:ext cx="118922" cy="118922"/>
          </a:xfrm>
          <a:prstGeom prst="rect">
            <a:avLst/>
          </a:prstGeom>
          <a:solidFill>
            <a:srgbClr val="F3D9E8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66068" tIns="33034" rIns="66068" bIns="33034" rtlCol="0" anchor="ctr"/>
          <a:lstStyle/>
          <a:p>
            <a:endParaRPr lang="de-DE" sz="1301"/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C48056B4-6A0D-81C9-A98B-EB464427FDF5}"/>
              </a:ext>
            </a:extLst>
          </p:cNvPr>
          <p:cNvSpPr txBox="1"/>
          <p:nvPr/>
        </p:nvSpPr>
        <p:spPr>
          <a:xfrm>
            <a:off x="8029546" y="990600"/>
            <a:ext cx="660678" cy="158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de-DE" sz="723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Release 3</a:t>
            </a:r>
          </a:p>
        </p:txBody>
      </p:sp>
      <p:sp>
        <p:nvSpPr>
          <p:cNvPr id="10" name="Shape 9">
            <a:extLst>
              <a:ext uri="{FF2B5EF4-FFF2-40B4-BE49-F238E27FC236}">
                <a16:creationId xmlns:a16="http://schemas.microsoft.com/office/drawing/2014/main" id="{6E7D1E64-2DD0-90EC-0A27-CCEAFE72DB5B}"/>
              </a:ext>
            </a:extLst>
          </p:cNvPr>
          <p:cNvSpPr/>
          <p:nvPr/>
        </p:nvSpPr>
        <p:spPr>
          <a:xfrm>
            <a:off x="1356700" y="1320939"/>
            <a:ext cx="7421614" cy="303461"/>
          </a:xfrm>
          <a:prstGeom prst="rect">
            <a:avLst/>
          </a:prstGeom>
          <a:solidFill>
            <a:srgbClr val="4A5C66"/>
          </a:solidFill>
          <a:ln w="12700">
            <a:solidFill>
              <a:srgbClr val="4A5C66"/>
            </a:solidFill>
            <a:prstDash val="solid"/>
          </a:ln>
        </p:spPr>
        <p:txBody>
          <a:bodyPr wrap="square" lIns="99102" tIns="0" rIns="99102" bIns="0" rtlCol="0" anchor="ctr"/>
          <a:lstStyle/>
          <a:p>
            <a:r>
              <a:rPr lang="de-DE" sz="1012" b="1" dirty="0">
                <a:solidFill>
                  <a:srgbClr val="FFFFFF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1  Anmeldung der Abschlussarbeit vorbereiten</a:t>
            </a:r>
          </a:p>
        </p:txBody>
      </p:sp>
      <p:sp>
        <p:nvSpPr>
          <p:cNvPr id="11" name="Shape 10">
            <a:extLst>
              <a:ext uri="{FF2B5EF4-FFF2-40B4-BE49-F238E27FC236}">
                <a16:creationId xmlns:a16="http://schemas.microsoft.com/office/drawing/2014/main" id="{A29B1112-2AEE-2B5D-100C-D542A00667A2}"/>
              </a:ext>
            </a:extLst>
          </p:cNvPr>
          <p:cNvSpPr/>
          <p:nvPr/>
        </p:nvSpPr>
        <p:spPr>
          <a:xfrm>
            <a:off x="1356700" y="1677255"/>
            <a:ext cx="1805853" cy="594610"/>
          </a:xfrm>
          <a:prstGeom prst="rect">
            <a:avLst/>
          </a:prstGeom>
          <a:solidFill>
            <a:srgbClr val="E8F3D3"/>
          </a:solidFill>
          <a:ln w="12700">
            <a:solidFill>
              <a:srgbClr val="80BA24"/>
            </a:solidFill>
            <a:prstDash val="solid"/>
          </a:ln>
        </p:spPr>
        <p:txBody>
          <a:bodyPr wrap="square" lIns="66068" tIns="33034" rIns="66068" bIns="33034" rtlCol="0" anchor="ctr"/>
          <a:lstStyle/>
          <a:p>
            <a:r>
              <a:rPr lang="de-DE" sz="1012" b="1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1.1 Abschlussarbeitsthema abstimmen</a:t>
            </a:r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3094B7A7-BDCF-DD14-42AE-311E92F51DFC}"/>
              </a:ext>
            </a:extLst>
          </p:cNvPr>
          <p:cNvSpPr/>
          <p:nvPr/>
        </p:nvSpPr>
        <p:spPr>
          <a:xfrm>
            <a:off x="3228621" y="1677255"/>
            <a:ext cx="1805853" cy="594610"/>
          </a:xfrm>
          <a:prstGeom prst="rect">
            <a:avLst/>
          </a:prstGeom>
          <a:solidFill>
            <a:srgbClr val="E8F3D3"/>
          </a:solidFill>
          <a:ln w="12700">
            <a:solidFill>
              <a:srgbClr val="80BA24"/>
            </a:solidFill>
            <a:prstDash val="solid"/>
          </a:ln>
        </p:spPr>
        <p:txBody>
          <a:bodyPr wrap="square" lIns="66068" tIns="33034" rIns="66068" bIns="33034" rtlCol="0" anchor="ctr"/>
          <a:lstStyle/>
          <a:p>
            <a:r>
              <a:rPr lang="de-DE" sz="1012" b="1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1.2 Geeignete Zweitprüfung vorschlagen</a:t>
            </a:r>
          </a:p>
        </p:txBody>
      </p:sp>
      <p:sp>
        <p:nvSpPr>
          <p:cNvPr id="13" name="Shape 12">
            <a:extLst>
              <a:ext uri="{FF2B5EF4-FFF2-40B4-BE49-F238E27FC236}">
                <a16:creationId xmlns:a16="http://schemas.microsoft.com/office/drawing/2014/main" id="{27430653-0975-BE4A-4722-1CD6C3A0F4C6}"/>
              </a:ext>
            </a:extLst>
          </p:cNvPr>
          <p:cNvSpPr/>
          <p:nvPr/>
        </p:nvSpPr>
        <p:spPr>
          <a:xfrm>
            <a:off x="5100541" y="1677255"/>
            <a:ext cx="1805853" cy="594610"/>
          </a:xfrm>
          <a:prstGeom prst="rect">
            <a:avLst/>
          </a:prstGeom>
          <a:solidFill>
            <a:srgbClr val="E8F3D3"/>
          </a:solidFill>
          <a:ln w="12700">
            <a:solidFill>
              <a:srgbClr val="80BA24"/>
            </a:solidFill>
            <a:prstDash val="solid"/>
          </a:ln>
        </p:spPr>
        <p:txBody>
          <a:bodyPr wrap="square" lIns="66068" tIns="33034" rIns="66068" bIns="33034" rtlCol="0" anchor="ctr"/>
          <a:lstStyle/>
          <a:p>
            <a:r>
              <a:rPr lang="de-DE" sz="1012" b="1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1.3 Externes Korreferat klären</a:t>
            </a:r>
          </a:p>
        </p:txBody>
      </p:sp>
      <p:sp>
        <p:nvSpPr>
          <p:cNvPr id="14" name="Shape 13">
            <a:extLst>
              <a:ext uri="{FF2B5EF4-FFF2-40B4-BE49-F238E27FC236}">
                <a16:creationId xmlns:a16="http://schemas.microsoft.com/office/drawing/2014/main" id="{3CF13D4A-ED79-D617-4CC5-72087C0FA9D6}"/>
              </a:ext>
            </a:extLst>
          </p:cNvPr>
          <p:cNvSpPr/>
          <p:nvPr/>
        </p:nvSpPr>
        <p:spPr>
          <a:xfrm>
            <a:off x="6972463" y="1677255"/>
            <a:ext cx="1805853" cy="594610"/>
          </a:xfrm>
          <a:prstGeom prst="rect">
            <a:avLst/>
          </a:prstGeom>
          <a:solidFill>
            <a:srgbClr val="E8F3D3"/>
          </a:solidFill>
          <a:ln w="12700">
            <a:solidFill>
              <a:srgbClr val="80BA24"/>
            </a:solidFill>
            <a:prstDash val="solid"/>
          </a:ln>
        </p:spPr>
        <p:txBody>
          <a:bodyPr wrap="square" lIns="66068" tIns="33034" rIns="66068" bIns="33034" rtlCol="0" anchor="ctr"/>
          <a:lstStyle/>
          <a:p>
            <a:r>
              <a:rPr lang="de-DE" sz="1012" b="1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1.4 Gewünschten Starttermin abstimmen</a:t>
            </a:r>
          </a:p>
        </p:txBody>
      </p:sp>
      <p:cxnSp>
        <p:nvCxnSpPr>
          <p:cNvPr id="15" name="Line 14">
            <a:extLst>
              <a:ext uri="{FF2B5EF4-FFF2-40B4-BE49-F238E27FC236}">
                <a16:creationId xmlns:a16="http://schemas.microsoft.com/office/drawing/2014/main" id="{13480387-ADAD-D3E4-F943-22D0D542F6B0}"/>
              </a:ext>
            </a:extLst>
          </p:cNvPr>
          <p:cNvCxnSpPr/>
          <p:nvPr/>
        </p:nvCxnSpPr>
        <p:spPr>
          <a:xfrm>
            <a:off x="365684" y="2324719"/>
            <a:ext cx="8412631" cy="0"/>
          </a:xfrm>
          <a:prstGeom prst="line">
            <a:avLst/>
          </a:prstGeom>
          <a:ln w="9525">
            <a:solidFill>
              <a:srgbClr val="C9D1D6"/>
            </a:solidFill>
            <a:prstDash val="solid"/>
          </a:ln>
        </p:spPr>
      </p:cxnSp>
      <p:sp>
        <p:nvSpPr>
          <p:cNvPr id="16" name="Text 15">
            <a:extLst>
              <a:ext uri="{FF2B5EF4-FFF2-40B4-BE49-F238E27FC236}">
                <a16:creationId xmlns:a16="http://schemas.microsoft.com/office/drawing/2014/main" id="{B7C8A3F1-E6C6-10E2-0C63-1E5753FAA06D}"/>
              </a:ext>
            </a:extLst>
          </p:cNvPr>
          <p:cNvSpPr txBox="1"/>
          <p:nvPr/>
        </p:nvSpPr>
        <p:spPr>
          <a:xfrm>
            <a:off x="365684" y="2364360"/>
            <a:ext cx="924949" cy="938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de-DE" sz="795" b="1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Release 1</a:t>
            </a:r>
          </a:p>
          <a:p>
            <a:r>
              <a:rPr lang="de-DE" sz="723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Anmeldung und Ausgabe</a:t>
            </a:r>
          </a:p>
        </p:txBody>
      </p:sp>
      <p:sp>
        <p:nvSpPr>
          <p:cNvPr id="17" name="Shape 16">
            <a:extLst>
              <a:ext uri="{FF2B5EF4-FFF2-40B4-BE49-F238E27FC236}">
                <a16:creationId xmlns:a16="http://schemas.microsoft.com/office/drawing/2014/main" id="{B7D3925B-8D9A-2532-943B-2FDCAC02B38F}"/>
              </a:ext>
            </a:extLst>
          </p:cNvPr>
          <p:cNvSpPr/>
          <p:nvPr/>
        </p:nvSpPr>
        <p:spPr>
          <a:xfrm>
            <a:off x="1356700" y="2364359"/>
            <a:ext cx="1805853" cy="363373"/>
          </a:xfrm>
          <a:prstGeom prst="rect">
            <a:avLst/>
          </a:prstGeom>
          <a:solidFill>
            <a:srgbClr val="FFF2B3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66068" tIns="13214" rIns="66068" bIns="13214" rtlCol="0" anchor="ctr"/>
          <a:lstStyle/>
          <a:p>
            <a:r>
              <a:rPr lang="de-DE" sz="795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1.1.1 Thema mit Erstprüfer:in abstimmen</a:t>
            </a:r>
          </a:p>
          <a:p>
            <a:r>
              <a:rPr lang="de-DE" sz="650" b="1" dirty="0">
                <a:solidFill>
                  <a:srgbClr val="2F5FD0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■ Studierende:r</a:t>
            </a:r>
          </a:p>
        </p:txBody>
      </p:sp>
      <p:sp>
        <p:nvSpPr>
          <p:cNvPr id="18" name="Shape 17">
            <a:extLst>
              <a:ext uri="{FF2B5EF4-FFF2-40B4-BE49-F238E27FC236}">
                <a16:creationId xmlns:a16="http://schemas.microsoft.com/office/drawing/2014/main" id="{CC37F164-F01B-424F-E86E-31A95717442A}"/>
              </a:ext>
            </a:extLst>
          </p:cNvPr>
          <p:cNvSpPr/>
          <p:nvPr/>
        </p:nvSpPr>
        <p:spPr>
          <a:xfrm>
            <a:off x="3228621" y="2364359"/>
            <a:ext cx="1805853" cy="363373"/>
          </a:xfrm>
          <a:prstGeom prst="rect">
            <a:avLst/>
          </a:prstGeom>
          <a:solidFill>
            <a:srgbClr val="FFF2B3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66068" tIns="13214" rIns="66068" bIns="13214" rtlCol="0" anchor="ctr"/>
          <a:lstStyle/>
          <a:p>
            <a:r>
              <a:rPr lang="de-DE" sz="795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1.2.1 Interne oder externe Zweitprüfung vorschlagen</a:t>
            </a:r>
          </a:p>
          <a:p>
            <a:r>
              <a:rPr lang="de-DE" sz="650" b="1" dirty="0">
                <a:solidFill>
                  <a:srgbClr val="2F5FD0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■ Studierende:r</a:t>
            </a:r>
          </a:p>
        </p:txBody>
      </p:sp>
      <p:sp>
        <p:nvSpPr>
          <p:cNvPr id="19" name="Shape 18">
            <a:extLst>
              <a:ext uri="{FF2B5EF4-FFF2-40B4-BE49-F238E27FC236}">
                <a16:creationId xmlns:a16="http://schemas.microsoft.com/office/drawing/2014/main" id="{3BE10A68-5BE8-72D1-B096-98324DAFF974}"/>
              </a:ext>
            </a:extLst>
          </p:cNvPr>
          <p:cNvSpPr/>
          <p:nvPr/>
        </p:nvSpPr>
        <p:spPr>
          <a:xfrm>
            <a:off x="5100541" y="2364359"/>
            <a:ext cx="1805853" cy="363373"/>
          </a:xfrm>
          <a:prstGeom prst="rect">
            <a:avLst/>
          </a:prstGeom>
          <a:solidFill>
            <a:srgbClr val="FFF2B3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66068" tIns="13214" rIns="66068" bIns="13214" rtlCol="0" anchor="ctr"/>
          <a:lstStyle/>
          <a:p>
            <a:r>
              <a:rPr lang="de-DE" sz="795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1.3.1 Einverständnis zum Korreferat bestätigen</a:t>
            </a:r>
          </a:p>
          <a:p>
            <a:r>
              <a:rPr lang="de-DE" sz="650" b="1" dirty="0">
                <a:solidFill>
                  <a:srgbClr val="0B6F5E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■ Zweitprüfer:in</a:t>
            </a:r>
          </a:p>
        </p:txBody>
      </p:sp>
      <p:sp>
        <p:nvSpPr>
          <p:cNvPr id="20" name="Shape 19">
            <a:extLst>
              <a:ext uri="{FF2B5EF4-FFF2-40B4-BE49-F238E27FC236}">
                <a16:creationId xmlns:a16="http://schemas.microsoft.com/office/drawing/2014/main" id="{35D36FEC-49E3-42B5-CB00-C49DE2608B91}"/>
              </a:ext>
            </a:extLst>
          </p:cNvPr>
          <p:cNvSpPr/>
          <p:nvPr/>
        </p:nvSpPr>
        <p:spPr>
          <a:xfrm>
            <a:off x="5100541" y="2767373"/>
            <a:ext cx="1805853" cy="495508"/>
          </a:xfrm>
          <a:prstGeom prst="rect">
            <a:avLst/>
          </a:prstGeom>
          <a:solidFill>
            <a:srgbClr val="FFF2B3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66068" tIns="13214" rIns="66068" bIns="13214" rtlCol="0" anchor="ctr"/>
          <a:lstStyle/>
          <a:p>
            <a:r>
              <a:rPr lang="de-DE" sz="795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1.3.2 Fachliche Qualifikation und Berufserfahrung nachweisen</a:t>
            </a:r>
          </a:p>
          <a:p>
            <a:r>
              <a:rPr lang="de-DE" sz="650" b="1" dirty="0">
                <a:solidFill>
                  <a:srgbClr val="0B6F5E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■ Zweitprüfer:in</a:t>
            </a:r>
          </a:p>
        </p:txBody>
      </p:sp>
      <p:sp>
        <p:nvSpPr>
          <p:cNvPr id="21" name="Shape 20">
            <a:extLst>
              <a:ext uri="{FF2B5EF4-FFF2-40B4-BE49-F238E27FC236}">
                <a16:creationId xmlns:a16="http://schemas.microsoft.com/office/drawing/2014/main" id="{298AB89E-EC4F-11F9-D21F-FFCCAB69B52C}"/>
              </a:ext>
            </a:extLst>
          </p:cNvPr>
          <p:cNvSpPr/>
          <p:nvPr/>
        </p:nvSpPr>
        <p:spPr>
          <a:xfrm>
            <a:off x="6972463" y="2364359"/>
            <a:ext cx="1805853" cy="363373"/>
          </a:xfrm>
          <a:prstGeom prst="rect">
            <a:avLst/>
          </a:prstGeom>
          <a:solidFill>
            <a:srgbClr val="FFF2B3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66068" tIns="13214" rIns="66068" bIns="13214" rtlCol="0" anchor="ctr"/>
          <a:lstStyle/>
          <a:p>
            <a:r>
              <a:rPr lang="de-DE" sz="795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1.4.1 Wunschstarttermin mit Erstprüfer:in abstimmen</a:t>
            </a:r>
          </a:p>
          <a:p>
            <a:r>
              <a:rPr lang="de-DE" sz="650" b="1" dirty="0">
                <a:solidFill>
                  <a:srgbClr val="2F5FD0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■ Studierende:r</a:t>
            </a:r>
          </a:p>
        </p:txBody>
      </p:sp>
      <p:cxnSp>
        <p:nvCxnSpPr>
          <p:cNvPr id="22" name="Line 21">
            <a:extLst>
              <a:ext uri="{FF2B5EF4-FFF2-40B4-BE49-F238E27FC236}">
                <a16:creationId xmlns:a16="http://schemas.microsoft.com/office/drawing/2014/main" id="{DE475762-48C8-6FAA-4248-DAD10A996273}"/>
              </a:ext>
            </a:extLst>
          </p:cNvPr>
          <p:cNvCxnSpPr/>
          <p:nvPr/>
        </p:nvCxnSpPr>
        <p:spPr>
          <a:xfrm>
            <a:off x="365684" y="3342163"/>
            <a:ext cx="8412631" cy="0"/>
          </a:xfrm>
          <a:prstGeom prst="line">
            <a:avLst/>
          </a:prstGeom>
          <a:ln w="9525">
            <a:solidFill>
              <a:srgbClr val="C9D1D6"/>
            </a:solidFill>
            <a:prstDash val="solid"/>
          </a:ln>
        </p:spPr>
      </p:cxnSp>
      <p:sp>
        <p:nvSpPr>
          <p:cNvPr id="23" name="Text 22">
            <a:extLst>
              <a:ext uri="{FF2B5EF4-FFF2-40B4-BE49-F238E27FC236}">
                <a16:creationId xmlns:a16="http://schemas.microsoft.com/office/drawing/2014/main" id="{E28B3C73-20FC-D878-3DC7-3505B1836E5B}"/>
              </a:ext>
            </a:extLst>
          </p:cNvPr>
          <p:cNvSpPr txBox="1"/>
          <p:nvPr/>
        </p:nvSpPr>
        <p:spPr>
          <a:xfrm>
            <a:off x="365684" y="3381803"/>
            <a:ext cx="924949" cy="433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de-DE" sz="795" b="1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Release 2</a:t>
            </a:r>
          </a:p>
          <a:p>
            <a:r>
              <a:rPr lang="de-DE" sz="723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Verlängerung und Transparenz</a:t>
            </a:r>
          </a:p>
        </p:txBody>
      </p:sp>
      <p:cxnSp>
        <p:nvCxnSpPr>
          <p:cNvPr id="24" name="Line 23">
            <a:extLst>
              <a:ext uri="{FF2B5EF4-FFF2-40B4-BE49-F238E27FC236}">
                <a16:creationId xmlns:a16="http://schemas.microsoft.com/office/drawing/2014/main" id="{E61B6407-1DF2-D2AC-6C53-983546D5F57A}"/>
              </a:ext>
            </a:extLst>
          </p:cNvPr>
          <p:cNvCxnSpPr/>
          <p:nvPr/>
        </p:nvCxnSpPr>
        <p:spPr>
          <a:xfrm>
            <a:off x="365684" y="3854960"/>
            <a:ext cx="8412631" cy="0"/>
          </a:xfrm>
          <a:prstGeom prst="line">
            <a:avLst/>
          </a:prstGeom>
          <a:ln w="9525">
            <a:solidFill>
              <a:srgbClr val="C9D1D6"/>
            </a:solidFill>
            <a:prstDash val="solid"/>
          </a:ln>
        </p:spPr>
      </p:cxnSp>
      <p:sp>
        <p:nvSpPr>
          <p:cNvPr id="26" name="Text 24">
            <a:extLst>
              <a:ext uri="{FF2B5EF4-FFF2-40B4-BE49-F238E27FC236}">
                <a16:creationId xmlns:a16="http://schemas.microsoft.com/office/drawing/2014/main" id="{C5DA69C1-4D2F-E783-E9BD-3F21B869B7DF}"/>
              </a:ext>
            </a:extLst>
          </p:cNvPr>
          <p:cNvSpPr txBox="1"/>
          <p:nvPr/>
        </p:nvSpPr>
        <p:spPr>
          <a:xfrm>
            <a:off x="365684" y="3894600"/>
            <a:ext cx="924949" cy="433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de-DE" sz="795" b="1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Release 3</a:t>
            </a:r>
          </a:p>
          <a:p>
            <a:r>
              <a:rPr lang="de-DE" sz="723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Abgabe und Dokumentation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80B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 4 · STORY MAP UND RELEASEPLANUNG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310896"/>
            <a:ext cx="6172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Map mit Releaseplanung: Activity 2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55464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5B6A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72CF110C-058A-0B3A-5864-B21F5DBA5647}"/>
              </a:ext>
            </a:extLst>
          </p:cNvPr>
          <p:cNvSpPr/>
          <p:nvPr/>
        </p:nvSpPr>
        <p:spPr>
          <a:xfrm>
            <a:off x="5899404" y="856154"/>
            <a:ext cx="106985" cy="106985"/>
          </a:xfrm>
          <a:prstGeom prst="rect">
            <a:avLst/>
          </a:prstGeom>
          <a:solidFill>
            <a:srgbClr val="FFF2B3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59436" tIns="29718" rIns="59436" bIns="29718" rtlCol="0" anchor="ctr"/>
          <a:lstStyle/>
          <a:p>
            <a:endParaRPr lang="de-DE" sz="1170"/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757C58D7-28C2-8617-843B-0142CE3B916F}"/>
              </a:ext>
            </a:extLst>
          </p:cNvPr>
          <p:cNvSpPr txBox="1"/>
          <p:nvPr/>
        </p:nvSpPr>
        <p:spPr>
          <a:xfrm>
            <a:off x="6042050" y="838323"/>
            <a:ext cx="594360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de-DE" sz="650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Release 1</a:t>
            </a:r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18462720-C27B-1661-6854-56DC1CBC2DBE}"/>
              </a:ext>
            </a:extLst>
          </p:cNvPr>
          <p:cNvSpPr/>
          <p:nvPr/>
        </p:nvSpPr>
        <p:spPr>
          <a:xfrm>
            <a:off x="6719621" y="856154"/>
            <a:ext cx="106985" cy="106985"/>
          </a:xfrm>
          <a:prstGeom prst="rect">
            <a:avLst/>
          </a:prstGeom>
          <a:solidFill>
            <a:srgbClr val="D6E9F8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59436" tIns="29718" rIns="59436" bIns="29718" rtlCol="0" anchor="ctr"/>
          <a:lstStyle/>
          <a:p>
            <a:endParaRPr lang="de-DE" sz="1170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39A26956-8238-C3B4-E133-27160DFB5A68}"/>
              </a:ext>
            </a:extLst>
          </p:cNvPr>
          <p:cNvSpPr txBox="1"/>
          <p:nvPr/>
        </p:nvSpPr>
        <p:spPr>
          <a:xfrm>
            <a:off x="6862267" y="838323"/>
            <a:ext cx="594360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de-DE" sz="650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Release 2</a:t>
            </a:r>
          </a:p>
        </p:txBody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0A8718D9-DEF7-32EE-30C9-3545952AD5C8}"/>
              </a:ext>
            </a:extLst>
          </p:cNvPr>
          <p:cNvSpPr/>
          <p:nvPr/>
        </p:nvSpPr>
        <p:spPr>
          <a:xfrm>
            <a:off x="7539838" y="856154"/>
            <a:ext cx="106985" cy="106985"/>
          </a:xfrm>
          <a:prstGeom prst="rect">
            <a:avLst/>
          </a:prstGeom>
          <a:solidFill>
            <a:srgbClr val="F3D9E8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59436" tIns="29718" rIns="59436" bIns="29718" rtlCol="0" anchor="ctr"/>
          <a:lstStyle/>
          <a:p>
            <a:endParaRPr lang="de-DE" sz="1170"/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8B0CE254-AE30-84E2-C7F0-B97916BC09E8}"/>
              </a:ext>
            </a:extLst>
          </p:cNvPr>
          <p:cNvSpPr txBox="1"/>
          <p:nvPr/>
        </p:nvSpPr>
        <p:spPr>
          <a:xfrm>
            <a:off x="7682484" y="838323"/>
            <a:ext cx="594360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de-DE" sz="650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Release 3</a:t>
            </a:r>
          </a:p>
        </p:txBody>
      </p:sp>
      <p:sp>
        <p:nvSpPr>
          <p:cNvPr id="10" name="Shape 9">
            <a:extLst>
              <a:ext uri="{FF2B5EF4-FFF2-40B4-BE49-F238E27FC236}">
                <a16:creationId xmlns:a16="http://schemas.microsoft.com/office/drawing/2014/main" id="{EB1023B4-8D03-BB02-D53D-B2D1684FBD0A}"/>
              </a:ext>
            </a:extLst>
          </p:cNvPr>
          <p:cNvSpPr/>
          <p:nvPr/>
        </p:nvSpPr>
        <p:spPr>
          <a:xfrm>
            <a:off x="1679448" y="1135503"/>
            <a:ext cx="6676644" cy="273000"/>
          </a:xfrm>
          <a:prstGeom prst="rect">
            <a:avLst/>
          </a:prstGeom>
          <a:solidFill>
            <a:srgbClr val="4A5C66"/>
          </a:solidFill>
          <a:ln w="12700">
            <a:solidFill>
              <a:srgbClr val="4A5C66"/>
            </a:solidFill>
            <a:prstDash val="solid"/>
          </a:ln>
        </p:spPr>
        <p:txBody>
          <a:bodyPr wrap="square" lIns="89154" tIns="0" rIns="89154" bIns="0" rtlCol="0" anchor="ctr"/>
          <a:lstStyle/>
          <a:p>
            <a:r>
              <a:rPr lang="de-DE" sz="910" b="1" dirty="0">
                <a:solidFill>
                  <a:srgbClr val="FFFFFF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2  Antragstellung</a:t>
            </a:r>
          </a:p>
        </p:txBody>
      </p:sp>
      <p:sp>
        <p:nvSpPr>
          <p:cNvPr id="11" name="Shape 10">
            <a:extLst>
              <a:ext uri="{FF2B5EF4-FFF2-40B4-BE49-F238E27FC236}">
                <a16:creationId xmlns:a16="http://schemas.microsoft.com/office/drawing/2014/main" id="{95967885-0C8C-9833-F3E1-B511B162320F}"/>
              </a:ext>
            </a:extLst>
          </p:cNvPr>
          <p:cNvSpPr/>
          <p:nvPr/>
        </p:nvSpPr>
        <p:spPr>
          <a:xfrm>
            <a:off x="1679448" y="1456052"/>
            <a:ext cx="1624584" cy="396240"/>
          </a:xfrm>
          <a:prstGeom prst="rect">
            <a:avLst/>
          </a:prstGeom>
          <a:solidFill>
            <a:srgbClr val="E8F3D3"/>
          </a:solidFill>
          <a:ln w="12700">
            <a:solidFill>
              <a:srgbClr val="80BA24"/>
            </a:solidFill>
            <a:prstDash val="solid"/>
          </a:ln>
        </p:spPr>
        <p:txBody>
          <a:bodyPr wrap="square" lIns="59436" tIns="29718" rIns="59436" bIns="29718" rtlCol="0" anchor="ctr"/>
          <a:lstStyle/>
          <a:p>
            <a:r>
              <a:rPr lang="de-DE" sz="910" b="1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2.1 Antragsdaten erfassen</a:t>
            </a:r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3FB2322F-FB7E-5D09-6D0B-125D7FD71C75}"/>
              </a:ext>
            </a:extLst>
          </p:cNvPr>
          <p:cNvSpPr/>
          <p:nvPr/>
        </p:nvSpPr>
        <p:spPr>
          <a:xfrm>
            <a:off x="3363468" y="1456052"/>
            <a:ext cx="1624584" cy="396240"/>
          </a:xfrm>
          <a:prstGeom prst="rect">
            <a:avLst/>
          </a:prstGeom>
          <a:solidFill>
            <a:srgbClr val="E8F3D3"/>
          </a:solidFill>
          <a:ln w="12700">
            <a:solidFill>
              <a:srgbClr val="80BA24"/>
            </a:solidFill>
            <a:prstDash val="solid"/>
          </a:ln>
        </p:spPr>
        <p:txBody>
          <a:bodyPr wrap="square" lIns="59436" tIns="29718" rIns="59436" bIns="29718" rtlCol="0" anchor="ctr"/>
          <a:lstStyle/>
          <a:p>
            <a:r>
              <a:rPr lang="de-DE" sz="910" b="1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2.2 Unterlagen ergänzen</a:t>
            </a:r>
          </a:p>
        </p:txBody>
      </p:sp>
      <p:sp>
        <p:nvSpPr>
          <p:cNvPr id="13" name="Shape 12">
            <a:extLst>
              <a:ext uri="{FF2B5EF4-FFF2-40B4-BE49-F238E27FC236}">
                <a16:creationId xmlns:a16="http://schemas.microsoft.com/office/drawing/2014/main" id="{2DF3E812-FAE1-6D69-74A3-304C2B988F23}"/>
              </a:ext>
            </a:extLst>
          </p:cNvPr>
          <p:cNvSpPr/>
          <p:nvPr/>
        </p:nvSpPr>
        <p:spPr>
          <a:xfrm>
            <a:off x="5047488" y="1456052"/>
            <a:ext cx="1624584" cy="396240"/>
          </a:xfrm>
          <a:prstGeom prst="rect">
            <a:avLst/>
          </a:prstGeom>
          <a:solidFill>
            <a:srgbClr val="E8F3D3"/>
          </a:solidFill>
          <a:ln w="12700">
            <a:solidFill>
              <a:srgbClr val="80BA24"/>
            </a:solidFill>
            <a:prstDash val="solid"/>
          </a:ln>
        </p:spPr>
        <p:txBody>
          <a:bodyPr wrap="square" lIns="59436" tIns="29718" rIns="59436" bIns="29718" rtlCol="0" anchor="ctr"/>
          <a:lstStyle/>
          <a:p>
            <a:r>
              <a:rPr lang="de-DE" sz="910" b="1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2.3 Unterschrift digital bestätigen</a:t>
            </a:r>
          </a:p>
        </p:txBody>
      </p:sp>
      <p:sp>
        <p:nvSpPr>
          <p:cNvPr id="14" name="Shape 13">
            <a:extLst>
              <a:ext uri="{FF2B5EF4-FFF2-40B4-BE49-F238E27FC236}">
                <a16:creationId xmlns:a16="http://schemas.microsoft.com/office/drawing/2014/main" id="{EDA57097-52CD-B344-A75D-0C4AEA97CA21}"/>
              </a:ext>
            </a:extLst>
          </p:cNvPr>
          <p:cNvSpPr/>
          <p:nvPr/>
        </p:nvSpPr>
        <p:spPr>
          <a:xfrm>
            <a:off x="6731508" y="1456052"/>
            <a:ext cx="1624584" cy="396240"/>
          </a:xfrm>
          <a:prstGeom prst="rect">
            <a:avLst/>
          </a:prstGeom>
          <a:solidFill>
            <a:srgbClr val="E8F3D3"/>
          </a:solidFill>
          <a:ln w="12700">
            <a:solidFill>
              <a:srgbClr val="80BA24"/>
            </a:solidFill>
            <a:prstDash val="solid"/>
          </a:ln>
        </p:spPr>
        <p:txBody>
          <a:bodyPr wrap="square" lIns="59436" tIns="29718" rIns="59436" bIns="29718" rtlCol="0" anchor="ctr"/>
          <a:lstStyle/>
          <a:p>
            <a:r>
              <a:rPr lang="de-DE" sz="910" b="1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2.4 Antrag final absenden</a:t>
            </a:r>
          </a:p>
        </p:txBody>
      </p:sp>
      <p:cxnSp>
        <p:nvCxnSpPr>
          <p:cNvPr id="15" name="Line 14">
            <a:extLst>
              <a:ext uri="{FF2B5EF4-FFF2-40B4-BE49-F238E27FC236}">
                <a16:creationId xmlns:a16="http://schemas.microsoft.com/office/drawing/2014/main" id="{676820C4-9C65-A225-6D45-5B18C776CCCA}"/>
              </a:ext>
            </a:extLst>
          </p:cNvPr>
          <p:cNvCxnSpPr/>
          <p:nvPr/>
        </p:nvCxnSpPr>
        <p:spPr>
          <a:xfrm>
            <a:off x="787908" y="1899841"/>
            <a:ext cx="7568184" cy="0"/>
          </a:xfrm>
          <a:prstGeom prst="line">
            <a:avLst/>
          </a:prstGeom>
          <a:ln w="9525">
            <a:solidFill>
              <a:srgbClr val="C9D1D6"/>
            </a:solidFill>
            <a:prstDash val="solid"/>
          </a:ln>
        </p:spPr>
      </p:cxnSp>
      <p:sp>
        <p:nvSpPr>
          <p:cNvPr id="16" name="Text 15">
            <a:extLst>
              <a:ext uri="{FF2B5EF4-FFF2-40B4-BE49-F238E27FC236}">
                <a16:creationId xmlns:a16="http://schemas.microsoft.com/office/drawing/2014/main" id="{E52A44E1-A6E7-D768-0338-DCED17F97CFF}"/>
              </a:ext>
            </a:extLst>
          </p:cNvPr>
          <p:cNvSpPr txBox="1"/>
          <p:nvPr/>
        </p:nvSpPr>
        <p:spPr>
          <a:xfrm>
            <a:off x="787908" y="1935502"/>
            <a:ext cx="832104" cy="1569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de-DE" sz="715" b="1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Release 1</a:t>
            </a:r>
          </a:p>
          <a:p>
            <a:r>
              <a:rPr lang="de-DE" sz="650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Anmeldung und Ausgabe</a:t>
            </a:r>
          </a:p>
        </p:txBody>
      </p:sp>
      <p:sp>
        <p:nvSpPr>
          <p:cNvPr id="17" name="Shape 16">
            <a:extLst>
              <a:ext uri="{FF2B5EF4-FFF2-40B4-BE49-F238E27FC236}">
                <a16:creationId xmlns:a16="http://schemas.microsoft.com/office/drawing/2014/main" id="{E421AD75-CDFD-900B-212C-CF2F5A0ED5E6}"/>
              </a:ext>
            </a:extLst>
          </p:cNvPr>
          <p:cNvSpPr/>
          <p:nvPr/>
        </p:nvSpPr>
        <p:spPr>
          <a:xfrm>
            <a:off x="1679448" y="1935502"/>
            <a:ext cx="1624584" cy="326898"/>
          </a:xfrm>
          <a:prstGeom prst="rect">
            <a:avLst/>
          </a:prstGeom>
          <a:solidFill>
            <a:srgbClr val="FFF2B3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59436" tIns="11887" rIns="59436" bIns="11887" rtlCol="0" anchor="ctr"/>
          <a:lstStyle/>
          <a:p>
            <a:r>
              <a:rPr lang="de-DE" sz="715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2.1.1 Persönliche Angaben eintragen</a:t>
            </a:r>
          </a:p>
          <a:p>
            <a:r>
              <a:rPr lang="de-DE" sz="585" b="1" dirty="0">
                <a:solidFill>
                  <a:srgbClr val="2F5FD0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■ Studierende:r</a:t>
            </a:r>
          </a:p>
        </p:txBody>
      </p:sp>
      <p:sp>
        <p:nvSpPr>
          <p:cNvPr id="18" name="Shape 17">
            <a:extLst>
              <a:ext uri="{FF2B5EF4-FFF2-40B4-BE49-F238E27FC236}">
                <a16:creationId xmlns:a16="http://schemas.microsoft.com/office/drawing/2014/main" id="{22505A70-B939-91ED-8903-823E8CDF85BC}"/>
              </a:ext>
            </a:extLst>
          </p:cNvPr>
          <p:cNvSpPr/>
          <p:nvPr/>
        </p:nvSpPr>
        <p:spPr>
          <a:xfrm>
            <a:off x="1679448" y="2298061"/>
            <a:ext cx="1624584" cy="247000"/>
          </a:xfrm>
          <a:prstGeom prst="rect">
            <a:avLst/>
          </a:prstGeom>
          <a:solidFill>
            <a:srgbClr val="FFF2B3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59436" tIns="11887" rIns="59436" bIns="11887" rtlCol="0" anchor="ctr"/>
          <a:lstStyle/>
          <a:p>
            <a:r>
              <a:rPr lang="de-DE" sz="715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2.1.2 Prüfer:in auswählen</a:t>
            </a:r>
          </a:p>
          <a:p>
            <a:r>
              <a:rPr lang="de-DE" sz="585" b="1" dirty="0">
                <a:solidFill>
                  <a:srgbClr val="2F5FD0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■ Studierende:r</a:t>
            </a:r>
          </a:p>
        </p:txBody>
      </p:sp>
      <p:sp>
        <p:nvSpPr>
          <p:cNvPr id="19" name="Shape 18">
            <a:extLst>
              <a:ext uri="{FF2B5EF4-FFF2-40B4-BE49-F238E27FC236}">
                <a16:creationId xmlns:a16="http://schemas.microsoft.com/office/drawing/2014/main" id="{6CF7AE73-E79C-10C9-3A65-8B42C953072F}"/>
              </a:ext>
            </a:extLst>
          </p:cNvPr>
          <p:cNvSpPr/>
          <p:nvPr/>
        </p:nvSpPr>
        <p:spPr>
          <a:xfrm>
            <a:off x="1679448" y="2580723"/>
            <a:ext cx="1624584" cy="326898"/>
          </a:xfrm>
          <a:prstGeom prst="rect">
            <a:avLst/>
          </a:prstGeom>
          <a:solidFill>
            <a:srgbClr val="FFF2B3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59436" tIns="11887" rIns="59436" bIns="11887" rtlCol="0" anchor="ctr"/>
          <a:lstStyle/>
          <a:p>
            <a:r>
              <a:rPr lang="de-DE" sz="715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2.1.3 Gewünschten Starttermin angeben</a:t>
            </a:r>
          </a:p>
          <a:p>
            <a:r>
              <a:rPr lang="de-DE" sz="585" b="1" dirty="0">
                <a:solidFill>
                  <a:srgbClr val="2F5FD0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■ Studierende:r</a:t>
            </a:r>
          </a:p>
        </p:txBody>
      </p:sp>
      <p:sp>
        <p:nvSpPr>
          <p:cNvPr id="20" name="Shape 19">
            <a:extLst>
              <a:ext uri="{FF2B5EF4-FFF2-40B4-BE49-F238E27FC236}">
                <a16:creationId xmlns:a16="http://schemas.microsoft.com/office/drawing/2014/main" id="{8159C2CA-02D7-4327-CC7E-50FB8D47F892}"/>
              </a:ext>
            </a:extLst>
          </p:cNvPr>
          <p:cNvSpPr/>
          <p:nvPr/>
        </p:nvSpPr>
        <p:spPr>
          <a:xfrm>
            <a:off x="5047488" y="1935502"/>
            <a:ext cx="1624584" cy="326898"/>
          </a:xfrm>
          <a:prstGeom prst="rect">
            <a:avLst/>
          </a:prstGeom>
          <a:solidFill>
            <a:srgbClr val="FFF2B3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59436" tIns="11887" rIns="59436" bIns="11887" rtlCol="0" anchor="ctr"/>
          <a:lstStyle/>
          <a:p>
            <a:r>
              <a:rPr lang="de-DE" sz="715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2.3.1 Antrag digital bestätigen</a:t>
            </a:r>
          </a:p>
          <a:p>
            <a:r>
              <a:rPr lang="de-DE" sz="585" b="1" dirty="0">
                <a:solidFill>
                  <a:srgbClr val="2F5FD0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■ Studierende:r</a:t>
            </a:r>
          </a:p>
        </p:txBody>
      </p:sp>
      <p:sp>
        <p:nvSpPr>
          <p:cNvPr id="21" name="Shape 20">
            <a:extLst>
              <a:ext uri="{FF2B5EF4-FFF2-40B4-BE49-F238E27FC236}">
                <a16:creationId xmlns:a16="http://schemas.microsoft.com/office/drawing/2014/main" id="{FDC642A4-FCFB-6796-27EA-444A35D70382}"/>
              </a:ext>
            </a:extLst>
          </p:cNvPr>
          <p:cNvSpPr/>
          <p:nvPr/>
        </p:nvSpPr>
        <p:spPr>
          <a:xfrm>
            <a:off x="5047488" y="2298061"/>
            <a:ext cx="1624584" cy="445770"/>
          </a:xfrm>
          <a:prstGeom prst="rect">
            <a:avLst/>
          </a:prstGeom>
          <a:solidFill>
            <a:srgbClr val="FFF2B3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59436" tIns="11887" rIns="59436" bIns="11887" rtlCol="0" anchor="ctr"/>
          <a:lstStyle/>
          <a:p>
            <a:r>
              <a:rPr lang="de-DE" sz="715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2.3.2 Antrag der Studierenden digital bestätigen (Prüfer:in)</a:t>
            </a:r>
          </a:p>
          <a:p>
            <a:r>
              <a:rPr lang="de-DE" sz="585" b="1" dirty="0">
                <a:solidFill>
                  <a:srgbClr val="7440B0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■ Prüfer:in</a:t>
            </a:r>
          </a:p>
        </p:txBody>
      </p:sp>
      <p:sp>
        <p:nvSpPr>
          <p:cNvPr id="22" name="Shape 21">
            <a:extLst>
              <a:ext uri="{FF2B5EF4-FFF2-40B4-BE49-F238E27FC236}">
                <a16:creationId xmlns:a16="http://schemas.microsoft.com/office/drawing/2014/main" id="{77CD2E85-3B84-69EB-33D1-6A0BCFD46D8D}"/>
              </a:ext>
            </a:extLst>
          </p:cNvPr>
          <p:cNvSpPr/>
          <p:nvPr/>
        </p:nvSpPr>
        <p:spPr>
          <a:xfrm>
            <a:off x="6731508" y="1935502"/>
            <a:ext cx="1624584" cy="326898"/>
          </a:xfrm>
          <a:prstGeom prst="rect">
            <a:avLst/>
          </a:prstGeom>
          <a:solidFill>
            <a:srgbClr val="FFF2B3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59436" tIns="11887" rIns="59436" bIns="11887" rtlCol="0" anchor="ctr"/>
          <a:lstStyle/>
          <a:p>
            <a:r>
              <a:rPr lang="de-DE" sz="715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2.4.1 Daten und Unterlagen vor dem Absenden prüfen</a:t>
            </a:r>
          </a:p>
          <a:p>
            <a:r>
              <a:rPr lang="de-DE" sz="585" b="1" dirty="0">
                <a:solidFill>
                  <a:srgbClr val="2F5FD0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■ Studierende:r</a:t>
            </a:r>
          </a:p>
        </p:txBody>
      </p:sp>
      <p:sp>
        <p:nvSpPr>
          <p:cNvPr id="23" name="Shape 22">
            <a:extLst>
              <a:ext uri="{FF2B5EF4-FFF2-40B4-BE49-F238E27FC236}">
                <a16:creationId xmlns:a16="http://schemas.microsoft.com/office/drawing/2014/main" id="{6D34871E-010A-5D89-B907-E4E5363B2D6A}"/>
              </a:ext>
            </a:extLst>
          </p:cNvPr>
          <p:cNvSpPr/>
          <p:nvPr/>
        </p:nvSpPr>
        <p:spPr>
          <a:xfrm>
            <a:off x="6731508" y="2298061"/>
            <a:ext cx="1624584" cy="326898"/>
          </a:xfrm>
          <a:prstGeom prst="rect">
            <a:avLst/>
          </a:prstGeom>
          <a:solidFill>
            <a:srgbClr val="FFF2B3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59436" tIns="11887" rIns="59436" bIns="11887" rtlCol="0" anchor="ctr"/>
          <a:lstStyle/>
          <a:p>
            <a:r>
              <a:rPr lang="de-DE" sz="715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2.4.2 Antrag verbindlich einreichen</a:t>
            </a:r>
          </a:p>
          <a:p>
            <a:r>
              <a:rPr lang="de-DE" sz="585" b="1" dirty="0">
                <a:solidFill>
                  <a:srgbClr val="2F5FD0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■ Studierende:r</a:t>
            </a:r>
          </a:p>
        </p:txBody>
      </p:sp>
      <p:sp>
        <p:nvSpPr>
          <p:cNvPr id="24" name="Shape 23">
            <a:extLst>
              <a:ext uri="{FF2B5EF4-FFF2-40B4-BE49-F238E27FC236}">
                <a16:creationId xmlns:a16="http://schemas.microsoft.com/office/drawing/2014/main" id="{C08208A4-4808-0A9C-76CB-6D8F68D55B06}"/>
              </a:ext>
            </a:extLst>
          </p:cNvPr>
          <p:cNvSpPr/>
          <p:nvPr/>
        </p:nvSpPr>
        <p:spPr>
          <a:xfrm>
            <a:off x="6731508" y="2660621"/>
            <a:ext cx="1624584" cy="326898"/>
          </a:xfrm>
          <a:prstGeom prst="rect">
            <a:avLst/>
          </a:prstGeom>
          <a:solidFill>
            <a:srgbClr val="FFF2B3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59436" tIns="11887" rIns="59436" bIns="11887" rtlCol="0" anchor="ctr"/>
          <a:lstStyle/>
          <a:p>
            <a:r>
              <a:rPr lang="de-DE" sz="715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2.4.3 Einreichungsbestätigung erhalten</a:t>
            </a:r>
          </a:p>
          <a:p>
            <a:r>
              <a:rPr lang="de-DE" sz="585" b="1" dirty="0">
                <a:solidFill>
                  <a:srgbClr val="2F5FD0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■ Studierende:r</a:t>
            </a:r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F07D916F-6E32-AD81-3770-23A3A7AA8ADA}"/>
              </a:ext>
            </a:extLst>
          </p:cNvPr>
          <p:cNvSpPr/>
          <p:nvPr/>
        </p:nvSpPr>
        <p:spPr>
          <a:xfrm>
            <a:off x="6731508" y="3023180"/>
            <a:ext cx="1624584" cy="445770"/>
          </a:xfrm>
          <a:prstGeom prst="rect">
            <a:avLst/>
          </a:prstGeom>
          <a:solidFill>
            <a:srgbClr val="FFF2B3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59436" tIns="11887" rIns="59436" bIns="11887" rtlCol="0" anchor="ctr"/>
          <a:lstStyle/>
          <a:p>
            <a:r>
              <a:rPr lang="de-DE" sz="715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2.4.4 Eingereichten Antrag automatisch zur Prüfung erhalten</a:t>
            </a:r>
          </a:p>
          <a:p>
            <a:r>
              <a:rPr lang="de-DE" sz="585" b="1" dirty="0">
                <a:solidFill>
                  <a:srgbClr val="B8680F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■ Dekanat / Prüfungsamt</a:t>
            </a:r>
          </a:p>
        </p:txBody>
      </p:sp>
      <p:cxnSp>
        <p:nvCxnSpPr>
          <p:cNvPr id="27" name="Line 25">
            <a:extLst>
              <a:ext uri="{FF2B5EF4-FFF2-40B4-BE49-F238E27FC236}">
                <a16:creationId xmlns:a16="http://schemas.microsoft.com/office/drawing/2014/main" id="{5B3D1D60-FB38-F0D5-04FB-9E564C967948}"/>
              </a:ext>
            </a:extLst>
          </p:cNvPr>
          <p:cNvCxnSpPr/>
          <p:nvPr/>
        </p:nvCxnSpPr>
        <p:spPr>
          <a:xfrm>
            <a:off x="787908" y="3540273"/>
            <a:ext cx="7568184" cy="0"/>
          </a:xfrm>
          <a:prstGeom prst="line">
            <a:avLst/>
          </a:prstGeom>
          <a:ln w="9525">
            <a:solidFill>
              <a:srgbClr val="C9D1D6"/>
            </a:solidFill>
            <a:prstDash val="solid"/>
          </a:ln>
        </p:spPr>
      </p:cxnSp>
      <p:sp>
        <p:nvSpPr>
          <p:cNvPr id="28" name="Text 26">
            <a:extLst>
              <a:ext uri="{FF2B5EF4-FFF2-40B4-BE49-F238E27FC236}">
                <a16:creationId xmlns:a16="http://schemas.microsoft.com/office/drawing/2014/main" id="{C93929D0-E9C2-1906-A672-220A4E92A1B0}"/>
              </a:ext>
            </a:extLst>
          </p:cNvPr>
          <p:cNvSpPr txBox="1"/>
          <p:nvPr/>
        </p:nvSpPr>
        <p:spPr>
          <a:xfrm>
            <a:off x="787908" y="3575935"/>
            <a:ext cx="832104" cy="725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de-DE" sz="715" b="1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Release 2</a:t>
            </a:r>
          </a:p>
          <a:p>
            <a:r>
              <a:rPr lang="de-DE" sz="650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Verlängerung und Transparenz</a:t>
            </a:r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F932B2FF-A427-A337-CA93-340D8362FA1A}"/>
              </a:ext>
            </a:extLst>
          </p:cNvPr>
          <p:cNvSpPr/>
          <p:nvPr/>
        </p:nvSpPr>
        <p:spPr>
          <a:xfrm>
            <a:off x="3363468" y="3575935"/>
            <a:ext cx="1624584" cy="326898"/>
          </a:xfrm>
          <a:prstGeom prst="rect">
            <a:avLst/>
          </a:prstGeom>
          <a:solidFill>
            <a:srgbClr val="D6E9F8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59436" tIns="11887" rIns="59436" bIns="11887" rtlCol="0" anchor="ctr"/>
          <a:lstStyle/>
          <a:p>
            <a:r>
              <a:rPr lang="de-DE" sz="715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2.2.1 Nachweise im Portal hochladen</a:t>
            </a:r>
          </a:p>
          <a:p>
            <a:r>
              <a:rPr lang="de-DE" sz="585" b="1" dirty="0">
                <a:solidFill>
                  <a:srgbClr val="2F5FD0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■ Studierende:r</a:t>
            </a:r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010CF7BB-135C-0E66-0AB9-CC9A3CC0C35D}"/>
              </a:ext>
            </a:extLst>
          </p:cNvPr>
          <p:cNvSpPr/>
          <p:nvPr/>
        </p:nvSpPr>
        <p:spPr>
          <a:xfrm>
            <a:off x="3363468" y="3938494"/>
            <a:ext cx="1624584" cy="326898"/>
          </a:xfrm>
          <a:prstGeom prst="rect">
            <a:avLst/>
          </a:prstGeom>
          <a:solidFill>
            <a:srgbClr val="D6E9F8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59436" tIns="11887" rIns="59436" bIns="11887" rtlCol="0" anchor="ctr"/>
          <a:lstStyle/>
          <a:p>
            <a:r>
              <a:rPr lang="de-DE" sz="715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2.2.3 Sehen, welche Dokumente vorliegen und welche fehlen</a:t>
            </a:r>
          </a:p>
          <a:p>
            <a:r>
              <a:rPr lang="de-DE" sz="585" b="1" dirty="0">
                <a:solidFill>
                  <a:srgbClr val="2F5FD0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■ Studierende:r</a:t>
            </a:r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F4953E1B-38F2-BD41-BEE6-B9CFE73431A2}"/>
              </a:ext>
            </a:extLst>
          </p:cNvPr>
          <p:cNvSpPr/>
          <p:nvPr/>
        </p:nvSpPr>
        <p:spPr>
          <a:xfrm>
            <a:off x="5047488" y="3575935"/>
            <a:ext cx="1624584" cy="326898"/>
          </a:xfrm>
          <a:prstGeom prst="rect">
            <a:avLst/>
          </a:prstGeom>
          <a:solidFill>
            <a:srgbClr val="D6E9F8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59436" tIns="11887" rIns="59436" bIns="11887" rtlCol="0" anchor="ctr"/>
          <a:lstStyle/>
          <a:p>
            <a:r>
              <a:rPr lang="de-DE" sz="715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2.3.3 Sehen, ob alle Bestätigungen vorliegen</a:t>
            </a:r>
          </a:p>
          <a:p>
            <a:r>
              <a:rPr lang="de-DE" sz="585" b="1" dirty="0">
                <a:solidFill>
                  <a:srgbClr val="2F5FD0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■ Studierende:r</a:t>
            </a:r>
          </a:p>
        </p:txBody>
      </p:sp>
      <p:cxnSp>
        <p:nvCxnSpPr>
          <p:cNvPr id="32" name="Line 30">
            <a:extLst>
              <a:ext uri="{FF2B5EF4-FFF2-40B4-BE49-F238E27FC236}">
                <a16:creationId xmlns:a16="http://schemas.microsoft.com/office/drawing/2014/main" id="{FACA1F8C-604C-91F8-CC6D-BA0B3D5AD822}"/>
              </a:ext>
            </a:extLst>
          </p:cNvPr>
          <p:cNvCxnSpPr/>
          <p:nvPr/>
        </p:nvCxnSpPr>
        <p:spPr>
          <a:xfrm>
            <a:off x="787908" y="4336716"/>
            <a:ext cx="7568184" cy="0"/>
          </a:xfrm>
          <a:prstGeom prst="line">
            <a:avLst/>
          </a:prstGeom>
          <a:ln w="9525">
            <a:solidFill>
              <a:srgbClr val="C9D1D6"/>
            </a:solidFill>
            <a:prstDash val="solid"/>
          </a:ln>
        </p:spPr>
      </p:cxnSp>
      <p:sp>
        <p:nvSpPr>
          <p:cNvPr id="33" name="Text 31">
            <a:extLst>
              <a:ext uri="{FF2B5EF4-FFF2-40B4-BE49-F238E27FC236}">
                <a16:creationId xmlns:a16="http://schemas.microsoft.com/office/drawing/2014/main" id="{663FEFA2-CDB1-86CF-61A2-8E82A50C858F}"/>
              </a:ext>
            </a:extLst>
          </p:cNvPr>
          <p:cNvSpPr txBox="1"/>
          <p:nvPr/>
        </p:nvSpPr>
        <p:spPr>
          <a:xfrm>
            <a:off x="787908" y="4372377"/>
            <a:ext cx="832104" cy="39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de-DE" sz="715" b="1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Release 3</a:t>
            </a:r>
          </a:p>
          <a:p>
            <a:r>
              <a:rPr lang="de-DE" sz="650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Abgabe und Dokumentation</a:t>
            </a:r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190AB72D-C380-D446-8000-8253662DFE90}"/>
              </a:ext>
            </a:extLst>
          </p:cNvPr>
          <p:cNvSpPr/>
          <p:nvPr/>
        </p:nvSpPr>
        <p:spPr>
          <a:xfrm>
            <a:off x="3363468" y="4372377"/>
            <a:ext cx="1624584" cy="326898"/>
          </a:xfrm>
          <a:prstGeom prst="rect">
            <a:avLst/>
          </a:prstGeom>
          <a:solidFill>
            <a:srgbClr val="F3D9E8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59436" tIns="11887" rIns="59436" bIns="11887" rtlCol="0" anchor="ctr"/>
          <a:lstStyle/>
          <a:p>
            <a:r>
              <a:rPr lang="de-DE" sz="715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2.2.2 Nachweise zu externen Prüfungsleistungen hinzufügen</a:t>
            </a:r>
          </a:p>
          <a:p>
            <a:r>
              <a:rPr lang="de-DE" sz="585" b="1" dirty="0">
                <a:solidFill>
                  <a:srgbClr val="2F5FD0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■ Studierende:r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80B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 4 · STORY MAP UND RELEASEPLANUNG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310896"/>
            <a:ext cx="6172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Map mit Releaseplanung: Activity 3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55464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5B6A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B125CF13-D3B0-89D6-F5FC-97C5FE5898CF}"/>
              </a:ext>
            </a:extLst>
          </p:cNvPr>
          <p:cNvSpPr/>
          <p:nvPr/>
        </p:nvSpPr>
        <p:spPr>
          <a:xfrm>
            <a:off x="6047513" y="1010421"/>
            <a:ext cx="118922" cy="118922"/>
          </a:xfrm>
          <a:prstGeom prst="rect">
            <a:avLst/>
          </a:prstGeom>
          <a:solidFill>
            <a:srgbClr val="FFF2B3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66068" tIns="33034" rIns="66068" bIns="33034" rtlCol="0" anchor="ctr"/>
          <a:lstStyle/>
          <a:p>
            <a:endParaRPr lang="de-DE" sz="1301"/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209CCB57-1248-B6CF-83EB-7E7A8135DD82}"/>
              </a:ext>
            </a:extLst>
          </p:cNvPr>
          <p:cNvSpPr txBox="1"/>
          <p:nvPr/>
        </p:nvSpPr>
        <p:spPr>
          <a:xfrm>
            <a:off x="6206075" y="990600"/>
            <a:ext cx="660678" cy="158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de-DE" sz="723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Release 1</a:t>
            </a:r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1A2DA5A9-7635-DFDD-DA49-035D04045360}"/>
              </a:ext>
            </a:extLst>
          </p:cNvPr>
          <p:cNvSpPr/>
          <p:nvPr/>
        </p:nvSpPr>
        <p:spPr>
          <a:xfrm>
            <a:off x="6959249" y="1010421"/>
            <a:ext cx="118922" cy="118922"/>
          </a:xfrm>
          <a:prstGeom prst="rect">
            <a:avLst/>
          </a:prstGeom>
          <a:solidFill>
            <a:srgbClr val="D6E9F8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66068" tIns="33034" rIns="66068" bIns="33034" rtlCol="0" anchor="ctr"/>
          <a:lstStyle/>
          <a:p>
            <a:endParaRPr lang="de-DE" sz="1301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DCCFF42F-5E5E-71DF-8FA5-EE0D90B134AA}"/>
              </a:ext>
            </a:extLst>
          </p:cNvPr>
          <p:cNvSpPr txBox="1"/>
          <p:nvPr/>
        </p:nvSpPr>
        <p:spPr>
          <a:xfrm>
            <a:off x="7117811" y="990600"/>
            <a:ext cx="660678" cy="158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de-DE" sz="723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Release 2</a:t>
            </a:r>
          </a:p>
        </p:txBody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02850A1C-8583-801A-AD3F-C8A2153340BA}"/>
              </a:ext>
            </a:extLst>
          </p:cNvPr>
          <p:cNvSpPr/>
          <p:nvPr/>
        </p:nvSpPr>
        <p:spPr>
          <a:xfrm>
            <a:off x="7870985" y="1010421"/>
            <a:ext cx="118922" cy="118922"/>
          </a:xfrm>
          <a:prstGeom prst="rect">
            <a:avLst/>
          </a:prstGeom>
          <a:solidFill>
            <a:srgbClr val="F3D9E8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66068" tIns="33034" rIns="66068" bIns="33034" rtlCol="0" anchor="ctr"/>
          <a:lstStyle/>
          <a:p>
            <a:endParaRPr lang="de-DE" sz="1301"/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CB0FC48A-26B5-EE21-119D-8C7C3CDC901B}"/>
              </a:ext>
            </a:extLst>
          </p:cNvPr>
          <p:cNvSpPr txBox="1"/>
          <p:nvPr/>
        </p:nvSpPr>
        <p:spPr>
          <a:xfrm>
            <a:off x="8029546" y="990600"/>
            <a:ext cx="660678" cy="158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de-DE" sz="723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Release 3</a:t>
            </a:r>
          </a:p>
        </p:txBody>
      </p:sp>
      <p:sp>
        <p:nvSpPr>
          <p:cNvPr id="10" name="Shape 9">
            <a:extLst>
              <a:ext uri="{FF2B5EF4-FFF2-40B4-BE49-F238E27FC236}">
                <a16:creationId xmlns:a16="http://schemas.microsoft.com/office/drawing/2014/main" id="{6EDF320B-1CFC-27EC-7288-2C245EE8CBC5}"/>
              </a:ext>
            </a:extLst>
          </p:cNvPr>
          <p:cNvSpPr/>
          <p:nvPr/>
        </p:nvSpPr>
        <p:spPr>
          <a:xfrm>
            <a:off x="1356701" y="1320939"/>
            <a:ext cx="4834740" cy="303461"/>
          </a:xfrm>
          <a:prstGeom prst="rect">
            <a:avLst/>
          </a:prstGeom>
          <a:solidFill>
            <a:srgbClr val="4A5C66"/>
          </a:solidFill>
          <a:ln w="12700">
            <a:solidFill>
              <a:srgbClr val="4A5C66"/>
            </a:solidFill>
            <a:prstDash val="solid"/>
          </a:ln>
        </p:spPr>
        <p:txBody>
          <a:bodyPr wrap="square" lIns="99102" tIns="0" rIns="99102" bIns="0" rtlCol="0" anchor="ctr"/>
          <a:lstStyle/>
          <a:p>
            <a:r>
              <a:rPr lang="de-DE" sz="1012" b="1" dirty="0">
                <a:solidFill>
                  <a:srgbClr val="FFFFFF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3  Prüfung des Antrags</a:t>
            </a:r>
          </a:p>
        </p:txBody>
      </p:sp>
      <p:sp>
        <p:nvSpPr>
          <p:cNvPr id="11" name="Shape 10">
            <a:extLst>
              <a:ext uri="{FF2B5EF4-FFF2-40B4-BE49-F238E27FC236}">
                <a16:creationId xmlns:a16="http://schemas.microsoft.com/office/drawing/2014/main" id="{97A826FF-28DC-6998-BDAE-86AAD1956F24}"/>
              </a:ext>
            </a:extLst>
          </p:cNvPr>
          <p:cNvSpPr/>
          <p:nvPr/>
        </p:nvSpPr>
        <p:spPr>
          <a:xfrm>
            <a:off x="1356701" y="1677255"/>
            <a:ext cx="2384336" cy="440452"/>
          </a:xfrm>
          <a:prstGeom prst="rect">
            <a:avLst/>
          </a:prstGeom>
          <a:solidFill>
            <a:srgbClr val="E8F3D3"/>
          </a:solidFill>
          <a:ln w="12700">
            <a:solidFill>
              <a:srgbClr val="80BA24"/>
            </a:solidFill>
            <a:prstDash val="solid"/>
          </a:ln>
        </p:spPr>
        <p:txBody>
          <a:bodyPr wrap="square" lIns="66068" tIns="33034" rIns="66068" bIns="33034" rtlCol="0" anchor="ctr"/>
          <a:lstStyle/>
          <a:p>
            <a:r>
              <a:rPr lang="de-DE" sz="1012" b="1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3.1 Dekanat / Prüfungsamt prüft Formalien</a:t>
            </a:r>
            <a:endParaRPr lang="de-DE" sz="1012" b="1" dirty="0">
              <a:solidFill>
                <a:srgbClr val="2F3E46"/>
              </a:solidFill>
              <a:latin typeface="Calibri" panose="020F0502020204030204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921BEF60-AA7B-44A4-B90F-3293E91FDA1C}"/>
              </a:ext>
            </a:extLst>
          </p:cNvPr>
          <p:cNvSpPr/>
          <p:nvPr/>
        </p:nvSpPr>
        <p:spPr>
          <a:xfrm>
            <a:off x="3807104" y="1677255"/>
            <a:ext cx="2384336" cy="440452"/>
          </a:xfrm>
          <a:prstGeom prst="rect">
            <a:avLst/>
          </a:prstGeom>
          <a:solidFill>
            <a:srgbClr val="E8F3D3"/>
          </a:solidFill>
          <a:ln w="12700">
            <a:solidFill>
              <a:srgbClr val="80BA24"/>
            </a:solidFill>
            <a:prstDash val="solid"/>
          </a:ln>
        </p:spPr>
        <p:txBody>
          <a:bodyPr wrap="square" lIns="66068" tIns="33034" rIns="66068" bIns="33034" rtlCol="0" anchor="ctr"/>
          <a:lstStyle/>
          <a:p>
            <a:r>
              <a:rPr lang="de-DE" sz="1012" b="1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3.2 Entscheidung des Prüfungsausschusses</a:t>
            </a:r>
          </a:p>
        </p:txBody>
      </p:sp>
      <p:cxnSp>
        <p:nvCxnSpPr>
          <p:cNvPr id="13" name="Line 12">
            <a:extLst>
              <a:ext uri="{FF2B5EF4-FFF2-40B4-BE49-F238E27FC236}">
                <a16:creationId xmlns:a16="http://schemas.microsoft.com/office/drawing/2014/main" id="{30BB0D4D-8AE1-9162-CB2D-B6DD8752A227}"/>
              </a:ext>
            </a:extLst>
          </p:cNvPr>
          <p:cNvCxnSpPr/>
          <p:nvPr/>
        </p:nvCxnSpPr>
        <p:spPr>
          <a:xfrm>
            <a:off x="365685" y="2170561"/>
            <a:ext cx="8412631" cy="0"/>
          </a:xfrm>
          <a:prstGeom prst="line">
            <a:avLst/>
          </a:prstGeom>
          <a:ln w="9525">
            <a:solidFill>
              <a:srgbClr val="C9D1D6"/>
            </a:solidFill>
            <a:prstDash val="solid"/>
          </a:ln>
        </p:spPr>
      </p:cxnSp>
      <p:sp>
        <p:nvSpPr>
          <p:cNvPr id="14" name="Text 13">
            <a:extLst>
              <a:ext uri="{FF2B5EF4-FFF2-40B4-BE49-F238E27FC236}">
                <a16:creationId xmlns:a16="http://schemas.microsoft.com/office/drawing/2014/main" id="{435F6FE3-90C7-C223-CA9E-2E4933698176}"/>
              </a:ext>
            </a:extLst>
          </p:cNvPr>
          <p:cNvSpPr txBox="1"/>
          <p:nvPr/>
        </p:nvSpPr>
        <p:spPr>
          <a:xfrm>
            <a:off x="365685" y="2210201"/>
            <a:ext cx="924949" cy="1031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de-DE" sz="795" b="1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Release 1</a:t>
            </a:r>
          </a:p>
          <a:p>
            <a:r>
              <a:rPr lang="de-DE" sz="723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Anmeldung und Ausgabe</a:t>
            </a:r>
          </a:p>
        </p:txBody>
      </p:sp>
      <p:sp>
        <p:nvSpPr>
          <p:cNvPr id="15" name="Shape 14">
            <a:extLst>
              <a:ext uri="{FF2B5EF4-FFF2-40B4-BE49-F238E27FC236}">
                <a16:creationId xmlns:a16="http://schemas.microsoft.com/office/drawing/2014/main" id="{268FD653-F9EE-EB5F-0832-8BCBC14E40B7}"/>
              </a:ext>
            </a:extLst>
          </p:cNvPr>
          <p:cNvSpPr/>
          <p:nvPr/>
        </p:nvSpPr>
        <p:spPr>
          <a:xfrm>
            <a:off x="1356701" y="2210201"/>
            <a:ext cx="2384336" cy="363373"/>
          </a:xfrm>
          <a:prstGeom prst="rect">
            <a:avLst/>
          </a:prstGeom>
          <a:solidFill>
            <a:srgbClr val="FFF2B3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66068" tIns="13214" rIns="66068" bIns="13214" rtlCol="0" anchor="ctr"/>
          <a:lstStyle/>
          <a:p>
            <a:r>
              <a:rPr lang="de-DE" sz="795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3.1.1 Zulassungsvoraussetzungen der Studierenden prüfen</a:t>
            </a:r>
          </a:p>
          <a:p>
            <a:r>
              <a:rPr lang="de-DE" sz="650" b="1" dirty="0">
                <a:solidFill>
                  <a:srgbClr val="B8680F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■ Dekanat / Prüfungsamt</a:t>
            </a:r>
          </a:p>
        </p:txBody>
      </p:sp>
      <p:sp>
        <p:nvSpPr>
          <p:cNvPr id="16" name="Shape 15">
            <a:extLst>
              <a:ext uri="{FF2B5EF4-FFF2-40B4-BE49-F238E27FC236}">
                <a16:creationId xmlns:a16="http://schemas.microsoft.com/office/drawing/2014/main" id="{AFDD8161-8AB3-4377-CCDA-1D51FA37D00C}"/>
              </a:ext>
            </a:extLst>
          </p:cNvPr>
          <p:cNvSpPr/>
          <p:nvPr/>
        </p:nvSpPr>
        <p:spPr>
          <a:xfrm>
            <a:off x="1356701" y="2613215"/>
            <a:ext cx="2384336" cy="363373"/>
          </a:xfrm>
          <a:prstGeom prst="rect">
            <a:avLst/>
          </a:prstGeom>
          <a:solidFill>
            <a:srgbClr val="FFF2B3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66068" tIns="13214" rIns="66068" bIns="13214" rtlCol="0" anchor="ctr"/>
          <a:lstStyle/>
          <a:p>
            <a:r>
              <a:rPr lang="de-DE" sz="795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3.1.2 Zulassung des externen Prüfers prüfen</a:t>
            </a:r>
          </a:p>
          <a:p>
            <a:r>
              <a:rPr lang="de-DE" sz="650" b="1">
                <a:solidFill>
                  <a:srgbClr val="B8680F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■ Dekanat / Prüfungsamt</a:t>
            </a:r>
            <a:endParaRPr lang="de-DE" sz="650" b="1" dirty="0">
              <a:solidFill>
                <a:srgbClr val="B8680F"/>
              </a:solidFill>
              <a:latin typeface="Calibri" panose="020F0502020204030204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7" name="Shape 16">
            <a:extLst>
              <a:ext uri="{FF2B5EF4-FFF2-40B4-BE49-F238E27FC236}">
                <a16:creationId xmlns:a16="http://schemas.microsoft.com/office/drawing/2014/main" id="{9BB5BC1D-D98D-44EB-CB42-14A85BA4EC8C}"/>
              </a:ext>
            </a:extLst>
          </p:cNvPr>
          <p:cNvSpPr/>
          <p:nvPr/>
        </p:nvSpPr>
        <p:spPr>
          <a:xfrm>
            <a:off x="3807104" y="2210201"/>
            <a:ext cx="2384336" cy="274560"/>
          </a:xfrm>
          <a:prstGeom prst="rect">
            <a:avLst/>
          </a:prstGeom>
          <a:solidFill>
            <a:srgbClr val="FFF2B3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66068" tIns="13214" rIns="66068" bIns="13214" rtlCol="0" anchor="ctr"/>
          <a:lstStyle/>
          <a:p>
            <a:r>
              <a:rPr lang="de-DE" sz="795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3.2.1 Antrag annehmen</a:t>
            </a:r>
          </a:p>
          <a:p>
            <a:r>
              <a:rPr lang="de-DE" sz="650" b="1" dirty="0">
                <a:solidFill>
                  <a:srgbClr val="B83348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■ Prüfungsausschuss</a:t>
            </a:r>
          </a:p>
        </p:txBody>
      </p:sp>
      <p:sp>
        <p:nvSpPr>
          <p:cNvPr id="18" name="Shape 17">
            <a:extLst>
              <a:ext uri="{FF2B5EF4-FFF2-40B4-BE49-F238E27FC236}">
                <a16:creationId xmlns:a16="http://schemas.microsoft.com/office/drawing/2014/main" id="{719F35C7-7D0B-CD6A-B021-1E4443FD51B6}"/>
              </a:ext>
            </a:extLst>
          </p:cNvPr>
          <p:cNvSpPr/>
          <p:nvPr/>
        </p:nvSpPr>
        <p:spPr>
          <a:xfrm>
            <a:off x="3807104" y="2524402"/>
            <a:ext cx="2384336" cy="363373"/>
          </a:xfrm>
          <a:prstGeom prst="rect">
            <a:avLst/>
          </a:prstGeom>
          <a:solidFill>
            <a:srgbClr val="FFF2B3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66068" tIns="13214" rIns="66068" bIns="13214" rtlCol="0" anchor="ctr"/>
          <a:lstStyle/>
          <a:p>
            <a:r>
              <a:rPr lang="de-DE" sz="795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3.2.2 Antrag ablehnen und Ablehnung begründen</a:t>
            </a:r>
          </a:p>
          <a:p>
            <a:r>
              <a:rPr lang="de-DE" sz="650" b="1" dirty="0">
                <a:solidFill>
                  <a:srgbClr val="B83348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■ Prüfungsausschuss</a:t>
            </a:r>
          </a:p>
        </p:txBody>
      </p:sp>
      <p:sp>
        <p:nvSpPr>
          <p:cNvPr id="19" name="Shape 18">
            <a:extLst>
              <a:ext uri="{FF2B5EF4-FFF2-40B4-BE49-F238E27FC236}">
                <a16:creationId xmlns:a16="http://schemas.microsoft.com/office/drawing/2014/main" id="{E0198875-9DC6-6EB4-DF23-E498A24228E3}"/>
              </a:ext>
            </a:extLst>
          </p:cNvPr>
          <p:cNvSpPr/>
          <p:nvPr/>
        </p:nvSpPr>
        <p:spPr>
          <a:xfrm>
            <a:off x="3807104" y="2927415"/>
            <a:ext cx="2384336" cy="274560"/>
          </a:xfrm>
          <a:prstGeom prst="rect">
            <a:avLst/>
          </a:prstGeom>
          <a:solidFill>
            <a:srgbClr val="FFF2B3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66068" tIns="13214" rIns="66068" bIns="13214" rtlCol="0" anchor="ctr"/>
          <a:lstStyle/>
          <a:p>
            <a:r>
              <a:rPr lang="de-DE" sz="795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3.2.3 Entscheidung mitgeteilt bekommen</a:t>
            </a:r>
          </a:p>
          <a:p>
            <a:r>
              <a:rPr lang="de-DE" sz="650" b="1" dirty="0">
                <a:solidFill>
                  <a:srgbClr val="7440B0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■ Prüfer:in</a:t>
            </a:r>
          </a:p>
        </p:txBody>
      </p:sp>
      <p:cxnSp>
        <p:nvCxnSpPr>
          <p:cNvPr id="20" name="Line 19">
            <a:extLst>
              <a:ext uri="{FF2B5EF4-FFF2-40B4-BE49-F238E27FC236}">
                <a16:creationId xmlns:a16="http://schemas.microsoft.com/office/drawing/2014/main" id="{6496A092-DF4E-A8CE-A022-1E79AD0AB7A9}"/>
              </a:ext>
            </a:extLst>
          </p:cNvPr>
          <p:cNvCxnSpPr/>
          <p:nvPr/>
        </p:nvCxnSpPr>
        <p:spPr>
          <a:xfrm>
            <a:off x="365685" y="3281257"/>
            <a:ext cx="8412631" cy="0"/>
          </a:xfrm>
          <a:prstGeom prst="line">
            <a:avLst/>
          </a:prstGeom>
          <a:ln w="9525">
            <a:solidFill>
              <a:srgbClr val="C9D1D6"/>
            </a:solidFill>
            <a:prstDash val="solid"/>
          </a:ln>
        </p:spPr>
      </p:cxnSp>
      <p:sp>
        <p:nvSpPr>
          <p:cNvPr id="21" name="Text 20">
            <a:extLst>
              <a:ext uri="{FF2B5EF4-FFF2-40B4-BE49-F238E27FC236}">
                <a16:creationId xmlns:a16="http://schemas.microsoft.com/office/drawing/2014/main" id="{53FFAC62-9B10-F48E-BFE9-4AB42A563740}"/>
              </a:ext>
            </a:extLst>
          </p:cNvPr>
          <p:cNvSpPr txBox="1"/>
          <p:nvPr/>
        </p:nvSpPr>
        <p:spPr>
          <a:xfrm>
            <a:off x="365685" y="3320897"/>
            <a:ext cx="924949" cy="433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de-DE" sz="795" b="1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Release 2</a:t>
            </a:r>
          </a:p>
          <a:p>
            <a:r>
              <a:rPr lang="de-DE" sz="723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Verlängerung und Transparenz</a:t>
            </a:r>
          </a:p>
        </p:txBody>
      </p:sp>
      <p:cxnSp>
        <p:nvCxnSpPr>
          <p:cNvPr id="22" name="Line 21">
            <a:extLst>
              <a:ext uri="{FF2B5EF4-FFF2-40B4-BE49-F238E27FC236}">
                <a16:creationId xmlns:a16="http://schemas.microsoft.com/office/drawing/2014/main" id="{67E66506-38A8-67BC-53F9-8B64F36C47FC}"/>
              </a:ext>
            </a:extLst>
          </p:cNvPr>
          <p:cNvCxnSpPr/>
          <p:nvPr/>
        </p:nvCxnSpPr>
        <p:spPr>
          <a:xfrm>
            <a:off x="365685" y="3794054"/>
            <a:ext cx="8412631" cy="0"/>
          </a:xfrm>
          <a:prstGeom prst="line">
            <a:avLst/>
          </a:prstGeom>
          <a:ln w="9525">
            <a:solidFill>
              <a:srgbClr val="C9D1D6"/>
            </a:solidFill>
            <a:prstDash val="solid"/>
          </a:ln>
        </p:spPr>
      </p:cxnSp>
      <p:sp>
        <p:nvSpPr>
          <p:cNvPr id="23" name="Text 22">
            <a:extLst>
              <a:ext uri="{FF2B5EF4-FFF2-40B4-BE49-F238E27FC236}">
                <a16:creationId xmlns:a16="http://schemas.microsoft.com/office/drawing/2014/main" id="{A298F411-8643-ADEB-BB4F-51832E8850FB}"/>
              </a:ext>
            </a:extLst>
          </p:cNvPr>
          <p:cNvSpPr txBox="1"/>
          <p:nvPr/>
        </p:nvSpPr>
        <p:spPr>
          <a:xfrm>
            <a:off x="365685" y="3833694"/>
            <a:ext cx="924949" cy="433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de-DE" sz="795" b="1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Release 3</a:t>
            </a:r>
          </a:p>
          <a:p>
            <a:r>
              <a:rPr lang="de-DE" sz="723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Abgabe und Dokumentation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80B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 4 · STORY MAP UND RELEASEPLANUNG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310896"/>
            <a:ext cx="6172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Map mit Releaseplanung: Activity 4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55464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5B6A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8E993387-8470-5BA6-E152-28BA165486BA}"/>
              </a:ext>
            </a:extLst>
          </p:cNvPr>
          <p:cNvSpPr/>
          <p:nvPr/>
        </p:nvSpPr>
        <p:spPr>
          <a:xfrm>
            <a:off x="6047513" y="1010421"/>
            <a:ext cx="118922" cy="118922"/>
          </a:xfrm>
          <a:prstGeom prst="rect">
            <a:avLst/>
          </a:prstGeom>
          <a:solidFill>
            <a:srgbClr val="FFF2B3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66068" tIns="33034" rIns="66068" bIns="33034" rtlCol="0" anchor="ctr"/>
          <a:lstStyle/>
          <a:p>
            <a:endParaRPr lang="de-DE" sz="1301"/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45277E7E-29A2-16FF-E0DB-A1BADB8EBC62}"/>
              </a:ext>
            </a:extLst>
          </p:cNvPr>
          <p:cNvSpPr txBox="1"/>
          <p:nvPr/>
        </p:nvSpPr>
        <p:spPr>
          <a:xfrm>
            <a:off x="6206075" y="990600"/>
            <a:ext cx="660678" cy="158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de-DE" sz="723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Release 1</a:t>
            </a:r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8F734EB4-7069-4E41-61FA-6665B94B7D73}"/>
              </a:ext>
            </a:extLst>
          </p:cNvPr>
          <p:cNvSpPr/>
          <p:nvPr/>
        </p:nvSpPr>
        <p:spPr>
          <a:xfrm>
            <a:off x="6959249" y="1010421"/>
            <a:ext cx="118922" cy="118922"/>
          </a:xfrm>
          <a:prstGeom prst="rect">
            <a:avLst/>
          </a:prstGeom>
          <a:solidFill>
            <a:srgbClr val="D6E9F8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66068" tIns="33034" rIns="66068" bIns="33034" rtlCol="0" anchor="ctr"/>
          <a:lstStyle/>
          <a:p>
            <a:endParaRPr lang="de-DE" sz="1301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3B4C44EB-9665-25D7-184C-C6D441B46354}"/>
              </a:ext>
            </a:extLst>
          </p:cNvPr>
          <p:cNvSpPr txBox="1"/>
          <p:nvPr/>
        </p:nvSpPr>
        <p:spPr>
          <a:xfrm>
            <a:off x="7117811" y="990600"/>
            <a:ext cx="660678" cy="158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de-DE" sz="723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Release 2</a:t>
            </a:r>
          </a:p>
        </p:txBody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3607299D-D8E9-6F2B-55AF-005BD55E94A2}"/>
              </a:ext>
            </a:extLst>
          </p:cNvPr>
          <p:cNvSpPr/>
          <p:nvPr/>
        </p:nvSpPr>
        <p:spPr>
          <a:xfrm>
            <a:off x="7870985" y="1010421"/>
            <a:ext cx="118922" cy="118922"/>
          </a:xfrm>
          <a:prstGeom prst="rect">
            <a:avLst/>
          </a:prstGeom>
          <a:solidFill>
            <a:srgbClr val="F3D9E8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66068" tIns="33034" rIns="66068" bIns="33034" rtlCol="0" anchor="ctr"/>
          <a:lstStyle/>
          <a:p>
            <a:endParaRPr lang="de-DE" sz="1301"/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B799E4BC-9378-A84C-1DFB-C3535E07EB49}"/>
              </a:ext>
            </a:extLst>
          </p:cNvPr>
          <p:cNvSpPr txBox="1"/>
          <p:nvPr/>
        </p:nvSpPr>
        <p:spPr>
          <a:xfrm>
            <a:off x="8029546" y="990600"/>
            <a:ext cx="660678" cy="158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de-DE" sz="723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Release 3</a:t>
            </a:r>
          </a:p>
        </p:txBody>
      </p:sp>
      <p:sp>
        <p:nvSpPr>
          <p:cNvPr id="10" name="Shape 9">
            <a:extLst>
              <a:ext uri="{FF2B5EF4-FFF2-40B4-BE49-F238E27FC236}">
                <a16:creationId xmlns:a16="http://schemas.microsoft.com/office/drawing/2014/main" id="{96BB5E7E-8726-DD13-B6FF-6675D845BF66}"/>
              </a:ext>
            </a:extLst>
          </p:cNvPr>
          <p:cNvSpPr/>
          <p:nvPr/>
        </p:nvSpPr>
        <p:spPr>
          <a:xfrm>
            <a:off x="1356702" y="1320939"/>
            <a:ext cx="7285143" cy="303461"/>
          </a:xfrm>
          <a:prstGeom prst="rect">
            <a:avLst/>
          </a:prstGeom>
          <a:solidFill>
            <a:srgbClr val="4A5C66"/>
          </a:solidFill>
          <a:ln w="12700">
            <a:solidFill>
              <a:srgbClr val="4A5C66"/>
            </a:solidFill>
            <a:prstDash val="solid"/>
          </a:ln>
        </p:spPr>
        <p:txBody>
          <a:bodyPr wrap="square" lIns="99102" tIns="0" rIns="99102" bIns="0" rtlCol="0" anchor="ctr"/>
          <a:lstStyle/>
          <a:p>
            <a:r>
              <a:rPr lang="de-DE" sz="1012" b="1" dirty="0">
                <a:solidFill>
                  <a:srgbClr val="FFFFFF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4  Ausgabe der Abschlussarbeit</a:t>
            </a:r>
          </a:p>
        </p:txBody>
      </p:sp>
      <p:sp>
        <p:nvSpPr>
          <p:cNvPr id="11" name="Shape 10">
            <a:extLst>
              <a:ext uri="{FF2B5EF4-FFF2-40B4-BE49-F238E27FC236}">
                <a16:creationId xmlns:a16="http://schemas.microsoft.com/office/drawing/2014/main" id="{E2D0511F-C60C-EF74-39D7-D70B079BEA51}"/>
              </a:ext>
            </a:extLst>
          </p:cNvPr>
          <p:cNvSpPr/>
          <p:nvPr/>
        </p:nvSpPr>
        <p:spPr>
          <a:xfrm>
            <a:off x="1356701" y="1677254"/>
            <a:ext cx="2384336" cy="375714"/>
          </a:xfrm>
          <a:prstGeom prst="rect">
            <a:avLst/>
          </a:prstGeom>
          <a:solidFill>
            <a:srgbClr val="E8F3D3"/>
          </a:solidFill>
          <a:ln w="12700">
            <a:solidFill>
              <a:srgbClr val="80BA24"/>
            </a:solidFill>
            <a:prstDash val="solid"/>
          </a:ln>
        </p:spPr>
        <p:txBody>
          <a:bodyPr wrap="square" lIns="66068" tIns="33034" rIns="66068" bIns="33034" rtlCol="0" anchor="ctr"/>
          <a:lstStyle/>
          <a:p>
            <a:r>
              <a:rPr lang="de-DE" sz="1012" b="1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4.1 Thema bestätigen</a:t>
            </a:r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E3070774-041B-FDAB-C119-F1386A015EFF}"/>
              </a:ext>
            </a:extLst>
          </p:cNvPr>
          <p:cNvSpPr/>
          <p:nvPr/>
        </p:nvSpPr>
        <p:spPr>
          <a:xfrm>
            <a:off x="3807104" y="1677254"/>
            <a:ext cx="2384336" cy="375714"/>
          </a:xfrm>
          <a:prstGeom prst="rect">
            <a:avLst/>
          </a:prstGeom>
          <a:solidFill>
            <a:srgbClr val="E8F3D3"/>
          </a:solidFill>
          <a:ln w="12700">
            <a:solidFill>
              <a:srgbClr val="80BA24"/>
            </a:solidFill>
            <a:prstDash val="solid"/>
          </a:ln>
        </p:spPr>
        <p:txBody>
          <a:bodyPr wrap="square" lIns="66068" tIns="33034" rIns="66068" bIns="33034" rtlCol="0" anchor="ctr"/>
          <a:lstStyle/>
          <a:p>
            <a:r>
              <a:rPr lang="de-DE" sz="1012" b="1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4.2 Bearbeitungszeit festlegen</a:t>
            </a:r>
          </a:p>
        </p:txBody>
      </p:sp>
      <p:sp>
        <p:nvSpPr>
          <p:cNvPr id="13" name="Shape 12">
            <a:extLst>
              <a:ext uri="{FF2B5EF4-FFF2-40B4-BE49-F238E27FC236}">
                <a16:creationId xmlns:a16="http://schemas.microsoft.com/office/drawing/2014/main" id="{A55D562D-2C21-A6ED-80B6-93969F7F64F7}"/>
              </a:ext>
            </a:extLst>
          </p:cNvPr>
          <p:cNvSpPr/>
          <p:nvPr/>
        </p:nvSpPr>
        <p:spPr>
          <a:xfrm>
            <a:off x="6257508" y="1677254"/>
            <a:ext cx="2384336" cy="375714"/>
          </a:xfrm>
          <a:prstGeom prst="rect">
            <a:avLst/>
          </a:prstGeom>
          <a:solidFill>
            <a:srgbClr val="E8F3D3"/>
          </a:solidFill>
          <a:ln w="12700">
            <a:solidFill>
              <a:srgbClr val="80BA24"/>
            </a:solidFill>
            <a:prstDash val="solid"/>
          </a:ln>
        </p:spPr>
        <p:txBody>
          <a:bodyPr wrap="square" lIns="66068" tIns="33034" rIns="66068" bIns="33034" rtlCol="0" anchor="ctr"/>
          <a:lstStyle/>
          <a:p>
            <a:r>
              <a:rPr lang="de-DE" sz="1012" b="1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4.3 Ausgabe des Themas</a:t>
            </a:r>
          </a:p>
        </p:txBody>
      </p:sp>
      <p:cxnSp>
        <p:nvCxnSpPr>
          <p:cNvPr id="14" name="Line 13">
            <a:extLst>
              <a:ext uri="{FF2B5EF4-FFF2-40B4-BE49-F238E27FC236}">
                <a16:creationId xmlns:a16="http://schemas.microsoft.com/office/drawing/2014/main" id="{8156CA47-2F17-EDF0-4AF1-77D8764320FA}"/>
              </a:ext>
            </a:extLst>
          </p:cNvPr>
          <p:cNvCxnSpPr/>
          <p:nvPr/>
        </p:nvCxnSpPr>
        <p:spPr>
          <a:xfrm>
            <a:off x="365685" y="2105822"/>
            <a:ext cx="8412631" cy="0"/>
          </a:xfrm>
          <a:prstGeom prst="line">
            <a:avLst/>
          </a:prstGeom>
          <a:ln w="9525">
            <a:solidFill>
              <a:srgbClr val="C9D1D6"/>
            </a:solidFill>
            <a:prstDash val="solid"/>
          </a:ln>
        </p:spPr>
      </p:cxnSp>
      <p:sp>
        <p:nvSpPr>
          <p:cNvPr id="15" name="Text 14">
            <a:extLst>
              <a:ext uri="{FF2B5EF4-FFF2-40B4-BE49-F238E27FC236}">
                <a16:creationId xmlns:a16="http://schemas.microsoft.com/office/drawing/2014/main" id="{24A05E61-F863-1934-47F9-C83686C3DDC3}"/>
              </a:ext>
            </a:extLst>
          </p:cNvPr>
          <p:cNvSpPr txBox="1"/>
          <p:nvPr/>
        </p:nvSpPr>
        <p:spPr>
          <a:xfrm>
            <a:off x="365685" y="2145463"/>
            <a:ext cx="924949" cy="1120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de-DE" sz="795" b="1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Release 1</a:t>
            </a:r>
          </a:p>
          <a:p>
            <a:r>
              <a:rPr lang="de-DE" sz="723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Anmeldung und Ausgabe</a:t>
            </a:r>
          </a:p>
        </p:txBody>
      </p:sp>
      <p:sp>
        <p:nvSpPr>
          <p:cNvPr id="16" name="Shape 15">
            <a:extLst>
              <a:ext uri="{FF2B5EF4-FFF2-40B4-BE49-F238E27FC236}">
                <a16:creationId xmlns:a16="http://schemas.microsoft.com/office/drawing/2014/main" id="{F3013510-3964-26B5-776C-C70BCEE60BA7}"/>
              </a:ext>
            </a:extLst>
          </p:cNvPr>
          <p:cNvSpPr/>
          <p:nvPr/>
        </p:nvSpPr>
        <p:spPr>
          <a:xfrm>
            <a:off x="1356701" y="2145463"/>
            <a:ext cx="2384336" cy="274560"/>
          </a:xfrm>
          <a:prstGeom prst="rect">
            <a:avLst/>
          </a:prstGeom>
          <a:solidFill>
            <a:srgbClr val="FFF2B3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66068" tIns="13214" rIns="66068" bIns="13214" rtlCol="0" anchor="ctr"/>
          <a:lstStyle/>
          <a:p>
            <a:r>
              <a:rPr lang="de-DE" sz="795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4.1.1 Thema bestätigen und freigeben</a:t>
            </a:r>
          </a:p>
          <a:p>
            <a:r>
              <a:rPr lang="de-DE" sz="650" b="1" dirty="0">
                <a:solidFill>
                  <a:srgbClr val="07758F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■ Erstprüfer:in</a:t>
            </a:r>
          </a:p>
        </p:txBody>
      </p:sp>
      <p:sp>
        <p:nvSpPr>
          <p:cNvPr id="17" name="Shape 16">
            <a:extLst>
              <a:ext uri="{FF2B5EF4-FFF2-40B4-BE49-F238E27FC236}">
                <a16:creationId xmlns:a16="http://schemas.microsoft.com/office/drawing/2014/main" id="{30A16144-B393-0426-E829-B45F260FA3F7}"/>
              </a:ext>
            </a:extLst>
          </p:cNvPr>
          <p:cNvSpPr/>
          <p:nvPr/>
        </p:nvSpPr>
        <p:spPr>
          <a:xfrm>
            <a:off x="3807104" y="2145463"/>
            <a:ext cx="2384336" cy="363373"/>
          </a:xfrm>
          <a:prstGeom prst="rect">
            <a:avLst/>
          </a:prstGeom>
          <a:solidFill>
            <a:srgbClr val="FFF2B3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66068" tIns="13214" rIns="66068" bIns="13214" rtlCol="0" anchor="ctr"/>
          <a:lstStyle/>
          <a:p>
            <a:r>
              <a:rPr lang="de-DE" sz="795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4.2.1 Beginn der Bearbeitungszeit festlegen</a:t>
            </a:r>
          </a:p>
          <a:p>
            <a:r>
              <a:rPr lang="de-DE" sz="650" b="1" dirty="0">
                <a:solidFill>
                  <a:srgbClr val="07758F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■ Erstprüfer:in</a:t>
            </a:r>
          </a:p>
        </p:txBody>
      </p:sp>
      <p:sp>
        <p:nvSpPr>
          <p:cNvPr id="18" name="Shape 17">
            <a:extLst>
              <a:ext uri="{FF2B5EF4-FFF2-40B4-BE49-F238E27FC236}">
                <a16:creationId xmlns:a16="http://schemas.microsoft.com/office/drawing/2014/main" id="{EE8BF2AE-019B-49D6-1850-6EA432078FD6}"/>
              </a:ext>
            </a:extLst>
          </p:cNvPr>
          <p:cNvSpPr/>
          <p:nvPr/>
        </p:nvSpPr>
        <p:spPr>
          <a:xfrm>
            <a:off x="3807104" y="2548476"/>
            <a:ext cx="2384336" cy="274560"/>
          </a:xfrm>
          <a:prstGeom prst="rect">
            <a:avLst/>
          </a:prstGeom>
          <a:solidFill>
            <a:srgbClr val="FFF2B3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66068" tIns="13214" rIns="66068" bIns="13214" rtlCol="0" anchor="ctr"/>
          <a:lstStyle/>
          <a:p>
            <a:r>
              <a:rPr lang="de-DE" sz="795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4.2.2 Abgabedatum festlegen</a:t>
            </a:r>
          </a:p>
          <a:p>
            <a:r>
              <a:rPr lang="de-DE" sz="650" b="1" dirty="0">
                <a:solidFill>
                  <a:srgbClr val="07758F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■ Erstprüfer:in</a:t>
            </a:r>
          </a:p>
        </p:txBody>
      </p:sp>
      <p:sp>
        <p:nvSpPr>
          <p:cNvPr id="19" name="Shape 18">
            <a:extLst>
              <a:ext uri="{FF2B5EF4-FFF2-40B4-BE49-F238E27FC236}">
                <a16:creationId xmlns:a16="http://schemas.microsoft.com/office/drawing/2014/main" id="{21611976-3C40-93F6-04F6-CA3C872F9151}"/>
              </a:ext>
            </a:extLst>
          </p:cNvPr>
          <p:cNvSpPr/>
          <p:nvPr/>
        </p:nvSpPr>
        <p:spPr>
          <a:xfrm>
            <a:off x="3807104" y="2862677"/>
            <a:ext cx="2384336" cy="363373"/>
          </a:xfrm>
          <a:prstGeom prst="rect">
            <a:avLst/>
          </a:prstGeom>
          <a:solidFill>
            <a:srgbClr val="FFF2B3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66068" tIns="13214" rIns="66068" bIns="13214" rtlCol="0" anchor="ctr"/>
          <a:lstStyle/>
          <a:p>
            <a:r>
              <a:rPr lang="de-DE" sz="795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4.2.3 Bearbeitungsfrist auf Konformität prüfen</a:t>
            </a:r>
          </a:p>
          <a:p>
            <a:r>
              <a:rPr lang="de-DE" sz="650" b="1" dirty="0">
                <a:solidFill>
                  <a:srgbClr val="B8680F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■ Dekanat / Prüfungsamt</a:t>
            </a:r>
          </a:p>
        </p:txBody>
      </p:sp>
      <p:sp>
        <p:nvSpPr>
          <p:cNvPr id="20" name="Shape 19">
            <a:extLst>
              <a:ext uri="{FF2B5EF4-FFF2-40B4-BE49-F238E27FC236}">
                <a16:creationId xmlns:a16="http://schemas.microsoft.com/office/drawing/2014/main" id="{2E81B167-3C2D-375B-816E-4F8BABB5C829}"/>
              </a:ext>
            </a:extLst>
          </p:cNvPr>
          <p:cNvSpPr/>
          <p:nvPr/>
        </p:nvSpPr>
        <p:spPr>
          <a:xfrm>
            <a:off x="6257508" y="2145463"/>
            <a:ext cx="2384336" cy="363373"/>
          </a:xfrm>
          <a:prstGeom prst="rect">
            <a:avLst/>
          </a:prstGeom>
          <a:solidFill>
            <a:srgbClr val="FFF2B3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66068" tIns="13214" rIns="66068" bIns="13214" rtlCol="0" anchor="ctr"/>
          <a:lstStyle/>
          <a:p>
            <a:r>
              <a:rPr lang="de-DE" sz="795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4.3.1 Ausgabebestätigung über das Portal versenden</a:t>
            </a:r>
          </a:p>
          <a:p>
            <a:r>
              <a:rPr lang="de-DE" sz="650" b="1" dirty="0">
                <a:solidFill>
                  <a:srgbClr val="B8680F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■ Dekanat / Prüfungsamt</a:t>
            </a:r>
          </a:p>
        </p:txBody>
      </p:sp>
      <p:sp>
        <p:nvSpPr>
          <p:cNvPr id="21" name="Shape 20">
            <a:extLst>
              <a:ext uri="{FF2B5EF4-FFF2-40B4-BE49-F238E27FC236}">
                <a16:creationId xmlns:a16="http://schemas.microsoft.com/office/drawing/2014/main" id="{F16D94CD-26DF-1931-CAEB-6B63E92DAD4E}"/>
              </a:ext>
            </a:extLst>
          </p:cNvPr>
          <p:cNvSpPr/>
          <p:nvPr/>
        </p:nvSpPr>
        <p:spPr>
          <a:xfrm>
            <a:off x="6257508" y="2548476"/>
            <a:ext cx="2384336" cy="363373"/>
          </a:xfrm>
          <a:prstGeom prst="rect">
            <a:avLst/>
          </a:prstGeom>
          <a:solidFill>
            <a:srgbClr val="FFF2B3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66068" tIns="13214" rIns="66068" bIns="13214" rtlCol="0" anchor="ctr"/>
          <a:lstStyle/>
          <a:p>
            <a:r>
              <a:rPr lang="de-DE" sz="795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4.3.2 Über die Ausgabe des Themas informiert werden</a:t>
            </a:r>
          </a:p>
          <a:p>
            <a:r>
              <a:rPr lang="de-DE" sz="650" b="1" dirty="0">
                <a:solidFill>
                  <a:srgbClr val="2F5FD0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■ Studierende:r</a:t>
            </a:r>
          </a:p>
        </p:txBody>
      </p:sp>
      <p:cxnSp>
        <p:nvCxnSpPr>
          <p:cNvPr id="22" name="Line 21">
            <a:extLst>
              <a:ext uri="{FF2B5EF4-FFF2-40B4-BE49-F238E27FC236}">
                <a16:creationId xmlns:a16="http://schemas.microsoft.com/office/drawing/2014/main" id="{D913E0E5-C37E-112D-5F03-E61C26F73BF3}"/>
              </a:ext>
            </a:extLst>
          </p:cNvPr>
          <p:cNvCxnSpPr/>
          <p:nvPr/>
        </p:nvCxnSpPr>
        <p:spPr>
          <a:xfrm>
            <a:off x="365685" y="3305331"/>
            <a:ext cx="8412631" cy="0"/>
          </a:xfrm>
          <a:prstGeom prst="line">
            <a:avLst/>
          </a:prstGeom>
          <a:ln w="9525">
            <a:solidFill>
              <a:srgbClr val="C9D1D6"/>
            </a:solidFill>
            <a:prstDash val="solid"/>
          </a:ln>
        </p:spPr>
      </p:cxnSp>
      <p:sp>
        <p:nvSpPr>
          <p:cNvPr id="23" name="Text 22">
            <a:extLst>
              <a:ext uri="{FF2B5EF4-FFF2-40B4-BE49-F238E27FC236}">
                <a16:creationId xmlns:a16="http://schemas.microsoft.com/office/drawing/2014/main" id="{2B5C0E7E-E3CD-1B17-947C-A75BE450A417}"/>
              </a:ext>
            </a:extLst>
          </p:cNvPr>
          <p:cNvSpPr txBox="1"/>
          <p:nvPr/>
        </p:nvSpPr>
        <p:spPr>
          <a:xfrm>
            <a:off x="365685" y="3344972"/>
            <a:ext cx="924949" cy="433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de-DE" sz="795" b="1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Release 2</a:t>
            </a:r>
          </a:p>
          <a:p>
            <a:r>
              <a:rPr lang="de-DE" sz="723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Verlängerung und Transparenz</a:t>
            </a:r>
          </a:p>
        </p:txBody>
      </p:sp>
      <p:cxnSp>
        <p:nvCxnSpPr>
          <p:cNvPr id="24" name="Line 23">
            <a:extLst>
              <a:ext uri="{FF2B5EF4-FFF2-40B4-BE49-F238E27FC236}">
                <a16:creationId xmlns:a16="http://schemas.microsoft.com/office/drawing/2014/main" id="{10FC3CF9-EBCB-9802-5FF8-664FCAB470A2}"/>
              </a:ext>
            </a:extLst>
          </p:cNvPr>
          <p:cNvCxnSpPr/>
          <p:nvPr/>
        </p:nvCxnSpPr>
        <p:spPr>
          <a:xfrm>
            <a:off x="365685" y="3818128"/>
            <a:ext cx="8412631" cy="0"/>
          </a:xfrm>
          <a:prstGeom prst="line">
            <a:avLst/>
          </a:prstGeom>
          <a:ln w="9525">
            <a:solidFill>
              <a:srgbClr val="C9D1D6"/>
            </a:solidFill>
            <a:prstDash val="solid"/>
          </a:ln>
        </p:spPr>
      </p:cxnSp>
      <p:sp>
        <p:nvSpPr>
          <p:cNvPr id="26" name="Text 24">
            <a:extLst>
              <a:ext uri="{FF2B5EF4-FFF2-40B4-BE49-F238E27FC236}">
                <a16:creationId xmlns:a16="http://schemas.microsoft.com/office/drawing/2014/main" id="{3339583E-B16A-630F-A54B-07165CB33B20}"/>
              </a:ext>
            </a:extLst>
          </p:cNvPr>
          <p:cNvSpPr txBox="1"/>
          <p:nvPr/>
        </p:nvSpPr>
        <p:spPr>
          <a:xfrm>
            <a:off x="365685" y="3857769"/>
            <a:ext cx="924949" cy="433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de-DE" sz="795" b="1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Release 3</a:t>
            </a:r>
          </a:p>
          <a:p>
            <a:r>
              <a:rPr lang="de-DE" sz="723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Abgabe und Dokumentation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80B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 4 · STORY MAP UND RELEASEPLANUNG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310896"/>
            <a:ext cx="6172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Map mit Releaseplanung: Activity 5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55464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5B6A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491BEA0B-597A-247D-5472-44CA5425854F}"/>
              </a:ext>
            </a:extLst>
          </p:cNvPr>
          <p:cNvSpPr/>
          <p:nvPr/>
        </p:nvSpPr>
        <p:spPr>
          <a:xfrm>
            <a:off x="5919879" y="856341"/>
            <a:ext cx="108635" cy="108635"/>
          </a:xfrm>
          <a:prstGeom prst="rect">
            <a:avLst/>
          </a:prstGeom>
          <a:solidFill>
            <a:srgbClr val="FFF2B3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60353" tIns="30176" rIns="60353" bIns="30176" rtlCol="0" anchor="ctr"/>
          <a:lstStyle/>
          <a:p>
            <a:endParaRPr lang="de-DE" sz="1188"/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C0FD1B83-E769-3B07-14B8-384B8D63A425}"/>
              </a:ext>
            </a:extLst>
          </p:cNvPr>
          <p:cNvSpPr txBox="1"/>
          <p:nvPr/>
        </p:nvSpPr>
        <p:spPr>
          <a:xfrm>
            <a:off x="6064724" y="838235"/>
            <a:ext cx="603528" cy="1448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de-DE" sz="660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Release 1</a:t>
            </a:r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670976CF-2363-F48F-33F7-306A5DD00287}"/>
              </a:ext>
            </a:extLst>
          </p:cNvPr>
          <p:cNvSpPr/>
          <p:nvPr/>
        </p:nvSpPr>
        <p:spPr>
          <a:xfrm>
            <a:off x="6752746" y="856341"/>
            <a:ext cx="108635" cy="108635"/>
          </a:xfrm>
          <a:prstGeom prst="rect">
            <a:avLst/>
          </a:prstGeom>
          <a:solidFill>
            <a:srgbClr val="D6E9F8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60353" tIns="30176" rIns="60353" bIns="30176" rtlCol="0" anchor="ctr"/>
          <a:lstStyle/>
          <a:p>
            <a:endParaRPr lang="de-DE" sz="1188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74C2BB40-8226-F6F1-B170-1E2431DB74D9}"/>
              </a:ext>
            </a:extLst>
          </p:cNvPr>
          <p:cNvSpPr txBox="1"/>
          <p:nvPr/>
        </p:nvSpPr>
        <p:spPr>
          <a:xfrm>
            <a:off x="6897593" y="838235"/>
            <a:ext cx="603528" cy="1448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de-DE" sz="660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Release 2</a:t>
            </a:r>
          </a:p>
        </p:txBody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01766E2C-E057-7C28-765A-CF613218A108}"/>
              </a:ext>
            </a:extLst>
          </p:cNvPr>
          <p:cNvSpPr/>
          <p:nvPr/>
        </p:nvSpPr>
        <p:spPr>
          <a:xfrm>
            <a:off x="7585615" y="856341"/>
            <a:ext cx="108635" cy="108635"/>
          </a:xfrm>
          <a:prstGeom prst="rect">
            <a:avLst/>
          </a:prstGeom>
          <a:solidFill>
            <a:srgbClr val="F3D9E8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60353" tIns="30176" rIns="60353" bIns="30176" rtlCol="0" anchor="ctr"/>
          <a:lstStyle/>
          <a:p>
            <a:endParaRPr lang="de-DE" sz="1188"/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5607039B-302F-DD00-38BE-8AAE5035BDA1}"/>
              </a:ext>
            </a:extLst>
          </p:cNvPr>
          <p:cNvSpPr txBox="1"/>
          <p:nvPr/>
        </p:nvSpPr>
        <p:spPr>
          <a:xfrm>
            <a:off x="7730461" y="838235"/>
            <a:ext cx="603528" cy="1448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de-DE" sz="660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Release 3</a:t>
            </a:r>
          </a:p>
        </p:txBody>
      </p:sp>
      <p:sp>
        <p:nvSpPr>
          <p:cNvPr id="10" name="Shape 9">
            <a:extLst>
              <a:ext uri="{FF2B5EF4-FFF2-40B4-BE49-F238E27FC236}">
                <a16:creationId xmlns:a16="http://schemas.microsoft.com/office/drawing/2014/main" id="{FCEF7CDB-DB6B-15F0-7B71-C969E13CA188}"/>
              </a:ext>
            </a:extLst>
          </p:cNvPr>
          <p:cNvSpPr/>
          <p:nvPr/>
        </p:nvSpPr>
        <p:spPr>
          <a:xfrm>
            <a:off x="1634830" y="1139999"/>
            <a:ext cx="6779629" cy="277211"/>
          </a:xfrm>
          <a:prstGeom prst="rect">
            <a:avLst/>
          </a:prstGeom>
          <a:solidFill>
            <a:srgbClr val="4A5C66"/>
          </a:solidFill>
          <a:ln w="12700">
            <a:solidFill>
              <a:srgbClr val="4A5C66"/>
            </a:solidFill>
            <a:prstDash val="solid"/>
          </a:ln>
        </p:spPr>
        <p:txBody>
          <a:bodyPr wrap="square" lIns="90529" tIns="0" rIns="90529" bIns="0" rtlCol="0" anchor="ctr"/>
          <a:lstStyle/>
          <a:p>
            <a:r>
              <a:rPr lang="de-DE" sz="924" b="1" dirty="0">
                <a:solidFill>
                  <a:srgbClr val="FFFFFF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5  Durchführung der Arbeit</a:t>
            </a:r>
          </a:p>
        </p:txBody>
      </p:sp>
      <p:sp>
        <p:nvSpPr>
          <p:cNvPr id="11" name="Shape 10">
            <a:extLst>
              <a:ext uri="{FF2B5EF4-FFF2-40B4-BE49-F238E27FC236}">
                <a16:creationId xmlns:a16="http://schemas.microsoft.com/office/drawing/2014/main" id="{256DEB10-F505-1F07-647E-7E23D8CD0E8D}"/>
              </a:ext>
            </a:extLst>
          </p:cNvPr>
          <p:cNvSpPr/>
          <p:nvPr/>
        </p:nvSpPr>
        <p:spPr>
          <a:xfrm>
            <a:off x="1634830" y="1465492"/>
            <a:ext cx="1307644" cy="603528"/>
          </a:xfrm>
          <a:prstGeom prst="rect">
            <a:avLst/>
          </a:prstGeom>
          <a:solidFill>
            <a:srgbClr val="E8F3D3"/>
          </a:solidFill>
          <a:ln w="12700">
            <a:solidFill>
              <a:srgbClr val="80BA24"/>
            </a:solidFill>
            <a:prstDash val="solid"/>
          </a:ln>
        </p:spPr>
        <p:txBody>
          <a:bodyPr wrap="square" lIns="60353" tIns="30176" rIns="60353" bIns="30176" rtlCol="0" anchor="ctr"/>
          <a:lstStyle/>
          <a:p>
            <a:r>
              <a:rPr lang="de-DE" sz="792" b="1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5.1 Bearbeitungszeitraum und Status einsehen</a:t>
            </a:r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1E61915E-CA6F-6DA2-C3C4-783105654CED}"/>
              </a:ext>
            </a:extLst>
          </p:cNvPr>
          <p:cNvSpPr/>
          <p:nvPr/>
        </p:nvSpPr>
        <p:spPr>
          <a:xfrm>
            <a:off x="3002826" y="1465492"/>
            <a:ext cx="1307644" cy="603528"/>
          </a:xfrm>
          <a:prstGeom prst="rect">
            <a:avLst/>
          </a:prstGeom>
          <a:solidFill>
            <a:srgbClr val="E8F3D3"/>
          </a:solidFill>
          <a:ln w="12700">
            <a:solidFill>
              <a:srgbClr val="80BA24"/>
            </a:solidFill>
            <a:prstDash val="solid"/>
          </a:ln>
        </p:spPr>
        <p:txBody>
          <a:bodyPr wrap="square" lIns="60353" tIns="30176" rIns="60353" bIns="30176" rtlCol="0" anchor="ctr"/>
          <a:lstStyle/>
          <a:p>
            <a:r>
              <a:rPr lang="de-DE" sz="792" b="1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5.2 Fristen verfolgen und Erinnerungen erhalten</a:t>
            </a:r>
          </a:p>
        </p:txBody>
      </p:sp>
      <p:sp>
        <p:nvSpPr>
          <p:cNvPr id="13" name="Shape 12">
            <a:extLst>
              <a:ext uri="{FF2B5EF4-FFF2-40B4-BE49-F238E27FC236}">
                <a16:creationId xmlns:a16="http://schemas.microsoft.com/office/drawing/2014/main" id="{717A45DD-112D-2CD3-64B8-1B351A096F91}"/>
              </a:ext>
            </a:extLst>
          </p:cNvPr>
          <p:cNvSpPr/>
          <p:nvPr/>
        </p:nvSpPr>
        <p:spPr>
          <a:xfrm>
            <a:off x="4370824" y="1465492"/>
            <a:ext cx="1307644" cy="603528"/>
          </a:xfrm>
          <a:prstGeom prst="rect">
            <a:avLst/>
          </a:prstGeom>
          <a:solidFill>
            <a:srgbClr val="E8F3D3"/>
          </a:solidFill>
          <a:ln w="12700">
            <a:solidFill>
              <a:srgbClr val="80BA24"/>
            </a:solidFill>
            <a:prstDash val="solid"/>
          </a:ln>
        </p:spPr>
        <p:txBody>
          <a:bodyPr wrap="square" lIns="60353" tIns="30176" rIns="60353" bIns="30176" rtlCol="0" anchor="ctr"/>
          <a:lstStyle/>
          <a:p>
            <a:r>
              <a:rPr lang="de-DE" sz="792" b="1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5.3 Verlängerungsantrag digital stellen</a:t>
            </a:r>
          </a:p>
        </p:txBody>
      </p:sp>
      <p:sp>
        <p:nvSpPr>
          <p:cNvPr id="14" name="Shape 13">
            <a:extLst>
              <a:ext uri="{FF2B5EF4-FFF2-40B4-BE49-F238E27FC236}">
                <a16:creationId xmlns:a16="http://schemas.microsoft.com/office/drawing/2014/main" id="{7B79BF74-69BB-18BB-2F0A-109D009EAA54}"/>
              </a:ext>
            </a:extLst>
          </p:cNvPr>
          <p:cNvSpPr/>
          <p:nvPr/>
        </p:nvSpPr>
        <p:spPr>
          <a:xfrm>
            <a:off x="5738819" y="1465492"/>
            <a:ext cx="1307644" cy="603528"/>
          </a:xfrm>
          <a:prstGeom prst="rect">
            <a:avLst/>
          </a:prstGeom>
          <a:solidFill>
            <a:srgbClr val="E8F3D3"/>
          </a:solidFill>
          <a:ln w="12700">
            <a:solidFill>
              <a:srgbClr val="80BA24"/>
            </a:solidFill>
            <a:prstDash val="solid"/>
          </a:ln>
        </p:spPr>
        <p:txBody>
          <a:bodyPr wrap="square" lIns="60353" tIns="30176" rIns="60353" bIns="30176" rtlCol="0" anchor="ctr"/>
          <a:lstStyle/>
          <a:p>
            <a:r>
              <a:rPr lang="de-DE" sz="792" b="1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5.4 Stellungnahme zur Verlängerung abgeben</a:t>
            </a:r>
          </a:p>
        </p:txBody>
      </p:sp>
      <p:sp>
        <p:nvSpPr>
          <p:cNvPr id="15" name="Shape 14">
            <a:extLst>
              <a:ext uri="{FF2B5EF4-FFF2-40B4-BE49-F238E27FC236}">
                <a16:creationId xmlns:a16="http://schemas.microsoft.com/office/drawing/2014/main" id="{C9739CEE-4177-CBAA-3C2A-CCE493C89191}"/>
              </a:ext>
            </a:extLst>
          </p:cNvPr>
          <p:cNvSpPr/>
          <p:nvPr/>
        </p:nvSpPr>
        <p:spPr>
          <a:xfrm>
            <a:off x="7106817" y="1465492"/>
            <a:ext cx="1307644" cy="603528"/>
          </a:xfrm>
          <a:prstGeom prst="rect">
            <a:avLst/>
          </a:prstGeom>
          <a:solidFill>
            <a:srgbClr val="E8F3D3"/>
          </a:solidFill>
          <a:ln w="12700">
            <a:solidFill>
              <a:srgbClr val="80BA24"/>
            </a:solidFill>
            <a:prstDash val="solid"/>
          </a:ln>
        </p:spPr>
        <p:txBody>
          <a:bodyPr wrap="square" lIns="60353" tIns="30176" rIns="60353" bIns="30176" rtlCol="0" anchor="ctr"/>
          <a:lstStyle/>
          <a:p>
            <a:r>
              <a:rPr lang="de-DE" sz="792" b="1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5.5 Verlängerungsantrag prüfen und entscheiden</a:t>
            </a:r>
          </a:p>
        </p:txBody>
      </p:sp>
      <p:cxnSp>
        <p:nvCxnSpPr>
          <p:cNvPr id="16" name="Line 15">
            <a:extLst>
              <a:ext uri="{FF2B5EF4-FFF2-40B4-BE49-F238E27FC236}">
                <a16:creationId xmlns:a16="http://schemas.microsoft.com/office/drawing/2014/main" id="{BF5613C8-66DD-CF10-7FBB-F56D24F82716}"/>
              </a:ext>
            </a:extLst>
          </p:cNvPr>
          <p:cNvCxnSpPr/>
          <p:nvPr/>
        </p:nvCxnSpPr>
        <p:spPr>
          <a:xfrm>
            <a:off x="729539" y="2117302"/>
            <a:ext cx="7684921" cy="0"/>
          </a:xfrm>
          <a:prstGeom prst="line">
            <a:avLst/>
          </a:prstGeom>
          <a:ln w="9525">
            <a:solidFill>
              <a:srgbClr val="C9D1D6"/>
            </a:solidFill>
            <a:prstDash val="solid"/>
          </a:ln>
        </p:spPr>
      </p:cxnSp>
      <p:sp>
        <p:nvSpPr>
          <p:cNvPr id="17" name="Text 16">
            <a:extLst>
              <a:ext uri="{FF2B5EF4-FFF2-40B4-BE49-F238E27FC236}">
                <a16:creationId xmlns:a16="http://schemas.microsoft.com/office/drawing/2014/main" id="{CFBBD1B7-83B5-9CD2-949B-C0F99AEC0219}"/>
              </a:ext>
            </a:extLst>
          </p:cNvPr>
          <p:cNvSpPr txBox="1"/>
          <p:nvPr/>
        </p:nvSpPr>
        <p:spPr>
          <a:xfrm>
            <a:off x="729539" y="2153514"/>
            <a:ext cx="844939" cy="983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de-DE" sz="726" b="1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Release 1</a:t>
            </a:r>
          </a:p>
          <a:p>
            <a:r>
              <a:rPr lang="de-DE" sz="660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Anmeldung und Ausgabe</a:t>
            </a:r>
          </a:p>
        </p:txBody>
      </p:sp>
      <p:sp>
        <p:nvSpPr>
          <p:cNvPr id="18" name="Shape 17">
            <a:extLst>
              <a:ext uri="{FF2B5EF4-FFF2-40B4-BE49-F238E27FC236}">
                <a16:creationId xmlns:a16="http://schemas.microsoft.com/office/drawing/2014/main" id="{CC64AF7E-6499-C41B-4D1F-078AC4B8870F}"/>
              </a:ext>
            </a:extLst>
          </p:cNvPr>
          <p:cNvSpPr/>
          <p:nvPr/>
        </p:nvSpPr>
        <p:spPr>
          <a:xfrm>
            <a:off x="1634830" y="2153514"/>
            <a:ext cx="1307644" cy="291705"/>
          </a:xfrm>
          <a:prstGeom prst="rect">
            <a:avLst/>
          </a:prstGeom>
          <a:solidFill>
            <a:srgbClr val="FFF2B3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60353" tIns="12071" rIns="60353" bIns="12071" rtlCol="0" anchor="ctr"/>
          <a:lstStyle/>
          <a:p>
            <a:r>
              <a:rPr lang="de-DE" sz="726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5.1.1 Beginn der Bearbeitungszeit sehen</a:t>
            </a:r>
          </a:p>
          <a:p>
            <a:r>
              <a:rPr lang="de-DE" sz="594" b="1" dirty="0">
                <a:solidFill>
                  <a:srgbClr val="2F5FD0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■ Studierende:r</a:t>
            </a:r>
          </a:p>
        </p:txBody>
      </p:sp>
      <p:sp>
        <p:nvSpPr>
          <p:cNvPr id="19" name="Shape 18">
            <a:extLst>
              <a:ext uri="{FF2B5EF4-FFF2-40B4-BE49-F238E27FC236}">
                <a16:creationId xmlns:a16="http://schemas.microsoft.com/office/drawing/2014/main" id="{BA08DB88-1642-3DFE-CBBE-9907DE92D38D}"/>
              </a:ext>
            </a:extLst>
          </p:cNvPr>
          <p:cNvSpPr/>
          <p:nvPr/>
        </p:nvSpPr>
        <p:spPr>
          <a:xfrm>
            <a:off x="1634830" y="2481431"/>
            <a:ext cx="1307644" cy="291705"/>
          </a:xfrm>
          <a:prstGeom prst="rect">
            <a:avLst/>
          </a:prstGeom>
          <a:solidFill>
            <a:srgbClr val="FFF2B3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60353" tIns="12071" rIns="60353" bIns="12071" rtlCol="0" anchor="ctr"/>
          <a:lstStyle/>
          <a:p>
            <a:r>
              <a:rPr lang="de-DE" sz="726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5.1.2 Aktuellen Abgabetermin sehen</a:t>
            </a:r>
          </a:p>
          <a:p>
            <a:r>
              <a:rPr lang="de-DE" sz="594" b="1" dirty="0">
                <a:solidFill>
                  <a:srgbClr val="2F5FD0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■ Studierende:r</a:t>
            </a:r>
          </a:p>
        </p:txBody>
      </p:sp>
      <p:sp>
        <p:nvSpPr>
          <p:cNvPr id="20" name="Shape 19">
            <a:extLst>
              <a:ext uri="{FF2B5EF4-FFF2-40B4-BE49-F238E27FC236}">
                <a16:creationId xmlns:a16="http://schemas.microsoft.com/office/drawing/2014/main" id="{EA641704-C42A-4446-0A6E-54E2CFF8DE78}"/>
              </a:ext>
            </a:extLst>
          </p:cNvPr>
          <p:cNvSpPr/>
          <p:nvPr/>
        </p:nvSpPr>
        <p:spPr>
          <a:xfrm>
            <a:off x="1634830" y="2809347"/>
            <a:ext cx="1307644" cy="291705"/>
          </a:xfrm>
          <a:prstGeom prst="rect">
            <a:avLst/>
          </a:prstGeom>
          <a:solidFill>
            <a:srgbClr val="FFF2B3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60353" tIns="12071" rIns="60353" bIns="12071" rtlCol="0" anchor="ctr"/>
          <a:lstStyle/>
          <a:p>
            <a:r>
              <a:rPr lang="de-DE" sz="726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5.1.3 Aktuellen Status der Arbeit sehen</a:t>
            </a:r>
          </a:p>
          <a:p>
            <a:r>
              <a:rPr lang="de-DE" sz="594" b="1" dirty="0">
                <a:solidFill>
                  <a:srgbClr val="2F5FD0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■ Studierende:r</a:t>
            </a:r>
          </a:p>
        </p:txBody>
      </p:sp>
      <p:cxnSp>
        <p:nvCxnSpPr>
          <p:cNvPr id="21" name="Line 20">
            <a:extLst>
              <a:ext uri="{FF2B5EF4-FFF2-40B4-BE49-F238E27FC236}">
                <a16:creationId xmlns:a16="http://schemas.microsoft.com/office/drawing/2014/main" id="{DC04F4CC-F2BC-6E2B-10E1-33D439D0C1D9}"/>
              </a:ext>
            </a:extLst>
          </p:cNvPr>
          <p:cNvCxnSpPr/>
          <p:nvPr/>
        </p:nvCxnSpPr>
        <p:spPr>
          <a:xfrm>
            <a:off x="729539" y="3173476"/>
            <a:ext cx="7684921" cy="0"/>
          </a:xfrm>
          <a:prstGeom prst="line">
            <a:avLst/>
          </a:prstGeom>
          <a:ln w="9525">
            <a:solidFill>
              <a:srgbClr val="C9D1D6"/>
            </a:solidFill>
            <a:prstDash val="solid"/>
          </a:ln>
        </p:spPr>
      </p:cxnSp>
      <p:sp>
        <p:nvSpPr>
          <p:cNvPr id="22" name="Text 21">
            <a:extLst>
              <a:ext uri="{FF2B5EF4-FFF2-40B4-BE49-F238E27FC236}">
                <a16:creationId xmlns:a16="http://schemas.microsoft.com/office/drawing/2014/main" id="{E46ED772-C0AF-3C82-1D10-D2AD6E753154}"/>
              </a:ext>
            </a:extLst>
          </p:cNvPr>
          <p:cNvSpPr txBox="1"/>
          <p:nvPr/>
        </p:nvSpPr>
        <p:spPr>
          <a:xfrm>
            <a:off x="729539" y="3209688"/>
            <a:ext cx="844939" cy="108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de-DE" sz="726" b="1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Release 2</a:t>
            </a:r>
          </a:p>
          <a:p>
            <a:r>
              <a:rPr lang="de-DE" sz="660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Verlängerung und Transparenz</a:t>
            </a:r>
          </a:p>
        </p:txBody>
      </p:sp>
      <p:sp>
        <p:nvSpPr>
          <p:cNvPr id="23" name="Shape 22">
            <a:extLst>
              <a:ext uri="{FF2B5EF4-FFF2-40B4-BE49-F238E27FC236}">
                <a16:creationId xmlns:a16="http://schemas.microsoft.com/office/drawing/2014/main" id="{D63CAEE1-A952-5650-3720-6B9D2FE80857}"/>
              </a:ext>
            </a:extLst>
          </p:cNvPr>
          <p:cNvSpPr/>
          <p:nvPr/>
        </p:nvSpPr>
        <p:spPr>
          <a:xfrm>
            <a:off x="3002826" y="3209688"/>
            <a:ext cx="1307644" cy="291705"/>
          </a:xfrm>
          <a:prstGeom prst="rect">
            <a:avLst/>
          </a:prstGeom>
          <a:solidFill>
            <a:srgbClr val="D6E9F8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60353" tIns="12071" rIns="60353" bIns="12071" rtlCol="0" anchor="ctr"/>
          <a:lstStyle/>
          <a:p>
            <a:r>
              <a:rPr lang="de-DE" sz="726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5.2.1 Verbleibende Bearbeitungszeit sehen</a:t>
            </a:r>
          </a:p>
          <a:p>
            <a:r>
              <a:rPr lang="de-DE" sz="594" b="1" dirty="0">
                <a:solidFill>
                  <a:srgbClr val="2F5FD0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■ Studierende:r</a:t>
            </a:r>
          </a:p>
        </p:txBody>
      </p:sp>
      <p:sp>
        <p:nvSpPr>
          <p:cNvPr id="24" name="Shape 23">
            <a:extLst>
              <a:ext uri="{FF2B5EF4-FFF2-40B4-BE49-F238E27FC236}">
                <a16:creationId xmlns:a16="http://schemas.microsoft.com/office/drawing/2014/main" id="{8B71E0E2-28EF-4A18-5474-3F31C95E4FCD}"/>
              </a:ext>
            </a:extLst>
          </p:cNvPr>
          <p:cNvSpPr/>
          <p:nvPr/>
        </p:nvSpPr>
        <p:spPr>
          <a:xfrm>
            <a:off x="3002826" y="3537605"/>
            <a:ext cx="1307644" cy="392292"/>
          </a:xfrm>
          <a:prstGeom prst="rect">
            <a:avLst/>
          </a:prstGeom>
          <a:solidFill>
            <a:srgbClr val="D6E9F8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60353" tIns="12071" rIns="60353" bIns="12071" rtlCol="0" anchor="ctr"/>
          <a:lstStyle/>
          <a:p>
            <a:r>
              <a:rPr lang="de-DE" sz="726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5.2.3 Über geänderten Abgabetermin informiert werden</a:t>
            </a:r>
          </a:p>
          <a:p>
            <a:r>
              <a:rPr lang="de-DE" sz="594" b="1" dirty="0">
                <a:solidFill>
                  <a:srgbClr val="2F5FD0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■ Studierende:r</a:t>
            </a:r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38A50A88-40F8-BC58-BE29-4A99F82F6AD2}"/>
              </a:ext>
            </a:extLst>
          </p:cNvPr>
          <p:cNvSpPr/>
          <p:nvPr/>
        </p:nvSpPr>
        <p:spPr>
          <a:xfrm>
            <a:off x="4370824" y="3209688"/>
            <a:ext cx="1307644" cy="291705"/>
          </a:xfrm>
          <a:prstGeom prst="rect">
            <a:avLst/>
          </a:prstGeom>
          <a:solidFill>
            <a:srgbClr val="D6E9F8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60353" tIns="12071" rIns="60353" bIns="12071" rtlCol="0" anchor="ctr"/>
          <a:lstStyle/>
          <a:p>
            <a:r>
              <a:rPr lang="de-DE" sz="726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5.3.1 Verlängerungsantrag im Portal starten</a:t>
            </a:r>
          </a:p>
          <a:p>
            <a:r>
              <a:rPr lang="de-DE" sz="594" b="1" dirty="0">
                <a:solidFill>
                  <a:srgbClr val="2F5FD0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■ Studierende:r</a:t>
            </a:r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5EC8F41A-D6E2-FA2B-3BD1-A5852E1874AF}"/>
              </a:ext>
            </a:extLst>
          </p:cNvPr>
          <p:cNvSpPr/>
          <p:nvPr/>
        </p:nvSpPr>
        <p:spPr>
          <a:xfrm>
            <a:off x="4370824" y="3537604"/>
            <a:ext cx="1307644" cy="291705"/>
          </a:xfrm>
          <a:prstGeom prst="rect">
            <a:avLst/>
          </a:prstGeom>
          <a:solidFill>
            <a:srgbClr val="D6E9F8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60353" tIns="12071" rIns="60353" bIns="12071" rtlCol="0" anchor="ctr"/>
          <a:lstStyle/>
          <a:p>
            <a:r>
              <a:rPr lang="de-DE" sz="726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5.3.2 Grund der Verlängerung angeben</a:t>
            </a:r>
          </a:p>
          <a:p>
            <a:r>
              <a:rPr lang="de-DE" sz="594" b="1" dirty="0">
                <a:solidFill>
                  <a:srgbClr val="2F5FD0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■ Studierende:r</a:t>
            </a:r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05A38CA8-8A95-5A00-2768-9D7586C022B3}"/>
              </a:ext>
            </a:extLst>
          </p:cNvPr>
          <p:cNvSpPr/>
          <p:nvPr/>
        </p:nvSpPr>
        <p:spPr>
          <a:xfrm>
            <a:off x="4370824" y="3865521"/>
            <a:ext cx="1307644" cy="291705"/>
          </a:xfrm>
          <a:prstGeom prst="rect">
            <a:avLst/>
          </a:prstGeom>
          <a:solidFill>
            <a:srgbClr val="D6E9F8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60353" tIns="12071" rIns="60353" bIns="12071" rtlCol="0" anchor="ctr"/>
          <a:lstStyle/>
          <a:p>
            <a:r>
              <a:rPr lang="de-DE" sz="726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5.3.3 Antrag absenden und Bearbeitungsstatus sehen</a:t>
            </a:r>
          </a:p>
          <a:p>
            <a:r>
              <a:rPr lang="de-DE" sz="594" b="1" dirty="0">
                <a:solidFill>
                  <a:srgbClr val="2F5FD0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■ Studierende:r</a:t>
            </a:r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95004897-D29A-79ED-03DC-1CE4E34ADE53}"/>
              </a:ext>
            </a:extLst>
          </p:cNvPr>
          <p:cNvSpPr/>
          <p:nvPr/>
        </p:nvSpPr>
        <p:spPr>
          <a:xfrm>
            <a:off x="5738819" y="3209688"/>
            <a:ext cx="1307644" cy="291705"/>
          </a:xfrm>
          <a:prstGeom prst="rect">
            <a:avLst/>
          </a:prstGeom>
          <a:solidFill>
            <a:srgbClr val="D6E9F8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60353" tIns="12071" rIns="60353" bIns="12071" rtlCol="0" anchor="ctr"/>
          <a:lstStyle/>
          <a:p>
            <a:r>
              <a:rPr lang="de-DE" sz="726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5.4.1 Verlängerungsantrag einsehen</a:t>
            </a:r>
          </a:p>
          <a:p>
            <a:r>
              <a:rPr lang="de-DE" sz="594" b="1" dirty="0">
                <a:solidFill>
                  <a:srgbClr val="07758F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■ Erstprüfer:in</a:t>
            </a:r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4BF7AE22-996D-55F1-D935-8E3A77677C5D}"/>
              </a:ext>
            </a:extLst>
          </p:cNvPr>
          <p:cNvSpPr/>
          <p:nvPr/>
        </p:nvSpPr>
        <p:spPr>
          <a:xfrm>
            <a:off x="5738819" y="3537604"/>
            <a:ext cx="1307644" cy="291705"/>
          </a:xfrm>
          <a:prstGeom prst="rect">
            <a:avLst/>
          </a:prstGeom>
          <a:solidFill>
            <a:srgbClr val="D6E9F8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60353" tIns="12071" rIns="60353" bIns="12071" rtlCol="0" anchor="ctr"/>
          <a:lstStyle/>
          <a:p>
            <a:r>
              <a:rPr lang="de-DE" sz="726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5.4.2 Stellungnahme abgeben</a:t>
            </a:r>
          </a:p>
          <a:p>
            <a:r>
              <a:rPr lang="de-DE" sz="594" b="1" dirty="0">
                <a:solidFill>
                  <a:srgbClr val="07758F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■ Erstprüfer:in</a:t>
            </a:r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5AF91CD8-AB91-99CF-C34E-FE56D7358377}"/>
              </a:ext>
            </a:extLst>
          </p:cNvPr>
          <p:cNvSpPr/>
          <p:nvPr/>
        </p:nvSpPr>
        <p:spPr>
          <a:xfrm>
            <a:off x="5738819" y="3846978"/>
            <a:ext cx="1307644" cy="291705"/>
          </a:xfrm>
          <a:prstGeom prst="rect">
            <a:avLst/>
          </a:prstGeom>
          <a:solidFill>
            <a:srgbClr val="D6E9F8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60353" tIns="12071" rIns="60353" bIns="12071" rtlCol="0" anchor="ctr"/>
          <a:lstStyle/>
          <a:p>
            <a:r>
              <a:rPr lang="de-DE" sz="726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5.4.3 Stellungnahme digital weiterleiten</a:t>
            </a:r>
          </a:p>
          <a:p>
            <a:r>
              <a:rPr lang="de-DE" sz="594" b="1" dirty="0">
                <a:solidFill>
                  <a:srgbClr val="07758F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■ Erstprüfer:in</a:t>
            </a:r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3202F70E-63DB-C851-AF3D-098D2EBE4FBF}"/>
              </a:ext>
            </a:extLst>
          </p:cNvPr>
          <p:cNvSpPr/>
          <p:nvPr/>
        </p:nvSpPr>
        <p:spPr>
          <a:xfrm>
            <a:off x="7106817" y="3209688"/>
            <a:ext cx="1307644" cy="291705"/>
          </a:xfrm>
          <a:prstGeom prst="rect">
            <a:avLst/>
          </a:prstGeom>
          <a:solidFill>
            <a:srgbClr val="D6E9F8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60353" tIns="12071" rIns="60353" bIns="12071" rtlCol="0" anchor="ctr"/>
          <a:lstStyle/>
          <a:p>
            <a:r>
              <a:rPr lang="de-DE" sz="726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5.5.1 Antrag und Stellungnahme einsehen</a:t>
            </a:r>
          </a:p>
          <a:p>
            <a:r>
              <a:rPr lang="de-DE" sz="594" b="1" dirty="0">
                <a:solidFill>
                  <a:srgbClr val="B83348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■ Prüfungsausschuss</a:t>
            </a:r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7CFA5DF6-111A-6415-1922-17DE10367D2B}"/>
              </a:ext>
            </a:extLst>
          </p:cNvPr>
          <p:cNvSpPr/>
          <p:nvPr/>
        </p:nvSpPr>
        <p:spPr>
          <a:xfrm>
            <a:off x="7106817" y="3537604"/>
            <a:ext cx="1307644" cy="291705"/>
          </a:xfrm>
          <a:prstGeom prst="rect">
            <a:avLst/>
          </a:prstGeom>
          <a:solidFill>
            <a:srgbClr val="D6E9F8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60353" tIns="12071" rIns="60353" bIns="12071" rtlCol="0" anchor="ctr"/>
          <a:lstStyle/>
          <a:p>
            <a:r>
              <a:rPr lang="de-DE" sz="726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5.5.2 Verlängerung genehmigen oder ablehnen</a:t>
            </a:r>
          </a:p>
          <a:p>
            <a:r>
              <a:rPr lang="de-DE" sz="594" b="1" dirty="0">
                <a:solidFill>
                  <a:srgbClr val="B83348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■ Prüfungsausschuss</a:t>
            </a:r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B3C7C9AD-3ECD-0C92-DCE4-0A1C45C7D129}"/>
              </a:ext>
            </a:extLst>
          </p:cNvPr>
          <p:cNvSpPr/>
          <p:nvPr/>
        </p:nvSpPr>
        <p:spPr>
          <a:xfrm>
            <a:off x="7106817" y="3865521"/>
            <a:ext cx="1307644" cy="428503"/>
          </a:xfrm>
          <a:prstGeom prst="rect">
            <a:avLst/>
          </a:prstGeom>
          <a:solidFill>
            <a:srgbClr val="D6E9F8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60353" tIns="12071" rIns="60353" bIns="12071" rtlCol="0" anchor="ctr"/>
          <a:lstStyle/>
          <a:p>
            <a:r>
              <a:rPr lang="de-DE" sz="726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5.5.3 Entscheidung und neuen Abgabetermin hinterlegen</a:t>
            </a:r>
          </a:p>
          <a:p>
            <a:r>
              <a:rPr lang="de-DE" sz="594" b="1" dirty="0">
                <a:solidFill>
                  <a:srgbClr val="B83348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■ Prüfungsausschuss</a:t>
            </a:r>
          </a:p>
        </p:txBody>
      </p:sp>
      <p:cxnSp>
        <p:nvCxnSpPr>
          <p:cNvPr id="35" name="Line 33">
            <a:extLst>
              <a:ext uri="{FF2B5EF4-FFF2-40B4-BE49-F238E27FC236}">
                <a16:creationId xmlns:a16="http://schemas.microsoft.com/office/drawing/2014/main" id="{13B18E8B-7658-C535-59E3-06F3F038FE34}"/>
              </a:ext>
            </a:extLst>
          </p:cNvPr>
          <p:cNvCxnSpPr/>
          <p:nvPr/>
        </p:nvCxnSpPr>
        <p:spPr>
          <a:xfrm>
            <a:off x="729539" y="4330237"/>
            <a:ext cx="7684921" cy="0"/>
          </a:xfrm>
          <a:prstGeom prst="line">
            <a:avLst/>
          </a:prstGeom>
          <a:ln w="9525">
            <a:solidFill>
              <a:srgbClr val="C9D1D6"/>
            </a:solidFill>
            <a:prstDash val="solid"/>
          </a:ln>
        </p:spPr>
      </p:cxnSp>
      <p:sp>
        <p:nvSpPr>
          <p:cNvPr id="36" name="Text 34">
            <a:extLst>
              <a:ext uri="{FF2B5EF4-FFF2-40B4-BE49-F238E27FC236}">
                <a16:creationId xmlns:a16="http://schemas.microsoft.com/office/drawing/2014/main" id="{A92BDCA4-A53B-AE30-A83E-A0CA56837464}"/>
              </a:ext>
            </a:extLst>
          </p:cNvPr>
          <p:cNvSpPr txBox="1"/>
          <p:nvPr/>
        </p:nvSpPr>
        <p:spPr>
          <a:xfrm>
            <a:off x="729539" y="4366449"/>
            <a:ext cx="844939" cy="396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de-DE" sz="726" b="1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Release 3</a:t>
            </a:r>
          </a:p>
          <a:p>
            <a:r>
              <a:rPr lang="de-DE" sz="660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Abgabe und Dokumentation</a:t>
            </a:r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636E1881-7344-1DD5-F863-CC112C9A9843}"/>
              </a:ext>
            </a:extLst>
          </p:cNvPr>
          <p:cNvSpPr/>
          <p:nvPr/>
        </p:nvSpPr>
        <p:spPr>
          <a:xfrm>
            <a:off x="3002826" y="4366449"/>
            <a:ext cx="1307644" cy="291705"/>
          </a:xfrm>
          <a:prstGeom prst="rect">
            <a:avLst/>
          </a:prstGeom>
          <a:solidFill>
            <a:srgbClr val="F3D9E8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60353" tIns="12071" rIns="60353" bIns="12071" rtlCol="0" anchor="ctr"/>
          <a:lstStyle/>
          <a:p>
            <a:r>
              <a:rPr lang="de-DE" sz="726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5.2.2 Vor wichtigen Fristen automatisch erinnert werden</a:t>
            </a:r>
          </a:p>
          <a:p>
            <a:r>
              <a:rPr lang="de-DE" sz="594" b="1" dirty="0">
                <a:solidFill>
                  <a:srgbClr val="2F5FD0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■ Studierende:r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80B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 4 · STORY MAP UND RELEASEPLANUNG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310896"/>
            <a:ext cx="6172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Map mit Releaseplanung: Activity 6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55464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5B6A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2340C411-D03A-E415-E18F-29A89765C2B0}"/>
              </a:ext>
            </a:extLst>
          </p:cNvPr>
          <p:cNvSpPr/>
          <p:nvPr/>
        </p:nvSpPr>
        <p:spPr>
          <a:xfrm>
            <a:off x="6047513" y="960918"/>
            <a:ext cx="118922" cy="118922"/>
          </a:xfrm>
          <a:prstGeom prst="rect">
            <a:avLst/>
          </a:prstGeom>
          <a:solidFill>
            <a:srgbClr val="FFF2B3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66068" tIns="33034" rIns="66068" bIns="33034" rtlCol="0" anchor="ctr"/>
          <a:lstStyle/>
          <a:p>
            <a:endParaRPr lang="de-DE" sz="1301"/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9B9FDF46-5FAB-98C5-9534-02BCA671BD0E}"/>
              </a:ext>
            </a:extLst>
          </p:cNvPr>
          <p:cNvSpPr txBox="1"/>
          <p:nvPr/>
        </p:nvSpPr>
        <p:spPr>
          <a:xfrm>
            <a:off x="6206075" y="941097"/>
            <a:ext cx="660678" cy="158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de-DE" sz="723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Release 1</a:t>
            </a:r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AB4F107E-69FB-F913-6419-80282C07521B}"/>
              </a:ext>
            </a:extLst>
          </p:cNvPr>
          <p:cNvSpPr/>
          <p:nvPr/>
        </p:nvSpPr>
        <p:spPr>
          <a:xfrm>
            <a:off x="6959249" y="960918"/>
            <a:ext cx="118922" cy="118922"/>
          </a:xfrm>
          <a:prstGeom prst="rect">
            <a:avLst/>
          </a:prstGeom>
          <a:solidFill>
            <a:srgbClr val="D6E9F8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66068" tIns="33034" rIns="66068" bIns="33034" rtlCol="0" anchor="ctr"/>
          <a:lstStyle/>
          <a:p>
            <a:endParaRPr lang="de-DE" sz="1301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6FECD599-BAC9-8F56-635F-6546C067CF31}"/>
              </a:ext>
            </a:extLst>
          </p:cNvPr>
          <p:cNvSpPr txBox="1"/>
          <p:nvPr/>
        </p:nvSpPr>
        <p:spPr>
          <a:xfrm>
            <a:off x="7117811" y="941097"/>
            <a:ext cx="660678" cy="158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de-DE" sz="723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Release 2</a:t>
            </a:r>
          </a:p>
        </p:txBody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16887AB3-8C42-5A9C-91B6-EE786111B0A5}"/>
              </a:ext>
            </a:extLst>
          </p:cNvPr>
          <p:cNvSpPr/>
          <p:nvPr/>
        </p:nvSpPr>
        <p:spPr>
          <a:xfrm>
            <a:off x="7870985" y="960918"/>
            <a:ext cx="118922" cy="118922"/>
          </a:xfrm>
          <a:prstGeom prst="rect">
            <a:avLst/>
          </a:prstGeom>
          <a:solidFill>
            <a:srgbClr val="F3D9E8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66068" tIns="33034" rIns="66068" bIns="33034" rtlCol="0" anchor="ctr"/>
          <a:lstStyle/>
          <a:p>
            <a:endParaRPr lang="de-DE" sz="1301"/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EBD09DF1-4E87-53BC-53A9-2C9FB7043DB6}"/>
              </a:ext>
            </a:extLst>
          </p:cNvPr>
          <p:cNvSpPr txBox="1"/>
          <p:nvPr/>
        </p:nvSpPr>
        <p:spPr>
          <a:xfrm>
            <a:off x="8029546" y="941097"/>
            <a:ext cx="660678" cy="158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de-DE" sz="723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Release 3</a:t>
            </a:r>
          </a:p>
        </p:txBody>
      </p:sp>
      <p:sp>
        <p:nvSpPr>
          <p:cNvPr id="10" name="Shape 9">
            <a:extLst>
              <a:ext uri="{FF2B5EF4-FFF2-40B4-BE49-F238E27FC236}">
                <a16:creationId xmlns:a16="http://schemas.microsoft.com/office/drawing/2014/main" id="{87468769-FB18-3FAD-E819-2B247C2DCCFA}"/>
              </a:ext>
            </a:extLst>
          </p:cNvPr>
          <p:cNvSpPr/>
          <p:nvPr/>
        </p:nvSpPr>
        <p:spPr>
          <a:xfrm>
            <a:off x="1356700" y="1271435"/>
            <a:ext cx="7421614" cy="303461"/>
          </a:xfrm>
          <a:prstGeom prst="rect">
            <a:avLst/>
          </a:prstGeom>
          <a:solidFill>
            <a:srgbClr val="4A5C66"/>
          </a:solidFill>
          <a:ln w="12700">
            <a:solidFill>
              <a:srgbClr val="4A5C66"/>
            </a:solidFill>
            <a:prstDash val="solid"/>
          </a:ln>
        </p:spPr>
        <p:txBody>
          <a:bodyPr wrap="square" lIns="99102" tIns="0" rIns="99102" bIns="0" rtlCol="0" anchor="ctr"/>
          <a:lstStyle/>
          <a:p>
            <a:r>
              <a:rPr lang="de-DE" sz="1012" b="1" dirty="0">
                <a:solidFill>
                  <a:srgbClr val="FFFFFF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6  Abgabe der Arbeit</a:t>
            </a:r>
          </a:p>
        </p:txBody>
      </p:sp>
      <p:sp>
        <p:nvSpPr>
          <p:cNvPr id="11" name="Shape 10">
            <a:extLst>
              <a:ext uri="{FF2B5EF4-FFF2-40B4-BE49-F238E27FC236}">
                <a16:creationId xmlns:a16="http://schemas.microsoft.com/office/drawing/2014/main" id="{4D705861-37B8-4883-81D1-ACCB5032E2DD}"/>
              </a:ext>
            </a:extLst>
          </p:cNvPr>
          <p:cNvSpPr/>
          <p:nvPr/>
        </p:nvSpPr>
        <p:spPr>
          <a:xfrm>
            <a:off x="1356700" y="1627751"/>
            <a:ext cx="1805853" cy="440452"/>
          </a:xfrm>
          <a:prstGeom prst="rect">
            <a:avLst/>
          </a:prstGeom>
          <a:solidFill>
            <a:srgbClr val="E8F3D3"/>
          </a:solidFill>
          <a:ln w="12700">
            <a:solidFill>
              <a:srgbClr val="80BA24"/>
            </a:solidFill>
            <a:prstDash val="solid"/>
          </a:ln>
        </p:spPr>
        <p:txBody>
          <a:bodyPr wrap="square" lIns="66068" tIns="33034" rIns="66068" bIns="33034" rtlCol="0" anchor="ctr"/>
          <a:lstStyle/>
          <a:p>
            <a:r>
              <a:rPr lang="de-DE" sz="1012" b="1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6.1 Arbeit abgeben</a:t>
            </a:r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D9257C12-86EC-6936-2278-AD83D28043BD}"/>
              </a:ext>
            </a:extLst>
          </p:cNvPr>
          <p:cNvSpPr/>
          <p:nvPr/>
        </p:nvSpPr>
        <p:spPr>
          <a:xfrm>
            <a:off x="3228621" y="1627751"/>
            <a:ext cx="1805853" cy="440452"/>
          </a:xfrm>
          <a:prstGeom prst="rect">
            <a:avLst/>
          </a:prstGeom>
          <a:solidFill>
            <a:srgbClr val="E8F3D3"/>
          </a:solidFill>
          <a:ln w="12700">
            <a:solidFill>
              <a:srgbClr val="80BA24"/>
            </a:solidFill>
            <a:prstDash val="solid"/>
          </a:ln>
        </p:spPr>
        <p:txBody>
          <a:bodyPr wrap="square" lIns="66068" tIns="33034" rIns="66068" bIns="33034" rtlCol="0" anchor="ctr"/>
          <a:lstStyle/>
          <a:p>
            <a:r>
              <a:rPr lang="de-DE" sz="1012" b="1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6.2 Abgabe erfassen</a:t>
            </a:r>
          </a:p>
        </p:txBody>
      </p:sp>
      <p:sp>
        <p:nvSpPr>
          <p:cNvPr id="13" name="Shape 12">
            <a:extLst>
              <a:ext uri="{FF2B5EF4-FFF2-40B4-BE49-F238E27FC236}">
                <a16:creationId xmlns:a16="http://schemas.microsoft.com/office/drawing/2014/main" id="{B1404D79-8E54-215D-56DF-B56BEC091835}"/>
              </a:ext>
            </a:extLst>
          </p:cNvPr>
          <p:cNvSpPr/>
          <p:nvPr/>
        </p:nvSpPr>
        <p:spPr>
          <a:xfrm>
            <a:off x="5100541" y="1627751"/>
            <a:ext cx="1805853" cy="440452"/>
          </a:xfrm>
          <a:prstGeom prst="rect">
            <a:avLst/>
          </a:prstGeom>
          <a:solidFill>
            <a:srgbClr val="E8F3D3"/>
          </a:solidFill>
          <a:ln w="12700">
            <a:solidFill>
              <a:srgbClr val="80BA24"/>
            </a:solidFill>
            <a:prstDash val="solid"/>
          </a:ln>
        </p:spPr>
        <p:txBody>
          <a:bodyPr wrap="square" lIns="66068" tIns="33034" rIns="66068" bIns="33034" rtlCol="0" anchor="ctr"/>
          <a:lstStyle/>
          <a:p>
            <a:r>
              <a:rPr lang="de-DE" sz="1012" b="1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6.3 Eingang bestätigen</a:t>
            </a:r>
          </a:p>
        </p:txBody>
      </p:sp>
      <p:sp>
        <p:nvSpPr>
          <p:cNvPr id="14" name="Shape 13">
            <a:extLst>
              <a:ext uri="{FF2B5EF4-FFF2-40B4-BE49-F238E27FC236}">
                <a16:creationId xmlns:a16="http://schemas.microsoft.com/office/drawing/2014/main" id="{470701DE-1C98-5317-ECE6-FC42DDCF352D}"/>
              </a:ext>
            </a:extLst>
          </p:cNvPr>
          <p:cNvSpPr/>
          <p:nvPr/>
        </p:nvSpPr>
        <p:spPr>
          <a:xfrm>
            <a:off x="6972463" y="1627751"/>
            <a:ext cx="1805853" cy="440452"/>
          </a:xfrm>
          <a:prstGeom prst="rect">
            <a:avLst/>
          </a:prstGeom>
          <a:solidFill>
            <a:srgbClr val="E8F3D3"/>
          </a:solidFill>
          <a:ln w="12700">
            <a:solidFill>
              <a:srgbClr val="80BA24"/>
            </a:solidFill>
            <a:prstDash val="solid"/>
          </a:ln>
        </p:spPr>
        <p:txBody>
          <a:bodyPr wrap="square" lIns="66068" tIns="33034" rIns="66068" bIns="33034" rtlCol="0" anchor="ctr"/>
          <a:lstStyle/>
          <a:p>
            <a:r>
              <a:rPr lang="de-DE" sz="1012" b="1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6.4 Beteiligte informieren</a:t>
            </a:r>
          </a:p>
        </p:txBody>
      </p:sp>
      <p:cxnSp>
        <p:nvCxnSpPr>
          <p:cNvPr id="15" name="Line 14">
            <a:extLst>
              <a:ext uri="{FF2B5EF4-FFF2-40B4-BE49-F238E27FC236}">
                <a16:creationId xmlns:a16="http://schemas.microsoft.com/office/drawing/2014/main" id="{B8229897-40BF-F4AB-4585-4E1596438207}"/>
              </a:ext>
            </a:extLst>
          </p:cNvPr>
          <p:cNvCxnSpPr/>
          <p:nvPr/>
        </p:nvCxnSpPr>
        <p:spPr>
          <a:xfrm>
            <a:off x="365684" y="2121057"/>
            <a:ext cx="8412631" cy="0"/>
          </a:xfrm>
          <a:prstGeom prst="line">
            <a:avLst/>
          </a:prstGeom>
          <a:ln w="9525">
            <a:solidFill>
              <a:srgbClr val="C9D1D6"/>
            </a:solidFill>
            <a:prstDash val="solid"/>
          </a:ln>
        </p:spPr>
      </p:cxnSp>
      <p:sp>
        <p:nvSpPr>
          <p:cNvPr id="16" name="Text 15">
            <a:extLst>
              <a:ext uri="{FF2B5EF4-FFF2-40B4-BE49-F238E27FC236}">
                <a16:creationId xmlns:a16="http://schemas.microsoft.com/office/drawing/2014/main" id="{E47EB253-2653-B67F-83E4-C862DD20A1CB}"/>
              </a:ext>
            </a:extLst>
          </p:cNvPr>
          <p:cNvSpPr txBox="1"/>
          <p:nvPr/>
        </p:nvSpPr>
        <p:spPr>
          <a:xfrm>
            <a:off x="365684" y="2160698"/>
            <a:ext cx="924949" cy="433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de-DE" sz="795" b="1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Release 1</a:t>
            </a:r>
          </a:p>
          <a:p>
            <a:r>
              <a:rPr lang="de-DE" sz="723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Anmeldung und Ausgabe</a:t>
            </a:r>
          </a:p>
        </p:txBody>
      </p:sp>
      <p:cxnSp>
        <p:nvCxnSpPr>
          <p:cNvPr id="17" name="Line 16">
            <a:extLst>
              <a:ext uri="{FF2B5EF4-FFF2-40B4-BE49-F238E27FC236}">
                <a16:creationId xmlns:a16="http://schemas.microsoft.com/office/drawing/2014/main" id="{8B2ACEB6-2434-6A40-0152-FC7FC1D4839A}"/>
              </a:ext>
            </a:extLst>
          </p:cNvPr>
          <p:cNvCxnSpPr/>
          <p:nvPr/>
        </p:nvCxnSpPr>
        <p:spPr>
          <a:xfrm>
            <a:off x="365684" y="2633854"/>
            <a:ext cx="8412631" cy="0"/>
          </a:xfrm>
          <a:prstGeom prst="line">
            <a:avLst/>
          </a:prstGeom>
          <a:ln w="9525">
            <a:solidFill>
              <a:srgbClr val="C9D1D6"/>
            </a:solidFill>
            <a:prstDash val="solid"/>
          </a:ln>
        </p:spPr>
      </p:cxnSp>
      <p:sp>
        <p:nvSpPr>
          <p:cNvPr id="18" name="Text 17">
            <a:extLst>
              <a:ext uri="{FF2B5EF4-FFF2-40B4-BE49-F238E27FC236}">
                <a16:creationId xmlns:a16="http://schemas.microsoft.com/office/drawing/2014/main" id="{A4264104-80BF-3C14-861C-D3C2735C791A}"/>
              </a:ext>
            </a:extLst>
          </p:cNvPr>
          <p:cNvSpPr txBox="1"/>
          <p:nvPr/>
        </p:nvSpPr>
        <p:spPr>
          <a:xfrm>
            <a:off x="365684" y="2673495"/>
            <a:ext cx="924949" cy="433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de-DE" sz="795" b="1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Release 2</a:t>
            </a:r>
          </a:p>
          <a:p>
            <a:r>
              <a:rPr lang="de-DE" sz="723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Verlängerung und Transparenz</a:t>
            </a:r>
          </a:p>
        </p:txBody>
      </p:sp>
      <p:cxnSp>
        <p:nvCxnSpPr>
          <p:cNvPr id="19" name="Line 18">
            <a:extLst>
              <a:ext uri="{FF2B5EF4-FFF2-40B4-BE49-F238E27FC236}">
                <a16:creationId xmlns:a16="http://schemas.microsoft.com/office/drawing/2014/main" id="{E2D12D47-9B45-2D58-3CA9-8DE3C530FC0A}"/>
              </a:ext>
            </a:extLst>
          </p:cNvPr>
          <p:cNvCxnSpPr/>
          <p:nvPr/>
        </p:nvCxnSpPr>
        <p:spPr>
          <a:xfrm>
            <a:off x="365684" y="3146652"/>
            <a:ext cx="8412631" cy="0"/>
          </a:xfrm>
          <a:prstGeom prst="line">
            <a:avLst/>
          </a:prstGeom>
          <a:ln w="9525">
            <a:solidFill>
              <a:srgbClr val="C9D1D6"/>
            </a:solidFill>
            <a:prstDash val="solid"/>
          </a:ln>
        </p:spPr>
      </p:cxnSp>
      <p:sp>
        <p:nvSpPr>
          <p:cNvPr id="20" name="Text 19">
            <a:extLst>
              <a:ext uri="{FF2B5EF4-FFF2-40B4-BE49-F238E27FC236}">
                <a16:creationId xmlns:a16="http://schemas.microsoft.com/office/drawing/2014/main" id="{6C26D5E2-CBB3-B6D5-B2B7-44A2DA1DEBD9}"/>
              </a:ext>
            </a:extLst>
          </p:cNvPr>
          <p:cNvSpPr txBox="1"/>
          <p:nvPr/>
        </p:nvSpPr>
        <p:spPr>
          <a:xfrm>
            <a:off x="365684" y="3186292"/>
            <a:ext cx="924949" cy="147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de-DE" sz="795" b="1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Release 3</a:t>
            </a:r>
          </a:p>
          <a:p>
            <a:r>
              <a:rPr lang="de-DE" sz="723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Abgabe und Dokumentation</a:t>
            </a:r>
          </a:p>
        </p:txBody>
      </p:sp>
      <p:sp>
        <p:nvSpPr>
          <p:cNvPr id="21" name="Shape 20">
            <a:extLst>
              <a:ext uri="{FF2B5EF4-FFF2-40B4-BE49-F238E27FC236}">
                <a16:creationId xmlns:a16="http://schemas.microsoft.com/office/drawing/2014/main" id="{41BB445B-3AC7-A026-647D-8906498A877B}"/>
              </a:ext>
            </a:extLst>
          </p:cNvPr>
          <p:cNvSpPr/>
          <p:nvPr/>
        </p:nvSpPr>
        <p:spPr>
          <a:xfrm>
            <a:off x="1356700" y="3186292"/>
            <a:ext cx="1805853" cy="363373"/>
          </a:xfrm>
          <a:prstGeom prst="rect">
            <a:avLst/>
          </a:prstGeom>
          <a:solidFill>
            <a:srgbClr val="F3D9E8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66068" tIns="13214" rIns="66068" bIns="13214" rtlCol="0" anchor="ctr"/>
          <a:lstStyle/>
          <a:p>
            <a:r>
              <a:rPr lang="de-DE" sz="795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6.1.1 Bachelorarbeit als PDF hochladen</a:t>
            </a:r>
          </a:p>
          <a:p>
            <a:r>
              <a:rPr lang="de-DE" sz="650" b="1" dirty="0">
                <a:solidFill>
                  <a:srgbClr val="2F5FD0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■ Studierende:r</a:t>
            </a:r>
          </a:p>
        </p:txBody>
      </p:sp>
      <p:sp>
        <p:nvSpPr>
          <p:cNvPr id="22" name="Shape 21">
            <a:extLst>
              <a:ext uri="{FF2B5EF4-FFF2-40B4-BE49-F238E27FC236}">
                <a16:creationId xmlns:a16="http://schemas.microsoft.com/office/drawing/2014/main" id="{9F9A232C-B532-FF95-E897-EA3C42B1226F}"/>
              </a:ext>
            </a:extLst>
          </p:cNvPr>
          <p:cNvSpPr/>
          <p:nvPr/>
        </p:nvSpPr>
        <p:spPr>
          <a:xfrm>
            <a:off x="1356700" y="3589306"/>
            <a:ext cx="1805853" cy="363373"/>
          </a:xfrm>
          <a:prstGeom prst="rect">
            <a:avLst/>
          </a:prstGeom>
          <a:solidFill>
            <a:srgbClr val="F3D9E8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66068" tIns="13214" rIns="66068" bIns="13214" rtlCol="0" anchor="ctr"/>
          <a:lstStyle/>
          <a:p>
            <a:r>
              <a:rPr lang="de-DE" sz="795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6.1.2 Abgabefrist und Restzeit sehen</a:t>
            </a:r>
          </a:p>
          <a:p>
            <a:r>
              <a:rPr lang="de-DE" sz="650" b="1" dirty="0">
                <a:solidFill>
                  <a:srgbClr val="2F5FD0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■ Studierende:r</a:t>
            </a:r>
          </a:p>
        </p:txBody>
      </p:sp>
      <p:sp>
        <p:nvSpPr>
          <p:cNvPr id="23" name="Shape 22">
            <a:extLst>
              <a:ext uri="{FF2B5EF4-FFF2-40B4-BE49-F238E27FC236}">
                <a16:creationId xmlns:a16="http://schemas.microsoft.com/office/drawing/2014/main" id="{DDE2C52D-28D4-5B17-9C27-AED65A49ED8E}"/>
              </a:ext>
            </a:extLst>
          </p:cNvPr>
          <p:cNvSpPr/>
          <p:nvPr/>
        </p:nvSpPr>
        <p:spPr>
          <a:xfrm>
            <a:off x="3228621" y="3186292"/>
            <a:ext cx="1805853" cy="363373"/>
          </a:xfrm>
          <a:prstGeom prst="rect">
            <a:avLst/>
          </a:prstGeom>
          <a:solidFill>
            <a:srgbClr val="F3D9E8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66068" tIns="13214" rIns="66068" bIns="13214" rtlCol="0" anchor="ctr"/>
          <a:lstStyle/>
          <a:p>
            <a:r>
              <a:rPr lang="de-DE" sz="795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6.2.1 Dateityp und Größe jeder Abgabe prüfen lassen</a:t>
            </a:r>
          </a:p>
          <a:p>
            <a:r>
              <a:rPr lang="de-DE" sz="650" b="1" dirty="0">
                <a:solidFill>
                  <a:srgbClr val="B8680F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■ Dekanat / Prüfungsamt</a:t>
            </a:r>
          </a:p>
        </p:txBody>
      </p:sp>
      <p:sp>
        <p:nvSpPr>
          <p:cNvPr id="24" name="Shape 23">
            <a:extLst>
              <a:ext uri="{FF2B5EF4-FFF2-40B4-BE49-F238E27FC236}">
                <a16:creationId xmlns:a16="http://schemas.microsoft.com/office/drawing/2014/main" id="{13D24F71-ED46-5A46-F481-EBA6C957EEB1}"/>
              </a:ext>
            </a:extLst>
          </p:cNvPr>
          <p:cNvSpPr/>
          <p:nvPr/>
        </p:nvSpPr>
        <p:spPr>
          <a:xfrm>
            <a:off x="3228621" y="3589306"/>
            <a:ext cx="1805853" cy="495508"/>
          </a:xfrm>
          <a:prstGeom prst="rect">
            <a:avLst/>
          </a:prstGeom>
          <a:solidFill>
            <a:srgbClr val="F3D9E8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66068" tIns="13214" rIns="66068" bIns="13214" rtlCol="0" anchor="ctr"/>
          <a:lstStyle/>
          <a:p>
            <a:r>
              <a:rPr lang="de-DE" sz="795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6.2.2 Abgabezeitpunkt festhalten und mit Frist abgleichen</a:t>
            </a:r>
          </a:p>
          <a:p>
            <a:r>
              <a:rPr lang="de-DE" sz="650" b="1" dirty="0">
                <a:solidFill>
                  <a:srgbClr val="B8680F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■ Dekanat / Prüfungsamt</a:t>
            </a:r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A03571B0-8DAD-6E7E-DA5A-4E4751C72F30}"/>
              </a:ext>
            </a:extLst>
          </p:cNvPr>
          <p:cNvSpPr/>
          <p:nvPr/>
        </p:nvSpPr>
        <p:spPr>
          <a:xfrm>
            <a:off x="3228621" y="4124454"/>
            <a:ext cx="1805853" cy="363373"/>
          </a:xfrm>
          <a:prstGeom prst="rect">
            <a:avLst/>
          </a:prstGeom>
          <a:solidFill>
            <a:srgbClr val="F3D9E8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66068" tIns="13214" rIns="66068" bIns="13214" rtlCol="0" anchor="ctr"/>
          <a:lstStyle/>
          <a:p>
            <a:r>
              <a:rPr lang="de-DE" sz="795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6.2.3 Abgegebene Arbeit unveränderbar sichern</a:t>
            </a:r>
          </a:p>
          <a:p>
            <a:r>
              <a:rPr lang="de-DE" sz="650" b="1" dirty="0">
                <a:solidFill>
                  <a:srgbClr val="B8680F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■ Dekanat / Prüfungsamt</a:t>
            </a:r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3565823F-BE3C-159C-F9C0-DF51E93F2196}"/>
              </a:ext>
            </a:extLst>
          </p:cNvPr>
          <p:cNvSpPr/>
          <p:nvPr/>
        </p:nvSpPr>
        <p:spPr>
          <a:xfrm>
            <a:off x="5100541" y="3186292"/>
            <a:ext cx="1805853" cy="363373"/>
          </a:xfrm>
          <a:prstGeom prst="rect">
            <a:avLst/>
          </a:prstGeom>
          <a:solidFill>
            <a:srgbClr val="F3D9E8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66068" tIns="13214" rIns="66068" bIns="13214" rtlCol="0" anchor="ctr"/>
          <a:lstStyle/>
          <a:p>
            <a:r>
              <a:rPr lang="de-DE" sz="795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6.3.1 Direkt nach Abgabe E-Mail-Bestätigung erhalten</a:t>
            </a:r>
          </a:p>
          <a:p>
            <a:r>
              <a:rPr lang="de-DE" sz="650" b="1" dirty="0">
                <a:solidFill>
                  <a:srgbClr val="2F5FD0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■ Studierende:r</a:t>
            </a:r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3BDDCCED-C2B0-78BD-554D-5A409F26A5AF}"/>
              </a:ext>
            </a:extLst>
          </p:cNvPr>
          <p:cNvSpPr/>
          <p:nvPr/>
        </p:nvSpPr>
        <p:spPr>
          <a:xfrm>
            <a:off x="5100541" y="3589306"/>
            <a:ext cx="1805853" cy="495508"/>
          </a:xfrm>
          <a:prstGeom prst="rect">
            <a:avLst/>
          </a:prstGeom>
          <a:solidFill>
            <a:srgbClr val="F3D9E8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66068" tIns="13214" rIns="66068" bIns="13214" rtlCol="0" anchor="ctr"/>
          <a:lstStyle/>
          <a:p>
            <a:r>
              <a:rPr lang="de-DE" sz="795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6.3.2 Abgabequittung mit Zeitstempel und Vorgangsnummer speichern</a:t>
            </a:r>
          </a:p>
          <a:p>
            <a:r>
              <a:rPr lang="de-DE" sz="650" b="1" dirty="0">
                <a:solidFill>
                  <a:srgbClr val="2F5FD0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■ Studierende:r</a:t>
            </a:r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EB53DB4A-7EEE-2E25-1FCC-545D6EE20036}"/>
              </a:ext>
            </a:extLst>
          </p:cNvPr>
          <p:cNvSpPr/>
          <p:nvPr/>
        </p:nvSpPr>
        <p:spPr>
          <a:xfrm>
            <a:off x="6972463" y="3186292"/>
            <a:ext cx="1805853" cy="363373"/>
          </a:xfrm>
          <a:prstGeom prst="rect">
            <a:avLst/>
          </a:prstGeom>
          <a:solidFill>
            <a:srgbClr val="F3D9E8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66068" tIns="13214" rIns="66068" bIns="13214" rtlCol="0" anchor="ctr"/>
          <a:lstStyle/>
          <a:p>
            <a:r>
              <a:rPr lang="de-DE" sz="795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6.4.1 Automatisch über die Abgabe benachrichtigt werden</a:t>
            </a:r>
          </a:p>
          <a:p>
            <a:r>
              <a:rPr lang="de-DE" sz="650" b="1" dirty="0">
                <a:solidFill>
                  <a:srgbClr val="07758F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■ Erstprüfer:in</a:t>
            </a:r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C0792F9C-4B5F-5D28-F46C-8D27E12166E3}"/>
              </a:ext>
            </a:extLst>
          </p:cNvPr>
          <p:cNvSpPr/>
          <p:nvPr/>
        </p:nvSpPr>
        <p:spPr>
          <a:xfrm>
            <a:off x="6972463" y="3589306"/>
            <a:ext cx="1805853" cy="495508"/>
          </a:xfrm>
          <a:prstGeom prst="rect">
            <a:avLst/>
          </a:prstGeom>
          <a:solidFill>
            <a:srgbClr val="F3D9E8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66068" tIns="13214" rIns="66068" bIns="13214" rtlCol="0" anchor="ctr"/>
          <a:lstStyle/>
          <a:p>
            <a:r>
              <a:rPr lang="de-DE" sz="795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6.4.2 Per E-Mail informiert werden, Arbeit per Link einsehen (extern)</a:t>
            </a:r>
          </a:p>
          <a:p>
            <a:r>
              <a:rPr lang="de-DE" sz="650" b="1" dirty="0">
                <a:solidFill>
                  <a:srgbClr val="0B6F5E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■ Zweitprüfer:in</a:t>
            </a:r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B37FCE3E-4ED4-7036-5991-C9DA181481E2}"/>
              </a:ext>
            </a:extLst>
          </p:cNvPr>
          <p:cNvSpPr/>
          <p:nvPr/>
        </p:nvSpPr>
        <p:spPr>
          <a:xfrm>
            <a:off x="6972463" y="4124454"/>
            <a:ext cx="1805853" cy="495508"/>
          </a:xfrm>
          <a:prstGeom prst="rect">
            <a:avLst/>
          </a:prstGeom>
          <a:solidFill>
            <a:srgbClr val="F3D9E8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66068" tIns="13214" rIns="66068" bIns="13214" rtlCol="0" anchor="ctr"/>
          <a:lstStyle/>
          <a:p>
            <a:r>
              <a:rPr lang="de-DE" sz="795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6.4.3 Über jede Abgabe mit Name, Matrikelnummer und Thema benachrichtigt werden</a:t>
            </a:r>
          </a:p>
          <a:p>
            <a:r>
              <a:rPr lang="de-DE" sz="650" b="1" dirty="0">
                <a:solidFill>
                  <a:srgbClr val="B8680F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■ Dekanat / Prüfungsamt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80B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 4 · STORY MAP UND RELEASEPLANUNG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310896"/>
            <a:ext cx="6172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Map mit Releaseplanung: Activity 7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55464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5B6A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4414C0AC-E7C8-AB14-013D-B33ED76B9780}"/>
              </a:ext>
            </a:extLst>
          </p:cNvPr>
          <p:cNvSpPr/>
          <p:nvPr/>
        </p:nvSpPr>
        <p:spPr>
          <a:xfrm>
            <a:off x="5892756" y="856034"/>
            <a:ext cx="106449" cy="106449"/>
          </a:xfrm>
          <a:prstGeom prst="rect">
            <a:avLst/>
          </a:prstGeom>
          <a:solidFill>
            <a:srgbClr val="FFF2B3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59138" tIns="29569" rIns="59138" bIns="29569" rtlCol="0" anchor="ctr"/>
          <a:lstStyle/>
          <a:p>
            <a:endParaRPr lang="de-DE" sz="1164"/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F2955212-EC45-D14E-9327-8ED36C0193A6}"/>
              </a:ext>
            </a:extLst>
          </p:cNvPr>
          <p:cNvSpPr txBox="1"/>
          <p:nvPr/>
        </p:nvSpPr>
        <p:spPr>
          <a:xfrm>
            <a:off x="6034689" y="838292"/>
            <a:ext cx="591383" cy="141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de-DE" sz="647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Release 1</a:t>
            </a:r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1878A349-1868-4469-35DB-F9BA0D81FB9F}"/>
              </a:ext>
            </a:extLst>
          </p:cNvPr>
          <p:cNvSpPr/>
          <p:nvPr/>
        </p:nvSpPr>
        <p:spPr>
          <a:xfrm>
            <a:off x="6708865" y="856034"/>
            <a:ext cx="106449" cy="106449"/>
          </a:xfrm>
          <a:prstGeom prst="rect">
            <a:avLst/>
          </a:prstGeom>
          <a:solidFill>
            <a:srgbClr val="D6E9F8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59138" tIns="29569" rIns="59138" bIns="29569" rtlCol="0" anchor="ctr"/>
          <a:lstStyle/>
          <a:p>
            <a:endParaRPr lang="de-DE" sz="1164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C2FB07B6-0150-2324-02EC-995AD773A51B}"/>
              </a:ext>
            </a:extLst>
          </p:cNvPr>
          <p:cNvSpPr txBox="1"/>
          <p:nvPr/>
        </p:nvSpPr>
        <p:spPr>
          <a:xfrm>
            <a:off x="6850798" y="838292"/>
            <a:ext cx="591383" cy="141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de-DE" sz="647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Release 2</a:t>
            </a:r>
          </a:p>
        </p:txBody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1E3AB7D5-1A3C-4150-9519-2BBD8E016444}"/>
              </a:ext>
            </a:extLst>
          </p:cNvPr>
          <p:cNvSpPr/>
          <p:nvPr/>
        </p:nvSpPr>
        <p:spPr>
          <a:xfrm>
            <a:off x="7524975" y="856034"/>
            <a:ext cx="106449" cy="106449"/>
          </a:xfrm>
          <a:prstGeom prst="rect">
            <a:avLst/>
          </a:prstGeom>
          <a:solidFill>
            <a:srgbClr val="F3D9E8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59138" tIns="29569" rIns="59138" bIns="29569" rtlCol="0" anchor="ctr"/>
          <a:lstStyle/>
          <a:p>
            <a:endParaRPr lang="de-DE" sz="1164"/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6E99EE73-423C-E492-2115-470C8E3E221E}"/>
              </a:ext>
            </a:extLst>
          </p:cNvPr>
          <p:cNvSpPr txBox="1"/>
          <p:nvPr/>
        </p:nvSpPr>
        <p:spPr>
          <a:xfrm>
            <a:off x="7666906" y="838292"/>
            <a:ext cx="591383" cy="141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de-DE" sz="647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Release 3</a:t>
            </a:r>
          </a:p>
        </p:txBody>
      </p:sp>
      <p:sp>
        <p:nvSpPr>
          <p:cNvPr id="10" name="Shape 9">
            <a:extLst>
              <a:ext uri="{FF2B5EF4-FFF2-40B4-BE49-F238E27FC236}">
                <a16:creationId xmlns:a16="http://schemas.microsoft.com/office/drawing/2014/main" id="{91A710AD-5ED6-9FD7-0911-1ABE9E9B5AA1}"/>
              </a:ext>
            </a:extLst>
          </p:cNvPr>
          <p:cNvSpPr/>
          <p:nvPr/>
        </p:nvSpPr>
        <p:spPr>
          <a:xfrm>
            <a:off x="1693934" y="1133984"/>
            <a:ext cx="6643207" cy="271633"/>
          </a:xfrm>
          <a:prstGeom prst="rect">
            <a:avLst/>
          </a:prstGeom>
          <a:solidFill>
            <a:srgbClr val="4A5C66"/>
          </a:solidFill>
          <a:ln w="12700">
            <a:solidFill>
              <a:srgbClr val="4A5C66"/>
            </a:solidFill>
            <a:prstDash val="solid"/>
          </a:ln>
        </p:spPr>
        <p:txBody>
          <a:bodyPr wrap="square" lIns="88708" tIns="0" rIns="88708" bIns="0" rtlCol="0" anchor="ctr"/>
          <a:lstStyle/>
          <a:p>
            <a:r>
              <a:rPr lang="de-DE" sz="905" b="1" dirty="0">
                <a:solidFill>
                  <a:srgbClr val="FFFFFF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7  Abschlussdokumentation</a:t>
            </a:r>
          </a:p>
        </p:txBody>
      </p:sp>
      <p:sp>
        <p:nvSpPr>
          <p:cNvPr id="11" name="Shape 10">
            <a:extLst>
              <a:ext uri="{FF2B5EF4-FFF2-40B4-BE49-F238E27FC236}">
                <a16:creationId xmlns:a16="http://schemas.microsoft.com/office/drawing/2014/main" id="{02DB6B27-92E5-EBA2-839F-4AA8E6E11DBE}"/>
              </a:ext>
            </a:extLst>
          </p:cNvPr>
          <p:cNvSpPr/>
          <p:nvPr/>
        </p:nvSpPr>
        <p:spPr>
          <a:xfrm>
            <a:off x="1693934" y="1452927"/>
            <a:ext cx="1281331" cy="473107"/>
          </a:xfrm>
          <a:prstGeom prst="rect">
            <a:avLst/>
          </a:prstGeom>
          <a:solidFill>
            <a:srgbClr val="E8F3D3"/>
          </a:solidFill>
          <a:ln w="12700">
            <a:solidFill>
              <a:srgbClr val="80BA24"/>
            </a:solidFill>
            <a:prstDash val="solid"/>
          </a:ln>
        </p:spPr>
        <p:txBody>
          <a:bodyPr wrap="square" lIns="59138" tIns="29569" rIns="59138" bIns="29569" rtlCol="0" anchor="ctr"/>
          <a:lstStyle/>
          <a:p>
            <a:r>
              <a:rPr lang="de-DE" sz="776" b="1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7.1 Antragsstatus einsehen</a:t>
            </a:r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E7197568-1D3F-082D-D641-D776354777FF}"/>
              </a:ext>
            </a:extLst>
          </p:cNvPr>
          <p:cNvSpPr/>
          <p:nvPr/>
        </p:nvSpPr>
        <p:spPr>
          <a:xfrm>
            <a:off x="3034403" y="1452927"/>
            <a:ext cx="1281331" cy="473107"/>
          </a:xfrm>
          <a:prstGeom prst="rect">
            <a:avLst/>
          </a:prstGeom>
          <a:solidFill>
            <a:srgbClr val="E8F3D3"/>
          </a:solidFill>
          <a:ln w="12700">
            <a:solidFill>
              <a:srgbClr val="80BA24"/>
            </a:solidFill>
            <a:prstDash val="solid"/>
          </a:ln>
        </p:spPr>
        <p:txBody>
          <a:bodyPr wrap="square" lIns="59138" tIns="29569" rIns="59138" bIns="29569" rtlCol="0" anchor="ctr"/>
          <a:lstStyle/>
          <a:p>
            <a:r>
              <a:rPr lang="de-DE" sz="776" b="1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7.2 Rückmeldung zum Antrag erhalten</a:t>
            </a:r>
          </a:p>
        </p:txBody>
      </p:sp>
      <p:sp>
        <p:nvSpPr>
          <p:cNvPr id="13" name="Shape 12">
            <a:extLst>
              <a:ext uri="{FF2B5EF4-FFF2-40B4-BE49-F238E27FC236}">
                <a16:creationId xmlns:a16="http://schemas.microsoft.com/office/drawing/2014/main" id="{86D25839-0DA5-B581-0F91-E1BF5BF1AF8D}"/>
              </a:ext>
            </a:extLst>
          </p:cNvPr>
          <p:cNvSpPr/>
          <p:nvPr/>
        </p:nvSpPr>
        <p:spPr>
          <a:xfrm>
            <a:off x="4374872" y="1452927"/>
            <a:ext cx="1281331" cy="473107"/>
          </a:xfrm>
          <a:prstGeom prst="rect">
            <a:avLst/>
          </a:prstGeom>
          <a:solidFill>
            <a:srgbClr val="E8F3D3"/>
          </a:solidFill>
          <a:ln w="12700">
            <a:solidFill>
              <a:srgbClr val="80BA24"/>
            </a:solidFill>
            <a:prstDash val="solid"/>
          </a:ln>
        </p:spPr>
        <p:txBody>
          <a:bodyPr wrap="square" lIns="59138" tIns="29569" rIns="59138" bIns="29569" rtlCol="0" anchor="ctr"/>
          <a:lstStyle/>
          <a:p>
            <a:r>
              <a:rPr lang="de-DE" sz="776" b="1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7.3 Fehlende Unterlagen einreichen</a:t>
            </a:r>
          </a:p>
        </p:txBody>
      </p:sp>
      <p:sp>
        <p:nvSpPr>
          <p:cNvPr id="14" name="Shape 13">
            <a:extLst>
              <a:ext uri="{FF2B5EF4-FFF2-40B4-BE49-F238E27FC236}">
                <a16:creationId xmlns:a16="http://schemas.microsoft.com/office/drawing/2014/main" id="{6A5CBA47-3FC4-7BCA-2930-00901DB7EA9B}"/>
              </a:ext>
            </a:extLst>
          </p:cNvPr>
          <p:cNvSpPr/>
          <p:nvPr/>
        </p:nvSpPr>
        <p:spPr>
          <a:xfrm>
            <a:off x="5715341" y="1452927"/>
            <a:ext cx="1281331" cy="473107"/>
          </a:xfrm>
          <a:prstGeom prst="rect">
            <a:avLst/>
          </a:prstGeom>
          <a:solidFill>
            <a:srgbClr val="E8F3D3"/>
          </a:solidFill>
          <a:ln w="12700">
            <a:solidFill>
              <a:srgbClr val="80BA24"/>
            </a:solidFill>
            <a:prstDash val="solid"/>
          </a:ln>
        </p:spPr>
        <p:txBody>
          <a:bodyPr wrap="square" lIns="59138" tIns="29569" rIns="59138" bIns="29569" rtlCol="0" anchor="ctr"/>
          <a:lstStyle/>
          <a:p>
            <a:r>
              <a:rPr lang="de-DE" sz="776" b="1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7.4 Abschlussbestätigung erhalten</a:t>
            </a:r>
          </a:p>
        </p:txBody>
      </p:sp>
      <p:sp>
        <p:nvSpPr>
          <p:cNvPr id="15" name="Shape 14">
            <a:extLst>
              <a:ext uri="{FF2B5EF4-FFF2-40B4-BE49-F238E27FC236}">
                <a16:creationId xmlns:a16="http://schemas.microsoft.com/office/drawing/2014/main" id="{EF209FCA-89C1-D132-9F81-116A7A8494D5}"/>
              </a:ext>
            </a:extLst>
          </p:cNvPr>
          <p:cNvSpPr/>
          <p:nvPr/>
        </p:nvSpPr>
        <p:spPr>
          <a:xfrm>
            <a:off x="7055810" y="1452927"/>
            <a:ext cx="1281331" cy="473107"/>
          </a:xfrm>
          <a:prstGeom prst="rect">
            <a:avLst/>
          </a:prstGeom>
          <a:solidFill>
            <a:srgbClr val="E8F3D3"/>
          </a:solidFill>
          <a:ln w="12700">
            <a:solidFill>
              <a:srgbClr val="80BA24"/>
            </a:solidFill>
            <a:prstDash val="solid"/>
          </a:ln>
        </p:spPr>
        <p:txBody>
          <a:bodyPr wrap="square" lIns="59138" tIns="29569" rIns="59138" bIns="29569" rtlCol="0" anchor="ctr"/>
          <a:lstStyle/>
          <a:p>
            <a:r>
              <a:rPr lang="de-DE" sz="776" b="1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7.5 Antragsdokumentation abrufen</a:t>
            </a:r>
          </a:p>
        </p:txBody>
      </p:sp>
      <p:cxnSp>
        <p:nvCxnSpPr>
          <p:cNvPr id="16" name="Line 15">
            <a:extLst>
              <a:ext uri="{FF2B5EF4-FFF2-40B4-BE49-F238E27FC236}">
                <a16:creationId xmlns:a16="http://schemas.microsoft.com/office/drawing/2014/main" id="{3428E74C-852A-76EA-1DC7-61D865762365}"/>
              </a:ext>
            </a:extLst>
          </p:cNvPr>
          <p:cNvCxnSpPr/>
          <p:nvPr/>
        </p:nvCxnSpPr>
        <p:spPr>
          <a:xfrm>
            <a:off x="806859" y="1973345"/>
            <a:ext cx="7530282" cy="0"/>
          </a:xfrm>
          <a:prstGeom prst="line">
            <a:avLst/>
          </a:prstGeom>
          <a:ln w="9525">
            <a:solidFill>
              <a:srgbClr val="C9D1D6"/>
            </a:solidFill>
            <a:prstDash val="solid"/>
          </a:ln>
        </p:spPr>
      </p:cxnSp>
      <p:sp>
        <p:nvSpPr>
          <p:cNvPr id="17" name="Text 16">
            <a:extLst>
              <a:ext uri="{FF2B5EF4-FFF2-40B4-BE49-F238E27FC236}">
                <a16:creationId xmlns:a16="http://schemas.microsoft.com/office/drawing/2014/main" id="{236AF549-BFFF-5482-7E2E-09BF25AADCD1}"/>
              </a:ext>
            </a:extLst>
          </p:cNvPr>
          <p:cNvSpPr txBox="1"/>
          <p:nvPr/>
        </p:nvSpPr>
        <p:spPr>
          <a:xfrm>
            <a:off x="806859" y="2008828"/>
            <a:ext cx="827937" cy="388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de-DE" sz="711" b="1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Release 1</a:t>
            </a:r>
          </a:p>
          <a:p>
            <a:r>
              <a:rPr lang="de-DE" sz="647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Anmeldung und Ausgabe</a:t>
            </a:r>
          </a:p>
        </p:txBody>
      </p:sp>
      <p:cxnSp>
        <p:nvCxnSpPr>
          <p:cNvPr id="18" name="Line 17">
            <a:extLst>
              <a:ext uri="{FF2B5EF4-FFF2-40B4-BE49-F238E27FC236}">
                <a16:creationId xmlns:a16="http://schemas.microsoft.com/office/drawing/2014/main" id="{3B95246D-01FA-FDF8-EE38-E278376BF0B3}"/>
              </a:ext>
            </a:extLst>
          </p:cNvPr>
          <p:cNvCxnSpPr/>
          <p:nvPr/>
        </p:nvCxnSpPr>
        <p:spPr>
          <a:xfrm>
            <a:off x="806859" y="2432358"/>
            <a:ext cx="7530282" cy="0"/>
          </a:xfrm>
          <a:prstGeom prst="line">
            <a:avLst/>
          </a:prstGeom>
          <a:ln w="9525">
            <a:solidFill>
              <a:srgbClr val="C9D1D6"/>
            </a:solidFill>
            <a:prstDash val="solid"/>
          </a:ln>
        </p:spPr>
      </p:cxnSp>
      <p:sp>
        <p:nvSpPr>
          <p:cNvPr id="19" name="Text 18">
            <a:extLst>
              <a:ext uri="{FF2B5EF4-FFF2-40B4-BE49-F238E27FC236}">
                <a16:creationId xmlns:a16="http://schemas.microsoft.com/office/drawing/2014/main" id="{5AB6E628-B202-9904-4E5A-C111445D0DC2}"/>
              </a:ext>
            </a:extLst>
          </p:cNvPr>
          <p:cNvSpPr txBox="1"/>
          <p:nvPr/>
        </p:nvSpPr>
        <p:spPr>
          <a:xfrm>
            <a:off x="806859" y="2467841"/>
            <a:ext cx="827937" cy="116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de-DE" sz="711" b="1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Release 2</a:t>
            </a:r>
          </a:p>
          <a:p>
            <a:r>
              <a:rPr lang="de-DE" sz="647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Verlängerung und Transparenz</a:t>
            </a:r>
          </a:p>
        </p:txBody>
      </p:sp>
      <p:sp>
        <p:nvSpPr>
          <p:cNvPr id="20" name="Shape 19">
            <a:extLst>
              <a:ext uri="{FF2B5EF4-FFF2-40B4-BE49-F238E27FC236}">
                <a16:creationId xmlns:a16="http://schemas.microsoft.com/office/drawing/2014/main" id="{E15E60DD-7473-2B06-07A2-5E160EA69303}"/>
              </a:ext>
            </a:extLst>
          </p:cNvPr>
          <p:cNvSpPr/>
          <p:nvPr/>
        </p:nvSpPr>
        <p:spPr>
          <a:xfrm>
            <a:off x="1693934" y="2467841"/>
            <a:ext cx="1281331" cy="410724"/>
          </a:xfrm>
          <a:prstGeom prst="rect">
            <a:avLst/>
          </a:prstGeom>
          <a:solidFill>
            <a:srgbClr val="D6E9F8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59138" tIns="11828" rIns="59138" bIns="11828" rtlCol="0" anchor="ctr"/>
          <a:lstStyle/>
          <a:p>
            <a:r>
              <a:rPr lang="de-DE" sz="711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7.1.1 Aktuellen Status sehen, um den Fortschritt zu erkennen</a:t>
            </a:r>
          </a:p>
          <a:p>
            <a:r>
              <a:rPr lang="de-DE" sz="582" b="1" dirty="0">
                <a:solidFill>
                  <a:srgbClr val="2F5FD0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■ Studierende:r</a:t>
            </a:r>
          </a:p>
        </p:txBody>
      </p:sp>
      <p:sp>
        <p:nvSpPr>
          <p:cNvPr id="21" name="Shape 20">
            <a:extLst>
              <a:ext uri="{FF2B5EF4-FFF2-40B4-BE49-F238E27FC236}">
                <a16:creationId xmlns:a16="http://schemas.microsoft.com/office/drawing/2014/main" id="{6C8FDC10-D78E-7650-B4D0-ACCD64985493}"/>
              </a:ext>
            </a:extLst>
          </p:cNvPr>
          <p:cNvSpPr/>
          <p:nvPr/>
        </p:nvSpPr>
        <p:spPr>
          <a:xfrm>
            <a:off x="1693934" y="2900864"/>
            <a:ext cx="1281331" cy="285835"/>
          </a:xfrm>
          <a:prstGeom prst="rect">
            <a:avLst/>
          </a:prstGeom>
          <a:solidFill>
            <a:srgbClr val="D6E9F8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59138" tIns="11828" rIns="59138" bIns="11828" rtlCol="0" anchor="ctr"/>
          <a:lstStyle/>
          <a:p>
            <a:r>
              <a:rPr lang="de-DE" sz="711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7.1.2 Sehen, ob der Antrag noch bearbeitet wird</a:t>
            </a:r>
          </a:p>
          <a:p>
            <a:r>
              <a:rPr lang="de-DE" sz="582" b="1" dirty="0">
                <a:solidFill>
                  <a:srgbClr val="2F5FD0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■ Studierende:r</a:t>
            </a:r>
          </a:p>
        </p:txBody>
      </p:sp>
      <p:sp>
        <p:nvSpPr>
          <p:cNvPr id="22" name="Shape 21">
            <a:extLst>
              <a:ext uri="{FF2B5EF4-FFF2-40B4-BE49-F238E27FC236}">
                <a16:creationId xmlns:a16="http://schemas.microsoft.com/office/drawing/2014/main" id="{E3E994CB-51AD-8D80-C512-C89DE62E9C96}"/>
              </a:ext>
            </a:extLst>
          </p:cNvPr>
          <p:cNvSpPr/>
          <p:nvPr/>
        </p:nvSpPr>
        <p:spPr>
          <a:xfrm>
            <a:off x="1693934" y="3222182"/>
            <a:ext cx="1281331" cy="406741"/>
          </a:xfrm>
          <a:prstGeom prst="rect">
            <a:avLst/>
          </a:prstGeom>
          <a:solidFill>
            <a:srgbClr val="D6E9F8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59138" tIns="11828" rIns="59138" bIns="11828" rtlCol="0" anchor="ctr"/>
          <a:lstStyle/>
          <a:p>
            <a:r>
              <a:rPr lang="de-DE" sz="711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7.1.3 Status einsehen, um den Bearbeitungsstand nachzuvollziehen</a:t>
            </a:r>
          </a:p>
          <a:p>
            <a:r>
              <a:rPr lang="de-DE" sz="582" b="1" dirty="0">
                <a:solidFill>
                  <a:srgbClr val="B8680F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■ Dekanat / Prüfungsamt</a:t>
            </a:r>
          </a:p>
        </p:txBody>
      </p:sp>
      <p:sp>
        <p:nvSpPr>
          <p:cNvPr id="23" name="Shape 22">
            <a:extLst>
              <a:ext uri="{FF2B5EF4-FFF2-40B4-BE49-F238E27FC236}">
                <a16:creationId xmlns:a16="http://schemas.microsoft.com/office/drawing/2014/main" id="{1494696E-889E-B682-3BAC-8A8575128A35}"/>
              </a:ext>
            </a:extLst>
          </p:cNvPr>
          <p:cNvSpPr/>
          <p:nvPr/>
        </p:nvSpPr>
        <p:spPr>
          <a:xfrm>
            <a:off x="3034403" y="2467841"/>
            <a:ext cx="1281331" cy="423530"/>
          </a:xfrm>
          <a:prstGeom prst="rect">
            <a:avLst/>
          </a:prstGeom>
          <a:solidFill>
            <a:srgbClr val="D6E9F8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59138" tIns="11828" rIns="59138" bIns="11828" rtlCol="0" anchor="ctr"/>
          <a:lstStyle/>
          <a:p>
            <a:r>
              <a:rPr lang="de-DE" sz="711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7.2.1 Rückmeldung erhalten, um offene Schritte zu kennen</a:t>
            </a:r>
          </a:p>
          <a:p>
            <a:r>
              <a:rPr lang="de-DE" sz="582" b="1" dirty="0">
                <a:solidFill>
                  <a:srgbClr val="2F5FD0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■ Studierende:r</a:t>
            </a:r>
          </a:p>
        </p:txBody>
      </p:sp>
      <p:sp>
        <p:nvSpPr>
          <p:cNvPr id="24" name="Shape 23">
            <a:extLst>
              <a:ext uri="{FF2B5EF4-FFF2-40B4-BE49-F238E27FC236}">
                <a16:creationId xmlns:a16="http://schemas.microsoft.com/office/drawing/2014/main" id="{C3889CB4-831A-D436-AFF3-1920524E6DEC}"/>
              </a:ext>
            </a:extLst>
          </p:cNvPr>
          <p:cNvSpPr/>
          <p:nvPr/>
        </p:nvSpPr>
        <p:spPr>
          <a:xfrm>
            <a:off x="3034403" y="2918385"/>
            <a:ext cx="1281331" cy="419882"/>
          </a:xfrm>
          <a:prstGeom prst="rect">
            <a:avLst/>
          </a:prstGeom>
          <a:solidFill>
            <a:srgbClr val="D6E9F8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59138" tIns="11828" rIns="59138" bIns="11828" rtlCol="0" anchor="ctr"/>
          <a:lstStyle/>
          <a:p>
            <a:r>
              <a:rPr lang="de-DE" sz="711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7.2.2 Über neue Rückmeldung informiert werden</a:t>
            </a:r>
          </a:p>
          <a:p>
            <a:r>
              <a:rPr lang="de-DE" sz="582" b="1" dirty="0">
                <a:solidFill>
                  <a:srgbClr val="2F5FD0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■ Studierende:r</a:t>
            </a:r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5DBB296D-7F41-3879-AD57-24C1A71449ED}"/>
              </a:ext>
            </a:extLst>
          </p:cNvPr>
          <p:cNvSpPr/>
          <p:nvPr/>
        </p:nvSpPr>
        <p:spPr>
          <a:xfrm>
            <a:off x="4374872" y="2467841"/>
            <a:ext cx="1281331" cy="285835"/>
          </a:xfrm>
          <a:prstGeom prst="rect">
            <a:avLst/>
          </a:prstGeom>
          <a:solidFill>
            <a:srgbClr val="D6E9F8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59138" tIns="11828" rIns="59138" bIns="11828" rtlCol="0" anchor="ctr"/>
          <a:lstStyle/>
          <a:p>
            <a:r>
              <a:rPr lang="de-DE" sz="711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7.3.1 Fehlende Unterlagen einreichen können</a:t>
            </a:r>
          </a:p>
          <a:p>
            <a:r>
              <a:rPr lang="de-DE" sz="582" b="1" dirty="0">
                <a:solidFill>
                  <a:srgbClr val="2F5FD0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■ Studierende:r</a:t>
            </a:r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4A21E03B-D10C-E08B-0B28-712898A24A3C}"/>
              </a:ext>
            </a:extLst>
          </p:cNvPr>
          <p:cNvSpPr/>
          <p:nvPr/>
        </p:nvSpPr>
        <p:spPr>
          <a:xfrm>
            <a:off x="4374872" y="2789159"/>
            <a:ext cx="1281331" cy="285835"/>
          </a:xfrm>
          <a:prstGeom prst="rect">
            <a:avLst/>
          </a:prstGeom>
          <a:solidFill>
            <a:srgbClr val="D6E9F8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59138" tIns="11828" rIns="59138" bIns="11828" rtlCol="0" anchor="ctr"/>
          <a:lstStyle/>
          <a:p>
            <a:r>
              <a:rPr lang="de-DE" sz="711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7.3.2 Einsehen, welche Unterlagen fehlen</a:t>
            </a:r>
          </a:p>
          <a:p>
            <a:r>
              <a:rPr lang="de-DE" sz="582" b="1" dirty="0">
                <a:solidFill>
                  <a:srgbClr val="2F5FD0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■ Studierende:r</a:t>
            </a:r>
          </a:p>
        </p:txBody>
      </p:sp>
      <p:cxnSp>
        <p:nvCxnSpPr>
          <p:cNvPr id="28" name="Line 26">
            <a:extLst>
              <a:ext uri="{FF2B5EF4-FFF2-40B4-BE49-F238E27FC236}">
                <a16:creationId xmlns:a16="http://schemas.microsoft.com/office/drawing/2014/main" id="{1AAD5DBF-2450-450C-2D29-53FA651D9E24}"/>
              </a:ext>
            </a:extLst>
          </p:cNvPr>
          <p:cNvCxnSpPr/>
          <p:nvPr/>
        </p:nvCxnSpPr>
        <p:spPr>
          <a:xfrm>
            <a:off x="806859" y="3664406"/>
            <a:ext cx="7530282" cy="0"/>
          </a:xfrm>
          <a:prstGeom prst="line">
            <a:avLst/>
          </a:prstGeom>
          <a:ln w="9525">
            <a:solidFill>
              <a:srgbClr val="C9D1D6"/>
            </a:solidFill>
            <a:prstDash val="solid"/>
          </a:ln>
        </p:spPr>
      </p:cxnSp>
      <p:sp>
        <p:nvSpPr>
          <p:cNvPr id="29" name="Text 27">
            <a:extLst>
              <a:ext uri="{FF2B5EF4-FFF2-40B4-BE49-F238E27FC236}">
                <a16:creationId xmlns:a16="http://schemas.microsoft.com/office/drawing/2014/main" id="{15C89A6D-E85F-B2EC-2D00-EF3872F0DAB2}"/>
              </a:ext>
            </a:extLst>
          </p:cNvPr>
          <p:cNvSpPr txBox="1"/>
          <p:nvPr/>
        </p:nvSpPr>
        <p:spPr>
          <a:xfrm>
            <a:off x="806859" y="3699889"/>
            <a:ext cx="827937" cy="1062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de-DE" sz="711" b="1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Release 3</a:t>
            </a:r>
          </a:p>
          <a:p>
            <a:r>
              <a:rPr lang="de-DE" sz="647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Abgabe und Dokumentation</a:t>
            </a:r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7D6872D5-67F0-A5E6-C1CC-D4978F8CBE1B}"/>
              </a:ext>
            </a:extLst>
          </p:cNvPr>
          <p:cNvSpPr/>
          <p:nvPr/>
        </p:nvSpPr>
        <p:spPr>
          <a:xfrm>
            <a:off x="5715341" y="3699890"/>
            <a:ext cx="1281331" cy="384399"/>
          </a:xfrm>
          <a:prstGeom prst="rect">
            <a:avLst/>
          </a:prstGeom>
          <a:solidFill>
            <a:srgbClr val="F3D9E8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59138" tIns="11828" rIns="59138" bIns="11828" rtlCol="0" anchor="ctr"/>
          <a:lstStyle/>
          <a:p>
            <a:r>
              <a:rPr lang="de-DE" sz="711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7.4.1 Bestätigung als Nachweis für den Abschluss erhalten</a:t>
            </a:r>
          </a:p>
          <a:p>
            <a:r>
              <a:rPr lang="de-DE" sz="582" b="1" dirty="0">
                <a:solidFill>
                  <a:srgbClr val="2F5FD0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■ Studierende:r</a:t>
            </a:r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D84F9448-D46F-C53B-3C74-797DA94715B5}"/>
              </a:ext>
            </a:extLst>
          </p:cNvPr>
          <p:cNvSpPr/>
          <p:nvPr/>
        </p:nvSpPr>
        <p:spPr>
          <a:xfrm>
            <a:off x="5715341" y="4119772"/>
            <a:ext cx="1281331" cy="285835"/>
          </a:xfrm>
          <a:prstGeom prst="rect">
            <a:avLst/>
          </a:prstGeom>
          <a:solidFill>
            <a:srgbClr val="F3D9E8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59138" tIns="11828" rIns="59138" bIns="11828" rtlCol="0" anchor="ctr"/>
          <a:lstStyle/>
          <a:p>
            <a:r>
              <a:rPr lang="de-DE" sz="711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7.4.2 Bestätigung im Portal später abrufen</a:t>
            </a:r>
          </a:p>
          <a:p>
            <a:r>
              <a:rPr lang="de-DE" sz="582" b="1" dirty="0">
                <a:solidFill>
                  <a:srgbClr val="2F5FD0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■ Studierende:r</a:t>
            </a:r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275EB6C3-1B08-76CF-7C4C-E210618C45C8}"/>
              </a:ext>
            </a:extLst>
          </p:cNvPr>
          <p:cNvSpPr/>
          <p:nvPr/>
        </p:nvSpPr>
        <p:spPr>
          <a:xfrm>
            <a:off x="7055810" y="3699890"/>
            <a:ext cx="1281331" cy="285835"/>
          </a:xfrm>
          <a:prstGeom prst="rect">
            <a:avLst/>
          </a:prstGeom>
          <a:solidFill>
            <a:srgbClr val="F3D9E8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59138" tIns="11828" rIns="59138" bIns="11828" rtlCol="0" anchor="ctr"/>
          <a:lstStyle/>
          <a:p>
            <a:r>
              <a:rPr lang="de-DE" sz="711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7.5.1 Antrag und Dokumente nach Abschluss einsehen</a:t>
            </a:r>
          </a:p>
          <a:p>
            <a:r>
              <a:rPr lang="de-DE" sz="582" b="1" dirty="0">
                <a:solidFill>
                  <a:srgbClr val="2F5FD0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■ Studierende:r</a:t>
            </a:r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E52FAD1C-6384-1731-36A6-05BBBC47D018}"/>
              </a:ext>
            </a:extLst>
          </p:cNvPr>
          <p:cNvSpPr/>
          <p:nvPr/>
        </p:nvSpPr>
        <p:spPr>
          <a:xfrm>
            <a:off x="7055810" y="4021208"/>
            <a:ext cx="1281331" cy="285835"/>
          </a:xfrm>
          <a:prstGeom prst="rect">
            <a:avLst/>
          </a:prstGeom>
          <a:solidFill>
            <a:srgbClr val="F3D9E8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59138" tIns="11828" rIns="59138" bIns="11828" rtlCol="0" anchor="ctr"/>
          <a:lstStyle/>
          <a:p>
            <a:r>
              <a:rPr lang="de-DE" sz="711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7.5.2 Relevante Dokumente herunterladen</a:t>
            </a:r>
          </a:p>
          <a:p>
            <a:r>
              <a:rPr lang="de-DE" sz="582" b="1" dirty="0">
                <a:solidFill>
                  <a:srgbClr val="2F5FD0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■ Studierende:r</a:t>
            </a:r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D2858C9C-32B2-23E4-FC6A-3AAF7F39C656}"/>
              </a:ext>
            </a:extLst>
          </p:cNvPr>
          <p:cNvSpPr/>
          <p:nvPr/>
        </p:nvSpPr>
        <p:spPr>
          <a:xfrm>
            <a:off x="7055810" y="4342526"/>
            <a:ext cx="1281331" cy="384399"/>
          </a:xfrm>
          <a:prstGeom prst="rect">
            <a:avLst/>
          </a:prstGeom>
          <a:solidFill>
            <a:srgbClr val="F3D9E8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59138" tIns="11828" rIns="59138" bIns="11828" rtlCol="0" anchor="ctr"/>
          <a:lstStyle/>
          <a:p>
            <a:r>
              <a:rPr lang="de-DE" sz="711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7.5.3 Antragsdokumentation einsehen, um Vorgänge nachzuvollziehen</a:t>
            </a:r>
          </a:p>
          <a:p>
            <a:r>
              <a:rPr lang="de-DE" sz="582" b="1" dirty="0">
                <a:solidFill>
                  <a:srgbClr val="B8680F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■ Dekanat / Prüfungsamt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80B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 4 · STORY MAP UND RELEASEPLANUNG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310896"/>
            <a:ext cx="6172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Releaseplanung Begründung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55464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5B6A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1FFADEDF-03B7-AE01-CFE4-585624929D10}"/>
              </a:ext>
            </a:extLst>
          </p:cNvPr>
          <p:cNvSpPr/>
          <p:nvPr/>
        </p:nvSpPr>
        <p:spPr>
          <a:xfrm>
            <a:off x="365808" y="990600"/>
            <a:ext cx="2713673" cy="2035254"/>
          </a:xfrm>
          <a:prstGeom prst="rect">
            <a:avLst/>
          </a:prstGeom>
          <a:solidFill>
            <a:srgbClr val="FFF2B3"/>
          </a:solidFill>
          <a:ln w="9525">
            <a:solidFill>
              <a:srgbClr val="C9D1D6"/>
            </a:solidFill>
            <a:prstDash val="solid"/>
          </a:ln>
        </p:spPr>
        <p:txBody>
          <a:bodyPr/>
          <a:lstStyle/>
          <a:p>
            <a:endParaRPr lang="en-DE" sz="1335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05114E70-08AD-8095-B658-D6EAD80A8D65}"/>
              </a:ext>
            </a:extLst>
          </p:cNvPr>
          <p:cNvSpPr txBox="1"/>
          <p:nvPr/>
        </p:nvSpPr>
        <p:spPr>
          <a:xfrm>
            <a:off x="447218" y="1024521"/>
            <a:ext cx="2550852" cy="1967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148"/>
              </a:spcAft>
            </a:pPr>
            <a:r>
              <a:rPr lang="en-US" sz="964" b="1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Release 1: Anmeldung und </a:t>
            </a:r>
            <a:r>
              <a:rPr lang="en-US" sz="964" b="1" dirty="0" err="1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Ausgabe</a:t>
            </a:r>
            <a:r>
              <a:rPr lang="en-US" sz="964" b="1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64" dirty="0">
              <a:latin typeface="Calibri" panose="020F0502020204030204" pitchFamily="34" charset="0"/>
            </a:endParaRPr>
          </a:p>
          <a:p>
            <a:pPr>
              <a:spcAft>
                <a:spcPts val="445"/>
              </a:spcAft>
            </a:pPr>
            <a:endParaRPr lang="en-US" sz="964" dirty="0"/>
          </a:p>
          <a:p>
            <a:pPr marL="127199" indent="-127199">
              <a:spcAft>
                <a:spcPts val="445"/>
              </a:spcAft>
              <a:buFontTx/>
              <a:buChar char="-"/>
            </a:pPr>
            <a:r>
              <a:rPr lang="en-US" sz="779" dirty="0" err="1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Kernprozess</a:t>
            </a:r>
            <a:r>
              <a:rPr lang="en-US" sz="779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 digital vom Antrag bis </a:t>
            </a:r>
            <a:r>
              <a:rPr lang="en-US" sz="779" dirty="0" err="1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zur</a:t>
            </a:r>
            <a:r>
              <a:rPr lang="en-US" sz="779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779" dirty="0" err="1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Ausgabe</a:t>
            </a:r>
            <a:endParaRPr lang="en-US" sz="779" dirty="0">
              <a:solidFill>
                <a:srgbClr val="2F3E46"/>
              </a:solidFill>
              <a:latin typeface="Calibri" panose="020F0502020204030204" pitchFamily="34" charset="0"/>
              <a:ea typeface="Arial" pitchFamily="34" charset="-122"/>
              <a:cs typeface="Arial" pitchFamily="34" charset="-120"/>
            </a:endParaRPr>
          </a:p>
          <a:p>
            <a:pPr marL="127199" indent="-127199">
              <a:spcAft>
                <a:spcPts val="445"/>
              </a:spcAft>
              <a:buFontTx/>
              <a:buChar char="-"/>
            </a:pPr>
            <a:r>
              <a:rPr lang="en-US" sz="779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779" dirty="0" err="1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Antragserfassung</a:t>
            </a:r>
            <a:r>
              <a:rPr lang="en-US" sz="779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 und </a:t>
            </a:r>
            <a:r>
              <a:rPr lang="en-US" sz="779" dirty="0" err="1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Bestätigung</a:t>
            </a:r>
            <a:endParaRPr lang="en-US" sz="779" dirty="0">
              <a:solidFill>
                <a:srgbClr val="2F3E46"/>
              </a:solidFill>
              <a:latin typeface="Calibri" panose="020F0502020204030204" pitchFamily="34" charset="0"/>
              <a:ea typeface="Arial" pitchFamily="34" charset="-122"/>
              <a:cs typeface="Arial" pitchFamily="34" charset="-120"/>
            </a:endParaRPr>
          </a:p>
          <a:p>
            <a:pPr marL="127199" indent="-127199">
              <a:spcAft>
                <a:spcPts val="445"/>
              </a:spcAft>
              <a:buFontTx/>
              <a:buChar char="-"/>
            </a:pPr>
            <a:r>
              <a:rPr lang="en-US" sz="779" dirty="0" err="1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Prüfung</a:t>
            </a:r>
            <a:r>
              <a:rPr lang="en-US" sz="779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 und </a:t>
            </a:r>
            <a:r>
              <a:rPr lang="en-US" sz="779" dirty="0" err="1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Entscheidung</a:t>
            </a:r>
            <a:endParaRPr lang="en-US" sz="779" dirty="0">
              <a:solidFill>
                <a:srgbClr val="2F3E46"/>
              </a:solidFill>
              <a:latin typeface="Calibri" panose="020F0502020204030204" pitchFamily="34" charset="0"/>
              <a:ea typeface="Arial" pitchFamily="34" charset="-122"/>
              <a:cs typeface="Arial" pitchFamily="34" charset="-120"/>
            </a:endParaRPr>
          </a:p>
          <a:p>
            <a:pPr marL="127199" indent="-127199">
              <a:spcAft>
                <a:spcPts val="445"/>
              </a:spcAft>
              <a:buFontTx/>
              <a:buChar char="-"/>
            </a:pPr>
            <a:r>
              <a:rPr lang="en-US" sz="779" dirty="0" err="1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Ausgabe</a:t>
            </a:r>
            <a:r>
              <a:rPr lang="en-US" sz="779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779" dirty="0" err="1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mit</a:t>
            </a:r>
            <a:r>
              <a:rPr lang="en-US" sz="779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779" dirty="0" err="1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Bearbeitungszeit</a:t>
            </a:r>
            <a:r>
              <a:rPr lang="en-US" sz="779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 und Status </a:t>
            </a:r>
            <a:br>
              <a:rPr lang="en-US" sz="779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</a:br>
            <a:endParaRPr lang="en-US" sz="964" dirty="0">
              <a:latin typeface="Calibri" panose="020F0502020204030204" pitchFamily="34" charset="0"/>
            </a:endParaRPr>
          </a:p>
          <a:p>
            <a:r>
              <a:rPr lang="en-US" sz="779" b="1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Begründung: </a:t>
            </a:r>
          </a:p>
          <a:p>
            <a:endParaRPr lang="en-US" sz="779" dirty="0">
              <a:solidFill>
                <a:srgbClr val="2F3E46"/>
              </a:solidFill>
              <a:latin typeface="Calibri" panose="020F0502020204030204" pitchFamily="34" charset="0"/>
              <a:ea typeface="Arial" pitchFamily="34" charset="-122"/>
              <a:cs typeface="Arial" pitchFamily="34" charset="-120"/>
            </a:endParaRPr>
          </a:p>
          <a:p>
            <a:pPr marL="127199" indent="-127199">
              <a:buFontTx/>
              <a:buChar char="-"/>
            </a:pPr>
            <a:r>
              <a:rPr lang="en-US" sz="779" dirty="0" err="1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ersetzt</a:t>
            </a:r>
            <a:r>
              <a:rPr lang="en-US" sz="779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 PDF-Formular und E-Mail-Weg</a:t>
            </a:r>
            <a:br>
              <a:rPr lang="en-US" sz="779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</a:br>
            <a:endParaRPr lang="en-US" sz="779" dirty="0">
              <a:solidFill>
                <a:srgbClr val="2F3E46"/>
              </a:solidFill>
              <a:latin typeface="Calibri" panose="020F0502020204030204" pitchFamily="34" charset="0"/>
              <a:ea typeface="Arial" pitchFamily="34" charset="-122"/>
              <a:cs typeface="Arial" pitchFamily="34" charset="-120"/>
            </a:endParaRPr>
          </a:p>
          <a:p>
            <a:pPr marL="127199" indent="-127199">
              <a:buFontTx/>
              <a:buChar char="-"/>
            </a:pPr>
            <a:r>
              <a:rPr lang="en-US" sz="779" dirty="0" err="1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bringt</a:t>
            </a:r>
            <a:r>
              <a:rPr lang="en-US" sz="779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 den größten Nutzen und ist Voraussetzung für </a:t>
            </a:r>
            <a:r>
              <a:rPr lang="en-US" sz="779" dirty="0" err="1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alles</a:t>
            </a:r>
            <a:r>
              <a:rPr lang="en-US" sz="779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779" dirty="0" err="1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Weitere</a:t>
            </a:r>
            <a:endParaRPr lang="en-US" sz="964" dirty="0">
              <a:latin typeface="Calibri" panose="020F0502020204030204" pitchFamily="34" charset="0"/>
            </a:endParaRPr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C468F2BD-B981-70FB-2496-F8A13F198219}"/>
              </a:ext>
            </a:extLst>
          </p:cNvPr>
          <p:cNvSpPr/>
          <p:nvPr/>
        </p:nvSpPr>
        <p:spPr>
          <a:xfrm>
            <a:off x="3215164" y="990600"/>
            <a:ext cx="2713673" cy="2035254"/>
          </a:xfrm>
          <a:prstGeom prst="rect">
            <a:avLst/>
          </a:prstGeom>
          <a:solidFill>
            <a:srgbClr val="D6E9F8"/>
          </a:solidFill>
          <a:ln w="9525">
            <a:solidFill>
              <a:srgbClr val="C9D1D6"/>
            </a:solidFill>
            <a:prstDash val="solid"/>
          </a:ln>
        </p:spPr>
        <p:txBody>
          <a:bodyPr/>
          <a:lstStyle/>
          <a:p>
            <a:endParaRPr lang="en-DE" sz="1335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5A14932F-11D8-B600-C8CF-72D9DCED31C7}"/>
              </a:ext>
            </a:extLst>
          </p:cNvPr>
          <p:cNvSpPr txBox="1"/>
          <p:nvPr/>
        </p:nvSpPr>
        <p:spPr>
          <a:xfrm>
            <a:off x="3296574" y="1024521"/>
            <a:ext cx="2550852" cy="1967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148"/>
              </a:spcAft>
            </a:pPr>
            <a:r>
              <a:rPr lang="en-US" sz="964" b="1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Release 2: Verlängerung und </a:t>
            </a:r>
            <a:r>
              <a:rPr lang="en-US" sz="964" b="1" dirty="0" err="1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Transparenz</a:t>
            </a:r>
            <a:endParaRPr lang="en-US" sz="964" b="1" dirty="0">
              <a:solidFill>
                <a:srgbClr val="2F3E46"/>
              </a:solidFill>
              <a:latin typeface="Calibri" panose="020F0502020204030204" pitchFamily="34" charset="0"/>
              <a:ea typeface="Arial" pitchFamily="34" charset="-122"/>
              <a:cs typeface="Arial" pitchFamily="34" charset="-120"/>
            </a:endParaRPr>
          </a:p>
          <a:p>
            <a:pPr>
              <a:spcAft>
                <a:spcPts val="148"/>
              </a:spcAft>
            </a:pPr>
            <a:endParaRPr lang="en-US" sz="964" dirty="0"/>
          </a:p>
          <a:p>
            <a:pPr marL="127199" indent="-127199">
              <a:spcAft>
                <a:spcPts val="445"/>
              </a:spcAft>
              <a:buFontTx/>
              <a:buChar char="-"/>
            </a:pPr>
            <a:r>
              <a:rPr lang="en-US" sz="779" dirty="0" err="1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Verlängerungsantrag</a:t>
            </a:r>
            <a:r>
              <a:rPr lang="en-US" sz="779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 </a:t>
            </a:r>
          </a:p>
          <a:p>
            <a:pPr marL="127199" indent="-127199">
              <a:spcAft>
                <a:spcPts val="445"/>
              </a:spcAft>
              <a:buFontTx/>
              <a:buChar char="-"/>
            </a:pPr>
            <a:r>
              <a:rPr lang="en-US" sz="779" dirty="0" err="1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Fristen</a:t>
            </a:r>
            <a:r>
              <a:rPr lang="en-US" sz="779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 und Statustransparenz, </a:t>
            </a:r>
          </a:p>
          <a:p>
            <a:pPr marL="127199" indent="-127199">
              <a:spcAft>
                <a:spcPts val="445"/>
              </a:spcAft>
              <a:buFontTx/>
              <a:buChar char="-"/>
            </a:pPr>
            <a:r>
              <a:rPr lang="en-US" sz="779" dirty="0" err="1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Rückmeldungen</a:t>
            </a:r>
            <a:r>
              <a:rPr lang="en-US" sz="779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 und </a:t>
            </a:r>
            <a:r>
              <a:rPr lang="en-US" sz="779" dirty="0" err="1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Nachreichungen</a:t>
            </a:r>
            <a:endParaRPr lang="en-US" sz="779" dirty="0">
              <a:solidFill>
                <a:srgbClr val="2F3E46"/>
              </a:solidFill>
              <a:latin typeface="Calibri" panose="020F0502020204030204" pitchFamily="34" charset="0"/>
              <a:ea typeface="Arial" pitchFamily="34" charset="-122"/>
              <a:cs typeface="Arial" pitchFamily="34" charset="-120"/>
            </a:endParaRPr>
          </a:p>
          <a:p>
            <a:pPr marL="127199" indent="-127199">
              <a:spcAft>
                <a:spcPts val="445"/>
              </a:spcAft>
              <a:buFontTx/>
              <a:buChar char="-"/>
            </a:pPr>
            <a:endParaRPr lang="en-US" sz="779" dirty="0">
              <a:solidFill>
                <a:srgbClr val="2F3E46"/>
              </a:solidFill>
              <a:latin typeface="Calibri" panose="020F0502020204030204" pitchFamily="34" charset="0"/>
              <a:cs typeface="Arial" pitchFamily="34" charset="-120"/>
            </a:endParaRPr>
          </a:p>
          <a:p>
            <a:pPr>
              <a:spcAft>
                <a:spcPts val="445"/>
              </a:spcAft>
            </a:pPr>
            <a:endParaRPr lang="en-US" sz="964" dirty="0"/>
          </a:p>
          <a:p>
            <a:r>
              <a:rPr lang="en-US" sz="779" b="1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Begründung: </a:t>
            </a:r>
          </a:p>
          <a:p>
            <a:endParaRPr lang="en-US" sz="779" dirty="0">
              <a:solidFill>
                <a:srgbClr val="2F3E46"/>
              </a:solidFill>
              <a:latin typeface="Calibri" panose="020F0502020204030204" pitchFamily="34" charset="0"/>
              <a:ea typeface="Arial" pitchFamily="34" charset="-122"/>
              <a:cs typeface="Arial" pitchFamily="34" charset="-120"/>
            </a:endParaRPr>
          </a:p>
          <a:p>
            <a:pPr marL="127199" indent="-127199">
              <a:buFontTx/>
              <a:buChar char="-"/>
            </a:pPr>
            <a:r>
              <a:rPr lang="en-US" sz="779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Baut auf Antragsdaten und Fristen aus Release 1 auf</a:t>
            </a:r>
          </a:p>
          <a:p>
            <a:endParaRPr lang="en-US" sz="779" dirty="0">
              <a:solidFill>
                <a:srgbClr val="2F3E46"/>
              </a:solidFill>
              <a:latin typeface="Calibri" panose="020F0502020204030204" pitchFamily="34" charset="0"/>
              <a:ea typeface="Arial" pitchFamily="34" charset="-122"/>
              <a:cs typeface="Arial" pitchFamily="34" charset="-120"/>
            </a:endParaRPr>
          </a:p>
          <a:p>
            <a:endParaRPr lang="en-US" sz="964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447EE958-01B9-B48E-FAE8-B24638BF614F}"/>
              </a:ext>
            </a:extLst>
          </p:cNvPr>
          <p:cNvSpPr/>
          <p:nvPr/>
        </p:nvSpPr>
        <p:spPr>
          <a:xfrm>
            <a:off x="6064519" y="990600"/>
            <a:ext cx="2713673" cy="2035254"/>
          </a:xfrm>
          <a:prstGeom prst="rect">
            <a:avLst/>
          </a:prstGeom>
          <a:solidFill>
            <a:srgbClr val="F3D9E8"/>
          </a:solidFill>
          <a:ln w="9525">
            <a:solidFill>
              <a:srgbClr val="C9D1D6"/>
            </a:solidFill>
            <a:prstDash val="solid"/>
          </a:ln>
        </p:spPr>
        <p:txBody>
          <a:bodyPr/>
          <a:lstStyle/>
          <a:p>
            <a:endParaRPr lang="en-DE" sz="1335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754FA4FC-F8F8-C134-EAFC-FED1588F7C45}"/>
              </a:ext>
            </a:extLst>
          </p:cNvPr>
          <p:cNvSpPr txBox="1"/>
          <p:nvPr/>
        </p:nvSpPr>
        <p:spPr>
          <a:xfrm>
            <a:off x="6145930" y="1024521"/>
            <a:ext cx="2550852" cy="1967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148"/>
              </a:spcAft>
            </a:pPr>
            <a:r>
              <a:rPr lang="en-US" sz="964" b="1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Release 3: Abgabe und </a:t>
            </a:r>
            <a:r>
              <a:rPr lang="en-US" sz="964" b="1" dirty="0" err="1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Dokumentation</a:t>
            </a:r>
            <a:endParaRPr lang="en-US" sz="964" b="1" dirty="0">
              <a:solidFill>
                <a:srgbClr val="2F3E46"/>
              </a:solidFill>
              <a:latin typeface="Calibri" panose="020F0502020204030204" pitchFamily="34" charset="0"/>
              <a:ea typeface="Arial" pitchFamily="34" charset="-122"/>
              <a:cs typeface="Arial" pitchFamily="34" charset="-120"/>
            </a:endParaRPr>
          </a:p>
          <a:p>
            <a:pPr>
              <a:spcAft>
                <a:spcPts val="148"/>
              </a:spcAft>
            </a:pPr>
            <a:endParaRPr lang="en-US" sz="964" dirty="0"/>
          </a:p>
          <a:p>
            <a:pPr marL="127199" indent="-127199">
              <a:spcAft>
                <a:spcPts val="445"/>
              </a:spcAft>
              <a:buFontTx/>
              <a:buChar char="-"/>
            </a:pPr>
            <a:r>
              <a:rPr lang="en-US" sz="779" dirty="0" err="1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Digitale</a:t>
            </a:r>
            <a:r>
              <a:rPr lang="en-US" sz="779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779" dirty="0" err="1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Abgabe</a:t>
            </a:r>
            <a:r>
              <a:rPr lang="en-US" sz="779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 </a:t>
            </a:r>
          </a:p>
          <a:p>
            <a:pPr marL="127199" indent="-127199">
              <a:spcAft>
                <a:spcPts val="445"/>
              </a:spcAft>
              <a:buFontTx/>
              <a:buChar char="-"/>
            </a:pPr>
            <a:r>
              <a:rPr lang="en-US" sz="779" dirty="0" err="1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Eingangsbestätigung</a:t>
            </a:r>
            <a:endParaRPr lang="en-US" sz="779" dirty="0">
              <a:solidFill>
                <a:srgbClr val="2F3E46"/>
              </a:solidFill>
              <a:latin typeface="Calibri" panose="020F0502020204030204" pitchFamily="34" charset="0"/>
              <a:ea typeface="Arial" pitchFamily="34" charset="-122"/>
              <a:cs typeface="Arial" pitchFamily="34" charset="-120"/>
            </a:endParaRPr>
          </a:p>
          <a:p>
            <a:pPr marL="127199" indent="-127199">
              <a:spcAft>
                <a:spcPts val="445"/>
              </a:spcAft>
              <a:buFontTx/>
              <a:buChar char="-"/>
            </a:pPr>
            <a:r>
              <a:rPr lang="en-US" sz="779" dirty="0" err="1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Benachrichtigung</a:t>
            </a:r>
            <a:r>
              <a:rPr lang="en-US" sz="779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 der </a:t>
            </a:r>
            <a:r>
              <a:rPr lang="en-US" sz="779" dirty="0" err="1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Beteiligten</a:t>
            </a:r>
            <a:endParaRPr lang="en-US" sz="779" dirty="0">
              <a:solidFill>
                <a:srgbClr val="2F3E46"/>
              </a:solidFill>
              <a:latin typeface="Calibri" panose="020F0502020204030204" pitchFamily="34" charset="0"/>
              <a:ea typeface="Arial" pitchFamily="34" charset="-122"/>
              <a:cs typeface="Arial" pitchFamily="34" charset="-120"/>
            </a:endParaRPr>
          </a:p>
          <a:p>
            <a:pPr marL="127199" indent="-127199">
              <a:spcAft>
                <a:spcPts val="445"/>
              </a:spcAft>
              <a:buFontTx/>
              <a:buChar char="-"/>
            </a:pPr>
            <a:r>
              <a:rPr lang="en-US" sz="779" dirty="0" err="1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Fristerinnerungen</a:t>
            </a:r>
            <a:r>
              <a:rPr lang="en-US" sz="779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 und </a:t>
            </a:r>
            <a:r>
              <a:rPr lang="en-US" sz="779" dirty="0" err="1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Dokumentation</a:t>
            </a:r>
            <a:endParaRPr lang="en-US" sz="779" dirty="0">
              <a:solidFill>
                <a:srgbClr val="2F3E46"/>
              </a:solidFill>
              <a:latin typeface="Calibri" panose="020F0502020204030204" pitchFamily="34" charset="0"/>
              <a:ea typeface="Arial" pitchFamily="34" charset="-122"/>
              <a:cs typeface="Arial" pitchFamily="34" charset="-120"/>
            </a:endParaRPr>
          </a:p>
          <a:p>
            <a:pPr>
              <a:spcAft>
                <a:spcPts val="445"/>
              </a:spcAft>
            </a:pPr>
            <a:endParaRPr lang="en-US" sz="964" dirty="0"/>
          </a:p>
          <a:p>
            <a:r>
              <a:rPr lang="en-US" sz="779" b="1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Begründung: </a:t>
            </a:r>
          </a:p>
          <a:p>
            <a:endParaRPr lang="en-US" sz="779" b="1" dirty="0">
              <a:solidFill>
                <a:srgbClr val="2F3E46"/>
              </a:solidFill>
              <a:latin typeface="Calibri" panose="020F0502020204030204" pitchFamily="34" charset="0"/>
              <a:ea typeface="Arial" pitchFamily="34" charset="-122"/>
              <a:cs typeface="Arial" pitchFamily="34" charset="-120"/>
            </a:endParaRPr>
          </a:p>
          <a:p>
            <a:pPr marL="127199" indent="-127199">
              <a:buFontTx/>
              <a:buChar char="-"/>
            </a:pPr>
            <a:r>
              <a:rPr lang="en-US" sz="779" dirty="0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Vor- und Nachbereitung des </a:t>
            </a:r>
            <a:r>
              <a:rPr lang="en-US" sz="779" dirty="0" err="1">
                <a:solidFill>
                  <a:srgbClr val="2F3E46"/>
                </a:solidFill>
                <a:latin typeface="Calibri" panose="020F0502020204030204" pitchFamily="34" charset="0"/>
                <a:ea typeface="Arial" pitchFamily="34" charset="-122"/>
                <a:cs typeface="Arial" pitchFamily="34" charset="-120"/>
              </a:rPr>
              <a:t>Kernprozesses</a:t>
            </a:r>
            <a:endParaRPr lang="en-US" sz="964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80B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 5 · GESAMT-DATENMODELL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310896"/>
            <a:ext cx="6172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Gesamt-Datenmodell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55464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5B6A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0A1AEBE7-14FD-E09A-AA55-E272B7D25A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4065" y="838200"/>
            <a:ext cx="5975870" cy="39243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80B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 5 · GESAMT-DATENMODELL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310896"/>
            <a:ext cx="6172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Enums des Gesamt-Datenmodells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55464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5B6A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82005239-7373-125D-4FE4-08CECF7380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3912" y="838200"/>
            <a:ext cx="6616175" cy="39243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80B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 6 · DIALOGLANDKARTE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310896"/>
            <a:ext cx="6172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Prüfer-Anwendung: Themenfreigabe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55464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5B6A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  <p:sp>
        <p:nvSpPr>
          <p:cNvPr id="94" name="Textfeld 93">
            <a:extLst>
              <a:ext uri="{FF2B5EF4-FFF2-40B4-BE49-F238E27FC236}">
                <a16:creationId xmlns:a16="http://schemas.microsoft.com/office/drawing/2014/main" id="{F77B35B5-A574-516C-904A-7D5626AB311A}"/>
              </a:ext>
            </a:extLst>
          </p:cNvPr>
          <p:cNvSpPr txBox="1"/>
          <p:nvPr/>
        </p:nvSpPr>
        <p:spPr>
          <a:xfrm>
            <a:off x="365760" y="838200"/>
            <a:ext cx="8412480" cy="203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de-DE" sz="1100">
                <a:solidFill>
                  <a:srgbClr val="2F3E46"/>
                </a:solidFill>
                <a:latin typeface="Calibri" panose="020F0502020204030204" pitchFamily="34" charset="0"/>
              </a:rPr>
              <a:t>Vom geschützten Login bis zur verbindlichen Entscheidung mit Verlauf.</a:t>
            </a:r>
          </a:p>
        </p:txBody>
      </p:sp>
      <p:sp>
        <p:nvSpPr>
          <p:cNvPr id="95" name="Rechteck 94">
            <a:extLst>
              <a:ext uri="{FF2B5EF4-FFF2-40B4-BE49-F238E27FC236}">
                <a16:creationId xmlns:a16="http://schemas.microsoft.com/office/drawing/2014/main" id="{CF272C40-2CE7-9887-E3B6-34736C64E0B2}"/>
              </a:ext>
            </a:extLst>
          </p:cNvPr>
          <p:cNvSpPr/>
          <p:nvPr/>
        </p:nvSpPr>
        <p:spPr>
          <a:xfrm>
            <a:off x="365760" y="1092200"/>
            <a:ext cx="8412480" cy="279400"/>
          </a:xfrm>
          <a:prstGeom prst="rect">
            <a:avLst/>
          </a:prstGeom>
          <a:solidFill>
            <a:srgbClr val="EDF5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6" name="Rechteck 95">
            <a:extLst>
              <a:ext uri="{FF2B5EF4-FFF2-40B4-BE49-F238E27FC236}">
                <a16:creationId xmlns:a16="http://schemas.microsoft.com/office/drawing/2014/main" id="{2CAC214C-D5BE-D340-E9B8-B260FE37AB1B}"/>
              </a:ext>
            </a:extLst>
          </p:cNvPr>
          <p:cNvSpPr/>
          <p:nvPr/>
        </p:nvSpPr>
        <p:spPr>
          <a:xfrm>
            <a:off x="365760" y="1092200"/>
            <a:ext cx="44450" cy="279400"/>
          </a:xfrm>
          <a:prstGeom prst="rect">
            <a:avLst/>
          </a:prstGeom>
          <a:solidFill>
            <a:srgbClr val="80BA2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7" name="Textfeld 96">
            <a:extLst>
              <a:ext uri="{FF2B5EF4-FFF2-40B4-BE49-F238E27FC236}">
                <a16:creationId xmlns:a16="http://schemas.microsoft.com/office/drawing/2014/main" id="{FBA1E23C-CDEC-4F70-6A6B-A2CD6AFD89A3}"/>
              </a:ext>
            </a:extLst>
          </p:cNvPr>
          <p:cNvSpPr txBox="1"/>
          <p:nvPr/>
        </p:nvSpPr>
        <p:spPr>
          <a:xfrm>
            <a:off x="492760" y="1162650"/>
            <a:ext cx="8209280" cy="1384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de-DE" sz="750" b="1">
                <a:solidFill>
                  <a:srgbClr val="4E7F12"/>
                </a:solidFill>
                <a:latin typeface="Calibri" panose="020F0502020204030204" pitchFamily="34" charset="0"/>
              </a:rPr>
              <a:t>ZIEL AUS DEM PRAXISTEIL</a:t>
            </a:r>
            <a:r>
              <a:rPr lang="de-DE" sz="900">
                <a:solidFill>
                  <a:srgbClr val="2F3E46"/>
                </a:solidFill>
                <a:latin typeface="Calibri" panose="020F0502020204030204" pitchFamily="34" charset="0"/>
              </a:rPr>
              <a:t>     PDF-Antrag digitalisieren · webbasiertes Portal · Desktop &amp; Smartphone</a:t>
            </a:r>
          </a:p>
        </p:txBody>
      </p:sp>
      <p:sp>
        <p:nvSpPr>
          <p:cNvPr id="98" name="Textfeld 97">
            <a:extLst>
              <a:ext uri="{FF2B5EF4-FFF2-40B4-BE49-F238E27FC236}">
                <a16:creationId xmlns:a16="http://schemas.microsoft.com/office/drawing/2014/main" id="{C41227AE-84BC-085F-0161-48B025217DC9}"/>
              </a:ext>
            </a:extLst>
          </p:cNvPr>
          <p:cNvSpPr txBox="1"/>
          <p:nvPr/>
        </p:nvSpPr>
        <p:spPr>
          <a:xfrm>
            <a:off x="365760" y="1447800"/>
            <a:ext cx="38100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de-DE" sz="850" b="1">
                <a:solidFill>
                  <a:srgbClr val="4A5C66"/>
                </a:solidFill>
                <a:latin typeface="Calibri" panose="020F0502020204030204" pitchFamily="34" charset="0"/>
              </a:rPr>
              <a:t>Navigationsfluss in geprüfter Reihenfolge</a:t>
            </a:r>
          </a:p>
        </p:txBody>
      </p:sp>
      <p:sp>
        <p:nvSpPr>
          <p:cNvPr id="99" name="Textfeld 98">
            <a:extLst>
              <a:ext uri="{FF2B5EF4-FFF2-40B4-BE49-F238E27FC236}">
                <a16:creationId xmlns:a16="http://schemas.microsoft.com/office/drawing/2014/main" id="{25D3C555-0FA6-CB4E-DE0D-73A2417714CA}"/>
              </a:ext>
            </a:extLst>
          </p:cNvPr>
          <p:cNvSpPr txBox="1"/>
          <p:nvPr/>
        </p:nvSpPr>
        <p:spPr>
          <a:xfrm>
            <a:off x="4714240" y="1447800"/>
            <a:ext cx="40640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r"/>
            <a:r>
              <a:rPr lang="de-DE" sz="850">
                <a:solidFill>
                  <a:srgbClr val="5B6A70"/>
                </a:solidFill>
                <a:latin typeface="Calibri" panose="020F0502020204030204" pitchFamily="34" charset="0"/>
              </a:rPr>
              <a:t>Statuslogik: offen → gespeichert → endgültig entschieden</a:t>
            </a:r>
          </a:p>
        </p:txBody>
      </p:sp>
      <p:sp>
        <p:nvSpPr>
          <p:cNvPr id="100" name="Rounded Rectangle 12">
            <a:extLst>
              <a:ext uri="{FF2B5EF4-FFF2-40B4-BE49-F238E27FC236}">
                <a16:creationId xmlns:a16="http://schemas.microsoft.com/office/drawing/2014/main" id="{23042751-F58A-0B91-411D-7723854BB7A5}"/>
              </a:ext>
            </a:extLst>
          </p:cNvPr>
          <p:cNvSpPr/>
          <p:nvPr/>
        </p:nvSpPr>
        <p:spPr>
          <a:xfrm>
            <a:off x="365956" y="1663700"/>
            <a:ext cx="1583370" cy="1224327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9D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4"/>
          </a:p>
        </p:txBody>
      </p:sp>
      <p:sp>
        <p:nvSpPr>
          <p:cNvPr id="101" name="Rounded Rectangle 13">
            <a:extLst>
              <a:ext uri="{FF2B5EF4-FFF2-40B4-BE49-F238E27FC236}">
                <a16:creationId xmlns:a16="http://schemas.microsoft.com/office/drawing/2014/main" id="{2DCF8264-C456-AFBB-05C7-64C557408332}"/>
              </a:ext>
            </a:extLst>
          </p:cNvPr>
          <p:cNvSpPr/>
          <p:nvPr/>
        </p:nvSpPr>
        <p:spPr>
          <a:xfrm>
            <a:off x="407225" y="1704969"/>
            <a:ext cx="1500832" cy="797876"/>
          </a:xfrm>
          <a:prstGeom prst="roundRect">
            <a:avLst/>
          </a:prstGeom>
          <a:solidFill>
            <a:srgbClr val="FAFBFA"/>
          </a:solidFill>
          <a:ln w="10160">
            <a:solidFill>
              <a:srgbClr val="C9D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4"/>
          </a:p>
        </p:txBody>
      </p:sp>
      <p:pic>
        <p:nvPicPr>
          <p:cNvPr id="102" name="Picture 14" descr="b3275806-080e-448a-90ff-000e0a6275aa.jpeg">
            <a:extLst>
              <a:ext uri="{FF2B5EF4-FFF2-40B4-BE49-F238E27FC236}">
                <a16:creationId xmlns:a16="http://schemas.microsoft.com/office/drawing/2014/main" id="{779B9682-B09B-752A-D56E-2498026DBA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419" y="1711847"/>
            <a:ext cx="1392443" cy="784119"/>
          </a:xfrm>
          <a:prstGeom prst="rect">
            <a:avLst/>
          </a:prstGeom>
        </p:spPr>
      </p:pic>
      <p:sp>
        <p:nvSpPr>
          <p:cNvPr id="103" name="Rounded Rectangle 15">
            <a:extLst>
              <a:ext uri="{FF2B5EF4-FFF2-40B4-BE49-F238E27FC236}">
                <a16:creationId xmlns:a16="http://schemas.microsoft.com/office/drawing/2014/main" id="{F7A72F97-D82C-7EA9-B456-1C7A289A1D6F}"/>
              </a:ext>
            </a:extLst>
          </p:cNvPr>
          <p:cNvSpPr/>
          <p:nvPr/>
        </p:nvSpPr>
        <p:spPr>
          <a:xfrm>
            <a:off x="420982" y="2550993"/>
            <a:ext cx="240738" cy="151321"/>
          </a:xfrm>
          <a:prstGeom prst="roundRect">
            <a:avLst/>
          </a:prstGeom>
          <a:solidFill>
            <a:srgbClr val="4A5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4"/>
          </a:p>
        </p:txBody>
      </p:sp>
      <p:sp>
        <p:nvSpPr>
          <p:cNvPr id="104" name="TextBox 16">
            <a:extLst>
              <a:ext uri="{FF2B5EF4-FFF2-40B4-BE49-F238E27FC236}">
                <a16:creationId xmlns:a16="http://schemas.microsoft.com/office/drawing/2014/main" id="{8AE01914-992E-D932-DC15-FB71EFF62824}"/>
              </a:ext>
            </a:extLst>
          </p:cNvPr>
          <p:cNvSpPr txBox="1"/>
          <p:nvPr/>
        </p:nvSpPr>
        <p:spPr>
          <a:xfrm>
            <a:off x="450044" y="2519702"/>
            <a:ext cx="287258" cy="21390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90" b="1">
                <a:solidFill>
                  <a:srgbClr val="FFFFFF"/>
                </a:solidFill>
                <a:latin typeface="Calibri" panose="020F0502020204030204" pitchFamily="34" charset="0"/>
              </a:rPr>
              <a:t>01</a:t>
            </a:r>
          </a:p>
        </p:txBody>
      </p:sp>
      <p:sp>
        <p:nvSpPr>
          <p:cNvPr id="105" name="TextBox 17">
            <a:extLst>
              <a:ext uri="{FF2B5EF4-FFF2-40B4-BE49-F238E27FC236}">
                <a16:creationId xmlns:a16="http://schemas.microsoft.com/office/drawing/2014/main" id="{F0EABE6F-AECC-1B91-A957-0E2CA64C2CD8}"/>
              </a:ext>
            </a:extLst>
          </p:cNvPr>
          <p:cNvSpPr txBox="1"/>
          <p:nvPr/>
        </p:nvSpPr>
        <p:spPr>
          <a:xfrm>
            <a:off x="807633" y="2499114"/>
            <a:ext cx="280398" cy="20005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1">
                <a:solidFill>
                  <a:srgbClr val="2F3E46"/>
                </a:solidFill>
                <a:latin typeface="Calibri" panose="020F0502020204030204" pitchFamily="34" charset="0"/>
              </a:rPr>
              <a:t>Login</a:t>
            </a:r>
          </a:p>
        </p:txBody>
      </p:sp>
      <p:sp>
        <p:nvSpPr>
          <p:cNvPr id="106" name="TextBox 18">
            <a:extLst>
              <a:ext uri="{FF2B5EF4-FFF2-40B4-BE49-F238E27FC236}">
                <a16:creationId xmlns:a16="http://schemas.microsoft.com/office/drawing/2014/main" id="{1CCBFA27-DADB-6F64-35A6-9945540E5CFF}"/>
              </a:ext>
            </a:extLst>
          </p:cNvPr>
          <p:cNvSpPr txBox="1"/>
          <p:nvPr/>
        </p:nvSpPr>
        <p:spPr>
          <a:xfrm>
            <a:off x="807634" y="2652854"/>
            <a:ext cx="746871" cy="1814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579">
                <a:solidFill>
                  <a:srgbClr val="5B6A70"/>
                </a:solidFill>
                <a:latin typeface="Calibri" panose="020F0502020204030204" pitchFamily="34" charset="0"/>
              </a:rPr>
              <a:t>Rolle &amp; Zugriff prüfen</a:t>
            </a:r>
          </a:p>
        </p:txBody>
      </p:sp>
      <p:sp>
        <p:nvSpPr>
          <p:cNvPr id="107" name="Rounded Rectangle 19">
            <a:extLst>
              <a:ext uri="{FF2B5EF4-FFF2-40B4-BE49-F238E27FC236}">
                <a16:creationId xmlns:a16="http://schemas.microsoft.com/office/drawing/2014/main" id="{A2FE5EBE-A535-1AC6-45D0-F84B06706CF6}"/>
              </a:ext>
            </a:extLst>
          </p:cNvPr>
          <p:cNvSpPr/>
          <p:nvPr/>
        </p:nvSpPr>
        <p:spPr>
          <a:xfrm>
            <a:off x="2073134" y="1663700"/>
            <a:ext cx="1583370" cy="1224327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9D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4"/>
          </a:p>
        </p:txBody>
      </p:sp>
      <p:sp>
        <p:nvSpPr>
          <p:cNvPr id="108" name="Rounded Rectangle 20">
            <a:extLst>
              <a:ext uri="{FF2B5EF4-FFF2-40B4-BE49-F238E27FC236}">
                <a16:creationId xmlns:a16="http://schemas.microsoft.com/office/drawing/2014/main" id="{1E653F15-760F-363F-D506-7F7D0EBFB4CA}"/>
              </a:ext>
            </a:extLst>
          </p:cNvPr>
          <p:cNvSpPr/>
          <p:nvPr/>
        </p:nvSpPr>
        <p:spPr>
          <a:xfrm>
            <a:off x="2114403" y="1704969"/>
            <a:ext cx="1500832" cy="797876"/>
          </a:xfrm>
          <a:prstGeom prst="roundRect">
            <a:avLst/>
          </a:prstGeom>
          <a:solidFill>
            <a:srgbClr val="FAFBFA"/>
          </a:solidFill>
          <a:ln w="10160">
            <a:solidFill>
              <a:srgbClr val="C9D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4"/>
          </a:p>
        </p:txBody>
      </p:sp>
      <p:pic>
        <p:nvPicPr>
          <p:cNvPr id="109" name="Picture 21" descr="454f76dc-4943-4231-818d-16fdba9fca65.jpeg">
            <a:extLst>
              <a:ext uri="{FF2B5EF4-FFF2-40B4-BE49-F238E27FC236}">
                <a16:creationId xmlns:a16="http://schemas.microsoft.com/office/drawing/2014/main" id="{5A0F3A13-EA28-9133-3D9A-D9377069E6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1573" y="1711847"/>
            <a:ext cx="1406492" cy="784119"/>
          </a:xfrm>
          <a:prstGeom prst="rect">
            <a:avLst/>
          </a:prstGeom>
        </p:spPr>
      </p:pic>
      <p:sp>
        <p:nvSpPr>
          <p:cNvPr id="110" name="Rounded Rectangle 22">
            <a:extLst>
              <a:ext uri="{FF2B5EF4-FFF2-40B4-BE49-F238E27FC236}">
                <a16:creationId xmlns:a16="http://schemas.microsoft.com/office/drawing/2014/main" id="{5ECFF45B-18B6-87BE-BC80-11F831A3305D}"/>
              </a:ext>
            </a:extLst>
          </p:cNvPr>
          <p:cNvSpPr/>
          <p:nvPr/>
        </p:nvSpPr>
        <p:spPr>
          <a:xfrm>
            <a:off x="2128160" y="2550993"/>
            <a:ext cx="240738" cy="151321"/>
          </a:xfrm>
          <a:prstGeom prst="roundRect">
            <a:avLst/>
          </a:prstGeom>
          <a:solidFill>
            <a:srgbClr val="4A5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4"/>
          </a:p>
        </p:txBody>
      </p:sp>
      <p:sp>
        <p:nvSpPr>
          <p:cNvPr id="111" name="TextBox 23">
            <a:extLst>
              <a:ext uri="{FF2B5EF4-FFF2-40B4-BE49-F238E27FC236}">
                <a16:creationId xmlns:a16="http://schemas.microsoft.com/office/drawing/2014/main" id="{0B77F97E-7A9B-4C10-2017-5096A296854D}"/>
              </a:ext>
            </a:extLst>
          </p:cNvPr>
          <p:cNvSpPr txBox="1"/>
          <p:nvPr/>
        </p:nvSpPr>
        <p:spPr>
          <a:xfrm>
            <a:off x="2157223" y="2519702"/>
            <a:ext cx="287258" cy="21390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90" b="1">
                <a:solidFill>
                  <a:srgbClr val="FFFFFF"/>
                </a:solidFill>
                <a:latin typeface="Calibri" panose="020F0502020204030204" pitchFamily="34" charset="0"/>
              </a:rPr>
              <a:t>02</a:t>
            </a:r>
          </a:p>
        </p:txBody>
      </p:sp>
      <p:sp>
        <p:nvSpPr>
          <p:cNvPr id="112" name="TextBox 24">
            <a:extLst>
              <a:ext uri="{FF2B5EF4-FFF2-40B4-BE49-F238E27FC236}">
                <a16:creationId xmlns:a16="http://schemas.microsoft.com/office/drawing/2014/main" id="{BC5CE550-F548-159B-0FE5-9FEB6CC9125A}"/>
              </a:ext>
            </a:extLst>
          </p:cNvPr>
          <p:cNvSpPr txBox="1"/>
          <p:nvPr/>
        </p:nvSpPr>
        <p:spPr>
          <a:xfrm>
            <a:off x="2514813" y="2499114"/>
            <a:ext cx="673133" cy="20005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1">
                <a:solidFill>
                  <a:srgbClr val="2F3E46"/>
                </a:solidFill>
                <a:latin typeface="Calibri" panose="020F0502020204030204" pitchFamily="34" charset="0"/>
              </a:rPr>
              <a:t>Meine Themen</a:t>
            </a:r>
          </a:p>
        </p:txBody>
      </p:sp>
      <p:sp>
        <p:nvSpPr>
          <p:cNvPr id="113" name="TextBox 25">
            <a:extLst>
              <a:ext uri="{FF2B5EF4-FFF2-40B4-BE49-F238E27FC236}">
                <a16:creationId xmlns:a16="http://schemas.microsoft.com/office/drawing/2014/main" id="{E1BA9FC4-3E29-F0FF-E7F7-8FC15CDDEF5A}"/>
              </a:ext>
            </a:extLst>
          </p:cNvPr>
          <p:cNvSpPr txBox="1"/>
          <p:nvPr/>
        </p:nvSpPr>
        <p:spPr>
          <a:xfrm>
            <a:off x="2514813" y="2652854"/>
            <a:ext cx="791755" cy="1814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579">
                <a:solidFill>
                  <a:srgbClr val="5B6A70"/>
                </a:solidFill>
                <a:latin typeface="Calibri" panose="020F0502020204030204" pitchFamily="34" charset="0"/>
              </a:rPr>
              <a:t>zugeordnete Vorgänge</a:t>
            </a:r>
          </a:p>
        </p:txBody>
      </p:sp>
      <p:sp>
        <p:nvSpPr>
          <p:cNvPr id="114" name="Rounded Rectangle 26">
            <a:extLst>
              <a:ext uri="{FF2B5EF4-FFF2-40B4-BE49-F238E27FC236}">
                <a16:creationId xmlns:a16="http://schemas.microsoft.com/office/drawing/2014/main" id="{10DDFF64-EFBE-561C-2BAA-1D4DA0A6BBB7}"/>
              </a:ext>
            </a:extLst>
          </p:cNvPr>
          <p:cNvSpPr/>
          <p:nvPr/>
        </p:nvSpPr>
        <p:spPr>
          <a:xfrm>
            <a:off x="3780314" y="1663700"/>
            <a:ext cx="1583370" cy="1224327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9D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4"/>
          </a:p>
        </p:txBody>
      </p:sp>
      <p:sp>
        <p:nvSpPr>
          <p:cNvPr id="115" name="Rounded Rectangle 27">
            <a:extLst>
              <a:ext uri="{FF2B5EF4-FFF2-40B4-BE49-F238E27FC236}">
                <a16:creationId xmlns:a16="http://schemas.microsoft.com/office/drawing/2014/main" id="{2D414858-5B86-6C67-F258-618EF3BE4808}"/>
              </a:ext>
            </a:extLst>
          </p:cNvPr>
          <p:cNvSpPr/>
          <p:nvPr/>
        </p:nvSpPr>
        <p:spPr>
          <a:xfrm>
            <a:off x="3821583" y="1704969"/>
            <a:ext cx="1500832" cy="797876"/>
          </a:xfrm>
          <a:prstGeom prst="roundRect">
            <a:avLst/>
          </a:prstGeom>
          <a:solidFill>
            <a:srgbClr val="FAFBFA"/>
          </a:solidFill>
          <a:ln w="10160">
            <a:solidFill>
              <a:srgbClr val="C9D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4"/>
          </a:p>
        </p:txBody>
      </p:sp>
      <p:pic>
        <p:nvPicPr>
          <p:cNvPr id="116" name="Picture 28" descr="fddcefb4-e5a2-4409-9778-24ad301381d1.jpeg">
            <a:extLst>
              <a:ext uri="{FF2B5EF4-FFF2-40B4-BE49-F238E27FC236}">
                <a16:creationId xmlns:a16="http://schemas.microsoft.com/office/drawing/2014/main" id="{B7F74D20-9A7C-3F04-FBDE-40DDD3A475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8753" y="1711847"/>
            <a:ext cx="1406492" cy="784119"/>
          </a:xfrm>
          <a:prstGeom prst="rect">
            <a:avLst/>
          </a:prstGeom>
        </p:spPr>
      </p:pic>
      <p:sp>
        <p:nvSpPr>
          <p:cNvPr id="117" name="Rounded Rectangle 29">
            <a:extLst>
              <a:ext uri="{FF2B5EF4-FFF2-40B4-BE49-F238E27FC236}">
                <a16:creationId xmlns:a16="http://schemas.microsoft.com/office/drawing/2014/main" id="{EBBDD757-9B2C-458E-7053-CAFEAE8679F5}"/>
              </a:ext>
            </a:extLst>
          </p:cNvPr>
          <p:cNvSpPr/>
          <p:nvPr/>
        </p:nvSpPr>
        <p:spPr>
          <a:xfrm>
            <a:off x="3835340" y="2550993"/>
            <a:ext cx="240738" cy="151321"/>
          </a:xfrm>
          <a:prstGeom prst="roundRect">
            <a:avLst/>
          </a:prstGeom>
          <a:solidFill>
            <a:srgbClr val="4A5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4"/>
          </a:p>
        </p:txBody>
      </p:sp>
      <p:sp>
        <p:nvSpPr>
          <p:cNvPr id="118" name="TextBox 30">
            <a:extLst>
              <a:ext uri="{FF2B5EF4-FFF2-40B4-BE49-F238E27FC236}">
                <a16:creationId xmlns:a16="http://schemas.microsoft.com/office/drawing/2014/main" id="{39181BD4-4E37-1297-6408-14274F0EB645}"/>
              </a:ext>
            </a:extLst>
          </p:cNvPr>
          <p:cNvSpPr txBox="1"/>
          <p:nvPr/>
        </p:nvSpPr>
        <p:spPr>
          <a:xfrm>
            <a:off x="3864402" y="2519702"/>
            <a:ext cx="287258" cy="21390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90" b="1">
                <a:solidFill>
                  <a:srgbClr val="FFFFFF"/>
                </a:solidFill>
                <a:latin typeface="Calibri" panose="020F0502020204030204" pitchFamily="34" charset="0"/>
              </a:rPr>
              <a:t>03</a:t>
            </a:r>
          </a:p>
        </p:txBody>
      </p:sp>
      <p:sp>
        <p:nvSpPr>
          <p:cNvPr id="119" name="TextBox 31">
            <a:extLst>
              <a:ext uri="{FF2B5EF4-FFF2-40B4-BE49-F238E27FC236}">
                <a16:creationId xmlns:a16="http://schemas.microsoft.com/office/drawing/2014/main" id="{40D370AB-CEF7-BFC6-BE23-86ED36C41560}"/>
              </a:ext>
            </a:extLst>
          </p:cNvPr>
          <p:cNvSpPr txBox="1"/>
          <p:nvPr/>
        </p:nvSpPr>
        <p:spPr>
          <a:xfrm>
            <a:off x="4221991" y="2499114"/>
            <a:ext cx="597792" cy="20005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1" dirty="0" err="1">
                <a:solidFill>
                  <a:srgbClr val="2F3E46"/>
                </a:solidFill>
                <a:latin typeface="Calibri" panose="020F0502020204030204" pitchFamily="34" charset="0"/>
              </a:rPr>
              <a:t>Zugriffsregeln</a:t>
            </a:r>
            <a:endParaRPr sz="700" b="1" dirty="0">
              <a:solidFill>
                <a:srgbClr val="2F3E46"/>
              </a:solidFill>
              <a:latin typeface="Calibri" panose="020F0502020204030204" pitchFamily="34" charset="0"/>
            </a:endParaRPr>
          </a:p>
        </p:txBody>
      </p:sp>
      <p:sp>
        <p:nvSpPr>
          <p:cNvPr id="120" name="TextBox 32">
            <a:extLst>
              <a:ext uri="{FF2B5EF4-FFF2-40B4-BE49-F238E27FC236}">
                <a16:creationId xmlns:a16="http://schemas.microsoft.com/office/drawing/2014/main" id="{82A7AFD2-8EC1-676D-FA0C-0273BA5FC4BB}"/>
              </a:ext>
            </a:extLst>
          </p:cNvPr>
          <p:cNvSpPr txBox="1"/>
          <p:nvPr/>
        </p:nvSpPr>
        <p:spPr>
          <a:xfrm>
            <a:off x="4221992" y="2652854"/>
            <a:ext cx="854273" cy="1814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579">
                <a:solidFill>
                  <a:srgbClr val="5B6A70"/>
                </a:solidFill>
                <a:latin typeface="Calibri" panose="020F0502020204030204" pitchFamily="34" charset="0"/>
              </a:rPr>
              <a:t>Voraussetzungen sichtbar</a:t>
            </a:r>
          </a:p>
        </p:txBody>
      </p:sp>
      <p:sp>
        <p:nvSpPr>
          <p:cNvPr id="121" name="Rounded Rectangle 33">
            <a:extLst>
              <a:ext uri="{FF2B5EF4-FFF2-40B4-BE49-F238E27FC236}">
                <a16:creationId xmlns:a16="http://schemas.microsoft.com/office/drawing/2014/main" id="{6E0D03AA-A8D1-95D9-F3B1-A8112277C963}"/>
              </a:ext>
            </a:extLst>
          </p:cNvPr>
          <p:cNvSpPr/>
          <p:nvPr/>
        </p:nvSpPr>
        <p:spPr>
          <a:xfrm>
            <a:off x="5487493" y="1663700"/>
            <a:ext cx="1583370" cy="1224327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9D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4"/>
          </a:p>
        </p:txBody>
      </p:sp>
      <p:sp>
        <p:nvSpPr>
          <p:cNvPr id="122" name="Rounded Rectangle 34">
            <a:extLst>
              <a:ext uri="{FF2B5EF4-FFF2-40B4-BE49-F238E27FC236}">
                <a16:creationId xmlns:a16="http://schemas.microsoft.com/office/drawing/2014/main" id="{92ADA9FB-BCF1-2878-704E-DE50928435E6}"/>
              </a:ext>
            </a:extLst>
          </p:cNvPr>
          <p:cNvSpPr/>
          <p:nvPr/>
        </p:nvSpPr>
        <p:spPr>
          <a:xfrm>
            <a:off x="5528762" y="1704969"/>
            <a:ext cx="1500832" cy="797876"/>
          </a:xfrm>
          <a:prstGeom prst="roundRect">
            <a:avLst/>
          </a:prstGeom>
          <a:solidFill>
            <a:srgbClr val="FAFBFA"/>
          </a:solidFill>
          <a:ln w="10160">
            <a:solidFill>
              <a:srgbClr val="C9D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4"/>
          </a:p>
        </p:txBody>
      </p:sp>
      <p:pic>
        <p:nvPicPr>
          <p:cNvPr id="123" name="Picture 35" descr="1c283166-d105-455e-82f1-bddceabac86c.jpeg">
            <a:extLst>
              <a:ext uri="{FF2B5EF4-FFF2-40B4-BE49-F238E27FC236}">
                <a16:creationId xmlns:a16="http://schemas.microsoft.com/office/drawing/2014/main" id="{F16B824B-BC93-06DE-D059-9ED23AF307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82958" y="1711847"/>
            <a:ext cx="1392443" cy="784119"/>
          </a:xfrm>
          <a:prstGeom prst="rect">
            <a:avLst/>
          </a:prstGeom>
        </p:spPr>
      </p:pic>
      <p:sp>
        <p:nvSpPr>
          <p:cNvPr id="124" name="Rounded Rectangle 36">
            <a:extLst>
              <a:ext uri="{FF2B5EF4-FFF2-40B4-BE49-F238E27FC236}">
                <a16:creationId xmlns:a16="http://schemas.microsoft.com/office/drawing/2014/main" id="{FFE819E4-438D-BC92-D3C0-5D934D784C54}"/>
              </a:ext>
            </a:extLst>
          </p:cNvPr>
          <p:cNvSpPr/>
          <p:nvPr/>
        </p:nvSpPr>
        <p:spPr>
          <a:xfrm>
            <a:off x="5542519" y="2550993"/>
            <a:ext cx="240738" cy="151321"/>
          </a:xfrm>
          <a:prstGeom prst="roundRect">
            <a:avLst/>
          </a:prstGeom>
          <a:solidFill>
            <a:srgbClr val="4A5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4"/>
          </a:p>
        </p:txBody>
      </p:sp>
      <p:sp>
        <p:nvSpPr>
          <p:cNvPr id="125" name="TextBox 37">
            <a:extLst>
              <a:ext uri="{FF2B5EF4-FFF2-40B4-BE49-F238E27FC236}">
                <a16:creationId xmlns:a16="http://schemas.microsoft.com/office/drawing/2014/main" id="{1B40585D-4C7F-50DF-9374-07AE5AE30194}"/>
              </a:ext>
            </a:extLst>
          </p:cNvPr>
          <p:cNvSpPr txBox="1"/>
          <p:nvPr/>
        </p:nvSpPr>
        <p:spPr>
          <a:xfrm>
            <a:off x="5571582" y="2519702"/>
            <a:ext cx="287258" cy="21390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90" b="1">
                <a:solidFill>
                  <a:srgbClr val="FFFFFF"/>
                </a:solidFill>
                <a:latin typeface="Calibri" panose="020F0502020204030204" pitchFamily="34" charset="0"/>
              </a:rPr>
              <a:t>04</a:t>
            </a:r>
          </a:p>
        </p:txBody>
      </p:sp>
      <p:sp>
        <p:nvSpPr>
          <p:cNvPr id="126" name="TextBox 38">
            <a:extLst>
              <a:ext uri="{FF2B5EF4-FFF2-40B4-BE49-F238E27FC236}">
                <a16:creationId xmlns:a16="http://schemas.microsoft.com/office/drawing/2014/main" id="{15CD3A9F-3AA3-C4E3-E69B-3D85AED64977}"/>
              </a:ext>
            </a:extLst>
          </p:cNvPr>
          <p:cNvSpPr txBox="1"/>
          <p:nvPr/>
        </p:nvSpPr>
        <p:spPr>
          <a:xfrm>
            <a:off x="5929171" y="2499114"/>
            <a:ext cx="607410" cy="20005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1">
                <a:solidFill>
                  <a:srgbClr val="2F3E46"/>
                </a:solidFill>
                <a:latin typeface="Calibri" panose="020F0502020204030204" pitchFamily="34" charset="0"/>
              </a:rPr>
              <a:t>Thema prüfen</a:t>
            </a:r>
          </a:p>
        </p:txBody>
      </p:sp>
      <p:sp>
        <p:nvSpPr>
          <p:cNvPr id="127" name="TextBox 39">
            <a:extLst>
              <a:ext uri="{FF2B5EF4-FFF2-40B4-BE49-F238E27FC236}">
                <a16:creationId xmlns:a16="http://schemas.microsoft.com/office/drawing/2014/main" id="{019E551B-74F2-C419-A255-DCF52449A127}"/>
              </a:ext>
            </a:extLst>
          </p:cNvPr>
          <p:cNvSpPr txBox="1"/>
          <p:nvPr/>
        </p:nvSpPr>
        <p:spPr>
          <a:xfrm>
            <a:off x="5929171" y="2652854"/>
            <a:ext cx="685957" cy="1814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579">
                <a:solidFill>
                  <a:srgbClr val="5B6A70"/>
                </a:solidFill>
                <a:latin typeface="Calibri" panose="020F0502020204030204" pitchFamily="34" charset="0"/>
              </a:rPr>
              <a:t>Details + Bewertung</a:t>
            </a:r>
          </a:p>
        </p:txBody>
      </p:sp>
      <p:sp>
        <p:nvSpPr>
          <p:cNvPr id="128" name="Rounded Rectangle 40">
            <a:extLst>
              <a:ext uri="{FF2B5EF4-FFF2-40B4-BE49-F238E27FC236}">
                <a16:creationId xmlns:a16="http://schemas.microsoft.com/office/drawing/2014/main" id="{D48659B4-1E06-4D11-C2F0-4868017F66A3}"/>
              </a:ext>
            </a:extLst>
          </p:cNvPr>
          <p:cNvSpPr/>
          <p:nvPr/>
        </p:nvSpPr>
        <p:spPr>
          <a:xfrm>
            <a:off x="7194674" y="1663700"/>
            <a:ext cx="1583370" cy="1224327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9D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4"/>
          </a:p>
        </p:txBody>
      </p:sp>
      <p:sp>
        <p:nvSpPr>
          <p:cNvPr id="129" name="Rounded Rectangle 41">
            <a:extLst>
              <a:ext uri="{FF2B5EF4-FFF2-40B4-BE49-F238E27FC236}">
                <a16:creationId xmlns:a16="http://schemas.microsoft.com/office/drawing/2014/main" id="{593318BB-9C61-034B-321E-BBCFA700D464}"/>
              </a:ext>
            </a:extLst>
          </p:cNvPr>
          <p:cNvSpPr/>
          <p:nvPr/>
        </p:nvSpPr>
        <p:spPr>
          <a:xfrm>
            <a:off x="7235943" y="1704969"/>
            <a:ext cx="1500832" cy="797876"/>
          </a:xfrm>
          <a:prstGeom prst="roundRect">
            <a:avLst/>
          </a:prstGeom>
          <a:solidFill>
            <a:srgbClr val="FAFBFA"/>
          </a:solidFill>
          <a:ln w="10160">
            <a:solidFill>
              <a:srgbClr val="C9D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4"/>
          </a:p>
        </p:txBody>
      </p:sp>
      <p:pic>
        <p:nvPicPr>
          <p:cNvPr id="130" name="Picture 42" descr="6db8887c-4bd6-40f0-a1ee-acf24379d41e.jpeg">
            <a:extLst>
              <a:ext uri="{FF2B5EF4-FFF2-40B4-BE49-F238E27FC236}">
                <a16:creationId xmlns:a16="http://schemas.microsoft.com/office/drawing/2014/main" id="{DFF5CDF6-25E1-29EF-C1A2-46DBA797816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87033" y="1711847"/>
            <a:ext cx="1398652" cy="784119"/>
          </a:xfrm>
          <a:prstGeom prst="rect">
            <a:avLst/>
          </a:prstGeom>
        </p:spPr>
      </p:pic>
      <p:sp>
        <p:nvSpPr>
          <p:cNvPr id="131" name="Rounded Rectangle 43">
            <a:extLst>
              <a:ext uri="{FF2B5EF4-FFF2-40B4-BE49-F238E27FC236}">
                <a16:creationId xmlns:a16="http://schemas.microsoft.com/office/drawing/2014/main" id="{68159902-B539-CC20-D2FB-2EE7303437A8}"/>
              </a:ext>
            </a:extLst>
          </p:cNvPr>
          <p:cNvSpPr/>
          <p:nvPr/>
        </p:nvSpPr>
        <p:spPr>
          <a:xfrm>
            <a:off x="7249699" y="2550993"/>
            <a:ext cx="240738" cy="151321"/>
          </a:xfrm>
          <a:prstGeom prst="roundRect">
            <a:avLst/>
          </a:prstGeom>
          <a:solidFill>
            <a:srgbClr val="4A5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4"/>
          </a:p>
        </p:txBody>
      </p:sp>
      <p:sp>
        <p:nvSpPr>
          <p:cNvPr id="132" name="TextBox 44">
            <a:extLst>
              <a:ext uri="{FF2B5EF4-FFF2-40B4-BE49-F238E27FC236}">
                <a16:creationId xmlns:a16="http://schemas.microsoft.com/office/drawing/2014/main" id="{158DDD17-12E3-F88F-C1E6-55735BBC17B4}"/>
              </a:ext>
            </a:extLst>
          </p:cNvPr>
          <p:cNvSpPr txBox="1"/>
          <p:nvPr/>
        </p:nvSpPr>
        <p:spPr>
          <a:xfrm>
            <a:off x="7278762" y="2519702"/>
            <a:ext cx="287258" cy="21390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90" b="1">
                <a:solidFill>
                  <a:srgbClr val="FFFFFF"/>
                </a:solidFill>
                <a:latin typeface="Calibri" panose="020F0502020204030204" pitchFamily="34" charset="0"/>
              </a:rPr>
              <a:t>05</a:t>
            </a:r>
          </a:p>
        </p:txBody>
      </p:sp>
      <p:sp>
        <p:nvSpPr>
          <p:cNvPr id="133" name="TextBox 45">
            <a:extLst>
              <a:ext uri="{FF2B5EF4-FFF2-40B4-BE49-F238E27FC236}">
                <a16:creationId xmlns:a16="http://schemas.microsoft.com/office/drawing/2014/main" id="{09598F83-2C87-9AF2-C107-DB1CF626B8CF}"/>
              </a:ext>
            </a:extLst>
          </p:cNvPr>
          <p:cNvSpPr txBox="1"/>
          <p:nvPr/>
        </p:nvSpPr>
        <p:spPr>
          <a:xfrm>
            <a:off x="7636352" y="2499114"/>
            <a:ext cx="564129" cy="20005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1">
                <a:solidFill>
                  <a:srgbClr val="2F3E46"/>
                </a:solidFill>
                <a:latin typeface="Calibri" panose="020F0502020204030204" pitchFamily="34" charset="0"/>
              </a:rPr>
              <a:t>Einschätzung</a:t>
            </a:r>
          </a:p>
        </p:txBody>
      </p:sp>
      <p:sp>
        <p:nvSpPr>
          <p:cNvPr id="134" name="TextBox 46">
            <a:extLst>
              <a:ext uri="{FF2B5EF4-FFF2-40B4-BE49-F238E27FC236}">
                <a16:creationId xmlns:a16="http://schemas.microsoft.com/office/drawing/2014/main" id="{756B76FD-77E3-DEB4-6B67-E3744FB827E2}"/>
              </a:ext>
            </a:extLst>
          </p:cNvPr>
          <p:cNvSpPr txBox="1"/>
          <p:nvPr/>
        </p:nvSpPr>
        <p:spPr>
          <a:xfrm>
            <a:off x="7636352" y="2652854"/>
            <a:ext cx="887935" cy="1814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579">
                <a:solidFill>
                  <a:srgbClr val="5B6A70"/>
                </a:solidFill>
                <a:latin typeface="Calibri" panose="020F0502020204030204" pitchFamily="34" charset="0"/>
              </a:rPr>
              <a:t>Bewertung + Rückmeldung</a:t>
            </a:r>
          </a:p>
        </p:txBody>
      </p:sp>
      <p:sp>
        <p:nvSpPr>
          <p:cNvPr id="135" name="Rounded Rectangle 47">
            <a:extLst>
              <a:ext uri="{FF2B5EF4-FFF2-40B4-BE49-F238E27FC236}">
                <a16:creationId xmlns:a16="http://schemas.microsoft.com/office/drawing/2014/main" id="{3091B4A1-EEA8-0777-CC84-946B345B647C}"/>
              </a:ext>
            </a:extLst>
          </p:cNvPr>
          <p:cNvSpPr/>
          <p:nvPr/>
        </p:nvSpPr>
        <p:spPr>
          <a:xfrm>
            <a:off x="365956" y="3197547"/>
            <a:ext cx="1583370" cy="1224327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9D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4"/>
          </a:p>
        </p:txBody>
      </p:sp>
      <p:sp>
        <p:nvSpPr>
          <p:cNvPr id="136" name="Rounded Rectangle 48">
            <a:extLst>
              <a:ext uri="{FF2B5EF4-FFF2-40B4-BE49-F238E27FC236}">
                <a16:creationId xmlns:a16="http://schemas.microsoft.com/office/drawing/2014/main" id="{BEC24FDF-7AA2-4A90-E3FE-7AA311B738B2}"/>
              </a:ext>
            </a:extLst>
          </p:cNvPr>
          <p:cNvSpPr/>
          <p:nvPr/>
        </p:nvSpPr>
        <p:spPr>
          <a:xfrm>
            <a:off x="407225" y="3238817"/>
            <a:ext cx="1500832" cy="797876"/>
          </a:xfrm>
          <a:prstGeom prst="roundRect">
            <a:avLst/>
          </a:prstGeom>
          <a:solidFill>
            <a:srgbClr val="FAFBFA"/>
          </a:solidFill>
          <a:ln w="10160">
            <a:solidFill>
              <a:srgbClr val="C9D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4"/>
          </a:p>
        </p:txBody>
      </p:sp>
      <p:pic>
        <p:nvPicPr>
          <p:cNvPr id="137" name="Picture 49" descr="15f75533-1650-4cdf-8af5-e1415dc0af41(1).jpeg">
            <a:extLst>
              <a:ext uri="{FF2B5EF4-FFF2-40B4-BE49-F238E27FC236}">
                <a16:creationId xmlns:a16="http://schemas.microsoft.com/office/drawing/2014/main" id="{165E0F8E-034D-B271-068D-A4EBF17CE9C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4395" y="3245695"/>
            <a:ext cx="1406492" cy="784119"/>
          </a:xfrm>
          <a:prstGeom prst="rect">
            <a:avLst/>
          </a:prstGeom>
        </p:spPr>
      </p:pic>
      <p:sp>
        <p:nvSpPr>
          <p:cNvPr id="138" name="Rounded Rectangle 50">
            <a:extLst>
              <a:ext uri="{FF2B5EF4-FFF2-40B4-BE49-F238E27FC236}">
                <a16:creationId xmlns:a16="http://schemas.microsoft.com/office/drawing/2014/main" id="{7EE3284D-9F5A-1E3E-92B4-C581596949B2}"/>
              </a:ext>
            </a:extLst>
          </p:cNvPr>
          <p:cNvSpPr/>
          <p:nvPr/>
        </p:nvSpPr>
        <p:spPr>
          <a:xfrm>
            <a:off x="420982" y="4084841"/>
            <a:ext cx="240738" cy="151321"/>
          </a:xfrm>
          <a:prstGeom prst="roundRect">
            <a:avLst/>
          </a:prstGeom>
          <a:solidFill>
            <a:srgbClr val="4A5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4"/>
          </a:p>
        </p:txBody>
      </p:sp>
      <p:sp>
        <p:nvSpPr>
          <p:cNvPr id="139" name="TextBox 51">
            <a:extLst>
              <a:ext uri="{FF2B5EF4-FFF2-40B4-BE49-F238E27FC236}">
                <a16:creationId xmlns:a16="http://schemas.microsoft.com/office/drawing/2014/main" id="{35CF68DA-9155-70BF-9A54-ADD9F446F634}"/>
              </a:ext>
            </a:extLst>
          </p:cNvPr>
          <p:cNvSpPr txBox="1"/>
          <p:nvPr/>
        </p:nvSpPr>
        <p:spPr>
          <a:xfrm>
            <a:off x="450044" y="4053550"/>
            <a:ext cx="287258" cy="21390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90" b="1">
                <a:solidFill>
                  <a:srgbClr val="FFFFFF"/>
                </a:solidFill>
                <a:latin typeface="Calibri" panose="020F0502020204030204" pitchFamily="34" charset="0"/>
              </a:rPr>
              <a:t>06</a:t>
            </a:r>
          </a:p>
        </p:txBody>
      </p:sp>
      <p:sp>
        <p:nvSpPr>
          <p:cNvPr id="140" name="TextBox 52">
            <a:extLst>
              <a:ext uri="{FF2B5EF4-FFF2-40B4-BE49-F238E27FC236}">
                <a16:creationId xmlns:a16="http://schemas.microsoft.com/office/drawing/2014/main" id="{FBFC4788-24D5-4B3E-8CF7-295D3F9C6220}"/>
              </a:ext>
            </a:extLst>
          </p:cNvPr>
          <p:cNvSpPr txBox="1"/>
          <p:nvPr/>
        </p:nvSpPr>
        <p:spPr>
          <a:xfrm>
            <a:off x="807633" y="4032961"/>
            <a:ext cx="557717" cy="20005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1">
                <a:solidFill>
                  <a:srgbClr val="2F3E46"/>
                </a:solidFill>
                <a:latin typeface="Calibri" panose="020F0502020204030204" pitchFamily="34" charset="0"/>
              </a:rPr>
              <a:t>Prüfkriterien</a:t>
            </a:r>
          </a:p>
        </p:txBody>
      </p:sp>
      <p:sp>
        <p:nvSpPr>
          <p:cNvPr id="141" name="TextBox 53">
            <a:extLst>
              <a:ext uri="{FF2B5EF4-FFF2-40B4-BE49-F238E27FC236}">
                <a16:creationId xmlns:a16="http://schemas.microsoft.com/office/drawing/2014/main" id="{9FE390A6-A9EE-6B54-94EF-0084DC12398A}"/>
              </a:ext>
            </a:extLst>
          </p:cNvPr>
          <p:cNvSpPr txBox="1"/>
          <p:nvPr/>
        </p:nvSpPr>
        <p:spPr>
          <a:xfrm>
            <a:off x="807634" y="4186702"/>
            <a:ext cx="785343" cy="1814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579">
                <a:solidFill>
                  <a:srgbClr val="5B6A70"/>
                </a:solidFill>
                <a:latin typeface="Calibri" panose="020F0502020204030204" pitchFamily="34" charset="0"/>
              </a:rPr>
              <a:t>Pflichtfelder bestätigen</a:t>
            </a:r>
          </a:p>
        </p:txBody>
      </p:sp>
      <p:sp>
        <p:nvSpPr>
          <p:cNvPr id="142" name="Rounded Rectangle 54">
            <a:extLst>
              <a:ext uri="{FF2B5EF4-FFF2-40B4-BE49-F238E27FC236}">
                <a16:creationId xmlns:a16="http://schemas.microsoft.com/office/drawing/2014/main" id="{378D7C86-0D39-FB66-5B1C-D2B20B9F8FA6}"/>
              </a:ext>
            </a:extLst>
          </p:cNvPr>
          <p:cNvSpPr/>
          <p:nvPr/>
        </p:nvSpPr>
        <p:spPr>
          <a:xfrm>
            <a:off x="2073134" y="3197547"/>
            <a:ext cx="1583370" cy="1224327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9D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4"/>
          </a:p>
        </p:txBody>
      </p:sp>
      <p:sp>
        <p:nvSpPr>
          <p:cNvPr id="143" name="Rounded Rectangle 55">
            <a:extLst>
              <a:ext uri="{FF2B5EF4-FFF2-40B4-BE49-F238E27FC236}">
                <a16:creationId xmlns:a16="http://schemas.microsoft.com/office/drawing/2014/main" id="{3A7EA1D9-0BDF-E816-39EB-4E71D1C6C1C9}"/>
              </a:ext>
            </a:extLst>
          </p:cNvPr>
          <p:cNvSpPr/>
          <p:nvPr/>
        </p:nvSpPr>
        <p:spPr>
          <a:xfrm>
            <a:off x="2114403" y="3238817"/>
            <a:ext cx="1500832" cy="797876"/>
          </a:xfrm>
          <a:prstGeom prst="roundRect">
            <a:avLst/>
          </a:prstGeom>
          <a:solidFill>
            <a:srgbClr val="FAFBFA"/>
          </a:solidFill>
          <a:ln w="10160">
            <a:solidFill>
              <a:srgbClr val="C9D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4"/>
          </a:p>
        </p:txBody>
      </p:sp>
      <p:pic>
        <p:nvPicPr>
          <p:cNvPr id="144" name="Picture 56" descr="a2c118b7-465d-451e-b7b1-e39135aaf924.jpeg">
            <a:extLst>
              <a:ext uri="{FF2B5EF4-FFF2-40B4-BE49-F238E27FC236}">
                <a16:creationId xmlns:a16="http://schemas.microsoft.com/office/drawing/2014/main" id="{BDD7D050-F791-AAD3-8641-09C2A05DE66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57609" y="3245695"/>
            <a:ext cx="1414420" cy="784119"/>
          </a:xfrm>
          <a:prstGeom prst="rect">
            <a:avLst/>
          </a:prstGeom>
        </p:spPr>
      </p:pic>
      <p:sp>
        <p:nvSpPr>
          <p:cNvPr id="145" name="Rounded Rectangle 57">
            <a:extLst>
              <a:ext uri="{FF2B5EF4-FFF2-40B4-BE49-F238E27FC236}">
                <a16:creationId xmlns:a16="http://schemas.microsoft.com/office/drawing/2014/main" id="{167B4ADF-A7D8-8608-9FEB-A4932B1E3831}"/>
              </a:ext>
            </a:extLst>
          </p:cNvPr>
          <p:cNvSpPr/>
          <p:nvPr/>
        </p:nvSpPr>
        <p:spPr>
          <a:xfrm>
            <a:off x="2128160" y="4084841"/>
            <a:ext cx="240738" cy="151321"/>
          </a:xfrm>
          <a:prstGeom prst="roundRect">
            <a:avLst/>
          </a:prstGeom>
          <a:solidFill>
            <a:srgbClr val="4A5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4"/>
          </a:p>
        </p:txBody>
      </p:sp>
      <p:sp>
        <p:nvSpPr>
          <p:cNvPr id="146" name="TextBox 58">
            <a:extLst>
              <a:ext uri="{FF2B5EF4-FFF2-40B4-BE49-F238E27FC236}">
                <a16:creationId xmlns:a16="http://schemas.microsoft.com/office/drawing/2014/main" id="{48F48D36-7301-BB58-FCF3-BACDB95B6AD3}"/>
              </a:ext>
            </a:extLst>
          </p:cNvPr>
          <p:cNvSpPr txBox="1"/>
          <p:nvPr/>
        </p:nvSpPr>
        <p:spPr>
          <a:xfrm>
            <a:off x="2157223" y="4053550"/>
            <a:ext cx="287258" cy="21390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90" b="1">
                <a:solidFill>
                  <a:srgbClr val="FFFFFF"/>
                </a:solidFill>
                <a:latin typeface="Calibri" panose="020F0502020204030204" pitchFamily="34" charset="0"/>
              </a:rPr>
              <a:t>07</a:t>
            </a:r>
          </a:p>
        </p:txBody>
      </p:sp>
      <p:sp>
        <p:nvSpPr>
          <p:cNvPr id="147" name="TextBox 59">
            <a:extLst>
              <a:ext uri="{FF2B5EF4-FFF2-40B4-BE49-F238E27FC236}">
                <a16:creationId xmlns:a16="http://schemas.microsoft.com/office/drawing/2014/main" id="{D34646DE-D779-25CF-6CDB-6BB650873D3A}"/>
              </a:ext>
            </a:extLst>
          </p:cNvPr>
          <p:cNvSpPr txBox="1"/>
          <p:nvPr/>
        </p:nvSpPr>
        <p:spPr>
          <a:xfrm>
            <a:off x="2514812" y="4032961"/>
            <a:ext cx="402226" cy="20005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1">
                <a:solidFill>
                  <a:srgbClr val="2F3E46"/>
                </a:solidFill>
                <a:latin typeface="Calibri" panose="020F0502020204030204" pitchFamily="34" charset="0"/>
              </a:rPr>
              <a:t>Freigabe</a:t>
            </a:r>
          </a:p>
        </p:txBody>
      </p:sp>
      <p:sp>
        <p:nvSpPr>
          <p:cNvPr id="148" name="TextBox 60">
            <a:extLst>
              <a:ext uri="{FF2B5EF4-FFF2-40B4-BE49-F238E27FC236}">
                <a16:creationId xmlns:a16="http://schemas.microsoft.com/office/drawing/2014/main" id="{6F4E8F27-B66A-0329-0F62-B7126BDC8A72}"/>
              </a:ext>
            </a:extLst>
          </p:cNvPr>
          <p:cNvSpPr txBox="1"/>
          <p:nvPr/>
        </p:nvSpPr>
        <p:spPr>
          <a:xfrm>
            <a:off x="2514812" y="4186702"/>
            <a:ext cx="820609" cy="1814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579">
                <a:solidFill>
                  <a:srgbClr val="5B6A70"/>
                </a:solidFill>
                <a:latin typeface="Calibri" panose="020F0502020204030204" pitchFamily="34" charset="0"/>
              </a:rPr>
              <a:t>Entscheidung bestätigen</a:t>
            </a:r>
          </a:p>
        </p:txBody>
      </p:sp>
      <p:sp>
        <p:nvSpPr>
          <p:cNvPr id="149" name="Rounded Rectangle 61">
            <a:extLst>
              <a:ext uri="{FF2B5EF4-FFF2-40B4-BE49-F238E27FC236}">
                <a16:creationId xmlns:a16="http://schemas.microsoft.com/office/drawing/2014/main" id="{66E5EB3A-509D-7661-1E43-E5300F21D582}"/>
              </a:ext>
            </a:extLst>
          </p:cNvPr>
          <p:cNvSpPr/>
          <p:nvPr/>
        </p:nvSpPr>
        <p:spPr>
          <a:xfrm>
            <a:off x="3780314" y="3197547"/>
            <a:ext cx="1583370" cy="1224327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9D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4"/>
          </a:p>
        </p:txBody>
      </p:sp>
      <p:sp>
        <p:nvSpPr>
          <p:cNvPr id="150" name="Rounded Rectangle 62">
            <a:extLst>
              <a:ext uri="{FF2B5EF4-FFF2-40B4-BE49-F238E27FC236}">
                <a16:creationId xmlns:a16="http://schemas.microsoft.com/office/drawing/2014/main" id="{4535B5B9-592B-E708-E7F5-D88E475C1A33}"/>
              </a:ext>
            </a:extLst>
          </p:cNvPr>
          <p:cNvSpPr/>
          <p:nvPr/>
        </p:nvSpPr>
        <p:spPr>
          <a:xfrm>
            <a:off x="3821583" y="3238817"/>
            <a:ext cx="1500832" cy="797876"/>
          </a:xfrm>
          <a:prstGeom prst="roundRect">
            <a:avLst/>
          </a:prstGeom>
          <a:solidFill>
            <a:srgbClr val="FAFBFA"/>
          </a:solidFill>
          <a:ln w="10160">
            <a:solidFill>
              <a:srgbClr val="C9D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4"/>
          </a:p>
        </p:txBody>
      </p:sp>
      <p:pic>
        <p:nvPicPr>
          <p:cNvPr id="151" name="Picture 63" descr="b9d6c36e-78fa-4a90-9f0e-3d558e0a8fd6.jpeg">
            <a:extLst>
              <a:ext uri="{FF2B5EF4-FFF2-40B4-BE49-F238E27FC236}">
                <a16:creationId xmlns:a16="http://schemas.microsoft.com/office/drawing/2014/main" id="{16476EB9-FCD6-3603-5D83-AF1A3ABE812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71110" y="3245695"/>
            <a:ext cx="1401777" cy="784119"/>
          </a:xfrm>
          <a:prstGeom prst="rect">
            <a:avLst/>
          </a:prstGeom>
        </p:spPr>
      </p:pic>
      <p:sp>
        <p:nvSpPr>
          <p:cNvPr id="152" name="Rounded Rectangle 64">
            <a:extLst>
              <a:ext uri="{FF2B5EF4-FFF2-40B4-BE49-F238E27FC236}">
                <a16:creationId xmlns:a16="http://schemas.microsoft.com/office/drawing/2014/main" id="{CF52C26F-C202-F9D0-C42F-23B41BBC2906}"/>
              </a:ext>
            </a:extLst>
          </p:cNvPr>
          <p:cNvSpPr/>
          <p:nvPr/>
        </p:nvSpPr>
        <p:spPr>
          <a:xfrm>
            <a:off x="3835340" y="4084841"/>
            <a:ext cx="240738" cy="151321"/>
          </a:xfrm>
          <a:prstGeom prst="roundRect">
            <a:avLst/>
          </a:prstGeom>
          <a:solidFill>
            <a:srgbClr val="4A5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4"/>
          </a:p>
        </p:txBody>
      </p:sp>
      <p:sp>
        <p:nvSpPr>
          <p:cNvPr id="153" name="TextBox 65">
            <a:extLst>
              <a:ext uri="{FF2B5EF4-FFF2-40B4-BE49-F238E27FC236}">
                <a16:creationId xmlns:a16="http://schemas.microsoft.com/office/drawing/2014/main" id="{498D770A-CFDF-AB4A-712C-560D4ABA0038}"/>
              </a:ext>
            </a:extLst>
          </p:cNvPr>
          <p:cNvSpPr txBox="1"/>
          <p:nvPr/>
        </p:nvSpPr>
        <p:spPr>
          <a:xfrm>
            <a:off x="3864402" y="4053550"/>
            <a:ext cx="287258" cy="21390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90" b="1">
                <a:solidFill>
                  <a:srgbClr val="FFFFFF"/>
                </a:solidFill>
                <a:latin typeface="Calibri" panose="020F0502020204030204" pitchFamily="34" charset="0"/>
              </a:rPr>
              <a:t>08</a:t>
            </a:r>
          </a:p>
        </p:txBody>
      </p:sp>
      <p:sp>
        <p:nvSpPr>
          <p:cNvPr id="154" name="TextBox 66">
            <a:extLst>
              <a:ext uri="{FF2B5EF4-FFF2-40B4-BE49-F238E27FC236}">
                <a16:creationId xmlns:a16="http://schemas.microsoft.com/office/drawing/2014/main" id="{6A949A38-15F2-A1A6-E40B-AB678D623847}"/>
              </a:ext>
            </a:extLst>
          </p:cNvPr>
          <p:cNvSpPr txBox="1"/>
          <p:nvPr/>
        </p:nvSpPr>
        <p:spPr>
          <a:xfrm>
            <a:off x="4221992" y="4032961"/>
            <a:ext cx="485582" cy="20005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1">
                <a:solidFill>
                  <a:srgbClr val="2F3E46"/>
                </a:solidFill>
                <a:latin typeface="Calibri" panose="020F0502020204030204" pitchFamily="34" charset="0"/>
              </a:rPr>
              <a:t>Ablehnung</a:t>
            </a:r>
          </a:p>
        </p:txBody>
      </p:sp>
      <p:sp>
        <p:nvSpPr>
          <p:cNvPr id="155" name="TextBox 67">
            <a:extLst>
              <a:ext uri="{FF2B5EF4-FFF2-40B4-BE49-F238E27FC236}">
                <a16:creationId xmlns:a16="http://schemas.microsoft.com/office/drawing/2014/main" id="{5701E03F-5B66-84EF-CAD5-D04656F9983D}"/>
              </a:ext>
            </a:extLst>
          </p:cNvPr>
          <p:cNvSpPr txBox="1"/>
          <p:nvPr/>
        </p:nvSpPr>
        <p:spPr>
          <a:xfrm>
            <a:off x="4221992" y="4186702"/>
            <a:ext cx="777329" cy="1814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579">
                <a:solidFill>
                  <a:srgbClr val="5B6A70"/>
                </a:solidFill>
                <a:latin typeface="Calibri" panose="020F0502020204030204" pitchFamily="34" charset="0"/>
              </a:rPr>
              <a:t>Alternative bestätigen</a:t>
            </a:r>
          </a:p>
        </p:txBody>
      </p:sp>
      <p:sp>
        <p:nvSpPr>
          <p:cNvPr id="156" name="Rounded Rectangle 68">
            <a:extLst>
              <a:ext uri="{FF2B5EF4-FFF2-40B4-BE49-F238E27FC236}">
                <a16:creationId xmlns:a16="http://schemas.microsoft.com/office/drawing/2014/main" id="{86133384-9061-DBAD-880E-3F11DB2F8C6D}"/>
              </a:ext>
            </a:extLst>
          </p:cNvPr>
          <p:cNvSpPr/>
          <p:nvPr/>
        </p:nvSpPr>
        <p:spPr>
          <a:xfrm>
            <a:off x="5487493" y="3197547"/>
            <a:ext cx="1583370" cy="1224327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9D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4"/>
          </a:p>
        </p:txBody>
      </p:sp>
      <p:sp>
        <p:nvSpPr>
          <p:cNvPr id="157" name="Rounded Rectangle 69">
            <a:extLst>
              <a:ext uri="{FF2B5EF4-FFF2-40B4-BE49-F238E27FC236}">
                <a16:creationId xmlns:a16="http://schemas.microsoft.com/office/drawing/2014/main" id="{51874A11-8EA3-B60B-FE5B-594F9BE31527}"/>
              </a:ext>
            </a:extLst>
          </p:cNvPr>
          <p:cNvSpPr/>
          <p:nvPr/>
        </p:nvSpPr>
        <p:spPr>
          <a:xfrm>
            <a:off x="5528762" y="3238817"/>
            <a:ext cx="1500832" cy="797876"/>
          </a:xfrm>
          <a:prstGeom prst="roundRect">
            <a:avLst/>
          </a:prstGeom>
          <a:solidFill>
            <a:srgbClr val="FAFBFA"/>
          </a:solidFill>
          <a:ln w="10160">
            <a:solidFill>
              <a:srgbClr val="C9D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4"/>
          </a:p>
        </p:txBody>
      </p:sp>
      <p:pic>
        <p:nvPicPr>
          <p:cNvPr id="158" name="Picture 70" descr="db305ce9-93fc-4a97-85a4-bf170a998a4c.jpeg">
            <a:extLst>
              <a:ext uri="{FF2B5EF4-FFF2-40B4-BE49-F238E27FC236}">
                <a16:creationId xmlns:a16="http://schemas.microsoft.com/office/drawing/2014/main" id="{0D51A2B4-C903-1A9B-D8FA-47E401DD067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76720" y="3245695"/>
            <a:ext cx="1404917" cy="784119"/>
          </a:xfrm>
          <a:prstGeom prst="rect">
            <a:avLst/>
          </a:prstGeom>
        </p:spPr>
      </p:pic>
      <p:sp>
        <p:nvSpPr>
          <p:cNvPr id="159" name="Rounded Rectangle 71">
            <a:extLst>
              <a:ext uri="{FF2B5EF4-FFF2-40B4-BE49-F238E27FC236}">
                <a16:creationId xmlns:a16="http://schemas.microsoft.com/office/drawing/2014/main" id="{C58CF82A-2462-2765-549E-A33E41DC06F3}"/>
              </a:ext>
            </a:extLst>
          </p:cNvPr>
          <p:cNvSpPr/>
          <p:nvPr/>
        </p:nvSpPr>
        <p:spPr>
          <a:xfrm>
            <a:off x="5542519" y="4084841"/>
            <a:ext cx="240738" cy="151321"/>
          </a:xfrm>
          <a:prstGeom prst="roundRect">
            <a:avLst/>
          </a:prstGeom>
          <a:solidFill>
            <a:srgbClr val="4A5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4"/>
          </a:p>
        </p:txBody>
      </p:sp>
      <p:sp>
        <p:nvSpPr>
          <p:cNvPr id="160" name="TextBox 72">
            <a:extLst>
              <a:ext uri="{FF2B5EF4-FFF2-40B4-BE49-F238E27FC236}">
                <a16:creationId xmlns:a16="http://schemas.microsoft.com/office/drawing/2014/main" id="{B9531616-FFD3-DFF1-527B-AE93FE8C2104}"/>
              </a:ext>
            </a:extLst>
          </p:cNvPr>
          <p:cNvSpPr txBox="1"/>
          <p:nvPr/>
        </p:nvSpPr>
        <p:spPr>
          <a:xfrm>
            <a:off x="5571582" y="4053550"/>
            <a:ext cx="287258" cy="21390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90" b="1">
                <a:solidFill>
                  <a:srgbClr val="FFFFFF"/>
                </a:solidFill>
                <a:latin typeface="Calibri" panose="020F0502020204030204" pitchFamily="34" charset="0"/>
              </a:rPr>
              <a:t>09</a:t>
            </a:r>
          </a:p>
        </p:txBody>
      </p:sp>
      <p:sp>
        <p:nvSpPr>
          <p:cNvPr id="161" name="TextBox 73">
            <a:extLst>
              <a:ext uri="{FF2B5EF4-FFF2-40B4-BE49-F238E27FC236}">
                <a16:creationId xmlns:a16="http://schemas.microsoft.com/office/drawing/2014/main" id="{BAA75ED7-0B2C-031A-2683-8DDC67C8384C}"/>
              </a:ext>
            </a:extLst>
          </p:cNvPr>
          <p:cNvSpPr txBox="1"/>
          <p:nvPr/>
        </p:nvSpPr>
        <p:spPr>
          <a:xfrm>
            <a:off x="5929171" y="4032961"/>
            <a:ext cx="310854" cy="20005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1">
                <a:solidFill>
                  <a:srgbClr val="2F3E46"/>
                </a:solidFill>
                <a:latin typeface="Calibri" panose="020F0502020204030204" pitchFamily="34" charset="0"/>
              </a:rPr>
              <a:t>Status</a:t>
            </a:r>
          </a:p>
        </p:txBody>
      </p:sp>
      <p:sp>
        <p:nvSpPr>
          <p:cNvPr id="162" name="TextBox 74">
            <a:extLst>
              <a:ext uri="{FF2B5EF4-FFF2-40B4-BE49-F238E27FC236}">
                <a16:creationId xmlns:a16="http://schemas.microsoft.com/office/drawing/2014/main" id="{913A51B2-09D9-3AA9-BCF7-FBD7FB41A2C8}"/>
              </a:ext>
            </a:extLst>
          </p:cNvPr>
          <p:cNvSpPr txBox="1"/>
          <p:nvPr/>
        </p:nvSpPr>
        <p:spPr>
          <a:xfrm>
            <a:off x="5929171" y="4186702"/>
            <a:ext cx="857479" cy="1814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579">
                <a:solidFill>
                  <a:srgbClr val="5B6A70"/>
                </a:solidFill>
                <a:latin typeface="Calibri" panose="020F0502020204030204" pitchFamily="34" charset="0"/>
              </a:rPr>
              <a:t>Endentscheidung sichtbar</a:t>
            </a:r>
          </a:p>
        </p:txBody>
      </p:sp>
      <p:sp>
        <p:nvSpPr>
          <p:cNvPr id="163" name="Rounded Rectangle 75">
            <a:extLst>
              <a:ext uri="{FF2B5EF4-FFF2-40B4-BE49-F238E27FC236}">
                <a16:creationId xmlns:a16="http://schemas.microsoft.com/office/drawing/2014/main" id="{23BFC933-DDB5-28EB-1FDA-09FF165652EE}"/>
              </a:ext>
            </a:extLst>
          </p:cNvPr>
          <p:cNvSpPr/>
          <p:nvPr/>
        </p:nvSpPr>
        <p:spPr>
          <a:xfrm>
            <a:off x="7194674" y="3197547"/>
            <a:ext cx="1583370" cy="1224327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9D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4"/>
          </a:p>
        </p:txBody>
      </p:sp>
      <p:sp>
        <p:nvSpPr>
          <p:cNvPr id="164" name="Rounded Rectangle 76">
            <a:extLst>
              <a:ext uri="{FF2B5EF4-FFF2-40B4-BE49-F238E27FC236}">
                <a16:creationId xmlns:a16="http://schemas.microsoft.com/office/drawing/2014/main" id="{7CC09CA6-E128-F960-A433-0A47890E2065}"/>
              </a:ext>
            </a:extLst>
          </p:cNvPr>
          <p:cNvSpPr/>
          <p:nvPr/>
        </p:nvSpPr>
        <p:spPr>
          <a:xfrm>
            <a:off x="7235943" y="3238817"/>
            <a:ext cx="1500832" cy="797876"/>
          </a:xfrm>
          <a:prstGeom prst="roundRect">
            <a:avLst/>
          </a:prstGeom>
          <a:solidFill>
            <a:srgbClr val="FAFBFA"/>
          </a:solidFill>
          <a:ln w="10160">
            <a:solidFill>
              <a:srgbClr val="C9D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4"/>
          </a:p>
        </p:txBody>
      </p:sp>
      <p:sp>
        <p:nvSpPr>
          <p:cNvPr id="165" name="Rounded Rectangle 78">
            <a:extLst>
              <a:ext uri="{FF2B5EF4-FFF2-40B4-BE49-F238E27FC236}">
                <a16:creationId xmlns:a16="http://schemas.microsoft.com/office/drawing/2014/main" id="{DDA0BF60-63E9-B723-F18D-AE9825ED93BF}"/>
              </a:ext>
            </a:extLst>
          </p:cNvPr>
          <p:cNvSpPr/>
          <p:nvPr/>
        </p:nvSpPr>
        <p:spPr>
          <a:xfrm>
            <a:off x="7249699" y="4084841"/>
            <a:ext cx="240738" cy="151321"/>
          </a:xfrm>
          <a:prstGeom prst="roundRect">
            <a:avLst/>
          </a:prstGeom>
          <a:solidFill>
            <a:srgbClr val="4A5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4"/>
          </a:p>
        </p:txBody>
      </p:sp>
      <p:sp>
        <p:nvSpPr>
          <p:cNvPr id="166" name="TextBox 79">
            <a:extLst>
              <a:ext uri="{FF2B5EF4-FFF2-40B4-BE49-F238E27FC236}">
                <a16:creationId xmlns:a16="http://schemas.microsoft.com/office/drawing/2014/main" id="{B18B9CDE-0C68-EB55-4969-4BE3856BEE44}"/>
              </a:ext>
            </a:extLst>
          </p:cNvPr>
          <p:cNvSpPr txBox="1"/>
          <p:nvPr/>
        </p:nvSpPr>
        <p:spPr>
          <a:xfrm>
            <a:off x="7278762" y="4053550"/>
            <a:ext cx="287258" cy="21390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90" b="1" dirty="0">
                <a:solidFill>
                  <a:srgbClr val="FFFFFF"/>
                </a:solidFill>
                <a:latin typeface="Calibri" panose="020F0502020204030204" pitchFamily="34" charset="0"/>
              </a:rPr>
              <a:t>10</a:t>
            </a:r>
          </a:p>
        </p:txBody>
      </p:sp>
      <p:sp>
        <p:nvSpPr>
          <p:cNvPr id="167" name="TextBox 80">
            <a:extLst>
              <a:ext uri="{FF2B5EF4-FFF2-40B4-BE49-F238E27FC236}">
                <a16:creationId xmlns:a16="http://schemas.microsoft.com/office/drawing/2014/main" id="{EDF88E9D-AE61-98FF-1627-E70BD25D6243}"/>
              </a:ext>
            </a:extLst>
          </p:cNvPr>
          <p:cNvSpPr txBox="1"/>
          <p:nvPr/>
        </p:nvSpPr>
        <p:spPr>
          <a:xfrm>
            <a:off x="7636352" y="4032962"/>
            <a:ext cx="437492" cy="20005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de-DE" sz="700" b="1" dirty="0">
                <a:solidFill>
                  <a:srgbClr val="2F3E46"/>
                </a:solidFill>
                <a:latin typeface="Calibri" panose="020F0502020204030204" pitchFamily="34" charset="0"/>
              </a:rPr>
              <a:t>Übersicht</a:t>
            </a:r>
            <a:endParaRPr sz="700" b="1" dirty="0">
              <a:solidFill>
                <a:srgbClr val="2F3E46"/>
              </a:solidFill>
              <a:latin typeface="Calibri" panose="020F0502020204030204" pitchFamily="34" charset="0"/>
            </a:endParaRPr>
          </a:p>
        </p:txBody>
      </p:sp>
      <p:sp>
        <p:nvSpPr>
          <p:cNvPr id="168" name="TextBox 81">
            <a:extLst>
              <a:ext uri="{FF2B5EF4-FFF2-40B4-BE49-F238E27FC236}">
                <a16:creationId xmlns:a16="http://schemas.microsoft.com/office/drawing/2014/main" id="{74F8997B-946A-39ED-C30A-BD06FB0312C4}"/>
              </a:ext>
            </a:extLst>
          </p:cNvPr>
          <p:cNvSpPr txBox="1"/>
          <p:nvPr/>
        </p:nvSpPr>
        <p:spPr>
          <a:xfrm>
            <a:off x="7636351" y="4142139"/>
            <a:ext cx="1016176" cy="27058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de-DE" sz="579" dirty="0">
                <a:solidFill>
                  <a:srgbClr val="5B6A70"/>
                </a:solidFill>
                <a:latin typeface="Calibri" panose="020F0502020204030204" pitchFamily="34" charset="0"/>
              </a:rPr>
              <a:t>Angenommen oder abgelehnte</a:t>
            </a:r>
          </a:p>
          <a:p>
            <a:pPr algn="l"/>
            <a:r>
              <a:rPr lang="de-DE" sz="579" dirty="0">
                <a:solidFill>
                  <a:srgbClr val="5B6A70"/>
                </a:solidFill>
                <a:latin typeface="Calibri" panose="020F0502020204030204" pitchFamily="34" charset="0"/>
              </a:rPr>
              <a:t>Themen</a:t>
            </a:r>
            <a:endParaRPr sz="579" dirty="0">
              <a:solidFill>
                <a:srgbClr val="5B6A70"/>
              </a:solidFill>
              <a:latin typeface="Calibri" panose="020F0502020204030204" pitchFamily="34" charset="0"/>
            </a:endParaRPr>
          </a:p>
        </p:txBody>
      </p:sp>
      <p:cxnSp>
        <p:nvCxnSpPr>
          <p:cNvPr id="169" name="Connector 82">
            <a:extLst>
              <a:ext uri="{FF2B5EF4-FFF2-40B4-BE49-F238E27FC236}">
                <a16:creationId xmlns:a16="http://schemas.microsoft.com/office/drawing/2014/main" id="{2537DAFF-9B3C-95B6-645B-DD2FC08F27FB}"/>
              </a:ext>
            </a:extLst>
          </p:cNvPr>
          <p:cNvCxnSpPr/>
          <p:nvPr/>
        </p:nvCxnSpPr>
        <p:spPr>
          <a:xfrm>
            <a:off x="1963082" y="2262107"/>
            <a:ext cx="89417" cy="0"/>
          </a:xfrm>
          <a:prstGeom prst="line">
            <a:avLst/>
          </a:prstGeom>
          <a:ln w="17780">
            <a:solidFill>
              <a:srgbClr val="80B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83">
            <a:extLst>
              <a:ext uri="{FF2B5EF4-FFF2-40B4-BE49-F238E27FC236}">
                <a16:creationId xmlns:a16="http://schemas.microsoft.com/office/drawing/2014/main" id="{96019B1D-C2A0-CBDA-2E5A-5BFAF7212968}"/>
              </a:ext>
            </a:extLst>
          </p:cNvPr>
          <p:cNvCxnSpPr/>
          <p:nvPr/>
        </p:nvCxnSpPr>
        <p:spPr>
          <a:xfrm>
            <a:off x="3670262" y="2262107"/>
            <a:ext cx="89417" cy="0"/>
          </a:xfrm>
          <a:prstGeom prst="line">
            <a:avLst/>
          </a:prstGeom>
          <a:ln w="17780">
            <a:solidFill>
              <a:srgbClr val="80B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84">
            <a:extLst>
              <a:ext uri="{FF2B5EF4-FFF2-40B4-BE49-F238E27FC236}">
                <a16:creationId xmlns:a16="http://schemas.microsoft.com/office/drawing/2014/main" id="{27C61339-280A-2FFA-11C1-BB2BE51D8CD8}"/>
              </a:ext>
            </a:extLst>
          </p:cNvPr>
          <p:cNvCxnSpPr/>
          <p:nvPr/>
        </p:nvCxnSpPr>
        <p:spPr>
          <a:xfrm>
            <a:off x="5377441" y="2262107"/>
            <a:ext cx="89417" cy="0"/>
          </a:xfrm>
          <a:prstGeom prst="line">
            <a:avLst/>
          </a:prstGeom>
          <a:ln w="17780">
            <a:solidFill>
              <a:srgbClr val="80B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85">
            <a:extLst>
              <a:ext uri="{FF2B5EF4-FFF2-40B4-BE49-F238E27FC236}">
                <a16:creationId xmlns:a16="http://schemas.microsoft.com/office/drawing/2014/main" id="{502A2C61-0995-4B31-6A31-770C07CFCB0A}"/>
              </a:ext>
            </a:extLst>
          </p:cNvPr>
          <p:cNvCxnSpPr/>
          <p:nvPr/>
        </p:nvCxnSpPr>
        <p:spPr>
          <a:xfrm>
            <a:off x="7084622" y="2262107"/>
            <a:ext cx="89417" cy="0"/>
          </a:xfrm>
          <a:prstGeom prst="line">
            <a:avLst/>
          </a:prstGeom>
          <a:ln w="17780">
            <a:solidFill>
              <a:srgbClr val="80B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86">
            <a:extLst>
              <a:ext uri="{FF2B5EF4-FFF2-40B4-BE49-F238E27FC236}">
                <a16:creationId xmlns:a16="http://schemas.microsoft.com/office/drawing/2014/main" id="{4EB00E3A-A18C-C8E6-F3EB-0A0C26E4C5D4}"/>
              </a:ext>
            </a:extLst>
          </p:cNvPr>
          <p:cNvCxnSpPr/>
          <p:nvPr/>
        </p:nvCxnSpPr>
        <p:spPr>
          <a:xfrm>
            <a:off x="7986359" y="2915540"/>
            <a:ext cx="0" cy="220103"/>
          </a:xfrm>
          <a:prstGeom prst="line">
            <a:avLst/>
          </a:prstGeom>
          <a:ln w="17780">
            <a:solidFill>
              <a:srgbClr val="80B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87">
            <a:extLst>
              <a:ext uri="{FF2B5EF4-FFF2-40B4-BE49-F238E27FC236}">
                <a16:creationId xmlns:a16="http://schemas.microsoft.com/office/drawing/2014/main" id="{37611469-CE74-62D4-878F-8CD895B250A6}"/>
              </a:ext>
            </a:extLst>
          </p:cNvPr>
          <p:cNvCxnSpPr/>
          <p:nvPr/>
        </p:nvCxnSpPr>
        <p:spPr>
          <a:xfrm>
            <a:off x="7986359" y="2915540"/>
            <a:ext cx="0" cy="151321"/>
          </a:xfrm>
          <a:prstGeom prst="line">
            <a:avLst/>
          </a:prstGeom>
          <a:ln w="17780">
            <a:solidFill>
              <a:srgbClr val="80B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88">
            <a:extLst>
              <a:ext uri="{FF2B5EF4-FFF2-40B4-BE49-F238E27FC236}">
                <a16:creationId xmlns:a16="http://schemas.microsoft.com/office/drawing/2014/main" id="{31CB831F-58D2-F198-7917-91120862F7DF}"/>
              </a:ext>
            </a:extLst>
          </p:cNvPr>
          <p:cNvCxnSpPr/>
          <p:nvPr/>
        </p:nvCxnSpPr>
        <p:spPr>
          <a:xfrm flipH="1">
            <a:off x="1157641" y="3066861"/>
            <a:ext cx="6828717" cy="0"/>
          </a:xfrm>
          <a:prstGeom prst="line">
            <a:avLst/>
          </a:prstGeom>
          <a:ln w="17780">
            <a:solidFill>
              <a:srgbClr val="80B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89">
            <a:extLst>
              <a:ext uri="{FF2B5EF4-FFF2-40B4-BE49-F238E27FC236}">
                <a16:creationId xmlns:a16="http://schemas.microsoft.com/office/drawing/2014/main" id="{94D3E5E0-4391-8CD1-33F9-F398760B7972}"/>
              </a:ext>
            </a:extLst>
          </p:cNvPr>
          <p:cNvCxnSpPr/>
          <p:nvPr/>
        </p:nvCxnSpPr>
        <p:spPr>
          <a:xfrm>
            <a:off x="1157641" y="3066861"/>
            <a:ext cx="0" cy="75661"/>
          </a:xfrm>
          <a:prstGeom prst="line">
            <a:avLst/>
          </a:prstGeom>
          <a:ln w="17780">
            <a:solidFill>
              <a:srgbClr val="80B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90">
            <a:extLst>
              <a:ext uri="{FF2B5EF4-FFF2-40B4-BE49-F238E27FC236}">
                <a16:creationId xmlns:a16="http://schemas.microsoft.com/office/drawing/2014/main" id="{C082B5BB-CD52-2320-C60E-2692125E7EE5}"/>
              </a:ext>
            </a:extLst>
          </p:cNvPr>
          <p:cNvCxnSpPr/>
          <p:nvPr/>
        </p:nvCxnSpPr>
        <p:spPr>
          <a:xfrm>
            <a:off x="1963082" y="3795954"/>
            <a:ext cx="89417" cy="0"/>
          </a:xfrm>
          <a:prstGeom prst="line">
            <a:avLst/>
          </a:prstGeom>
          <a:ln w="17780">
            <a:solidFill>
              <a:srgbClr val="80B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91">
            <a:extLst>
              <a:ext uri="{FF2B5EF4-FFF2-40B4-BE49-F238E27FC236}">
                <a16:creationId xmlns:a16="http://schemas.microsoft.com/office/drawing/2014/main" id="{88299B84-6BFF-44B5-97B4-F606CC9465EE}"/>
              </a:ext>
            </a:extLst>
          </p:cNvPr>
          <p:cNvCxnSpPr/>
          <p:nvPr/>
        </p:nvCxnSpPr>
        <p:spPr>
          <a:xfrm>
            <a:off x="3670262" y="3795954"/>
            <a:ext cx="89417" cy="0"/>
          </a:xfrm>
          <a:prstGeom prst="line">
            <a:avLst/>
          </a:prstGeom>
          <a:ln w="17780">
            <a:solidFill>
              <a:srgbClr val="80B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92">
            <a:extLst>
              <a:ext uri="{FF2B5EF4-FFF2-40B4-BE49-F238E27FC236}">
                <a16:creationId xmlns:a16="http://schemas.microsoft.com/office/drawing/2014/main" id="{9FAF47CC-AADE-FF35-E083-4B3B25C3600F}"/>
              </a:ext>
            </a:extLst>
          </p:cNvPr>
          <p:cNvCxnSpPr/>
          <p:nvPr/>
        </p:nvCxnSpPr>
        <p:spPr>
          <a:xfrm>
            <a:off x="5377441" y="3795954"/>
            <a:ext cx="89417" cy="0"/>
          </a:xfrm>
          <a:prstGeom prst="line">
            <a:avLst/>
          </a:prstGeom>
          <a:ln w="17780">
            <a:solidFill>
              <a:srgbClr val="80B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93">
            <a:extLst>
              <a:ext uri="{FF2B5EF4-FFF2-40B4-BE49-F238E27FC236}">
                <a16:creationId xmlns:a16="http://schemas.microsoft.com/office/drawing/2014/main" id="{5CAAF430-F87E-01D3-1826-0907F0CAF183}"/>
              </a:ext>
            </a:extLst>
          </p:cNvPr>
          <p:cNvCxnSpPr/>
          <p:nvPr/>
        </p:nvCxnSpPr>
        <p:spPr>
          <a:xfrm>
            <a:off x="7084622" y="3795954"/>
            <a:ext cx="89417" cy="0"/>
          </a:xfrm>
          <a:prstGeom prst="line">
            <a:avLst/>
          </a:prstGeom>
          <a:ln w="17780">
            <a:solidFill>
              <a:srgbClr val="80B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1" name="Grafik 180">
            <a:extLst>
              <a:ext uri="{FF2B5EF4-FFF2-40B4-BE49-F238E27FC236}">
                <a16:creationId xmlns:a16="http://schemas.microsoft.com/office/drawing/2014/main" id="{FA6F54E4-7355-0C3C-C5EA-768361C3C28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26821" y="3277343"/>
            <a:ext cx="1358863" cy="752471"/>
          </a:xfrm>
          <a:prstGeom prst="rect">
            <a:avLst/>
          </a:prstGeom>
        </p:spPr>
      </p:pic>
      <p:sp>
        <p:nvSpPr>
          <p:cNvPr id="182" name="Rechteck 181">
            <a:extLst>
              <a:ext uri="{FF2B5EF4-FFF2-40B4-BE49-F238E27FC236}">
                <a16:creationId xmlns:a16="http://schemas.microsoft.com/office/drawing/2014/main" id="{B4984033-0953-2B1A-2CCD-4B210DD712C9}"/>
              </a:ext>
            </a:extLst>
          </p:cNvPr>
          <p:cNvSpPr/>
          <p:nvPr/>
        </p:nvSpPr>
        <p:spPr>
          <a:xfrm>
            <a:off x="365760" y="4498074"/>
            <a:ext cx="8412480" cy="266700"/>
          </a:xfrm>
          <a:prstGeom prst="rect">
            <a:avLst/>
          </a:prstGeom>
          <a:solidFill>
            <a:srgbClr val="EDF5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3" name="Rechteck 182">
            <a:extLst>
              <a:ext uri="{FF2B5EF4-FFF2-40B4-BE49-F238E27FC236}">
                <a16:creationId xmlns:a16="http://schemas.microsoft.com/office/drawing/2014/main" id="{9520E6AA-DFA8-67C5-42D9-2206E7D49F04}"/>
              </a:ext>
            </a:extLst>
          </p:cNvPr>
          <p:cNvSpPr/>
          <p:nvPr/>
        </p:nvSpPr>
        <p:spPr>
          <a:xfrm>
            <a:off x="365760" y="4498074"/>
            <a:ext cx="44450" cy="266700"/>
          </a:xfrm>
          <a:prstGeom prst="rect">
            <a:avLst/>
          </a:prstGeom>
          <a:solidFill>
            <a:srgbClr val="80BA2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4" name="Textfeld 183">
            <a:extLst>
              <a:ext uri="{FF2B5EF4-FFF2-40B4-BE49-F238E27FC236}">
                <a16:creationId xmlns:a16="http://schemas.microsoft.com/office/drawing/2014/main" id="{8605F1D5-0EAD-5B56-FC83-6CF06A4A0F8A}"/>
              </a:ext>
            </a:extLst>
          </p:cNvPr>
          <p:cNvSpPr txBox="1"/>
          <p:nvPr/>
        </p:nvSpPr>
        <p:spPr>
          <a:xfrm>
            <a:off x="492760" y="4562174"/>
            <a:ext cx="8209280" cy="1384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de-DE" sz="750" b="1">
                <a:solidFill>
                  <a:srgbClr val="4E7F12"/>
                </a:solidFill>
                <a:latin typeface="Calibri" panose="020F0502020204030204" pitchFamily="34" charset="0"/>
              </a:rPr>
              <a:t>SITEMAP</a:t>
            </a:r>
            <a:r>
              <a:rPr lang="de-DE" sz="900">
                <a:solidFill>
                  <a:srgbClr val="2F3E46"/>
                </a:solidFill>
                <a:latin typeface="Calibri" panose="020F0502020204030204" pitchFamily="34" charset="0"/>
              </a:rPr>
              <a:t>     </a:t>
            </a:r>
            <a:r>
              <a:rPr lang="de-DE" sz="850">
                <a:solidFill>
                  <a:srgbClr val="2F3E46"/>
                </a:solidFill>
                <a:latin typeface="Consolas" panose="020B0609020204030204" pitchFamily="49" charset="0"/>
              </a:rPr>
              <a:t>/login  →  /themen  →  /zugriffsregeln  →  /themen/{id}/pruefen  →  /entscheidung  →  /verlauf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80B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 6 · DIALOGLANDKARTE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310896"/>
            <a:ext cx="6172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Ablaufdiagramm: Verlängerungsantrag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55464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5B6A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C3545A7-C139-E1E4-2D1B-C837036A2F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4998" y="838051"/>
            <a:ext cx="3814004" cy="392459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80B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 6 · DIALOGLANDKARTE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310896"/>
            <a:ext cx="6172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Aktivität: Verlängerungsantrag stellen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55464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5B6A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CACC8D48-041E-FB8F-B7D0-8EF4C3E0F6D2}"/>
              </a:ext>
            </a:extLst>
          </p:cNvPr>
          <p:cNvSpPr txBox="1"/>
          <p:nvPr/>
        </p:nvSpPr>
        <p:spPr>
          <a:xfrm>
            <a:off x="365760" y="838200"/>
            <a:ext cx="8412480" cy="203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de-DE" sz="1100">
                <a:solidFill>
                  <a:srgbClr val="2F3E46"/>
                </a:solidFill>
                <a:latin typeface="Calibri" panose="020F0502020204030204" pitchFamily="34" charset="0"/>
              </a:rPr>
              <a:t>Klickpfad des Studierenden vom Start des Antrags bis zur Statusanzeige.</a:t>
            </a: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71A9E4E4-03E3-FCE3-717E-B33A357EF2EA}"/>
              </a:ext>
            </a:extLst>
          </p:cNvPr>
          <p:cNvSpPr/>
          <p:nvPr/>
        </p:nvSpPr>
        <p:spPr>
          <a:xfrm>
            <a:off x="365760" y="1092200"/>
            <a:ext cx="8412480" cy="279400"/>
          </a:xfrm>
          <a:prstGeom prst="rect">
            <a:avLst/>
          </a:prstGeom>
          <a:solidFill>
            <a:srgbClr val="EDF5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D25CEAB3-BE66-6F1F-6131-AFA8E2FD85A1}"/>
              </a:ext>
            </a:extLst>
          </p:cNvPr>
          <p:cNvSpPr/>
          <p:nvPr/>
        </p:nvSpPr>
        <p:spPr>
          <a:xfrm>
            <a:off x="365760" y="1092200"/>
            <a:ext cx="44450" cy="279400"/>
          </a:xfrm>
          <a:prstGeom prst="rect">
            <a:avLst/>
          </a:prstGeom>
          <a:solidFill>
            <a:srgbClr val="80BA2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3D1778C4-C50B-95BF-2082-ABB6B070DE53}"/>
              </a:ext>
            </a:extLst>
          </p:cNvPr>
          <p:cNvSpPr txBox="1"/>
          <p:nvPr/>
        </p:nvSpPr>
        <p:spPr>
          <a:xfrm>
            <a:off x="492760" y="1162650"/>
            <a:ext cx="8209280" cy="1384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de-DE" sz="750" b="1">
                <a:solidFill>
                  <a:srgbClr val="4E7F12"/>
                </a:solidFill>
                <a:latin typeface="Calibri" panose="020F0502020204030204" pitchFamily="34" charset="0"/>
              </a:rPr>
              <a:t>USER STORIES</a:t>
            </a:r>
            <a:r>
              <a:rPr lang="de-DE" sz="900">
                <a:solidFill>
                  <a:srgbClr val="2F3E46"/>
                </a:solidFill>
                <a:latin typeface="Calibri" panose="020F0502020204030204" pitchFamily="34" charset="0"/>
              </a:rPr>
              <a:t>     5.3.1 Antrag starten  ·  5.3.2 Grund angeben  ·  5.3.3 Status sehen</a:t>
            </a:r>
          </a:p>
        </p:txBody>
      </p:sp>
      <p:sp>
        <p:nvSpPr>
          <p:cNvPr id="50" name="Rounded Rectangle 10">
            <a:extLst>
              <a:ext uri="{FF2B5EF4-FFF2-40B4-BE49-F238E27FC236}">
                <a16:creationId xmlns:a16="http://schemas.microsoft.com/office/drawing/2014/main" id="{B0A6F2A1-30D7-8AA7-2299-B83B79E93493}"/>
              </a:ext>
            </a:extLst>
          </p:cNvPr>
          <p:cNvSpPr/>
          <p:nvPr/>
        </p:nvSpPr>
        <p:spPr>
          <a:xfrm>
            <a:off x="365950" y="1473200"/>
            <a:ext cx="2570571" cy="2771746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9D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7"/>
          </a:p>
        </p:txBody>
      </p:sp>
      <p:sp>
        <p:nvSpPr>
          <p:cNvPr id="51" name="Rounded Rectangle 11">
            <a:extLst>
              <a:ext uri="{FF2B5EF4-FFF2-40B4-BE49-F238E27FC236}">
                <a16:creationId xmlns:a16="http://schemas.microsoft.com/office/drawing/2014/main" id="{07F07D17-9CD5-C91E-EEE3-293068ACB497}"/>
              </a:ext>
            </a:extLst>
          </p:cNvPr>
          <p:cNvSpPr/>
          <p:nvPr/>
        </p:nvSpPr>
        <p:spPr>
          <a:xfrm>
            <a:off x="425557" y="1532808"/>
            <a:ext cx="2451356" cy="1952144"/>
          </a:xfrm>
          <a:prstGeom prst="roundRect">
            <a:avLst/>
          </a:prstGeom>
          <a:solidFill>
            <a:srgbClr val="FAFBFA"/>
          </a:solidFill>
          <a:ln w="11430">
            <a:solidFill>
              <a:srgbClr val="C9D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7" dirty="0"/>
          </a:p>
        </p:txBody>
      </p:sp>
      <p:sp>
        <p:nvSpPr>
          <p:cNvPr id="52" name="Rounded Rectangle 13">
            <a:extLst>
              <a:ext uri="{FF2B5EF4-FFF2-40B4-BE49-F238E27FC236}">
                <a16:creationId xmlns:a16="http://schemas.microsoft.com/office/drawing/2014/main" id="{6AE94ED5-37D3-5484-9BD3-77E6BEB5EFEB}"/>
              </a:ext>
            </a:extLst>
          </p:cNvPr>
          <p:cNvSpPr/>
          <p:nvPr/>
        </p:nvSpPr>
        <p:spPr>
          <a:xfrm>
            <a:off x="455361" y="3581814"/>
            <a:ext cx="298037" cy="178822"/>
          </a:xfrm>
          <a:prstGeom prst="roundRect">
            <a:avLst/>
          </a:prstGeom>
          <a:solidFill>
            <a:srgbClr val="4A5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7"/>
          </a:p>
        </p:txBody>
      </p:sp>
      <p:sp>
        <p:nvSpPr>
          <p:cNvPr id="53" name="TextBox 14">
            <a:extLst>
              <a:ext uri="{FF2B5EF4-FFF2-40B4-BE49-F238E27FC236}">
                <a16:creationId xmlns:a16="http://schemas.microsoft.com/office/drawing/2014/main" id="{D0EB4511-64F6-6BF2-FCF1-4437CEC5C433}"/>
              </a:ext>
            </a:extLst>
          </p:cNvPr>
          <p:cNvSpPr txBox="1"/>
          <p:nvPr/>
        </p:nvSpPr>
        <p:spPr>
          <a:xfrm>
            <a:off x="507622" y="3554815"/>
            <a:ext cx="303288" cy="23282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13" b="1">
                <a:solidFill>
                  <a:srgbClr val="FFFFFF"/>
                </a:solidFill>
                <a:latin typeface="Calibri" panose="020F0502020204030204" pitchFamily="34" charset="0"/>
              </a:rPr>
              <a:t>01</a:t>
            </a:r>
          </a:p>
        </p:txBody>
      </p:sp>
      <p:sp>
        <p:nvSpPr>
          <p:cNvPr id="54" name="TextBox 15">
            <a:extLst>
              <a:ext uri="{FF2B5EF4-FFF2-40B4-BE49-F238E27FC236}">
                <a16:creationId xmlns:a16="http://schemas.microsoft.com/office/drawing/2014/main" id="{DEA5F5BE-DF8D-B1E2-E27D-1225605FEF5C}"/>
              </a:ext>
            </a:extLst>
          </p:cNvPr>
          <p:cNvSpPr txBox="1"/>
          <p:nvPr/>
        </p:nvSpPr>
        <p:spPr>
          <a:xfrm>
            <a:off x="937682" y="3533778"/>
            <a:ext cx="762581" cy="23019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96" b="1">
                <a:solidFill>
                  <a:srgbClr val="2F3E46"/>
                </a:solidFill>
                <a:latin typeface="Calibri" panose="020F0502020204030204" pitchFamily="34" charset="0"/>
              </a:rPr>
              <a:t>Antrag starten</a:t>
            </a:r>
          </a:p>
        </p:txBody>
      </p:sp>
      <p:sp>
        <p:nvSpPr>
          <p:cNvPr id="55" name="TextBox 16">
            <a:extLst>
              <a:ext uri="{FF2B5EF4-FFF2-40B4-BE49-F238E27FC236}">
                <a16:creationId xmlns:a16="http://schemas.microsoft.com/office/drawing/2014/main" id="{6A9510F3-A77C-9835-B3AC-84C8962F31A1}"/>
              </a:ext>
            </a:extLst>
          </p:cNvPr>
          <p:cNvSpPr txBox="1"/>
          <p:nvPr/>
        </p:nvSpPr>
        <p:spPr>
          <a:xfrm>
            <a:off x="937682" y="3812160"/>
            <a:ext cx="2051395" cy="19499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67">
                <a:solidFill>
                  <a:srgbClr val="5B6A70"/>
                </a:solidFill>
                <a:latin typeface="Calibri" panose="020F0502020204030204" pitchFamily="34" charset="0"/>
              </a:rPr>
              <a:t>Arbeit auswählen · Daten werden automatisch angezeigt</a:t>
            </a:r>
          </a:p>
        </p:txBody>
      </p:sp>
      <p:sp>
        <p:nvSpPr>
          <p:cNvPr id="56" name="TextBox 17">
            <a:extLst>
              <a:ext uri="{FF2B5EF4-FFF2-40B4-BE49-F238E27FC236}">
                <a16:creationId xmlns:a16="http://schemas.microsoft.com/office/drawing/2014/main" id="{E5883C8A-9FEC-02EF-E2FF-EF905B623C92}"/>
              </a:ext>
            </a:extLst>
          </p:cNvPr>
          <p:cNvSpPr txBox="1"/>
          <p:nvPr/>
        </p:nvSpPr>
        <p:spPr>
          <a:xfrm>
            <a:off x="455361" y="4000839"/>
            <a:ext cx="362600" cy="1901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36" b="1">
                <a:solidFill>
                  <a:srgbClr val="4A5C66"/>
                </a:solidFill>
                <a:latin typeface="Calibri" panose="020F0502020204030204" pitchFamily="34" charset="0"/>
              </a:rPr>
              <a:t>5.3.1</a:t>
            </a:r>
          </a:p>
        </p:txBody>
      </p:sp>
      <p:sp>
        <p:nvSpPr>
          <p:cNvPr id="57" name="Rounded Rectangle 18">
            <a:extLst>
              <a:ext uri="{FF2B5EF4-FFF2-40B4-BE49-F238E27FC236}">
                <a16:creationId xmlns:a16="http://schemas.microsoft.com/office/drawing/2014/main" id="{BE925538-3553-CCD0-ACD4-4A296CBFCEFF}"/>
              </a:ext>
            </a:extLst>
          </p:cNvPr>
          <p:cNvSpPr/>
          <p:nvPr/>
        </p:nvSpPr>
        <p:spPr>
          <a:xfrm>
            <a:off x="3286714" y="1473200"/>
            <a:ext cx="2570571" cy="2771746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9D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7"/>
          </a:p>
        </p:txBody>
      </p:sp>
      <p:sp>
        <p:nvSpPr>
          <p:cNvPr id="58" name="Rounded Rectangle 19">
            <a:extLst>
              <a:ext uri="{FF2B5EF4-FFF2-40B4-BE49-F238E27FC236}">
                <a16:creationId xmlns:a16="http://schemas.microsoft.com/office/drawing/2014/main" id="{B952D709-940E-B2A8-9967-D913685F0E5D}"/>
              </a:ext>
            </a:extLst>
          </p:cNvPr>
          <p:cNvSpPr/>
          <p:nvPr/>
        </p:nvSpPr>
        <p:spPr>
          <a:xfrm>
            <a:off x="3346321" y="1532808"/>
            <a:ext cx="2451356" cy="1952144"/>
          </a:xfrm>
          <a:prstGeom prst="roundRect">
            <a:avLst/>
          </a:prstGeom>
          <a:solidFill>
            <a:srgbClr val="FAFBFA"/>
          </a:solidFill>
          <a:ln w="11430">
            <a:solidFill>
              <a:srgbClr val="C9D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7"/>
          </a:p>
        </p:txBody>
      </p:sp>
      <p:sp>
        <p:nvSpPr>
          <p:cNvPr id="59" name="Rounded Rectangle 21">
            <a:extLst>
              <a:ext uri="{FF2B5EF4-FFF2-40B4-BE49-F238E27FC236}">
                <a16:creationId xmlns:a16="http://schemas.microsoft.com/office/drawing/2014/main" id="{51D3AB54-5B8D-8BB5-337D-BEC8D6EAF9D9}"/>
              </a:ext>
            </a:extLst>
          </p:cNvPr>
          <p:cNvSpPr/>
          <p:nvPr/>
        </p:nvSpPr>
        <p:spPr>
          <a:xfrm>
            <a:off x="3376125" y="3581814"/>
            <a:ext cx="298037" cy="178822"/>
          </a:xfrm>
          <a:prstGeom prst="roundRect">
            <a:avLst/>
          </a:prstGeom>
          <a:solidFill>
            <a:srgbClr val="4A5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7"/>
          </a:p>
        </p:txBody>
      </p:sp>
      <p:sp>
        <p:nvSpPr>
          <p:cNvPr id="60" name="TextBox 22">
            <a:extLst>
              <a:ext uri="{FF2B5EF4-FFF2-40B4-BE49-F238E27FC236}">
                <a16:creationId xmlns:a16="http://schemas.microsoft.com/office/drawing/2014/main" id="{B236319C-DDF0-81CC-FFF9-62FF7F80011F}"/>
              </a:ext>
            </a:extLst>
          </p:cNvPr>
          <p:cNvSpPr txBox="1"/>
          <p:nvPr/>
        </p:nvSpPr>
        <p:spPr>
          <a:xfrm>
            <a:off x="3428387" y="3554815"/>
            <a:ext cx="303288" cy="23282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13" b="1">
                <a:solidFill>
                  <a:srgbClr val="FFFFFF"/>
                </a:solidFill>
                <a:latin typeface="Calibri" panose="020F0502020204030204" pitchFamily="34" charset="0"/>
              </a:rPr>
              <a:t>02</a:t>
            </a:r>
          </a:p>
        </p:txBody>
      </p:sp>
      <p:sp>
        <p:nvSpPr>
          <p:cNvPr id="61" name="TextBox 23">
            <a:extLst>
              <a:ext uri="{FF2B5EF4-FFF2-40B4-BE49-F238E27FC236}">
                <a16:creationId xmlns:a16="http://schemas.microsoft.com/office/drawing/2014/main" id="{6C25F4FF-9CE5-DDEC-3F0C-644F77BB0771}"/>
              </a:ext>
            </a:extLst>
          </p:cNvPr>
          <p:cNvSpPr txBox="1"/>
          <p:nvPr/>
        </p:nvSpPr>
        <p:spPr>
          <a:xfrm>
            <a:off x="3858446" y="3533778"/>
            <a:ext cx="1400576" cy="23019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96" b="1">
                <a:solidFill>
                  <a:srgbClr val="2F3E46"/>
                </a:solidFill>
                <a:latin typeface="Calibri" panose="020F0502020204030204" pitchFamily="34" charset="0"/>
              </a:rPr>
              <a:t>Grund angeben &amp; absenden</a:t>
            </a:r>
          </a:p>
        </p:txBody>
      </p:sp>
      <p:sp>
        <p:nvSpPr>
          <p:cNvPr id="62" name="TextBox 24">
            <a:extLst>
              <a:ext uri="{FF2B5EF4-FFF2-40B4-BE49-F238E27FC236}">
                <a16:creationId xmlns:a16="http://schemas.microsoft.com/office/drawing/2014/main" id="{6908071F-59C1-2C4D-9233-496729DEB762}"/>
              </a:ext>
            </a:extLst>
          </p:cNvPr>
          <p:cNvSpPr txBox="1"/>
          <p:nvPr/>
        </p:nvSpPr>
        <p:spPr>
          <a:xfrm>
            <a:off x="3858446" y="3812160"/>
            <a:ext cx="2049792" cy="19499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67" dirty="0" err="1">
                <a:solidFill>
                  <a:srgbClr val="5B6A70"/>
                </a:solidFill>
                <a:latin typeface="Calibri" panose="020F0502020204030204" pitchFamily="34" charset="0"/>
              </a:rPr>
              <a:t>neuer</a:t>
            </a:r>
            <a:r>
              <a:rPr sz="667" dirty="0">
                <a:solidFill>
                  <a:srgbClr val="5B6A70"/>
                </a:solidFill>
                <a:latin typeface="Calibri" panose="020F0502020204030204" pitchFamily="34" charset="0"/>
              </a:rPr>
              <a:t> </a:t>
            </a:r>
            <a:r>
              <a:rPr sz="667" dirty="0" err="1">
                <a:solidFill>
                  <a:srgbClr val="5B6A70"/>
                </a:solidFill>
                <a:latin typeface="Calibri" panose="020F0502020204030204" pitchFamily="34" charset="0"/>
              </a:rPr>
              <a:t>Abgabetermin</a:t>
            </a:r>
            <a:r>
              <a:rPr sz="667" dirty="0">
                <a:solidFill>
                  <a:srgbClr val="5B6A70"/>
                </a:solidFill>
                <a:latin typeface="Calibri" panose="020F0502020204030204" pitchFamily="34" charset="0"/>
              </a:rPr>
              <a:t> </a:t>
            </a:r>
            <a:r>
              <a:rPr sz="667" dirty="0" err="1">
                <a:solidFill>
                  <a:srgbClr val="5B6A70"/>
                </a:solidFill>
                <a:latin typeface="Calibri" panose="020F0502020204030204" pitchFamily="34" charset="0"/>
              </a:rPr>
              <a:t>wird</a:t>
            </a:r>
            <a:r>
              <a:rPr sz="667" dirty="0">
                <a:solidFill>
                  <a:srgbClr val="5B6A70"/>
                </a:solidFill>
                <a:latin typeface="Calibri" panose="020F0502020204030204" pitchFamily="34" charset="0"/>
              </a:rPr>
              <a:t> </a:t>
            </a:r>
            <a:r>
              <a:rPr sz="667" dirty="0" err="1">
                <a:solidFill>
                  <a:srgbClr val="5B6A70"/>
                </a:solidFill>
                <a:latin typeface="Calibri" panose="020F0502020204030204" pitchFamily="34" charset="0"/>
              </a:rPr>
              <a:t>berechnet</a:t>
            </a:r>
            <a:r>
              <a:rPr sz="667" dirty="0">
                <a:solidFill>
                  <a:srgbClr val="5B6A70"/>
                </a:solidFill>
                <a:latin typeface="Calibri" panose="020F0502020204030204" pitchFamily="34" charset="0"/>
              </a:rPr>
              <a:t> · Grund </a:t>
            </a:r>
            <a:r>
              <a:rPr sz="667" dirty="0" err="1">
                <a:solidFill>
                  <a:srgbClr val="5B6A70"/>
                </a:solidFill>
                <a:latin typeface="Calibri" panose="020F0502020204030204" pitchFamily="34" charset="0"/>
              </a:rPr>
              <a:t>ist</a:t>
            </a:r>
            <a:r>
              <a:rPr sz="667" dirty="0">
                <a:solidFill>
                  <a:srgbClr val="5B6A70"/>
                </a:solidFill>
                <a:latin typeface="Calibri" panose="020F0502020204030204" pitchFamily="34" charset="0"/>
              </a:rPr>
              <a:t> </a:t>
            </a:r>
            <a:r>
              <a:rPr sz="667" dirty="0" err="1">
                <a:solidFill>
                  <a:srgbClr val="5B6A70"/>
                </a:solidFill>
                <a:latin typeface="Calibri" panose="020F0502020204030204" pitchFamily="34" charset="0"/>
              </a:rPr>
              <a:t>Pflicht</a:t>
            </a:r>
            <a:endParaRPr sz="667" dirty="0">
              <a:solidFill>
                <a:srgbClr val="5B6A70"/>
              </a:solidFill>
              <a:latin typeface="Calibri" panose="020F0502020204030204" pitchFamily="34" charset="0"/>
            </a:endParaRPr>
          </a:p>
        </p:txBody>
      </p:sp>
      <p:sp>
        <p:nvSpPr>
          <p:cNvPr id="63" name="TextBox 25">
            <a:extLst>
              <a:ext uri="{FF2B5EF4-FFF2-40B4-BE49-F238E27FC236}">
                <a16:creationId xmlns:a16="http://schemas.microsoft.com/office/drawing/2014/main" id="{E256DB51-2057-F970-E936-2039280A4AC8}"/>
              </a:ext>
            </a:extLst>
          </p:cNvPr>
          <p:cNvSpPr txBox="1"/>
          <p:nvPr/>
        </p:nvSpPr>
        <p:spPr>
          <a:xfrm>
            <a:off x="3376125" y="4000839"/>
            <a:ext cx="362600" cy="1901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36" b="1">
                <a:solidFill>
                  <a:srgbClr val="4A5C66"/>
                </a:solidFill>
                <a:latin typeface="Calibri" panose="020F0502020204030204" pitchFamily="34" charset="0"/>
              </a:rPr>
              <a:t>5.3.2</a:t>
            </a:r>
          </a:p>
        </p:txBody>
      </p:sp>
      <p:sp>
        <p:nvSpPr>
          <p:cNvPr id="64" name="Rounded Rectangle 26">
            <a:extLst>
              <a:ext uri="{FF2B5EF4-FFF2-40B4-BE49-F238E27FC236}">
                <a16:creationId xmlns:a16="http://schemas.microsoft.com/office/drawing/2014/main" id="{648193BA-431B-00A2-E370-59950BF22D1E}"/>
              </a:ext>
            </a:extLst>
          </p:cNvPr>
          <p:cNvSpPr/>
          <p:nvPr/>
        </p:nvSpPr>
        <p:spPr>
          <a:xfrm>
            <a:off x="6207479" y="1473200"/>
            <a:ext cx="2570571" cy="2771746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9D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7"/>
          </a:p>
        </p:txBody>
      </p:sp>
      <p:sp>
        <p:nvSpPr>
          <p:cNvPr id="65" name="Rounded Rectangle 27">
            <a:extLst>
              <a:ext uri="{FF2B5EF4-FFF2-40B4-BE49-F238E27FC236}">
                <a16:creationId xmlns:a16="http://schemas.microsoft.com/office/drawing/2014/main" id="{87A72305-AC23-F4D3-7945-5246F82B2B13}"/>
              </a:ext>
            </a:extLst>
          </p:cNvPr>
          <p:cNvSpPr/>
          <p:nvPr/>
        </p:nvSpPr>
        <p:spPr>
          <a:xfrm>
            <a:off x="6267086" y="1532808"/>
            <a:ext cx="2451356" cy="1952144"/>
          </a:xfrm>
          <a:prstGeom prst="roundRect">
            <a:avLst/>
          </a:prstGeom>
          <a:solidFill>
            <a:srgbClr val="FAFBFA"/>
          </a:solidFill>
          <a:ln w="11430">
            <a:solidFill>
              <a:srgbClr val="C9D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7"/>
          </a:p>
        </p:txBody>
      </p:sp>
      <p:sp>
        <p:nvSpPr>
          <p:cNvPr id="66" name="Rounded Rectangle 29">
            <a:extLst>
              <a:ext uri="{FF2B5EF4-FFF2-40B4-BE49-F238E27FC236}">
                <a16:creationId xmlns:a16="http://schemas.microsoft.com/office/drawing/2014/main" id="{003865CB-1FB8-C7C0-3D28-64B533AAF202}"/>
              </a:ext>
            </a:extLst>
          </p:cNvPr>
          <p:cNvSpPr/>
          <p:nvPr/>
        </p:nvSpPr>
        <p:spPr>
          <a:xfrm>
            <a:off x="6296890" y="3581814"/>
            <a:ext cx="298037" cy="178822"/>
          </a:xfrm>
          <a:prstGeom prst="roundRect">
            <a:avLst/>
          </a:prstGeom>
          <a:solidFill>
            <a:srgbClr val="4A5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7"/>
          </a:p>
        </p:txBody>
      </p:sp>
      <p:sp>
        <p:nvSpPr>
          <p:cNvPr id="67" name="TextBox 30">
            <a:extLst>
              <a:ext uri="{FF2B5EF4-FFF2-40B4-BE49-F238E27FC236}">
                <a16:creationId xmlns:a16="http://schemas.microsoft.com/office/drawing/2014/main" id="{AB618742-1EFD-20B7-51A0-FFB639644D1B}"/>
              </a:ext>
            </a:extLst>
          </p:cNvPr>
          <p:cNvSpPr txBox="1"/>
          <p:nvPr/>
        </p:nvSpPr>
        <p:spPr>
          <a:xfrm>
            <a:off x="6349151" y="3554815"/>
            <a:ext cx="303288" cy="23282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13" b="1">
                <a:solidFill>
                  <a:srgbClr val="FFFFFF"/>
                </a:solidFill>
                <a:latin typeface="Calibri" panose="020F0502020204030204" pitchFamily="34" charset="0"/>
              </a:rPr>
              <a:t>03</a:t>
            </a:r>
          </a:p>
        </p:txBody>
      </p:sp>
      <p:sp>
        <p:nvSpPr>
          <p:cNvPr id="68" name="TextBox 31">
            <a:extLst>
              <a:ext uri="{FF2B5EF4-FFF2-40B4-BE49-F238E27FC236}">
                <a16:creationId xmlns:a16="http://schemas.microsoft.com/office/drawing/2014/main" id="{D6A01AEB-4DA4-3EE0-8BB2-EFA527CC681F}"/>
              </a:ext>
            </a:extLst>
          </p:cNvPr>
          <p:cNvSpPr txBox="1"/>
          <p:nvPr/>
        </p:nvSpPr>
        <p:spPr>
          <a:xfrm>
            <a:off x="6779211" y="3533778"/>
            <a:ext cx="682431" cy="23019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96" b="1">
                <a:solidFill>
                  <a:srgbClr val="2F3E46"/>
                </a:solidFill>
                <a:latin typeface="Calibri" panose="020F0502020204030204" pitchFamily="34" charset="0"/>
              </a:rPr>
              <a:t>Status sehen</a:t>
            </a:r>
          </a:p>
        </p:txBody>
      </p:sp>
      <p:sp>
        <p:nvSpPr>
          <p:cNvPr id="69" name="TextBox 32">
            <a:extLst>
              <a:ext uri="{FF2B5EF4-FFF2-40B4-BE49-F238E27FC236}">
                <a16:creationId xmlns:a16="http://schemas.microsoft.com/office/drawing/2014/main" id="{ED72215A-39FF-B400-02E6-F0D4CE94E497}"/>
              </a:ext>
            </a:extLst>
          </p:cNvPr>
          <p:cNvSpPr txBox="1"/>
          <p:nvPr/>
        </p:nvSpPr>
        <p:spPr>
          <a:xfrm>
            <a:off x="6779211" y="3812160"/>
            <a:ext cx="1626599" cy="19499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67" dirty="0" err="1">
                <a:solidFill>
                  <a:srgbClr val="5B6A70"/>
                </a:solidFill>
                <a:latin typeface="Calibri" panose="020F0502020204030204" pitchFamily="34" charset="0"/>
              </a:rPr>
              <a:t>Antrag</a:t>
            </a:r>
            <a:r>
              <a:rPr sz="667" dirty="0">
                <a:solidFill>
                  <a:srgbClr val="5B6A70"/>
                </a:solidFill>
                <a:latin typeface="Calibri" panose="020F0502020204030204" pitchFamily="34" charset="0"/>
              </a:rPr>
              <a:t> </a:t>
            </a:r>
            <a:r>
              <a:rPr sz="667" dirty="0" err="1">
                <a:solidFill>
                  <a:srgbClr val="5B6A70"/>
                </a:solidFill>
                <a:latin typeface="Calibri" panose="020F0502020204030204" pitchFamily="34" charset="0"/>
              </a:rPr>
              <a:t>eingereicht</a:t>
            </a:r>
            <a:r>
              <a:rPr sz="667" dirty="0">
                <a:solidFill>
                  <a:srgbClr val="5B6A70"/>
                </a:solidFill>
                <a:latin typeface="Calibri" panose="020F0502020204030204" pitchFamily="34" charset="0"/>
              </a:rPr>
              <a:t> · </a:t>
            </a:r>
            <a:r>
              <a:rPr sz="667" dirty="0" err="1">
                <a:solidFill>
                  <a:srgbClr val="5B6A70"/>
                </a:solidFill>
                <a:latin typeface="Calibri" panose="020F0502020204030204" pitchFamily="34" charset="0"/>
              </a:rPr>
              <a:t>weitere</a:t>
            </a:r>
            <a:r>
              <a:rPr sz="667" dirty="0">
                <a:solidFill>
                  <a:srgbClr val="5B6A70"/>
                </a:solidFill>
                <a:latin typeface="Calibri" panose="020F0502020204030204" pitchFamily="34" charset="0"/>
              </a:rPr>
              <a:t> </a:t>
            </a:r>
            <a:r>
              <a:rPr sz="667" dirty="0" err="1">
                <a:solidFill>
                  <a:srgbClr val="5B6A70"/>
                </a:solidFill>
                <a:latin typeface="Calibri" panose="020F0502020204030204" pitchFamily="34" charset="0"/>
              </a:rPr>
              <a:t>Schritte</a:t>
            </a:r>
            <a:r>
              <a:rPr sz="667" dirty="0">
                <a:solidFill>
                  <a:srgbClr val="5B6A70"/>
                </a:solidFill>
                <a:latin typeface="Calibri" panose="020F0502020204030204" pitchFamily="34" charset="0"/>
              </a:rPr>
              <a:t> </a:t>
            </a:r>
            <a:r>
              <a:rPr sz="667" dirty="0" err="1">
                <a:solidFill>
                  <a:srgbClr val="5B6A70"/>
                </a:solidFill>
                <a:latin typeface="Calibri" panose="020F0502020204030204" pitchFamily="34" charset="0"/>
              </a:rPr>
              <a:t>folgen</a:t>
            </a:r>
            <a:endParaRPr sz="667" dirty="0">
              <a:solidFill>
                <a:srgbClr val="5B6A70"/>
              </a:solidFill>
              <a:latin typeface="Calibri" panose="020F0502020204030204" pitchFamily="34" charset="0"/>
            </a:endParaRPr>
          </a:p>
        </p:txBody>
      </p:sp>
      <p:sp>
        <p:nvSpPr>
          <p:cNvPr id="70" name="TextBox 33">
            <a:extLst>
              <a:ext uri="{FF2B5EF4-FFF2-40B4-BE49-F238E27FC236}">
                <a16:creationId xmlns:a16="http://schemas.microsoft.com/office/drawing/2014/main" id="{9E442D90-49BE-0A33-8403-F7BDA9F90B86}"/>
              </a:ext>
            </a:extLst>
          </p:cNvPr>
          <p:cNvSpPr txBox="1"/>
          <p:nvPr/>
        </p:nvSpPr>
        <p:spPr>
          <a:xfrm>
            <a:off x="6296890" y="4000839"/>
            <a:ext cx="362600" cy="1901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36" b="1">
                <a:solidFill>
                  <a:srgbClr val="4A5C66"/>
                </a:solidFill>
                <a:latin typeface="Calibri" panose="020F0502020204030204" pitchFamily="34" charset="0"/>
              </a:rPr>
              <a:t>5.3.3</a:t>
            </a:r>
          </a:p>
        </p:txBody>
      </p:sp>
      <p:cxnSp>
        <p:nvCxnSpPr>
          <p:cNvPr id="71" name="Connector 34">
            <a:extLst>
              <a:ext uri="{FF2B5EF4-FFF2-40B4-BE49-F238E27FC236}">
                <a16:creationId xmlns:a16="http://schemas.microsoft.com/office/drawing/2014/main" id="{A13953AF-17F9-B88A-12A2-BE52BD3FA611}"/>
              </a:ext>
            </a:extLst>
          </p:cNvPr>
          <p:cNvCxnSpPr/>
          <p:nvPr/>
        </p:nvCxnSpPr>
        <p:spPr>
          <a:xfrm>
            <a:off x="2996129" y="2628094"/>
            <a:ext cx="230978" cy="0"/>
          </a:xfrm>
          <a:prstGeom prst="line">
            <a:avLst/>
          </a:prstGeom>
          <a:ln w="22860">
            <a:solidFill>
              <a:srgbClr val="80B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35">
            <a:extLst>
              <a:ext uri="{FF2B5EF4-FFF2-40B4-BE49-F238E27FC236}">
                <a16:creationId xmlns:a16="http://schemas.microsoft.com/office/drawing/2014/main" id="{A2AA5B46-AB56-413B-D364-C1ADE2341A5D}"/>
              </a:ext>
            </a:extLst>
          </p:cNvPr>
          <p:cNvCxnSpPr/>
          <p:nvPr/>
        </p:nvCxnSpPr>
        <p:spPr>
          <a:xfrm>
            <a:off x="5916892" y="2628094"/>
            <a:ext cx="230979" cy="0"/>
          </a:xfrm>
          <a:prstGeom prst="line">
            <a:avLst/>
          </a:prstGeom>
          <a:ln w="22860">
            <a:solidFill>
              <a:srgbClr val="80B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3" name="Grafik 72">
            <a:extLst>
              <a:ext uri="{FF2B5EF4-FFF2-40B4-BE49-F238E27FC236}">
                <a16:creationId xmlns:a16="http://schemas.microsoft.com/office/drawing/2014/main" id="{CBBB68CB-D14E-F73D-88AC-848AE7C85C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343" y="1532808"/>
            <a:ext cx="2473571" cy="1952144"/>
          </a:xfrm>
          <a:prstGeom prst="roundRect">
            <a:avLst/>
          </a:prstGeom>
        </p:spPr>
      </p:pic>
      <p:pic>
        <p:nvPicPr>
          <p:cNvPr id="74" name="Grafik 73">
            <a:extLst>
              <a:ext uri="{FF2B5EF4-FFF2-40B4-BE49-F238E27FC236}">
                <a16:creationId xmlns:a16="http://schemas.microsoft.com/office/drawing/2014/main" id="{168636DA-3584-52FA-ED58-B69D5E36DC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6957" y="1513458"/>
            <a:ext cx="2490721" cy="1956593"/>
          </a:xfrm>
          <a:prstGeom prst="roundRect">
            <a:avLst/>
          </a:prstGeom>
        </p:spPr>
      </p:pic>
      <p:pic>
        <p:nvPicPr>
          <p:cNvPr id="75" name="Grafik 74">
            <a:extLst>
              <a:ext uri="{FF2B5EF4-FFF2-40B4-BE49-F238E27FC236}">
                <a16:creationId xmlns:a16="http://schemas.microsoft.com/office/drawing/2014/main" id="{DA7ADB85-3F8F-B878-D8E1-01226289BD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7479" y="1489822"/>
            <a:ext cx="2570571" cy="1991405"/>
          </a:xfrm>
          <a:prstGeom prst="roundRect">
            <a:avLst/>
          </a:prstGeom>
        </p:spPr>
      </p:pic>
      <p:sp>
        <p:nvSpPr>
          <p:cNvPr id="76" name="Rechteck 75">
            <a:extLst>
              <a:ext uri="{FF2B5EF4-FFF2-40B4-BE49-F238E27FC236}">
                <a16:creationId xmlns:a16="http://schemas.microsoft.com/office/drawing/2014/main" id="{B85C1F9E-BC60-B2D5-072A-0344B5EAA7A1}"/>
              </a:ext>
            </a:extLst>
          </p:cNvPr>
          <p:cNvSpPr/>
          <p:nvPr/>
        </p:nvSpPr>
        <p:spPr>
          <a:xfrm>
            <a:off x="365760" y="4346546"/>
            <a:ext cx="8412480" cy="279400"/>
          </a:xfrm>
          <a:prstGeom prst="rect">
            <a:avLst/>
          </a:prstGeom>
          <a:solidFill>
            <a:srgbClr val="EDF5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7" name="Rechteck 76">
            <a:extLst>
              <a:ext uri="{FF2B5EF4-FFF2-40B4-BE49-F238E27FC236}">
                <a16:creationId xmlns:a16="http://schemas.microsoft.com/office/drawing/2014/main" id="{E1098E6B-0D8B-7DFB-4AEC-0B32BB3D7391}"/>
              </a:ext>
            </a:extLst>
          </p:cNvPr>
          <p:cNvSpPr/>
          <p:nvPr/>
        </p:nvSpPr>
        <p:spPr>
          <a:xfrm>
            <a:off x="365760" y="4346546"/>
            <a:ext cx="44450" cy="279400"/>
          </a:xfrm>
          <a:prstGeom prst="rect">
            <a:avLst/>
          </a:prstGeom>
          <a:solidFill>
            <a:srgbClr val="80BA2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8" name="Textfeld 77">
            <a:extLst>
              <a:ext uri="{FF2B5EF4-FFF2-40B4-BE49-F238E27FC236}">
                <a16:creationId xmlns:a16="http://schemas.microsoft.com/office/drawing/2014/main" id="{0CCE73E9-5A7A-7C68-A502-FF02F0BB910E}"/>
              </a:ext>
            </a:extLst>
          </p:cNvPr>
          <p:cNvSpPr txBox="1"/>
          <p:nvPr/>
        </p:nvSpPr>
        <p:spPr>
          <a:xfrm>
            <a:off x="492760" y="4416996"/>
            <a:ext cx="6126480" cy="1384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de-DE" sz="750" b="1">
                <a:solidFill>
                  <a:srgbClr val="4E7F12"/>
                </a:solidFill>
                <a:latin typeface="Calibri" panose="020F0502020204030204" pitchFamily="34" charset="0"/>
              </a:rPr>
              <a:t>PROZESSLOGIK</a:t>
            </a:r>
            <a:r>
              <a:rPr lang="de-DE" sz="900">
                <a:solidFill>
                  <a:srgbClr val="2F3E46"/>
                </a:solidFill>
                <a:latin typeface="Calibri" panose="020F0502020204030204" pitchFamily="34" charset="0"/>
              </a:rPr>
              <a:t>     Arbeit auswählen  →  Antragsdaten prüfen  →  Grund angeben  →  Antrag absenden  →  Status einsehen</a:t>
            </a:r>
          </a:p>
        </p:txBody>
      </p:sp>
      <p:sp>
        <p:nvSpPr>
          <p:cNvPr id="79" name="Textfeld 78">
            <a:extLst>
              <a:ext uri="{FF2B5EF4-FFF2-40B4-BE49-F238E27FC236}">
                <a16:creationId xmlns:a16="http://schemas.microsoft.com/office/drawing/2014/main" id="{2329F30D-79C0-B460-6650-DA5AD70FF1B4}"/>
              </a:ext>
            </a:extLst>
          </p:cNvPr>
          <p:cNvSpPr txBox="1"/>
          <p:nvPr/>
        </p:nvSpPr>
        <p:spPr>
          <a:xfrm>
            <a:off x="6619240" y="4346546"/>
            <a:ext cx="20574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r"/>
            <a:r>
              <a:rPr lang="de-DE" sz="900" b="1">
                <a:solidFill>
                  <a:srgbClr val="4A5C66"/>
                </a:solidFill>
                <a:latin typeface="Calibri" panose="020F0502020204030204" pitchFamily="34" charset="0"/>
              </a:rPr>
              <a:t>Neuer Abgabetermin: 30.01.2027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80B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 6 · DIALOGLANDKARTE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310896"/>
            <a:ext cx="6172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Ablaufdiagramm: Themenfreigabe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55464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5B6A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26</a:t>
            </a:fld>
            <a:endParaRPr lang="en-US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C2A28798-2424-2F55-0CE6-40977A28A5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481" y="838195"/>
            <a:ext cx="5639038" cy="392431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80B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 7 · D2D · THEMENFREIGABE DURCH ERSTPRÜFER:IN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310896"/>
            <a:ext cx="6172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7 Dimensionen im Überblick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55464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5B6A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27</a:t>
            </a:fld>
            <a:endParaRPr lang="en-US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4FE8E767-1772-CC9E-C7AB-7858DCA5459C}"/>
              </a:ext>
            </a:extLst>
          </p:cNvPr>
          <p:cNvSpPr/>
          <p:nvPr/>
        </p:nvSpPr>
        <p:spPr>
          <a:xfrm>
            <a:off x="365591" y="990600"/>
            <a:ext cx="2011168" cy="1636205"/>
          </a:xfrm>
          <a:prstGeom prst="roundRect">
            <a:avLst>
              <a:gd name="adj" fmla="val 2500"/>
            </a:avLst>
          </a:prstGeom>
          <a:solidFill>
            <a:srgbClr val="E4F2C2"/>
          </a:solidFill>
          <a:ln/>
        </p:spPr>
        <p:txBody>
          <a:bodyPr/>
          <a:lstStyle/>
          <a:p>
            <a:endParaRPr lang="de-DE" sz="1342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6DD4122D-62B7-953A-A07F-07F44229A121}"/>
              </a:ext>
            </a:extLst>
          </p:cNvPr>
          <p:cNvSpPr/>
          <p:nvPr/>
        </p:nvSpPr>
        <p:spPr>
          <a:xfrm>
            <a:off x="501942" y="1126951"/>
            <a:ext cx="306788" cy="306788"/>
          </a:xfrm>
          <a:prstGeom prst="rect">
            <a:avLst/>
          </a:prstGeom>
          <a:solidFill>
            <a:srgbClr val="A97C00"/>
          </a:solidFill>
          <a:ln/>
        </p:spPr>
        <p:txBody>
          <a:bodyPr/>
          <a:lstStyle/>
          <a:p>
            <a:endParaRPr lang="de-DE" sz="1342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AE3093C5-C4AA-A3B2-A5A5-0F1A915036F9}"/>
              </a:ext>
            </a:extLst>
          </p:cNvPr>
          <p:cNvSpPr txBox="1"/>
          <p:nvPr/>
        </p:nvSpPr>
        <p:spPr>
          <a:xfrm>
            <a:off x="501942" y="1126951"/>
            <a:ext cx="306788" cy="306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93" b="1" dirty="0">
                <a:solidFill>
                  <a:srgbClr val="FFFFFF"/>
                </a:solidFill>
                <a:latin typeface="Calibri" panose="020F0502020204030204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93" dirty="0">
              <a:latin typeface="Calibri" panose="020F0502020204030204" pitchFamily="34" charset="0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20BFB8AF-29DB-D781-9464-825D038052AA}"/>
              </a:ext>
            </a:extLst>
          </p:cNvPr>
          <p:cNvSpPr txBox="1"/>
          <p:nvPr/>
        </p:nvSpPr>
        <p:spPr>
          <a:xfrm>
            <a:off x="910993" y="1126951"/>
            <a:ext cx="1329416" cy="306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42" b="1" dirty="0">
                <a:solidFill>
                  <a:srgbClr val="2F3E46"/>
                </a:solidFill>
                <a:latin typeface="Calibri" panose="020F0502020204030204" pitchFamily="34" charset="0"/>
                <a:ea typeface="Cambria" pitchFamily="34" charset="-122"/>
                <a:cs typeface="Cambria" pitchFamily="34" charset="-120"/>
              </a:rPr>
              <a:t>User</a:t>
            </a:r>
            <a:endParaRPr lang="en-US" sz="1342" dirty="0">
              <a:solidFill>
                <a:srgbClr val="2F3E46"/>
              </a:solidFill>
              <a:latin typeface="Calibri" panose="020F0502020204030204" pitchFamily="34" charset="0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5CBB062F-976F-E357-986D-A6540549FDF3}"/>
              </a:ext>
            </a:extLst>
          </p:cNvPr>
          <p:cNvSpPr txBox="1"/>
          <p:nvPr/>
        </p:nvSpPr>
        <p:spPr>
          <a:xfrm>
            <a:off x="501942" y="1570090"/>
            <a:ext cx="1738467" cy="954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69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Erstprüfer:</a:t>
            </a:r>
            <a:r>
              <a:rPr lang="en-US" sz="969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(Walter Weiß), </a:t>
            </a:r>
            <a:r>
              <a:rPr lang="en-US" sz="969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Studierende:</a:t>
            </a:r>
            <a:r>
              <a:rPr lang="en-US" sz="969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(Jonas Rosamann)</a:t>
            </a:r>
            <a:endParaRPr lang="en-US" sz="969" dirty="0">
              <a:solidFill>
                <a:srgbClr val="2F3E46"/>
              </a:solidFill>
            </a:endParaRP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64CB567F-C424-E8C8-E26D-88BEB1F6866F}"/>
              </a:ext>
            </a:extLst>
          </p:cNvPr>
          <p:cNvSpPr/>
          <p:nvPr/>
        </p:nvSpPr>
        <p:spPr>
          <a:xfrm>
            <a:off x="2499475" y="990600"/>
            <a:ext cx="2011168" cy="1636205"/>
          </a:xfrm>
          <a:prstGeom prst="roundRect">
            <a:avLst>
              <a:gd name="adj" fmla="val 2500"/>
            </a:avLst>
          </a:prstGeom>
          <a:solidFill>
            <a:srgbClr val="E4F2C2"/>
          </a:solidFill>
          <a:ln/>
        </p:spPr>
        <p:txBody>
          <a:bodyPr/>
          <a:lstStyle/>
          <a:p>
            <a:endParaRPr lang="de-DE" sz="1342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AF1779E5-FC69-F499-34DF-C42A9808E8EB}"/>
              </a:ext>
            </a:extLst>
          </p:cNvPr>
          <p:cNvSpPr/>
          <p:nvPr/>
        </p:nvSpPr>
        <p:spPr>
          <a:xfrm>
            <a:off x="2635825" y="1126951"/>
            <a:ext cx="306788" cy="306788"/>
          </a:xfrm>
          <a:prstGeom prst="rect">
            <a:avLst/>
          </a:prstGeom>
          <a:solidFill>
            <a:srgbClr val="7B2D9B"/>
          </a:solidFill>
          <a:ln/>
        </p:spPr>
        <p:txBody>
          <a:bodyPr/>
          <a:lstStyle/>
          <a:p>
            <a:endParaRPr lang="de-DE" sz="1342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FE21BBE8-1D58-BC0E-70B2-CA6290EC29B6}"/>
              </a:ext>
            </a:extLst>
          </p:cNvPr>
          <p:cNvSpPr txBox="1"/>
          <p:nvPr/>
        </p:nvSpPr>
        <p:spPr>
          <a:xfrm>
            <a:off x="2635825" y="1126951"/>
            <a:ext cx="306788" cy="306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93" b="1" dirty="0">
                <a:solidFill>
                  <a:srgbClr val="FFFFFF"/>
                </a:solidFill>
                <a:latin typeface="Calibri" panose="020F0502020204030204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93" dirty="0">
              <a:latin typeface="Calibri" panose="020F0502020204030204" pitchFamily="34" charset="0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949336E2-2A2B-6C11-1C72-536F55324BCA}"/>
              </a:ext>
            </a:extLst>
          </p:cNvPr>
          <p:cNvSpPr txBox="1"/>
          <p:nvPr/>
        </p:nvSpPr>
        <p:spPr>
          <a:xfrm>
            <a:off x="3044876" y="1126951"/>
            <a:ext cx="1329416" cy="306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42" b="1" dirty="0">
                <a:solidFill>
                  <a:srgbClr val="2F3E46"/>
                </a:solidFill>
                <a:latin typeface="Calibri" panose="020F0502020204030204" pitchFamily="34" charset="0"/>
                <a:ea typeface="Cambria" pitchFamily="34" charset="-122"/>
                <a:cs typeface="Cambria" pitchFamily="34" charset="-120"/>
              </a:rPr>
              <a:t>Interface</a:t>
            </a:r>
            <a:endParaRPr lang="en-US" sz="1342" dirty="0">
              <a:solidFill>
                <a:srgbClr val="2F3E46"/>
              </a:solidFill>
              <a:latin typeface="Calibri" panose="020F0502020204030204" pitchFamily="34" charset="0"/>
            </a:endParaRP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22C0ECB7-49BA-47A5-5EC2-A2ABBA6AD244}"/>
              </a:ext>
            </a:extLst>
          </p:cNvPr>
          <p:cNvSpPr txBox="1"/>
          <p:nvPr/>
        </p:nvSpPr>
        <p:spPr>
          <a:xfrm>
            <a:off x="2635825" y="1570090"/>
            <a:ext cx="1738467" cy="954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69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 zum Aufrufen, Prüfen, Bestätigen und Freigeben des Themas</a:t>
            </a:r>
            <a:endParaRPr lang="en-US" sz="969" dirty="0">
              <a:solidFill>
                <a:srgbClr val="2F3E46"/>
              </a:solidFill>
            </a:endParaRPr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99510F59-0BEE-CD97-644B-F7C62FF40995}"/>
              </a:ext>
            </a:extLst>
          </p:cNvPr>
          <p:cNvSpPr/>
          <p:nvPr/>
        </p:nvSpPr>
        <p:spPr>
          <a:xfrm>
            <a:off x="4633357" y="990600"/>
            <a:ext cx="2011168" cy="1636205"/>
          </a:xfrm>
          <a:prstGeom prst="roundRect">
            <a:avLst>
              <a:gd name="adj" fmla="val 2500"/>
            </a:avLst>
          </a:prstGeom>
          <a:solidFill>
            <a:srgbClr val="E4F2C2"/>
          </a:solidFill>
          <a:ln/>
        </p:spPr>
        <p:txBody>
          <a:bodyPr/>
          <a:lstStyle/>
          <a:p>
            <a:endParaRPr lang="de-DE" sz="1342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9E0C9473-2AAB-0C43-88CE-F561B21ACA27}"/>
              </a:ext>
            </a:extLst>
          </p:cNvPr>
          <p:cNvSpPr/>
          <p:nvPr/>
        </p:nvSpPr>
        <p:spPr>
          <a:xfrm>
            <a:off x="4769708" y="1126951"/>
            <a:ext cx="306788" cy="306788"/>
          </a:xfrm>
          <a:prstGeom prst="rect">
            <a:avLst/>
          </a:prstGeom>
          <a:solidFill>
            <a:srgbClr val="2E8B4F"/>
          </a:solidFill>
          <a:ln/>
        </p:spPr>
        <p:txBody>
          <a:bodyPr/>
          <a:lstStyle/>
          <a:p>
            <a:endParaRPr lang="de-DE" sz="1342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626D30B0-3D3E-22BD-E244-2F9A9D904C82}"/>
              </a:ext>
            </a:extLst>
          </p:cNvPr>
          <p:cNvSpPr txBox="1"/>
          <p:nvPr/>
        </p:nvSpPr>
        <p:spPr>
          <a:xfrm>
            <a:off x="4769708" y="1126951"/>
            <a:ext cx="306788" cy="306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93" b="1" dirty="0">
                <a:solidFill>
                  <a:srgbClr val="FFFFFF"/>
                </a:solidFill>
                <a:latin typeface="Calibri" panose="020F0502020204030204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93" dirty="0">
              <a:latin typeface="Calibri" panose="020F0502020204030204" pitchFamily="34" charset="0"/>
            </a:endParaRPr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41BCFC2E-C78C-1F98-AAD3-1CD5804A46F4}"/>
              </a:ext>
            </a:extLst>
          </p:cNvPr>
          <p:cNvSpPr txBox="1"/>
          <p:nvPr/>
        </p:nvSpPr>
        <p:spPr>
          <a:xfrm>
            <a:off x="5178759" y="1126951"/>
            <a:ext cx="1329416" cy="306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42" b="1" dirty="0">
                <a:solidFill>
                  <a:srgbClr val="2F3E46"/>
                </a:solidFill>
                <a:latin typeface="Calibri" panose="020F0502020204030204" pitchFamily="34" charset="0"/>
                <a:ea typeface="Cambria" pitchFamily="34" charset="-122"/>
                <a:cs typeface="Cambria" pitchFamily="34" charset="-120"/>
              </a:rPr>
              <a:t>Action</a:t>
            </a:r>
            <a:endParaRPr lang="en-US" sz="1342" dirty="0">
              <a:solidFill>
                <a:srgbClr val="2F3E46"/>
              </a:solidFill>
              <a:latin typeface="Calibri" panose="020F0502020204030204" pitchFamily="34" charset="0"/>
            </a:endParaRPr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2DBCFA67-E6BF-56F5-4BC2-3CAFEF777457}"/>
              </a:ext>
            </a:extLst>
          </p:cNvPr>
          <p:cNvSpPr txBox="1"/>
          <p:nvPr/>
        </p:nvSpPr>
        <p:spPr>
          <a:xfrm>
            <a:off x="4769708" y="1570090"/>
            <a:ext cx="1738467" cy="954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69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 aufrufen, prüfen, bestätigen und freigeben; sonst Änderungswunsch eintragen</a:t>
            </a:r>
            <a:endParaRPr lang="en-US" sz="969" dirty="0">
              <a:solidFill>
                <a:srgbClr val="2F3E46"/>
              </a:solidFill>
            </a:endParaRPr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D401583D-03BC-8A9D-5F03-07C21CCA052A}"/>
              </a:ext>
            </a:extLst>
          </p:cNvPr>
          <p:cNvSpPr/>
          <p:nvPr/>
        </p:nvSpPr>
        <p:spPr>
          <a:xfrm>
            <a:off x="6767241" y="990600"/>
            <a:ext cx="2011168" cy="1636205"/>
          </a:xfrm>
          <a:prstGeom prst="roundRect">
            <a:avLst>
              <a:gd name="adj" fmla="val 2500"/>
            </a:avLst>
          </a:prstGeom>
          <a:solidFill>
            <a:srgbClr val="E4F2C2"/>
          </a:solidFill>
          <a:ln/>
        </p:spPr>
        <p:txBody>
          <a:bodyPr/>
          <a:lstStyle/>
          <a:p>
            <a:endParaRPr lang="de-DE" sz="1342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B6F1B402-ACC5-7FDE-09F5-158603FED6A1}"/>
              </a:ext>
            </a:extLst>
          </p:cNvPr>
          <p:cNvSpPr/>
          <p:nvPr/>
        </p:nvSpPr>
        <p:spPr>
          <a:xfrm>
            <a:off x="6903592" y="1126951"/>
            <a:ext cx="306788" cy="306788"/>
          </a:xfrm>
          <a:prstGeom prst="rect">
            <a:avLst/>
          </a:prstGeom>
          <a:solidFill>
            <a:srgbClr val="2A74C2"/>
          </a:solidFill>
          <a:ln/>
        </p:spPr>
        <p:txBody>
          <a:bodyPr/>
          <a:lstStyle/>
          <a:p>
            <a:endParaRPr lang="de-DE" sz="1342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AA08A119-DF72-F71A-25C8-6C128079F922}"/>
              </a:ext>
            </a:extLst>
          </p:cNvPr>
          <p:cNvSpPr txBox="1"/>
          <p:nvPr/>
        </p:nvSpPr>
        <p:spPr>
          <a:xfrm>
            <a:off x="6903592" y="1126951"/>
            <a:ext cx="306788" cy="306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93" b="1" dirty="0">
                <a:solidFill>
                  <a:srgbClr val="FFFFFF"/>
                </a:solidFill>
                <a:latin typeface="Calibri" panose="020F0502020204030204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93" dirty="0">
              <a:latin typeface="Calibri" panose="020F0502020204030204" pitchFamily="34" charset="0"/>
            </a:endParaRPr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12CC3B65-03A8-7AD9-48EB-3F8C50B86671}"/>
              </a:ext>
            </a:extLst>
          </p:cNvPr>
          <p:cNvSpPr txBox="1"/>
          <p:nvPr/>
        </p:nvSpPr>
        <p:spPr>
          <a:xfrm>
            <a:off x="7312643" y="1126951"/>
            <a:ext cx="1329416" cy="306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42" b="1" dirty="0">
                <a:solidFill>
                  <a:srgbClr val="2F3E46"/>
                </a:solidFill>
                <a:latin typeface="Calibri" panose="020F0502020204030204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1342" dirty="0">
              <a:solidFill>
                <a:srgbClr val="2F3E46"/>
              </a:solidFill>
              <a:latin typeface="Calibri" panose="020F0502020204030204" pitchFamily="34" charset="0"/>
            </a:endParaRPr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05265186-30F0-42A8-6624-C7E02BC7BAF9}"/>
              </a:ext>
            </a:extLst>
          </p:cNvPr>
          <p:cNvSpPr txBox="1"/>
          <p:nvPr/>
        </p:nvSpPr>
        <p:spPr>
          <a:xfrm>
            <a:off x="6903592" y="1570090"/>
            <a:ext cx="1738467" cy="954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69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Antrag, Thema, Themenfreigabe, Erstprüfer:in und Studierende:r</a:t>
            </a:r>
            <a:endParaRPr lang="en-US" sz="969" dirty="0">
              <a:solidFill>
                <a:srgbClr val="2F3E46"/>
              </a:solidFill>
            </a:endParaRPr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9DDEB0D8-EF14-7E41-9265-C5212298A30D}"/>
              </a:ext>
            </a:extLst>
          </p:cNvPr>
          <p:cNvSpPr/>
          <p:nvPr/>
        </p:nvSpPr>
        <p:spPr>
          <a:xfrm>
            <a:off x="365591" y="2776790"/>
            <a:ext cx="2011168" cy="1636205"/>
          </a:xfrm>
          <a:prstGeom prst="roundRect">
            <a:avLst>
              <a:gd name="adj" fmla="val 2500"/>
            </a:avLst>
          </a:prstGeom>
          <a:solidFill>
            <a:srgbClr val="E4F2C2"/>
          </a:solidFill>
          <a:ln/>
        </p:spPr>
        <p:txBody>
          <a:bodyPr/>
          <a:lstStyle/>
          <a:p>
            <a:endParaRPr lang="de-DE" sz="1342"/>
          </a:p>
        </p:txBody>
      </p:sp>
      <p:sp>
        <p:nvSpPr>
          <p:cNvPr id="26" name="Shape 22">
            <a:extLst>
              <a:ext uri="{FF2B5EF4-FFF2-40B4-BE49-F238E27FC236}">
                <a16:creationId xmlns:a16="http://schemas.microsoft.com/office/drawing/2014/main" id="{C1967D6A-9A92-9619-D52A-6609B1E69F5F}"/>
              </a:ext>
            </a:extLst>
          </p:cNvPr>
          <p:cNvSpPr/>
          <p:nvPr/>
        </p:nvSpPr>
        <p:spPr>
          <a:xfrm>
            <a:off x="501942" y="2913141"/>
            <a:ext cx="306788" cy="30678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de-DE" sz="1342"/>
          </a:p>
        </p:txBody>
      </p:sp>
      <p:sp>
        <p:nvSpPr>
          <p:cNvPr id="27" name="Text 23">
            <a:extLst>
              <a:ext uri="{FF2B5EF4-FFF2-40B4-BE49-F238E27FC236}">
                <a16:creationId xmlns:a16="http://schemas.microsoft.com/office/drawing/2014/main" id="{4C5CE663-0594-CA7E-8103-116121E9B2D6}"/>
              </a:ext>
            </a:extLst>
          </p:cNvPr>
          <p:cNvSpPr txBox="1"/>
          <p:nvPr/>
        </p:nvSpPr>
        <p:spPr>
          <a:xfrm>
            <a:off x="501942" y="2913141"/>
            <a:ext cx="306788" cy="306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93" b="1" dirty="0">
                <a:solidFill>
                  <a:srgbClr val="FFFFFF"/>
                </a:solidFill>
                <a:latin typeface="Calibri" panose="020F0502020204030204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193" dirty="0">
              <a:latin typeface="Calibri" panose="020F0502020204030204" pitchFamily="34" charset="0"/>
            </a:endParaRPr>
          </a:p>
        </p:txBody>
      </p:sp>
      <p:sp>
        <p:nvSpPr>
          <p:cNvPr id="28" name="Text 24">
            <a:extLst>
              <a:ext uri="{FF2B5EF4-FFF2-40B4-BE49-F238E27FC236}">
                <a16:creationId xmlns:a16="http://schemas.microsoft.com/office/drawing/2014/main" id="{85D12E52-AF7F-4109-9A64-53D15F1C841A}"/>
              </a:ext>
            </a:extLst>
          </p:cNvPr>
          <p:cNvSpPr txBox="1"/>
          <p:nvPr/>
        </p:nvSpPr>
        <p:spPr>
          <a:xfrm>
            <a:off x="910993" y="2913141"/>
            <a:ext cx="1329416" cy="306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42" b="1" dirty="0">
                <a:solidFill>
                  <a:srgbClr val="2F3E46"/>
                </a:solidFill>
                <a:latin typeface="Calibri" panose="020F0502020204030204" pitchFamily="34" charset="0"/>
                <a:ea typeface="Cambria" pitchFamily="34" charset="-122"/>
                <a:cs typeface="Cambria" pitchFamily="34" charset="-120"/>
              </a:rPr>
              <a:t>Control</a:t>
            </a:r>
            <a:endParaRPr lang="en-US" sz="1342" dirty="0">
              <a:solidFill>
                <a:srgbClr val="2F3E46"/>
              </a:solidFill>
              <a:latin typeface="Calibri" panose="020F0502020204030204" pitchFamily="34" charset="0"/>
            </a:endParaRPr>
          </a:p>
        </p:txBody>
      </p:sp>
      <p:sp>
        <p:nvSpPr>
          <p:cNvPr id="29" name="Text 25">
            <a:extLst>
              <a:ext uri="{FF2B5EF4-FFF2-40B4-BE49-F238E27FC236}">
                <a16:creationId xmlns:a16="http://schemas.microsoft.com/office/drawing/2014/main" id="{22C517A6-7C0A-6466-4E5E-240BC9034078}"/>
              </a:ext>
            </a:extLst>
          </p:cNvPr>
          <p:cNvSpPr txBox="1"/>
          <p:nvPr/>
        </p:nvSpPr>
        <p:spPr>
          <a:xfrm>
            <a:off x="501942" y="3356280"/>
            <a:ext cx="1738467" cy="954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69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 die zugeordnete Erstprüfer:in gibt frei, nach Annahme durch den Prüfungsausschuss; Themenfreigabe mit Zeitpunkt speichern</a:t>
            </a:r>
            <a:endParaRPr lang="en-US" sz="969" dirty="0">
              <a:solidFill>
                <a:srgbClr val="2F3E46"/>
              </a:solidFill>
            </a:endParaRPr>
          </a:p>
        </p:txBody>
      </p:sp>
      <p:sp>
        <p:nvSpPr>
          <p:cNvPr id="30" name="Shape 26">
            <a:extLst>
              <a:ext uri="{FF2B5EF4-FFF2-40B4-BE49-F238E27FC236}">
                <a16:creationId xmlns:a16="http://schemas.microsoft.com/office/drawing/2014/main" id="{08EE8D1F-6D32-F5CB-1647-F0045F4DD503}"/>
              </a:ext>
            </a:extLst>
          </p:cNvPr>
          <p:cNvSpPr/>
          <p:nvPr/>
        </p:nvSpPr>
        <p:spPr>
          <a:xfrm>
            <a:off x="2499475" y="2776790"/>
            <a:ext cx="2011168" cy="1636205"/>
          </a:xfrm>
          <a:prstGeom prst="roundRect">
            <a:avLst>
              <a:gd name="adj" fmla="val 2500"/>
            </a:avLst>
          </a:prstGeom>
          <a:solidFill>
            <a:srgbClr val="E4F2C2"/>
          </a:solidFill>
          <a:ln/>
        </p:spPr>
        <p:txBody>
          <a:bodyPr/>
          <a:lstStyle/>
          <a:p>
            <a:endParaRPr lang="de-DE" sz="1342"/>
          </a:p>
        </p:txBody>
      </p:sp>
      <p:sp>
        <p:nvSpPr>
          <p:cNvPr id="31" name="Shape 27">
            <a:extLst>
              <a:ext uri="{FF2B5EF4-FFF2-40B4-BE49-F238E27FC236}">
                <a16:creationId xmlns:a16="http://schemas.microsoft.com/office/drawing/2014/main" id="{07B1EE45-3F5A-7FD8-5CA5-818F08A2D49B}"/>
              </a:ext>
            </a:extLst>
          </p:cNvPr>
          <p:cNvSpPr/>
          <p:nvPr/>
        </p:nvSpPr>
        <p:spPr>
          <a:xfrm>
            <a:off x="2635825" y="2913141"/>
            <a:ext cx="306788" cy="306788"/>
          </a:xfrm>
          <a:prstGeom prst="rect">
            <a:avLst/>
          </a:prstGeom>
          <a:solidFill>
            <a:srgbClr val="222222"/>
          </a:solidFill>
          <a:ln/>
        </p:spPr>
        <p:txBody>
          <a:bodyPr/>
          <a:lstStyle/>
          <a:p>
            <a:endParaRPr lang="de-DE" sz="1342"/>
          </a:p>
        </p:txBody>
      </p:sp>
      <p:sp>
        <p:nvSpPr>
          <p:cNvPr id="32" name="Text 28">
            <a:extLst>
              <a:ext uri="{FF2B5EF4-FFF2-40B4-BE49-F238E27FC236}">
                <a16:creationId xmlns:a16="http://schemas.microsoft.com/office/drawing/2014/main" id="{DAC9D040-C2AD-7D58-D894-2B4E8752972E}"/>
              </a:ext>
            </a:extLst>
          </p:cNvPr>
          <p:cNvSpPr txBox="1"/>
          <p:nvPr/>
        </p:nvSpPr>
        <p:spPr>
          <a:xfrm>
            <a:off x="2635825" y="2913141"/>
            <a:ext cx="306788" cy="306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93" b="1" dirty="0">
                <a:solidFill>
                  <a:srgbClr val="FFFFFF"/>
                </a:solidFill>
                <a:latin typeface="Calibri" panose="020F0502020204030204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193" dirty="0">
              <a:latin typeface="Calibri" panose="020F0502020204030204" pitchFamily="34" charset="0"/>
            </a:endParaRPr>
          </a:p>
        </p:txBody>
      </p:sp>
      <p:sp>
        <p:nvSpPr>
          <p:cNvPr id="33" name="Text 29">
            <a:extLst>
              <a:ext uri="{FF2B5EF4-FFF2-40B4-BE49-F238E27FC236}">
                <a16:creationId xmlns:a16="http://schemas.microsoft.com/office/drawing/2014/main" id="{221D269A-41EA-5FD3-19ED-097F1702F2A6}"/>
              </a:ext>
            </a:extLst>
          </p:cNvPr>
          <p:cNvSpPr txBox="1"/>
          <p:nvPr/>
        </p:nvSpPr>
        <p:spPr>
          <a:xfrm>
            <a:off x="3044876" y="2913141"/>
            <a:ext cx="1329416" cy="306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42" b="1" dirty="0">
                <a:solidFill>
                  <a:srgbClr val="2F3E46"/>
                </a:solidFill>
                <a:latin typeface="Calibri" panose="020F0502020204030204" pitchFamily="34" charset="0"/>
                <a:ea typeface="Cambria" pitchFamily="34" charset="-122"/>
                <a:cs typeface="Cambria" pitchFamily="34" charset="-120"/>
              </a:rPr>
              <a:t>Environment</a:t>
            </a:r>
            <a:endParaRPr lang="en-US" sz="1342" dirty="0">
              <a:solidFill>
                <a:srgbClr val="2F3E46"/>
              </a:solidFill>
              <a:latin typeface="Calibri" panose="020F0502020204030204" pitchFamily="34" charset="0"/>
            </a:endParaRPr>
          </a:p>
        </p:txBody>
      </p:sp>
      <p:sp>
        <p:nvSpPr>
          <p:cNvPr id="34" name="Text 30">
            <a:extLst>
              <a:ext uri="{FF2B5EF4-FFF2-40B4-BE49-F238E27FC236}">
                <a16:creationId xmlns:a16="http://schemas.microsoft.com/office/drawing/2014/main" id="{AA17F19B-3C5D-4E90-4B2B-8B2A806E5619}"/>
              </a:ext>
            </a:extLst>
          </p:cNvPr>
          <p:cNvSpPr txBox="1"/>
          <p:nvPr/>
        </p:nvSpPr>
        <p:spPr>
          <a:xfrm>
            <a:off x="2635825" y="3356280"/>
            <a:ext cx="1738467" cy="954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69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am Desktop; THM-Login und E-Mail-Dienst</a:t>
            </a:r>
            <a:endParaRPr lang="en-US" sz="969" dirty="0">
              <a:solidFill>
                <a:srgbClr val="2F3E46"/>
              </a:solidFill>
            </a:endParaRPr>
          </a:p>
        </p:txBody>
      </p:sp>
      <p:sp>
        <p:nvSpPr>
          <p:cNvPr id="35" name="Shape 31">
            <a:extLst>
              <a:ext uri="{FF2B5EF4-FFF2-40B4-BE49-F238E27FC236}">
                <a16:creationId xmlns:a16="http://schemas.microsoft.com/office/drawing/2014/main" id="{259FBDC6-230D-AA96-897C-AAC3E90D0685}"/>
              </a:ext>
            </a:extLst>
          </p:cNvPr>
          <p:cNvSpPr/>
          <p:nvPr/>
        </p:nvSpPr>
        <p:spPr>
          <a:xfrm>
            <a:off x="4633357" y="2776790"/>
            <a:ext cx="2011168" cy="1636205"/>
          </a:xfrm>
          <a:prstGeom prst="roundRect">
            <a:avLst>
              <a:gd name="adj" fmla="val 2500"/>
            </a:avLst>
          </a:prstGeom>
          <a:solidFill>
            <a:srgbClr val="E4F2C2"/>
          </a:solidFill>
          <a:ln/>
        </p:spPr>
        <p:txBody>
          <a:bodyPr/>
          <a:lstStyle/>
          <a:p>
            <a:endParaRPr lang="de-DE" sz="1342"/>
          </a:p>
        </p:txBody>
      </p:sp>
      <p:sp>
        <p:nvSpPr>
          <p:cNvPr id="36" name="Shape 32">
            <a:extLst>
              <a:ext uri="{FF2B5EF4-FFF2-40B4-BE49-F238E27FC236}">
                <a16:creationId xmlns:a16="http://schemas.microsoft.com/office/drawing/2014/main" id="{FA24C973-666D-7C48-082A-155A0CE419B4}"/>
              </a:ext>
            </a:extLst>
          </p:cNvPr>
          <p:cNvSpPr/>
          <p:nvPr/>
        </p:nvSpPr>
        <p:spPr>
          <a:xfrm>
            <a:off x="4769708" y="2913141"/>
            <a:ext cx="306788" cy="306788"/>
          </a:xfrm>
          <a:prstGeom prst="rect">
            <a:avLst/>
          </a:prstGeom>
          <a:solidFill>
            <a:srgbClr val="6B7378"/>
          </a:solidFill>
          <a:ln/>
        </p:spPr>
        <p:txBody>
          <a:bodyPr/>
          <a:lstStyle/>
          <a:p>
            <a:endParaRPr lang="de-DE" sz="1342"/>
          </a:p>
        </p:txBody>
      </p:sp>
      <p:sp>
        <p:nvSpPr>
          <p:cNvPr id="37" name="Text 33">
            <a:extLst>
              <a:ext uri="{FF2B5EF4-FFF2-40B4-BE49-F238E27FC236}">
                <a16:creationId xmlns:a16="http://schemas.microsoft.com/office/drawing/2014/main" id="{6399A71D-24BA-78AE-C4C6-FB6FBAE95248}"/>
              </a:ext>
            </a:extLst>
          </p:cNvPr>
          <p:cNvSpPr txBox="1"/>
          <p:nvPr/>
        </p:nvSpPr>
        <p:spPr>
          <a:xfrm>
            <a:off x="4769708" y="2913141"/>
            <a:ext cx="306788" cy="306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93" b="1" dirty="0">
                <a:solidFill>
                  <a:srgbClr val="FFFFFF"/>
                </a:solidFill>
                <a:latin typeface="Calibri" panose="020F0502020204030204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193" dirty="0">
              <a:latin typeface="Calibri" panose="020F0502020204030204" pitchFamily="34" charset="0"/>
            </a:endParaRPr>
          </a:p>
        </p:txBody>
      </p:sp>
      <p:sp>
        <p:nvSpPr>
          <p:cNvPr id="38" name="Text 34">
            <a:extLst>
              <a:ext uri="{FF2B5EF4-FFF2-40B4-BE49-F238E27FC236}">
                <a16:creationId xmlns:a16="http://schemas.microsoft.com/office/drawing/2014/main" id="{8BF778D9-FE85-1A45-8AD3-698216729D7C}"/>
              </a:ext>
            </a:extLst>
          </p:cNvPr>
          <p:cNvSpPr txBox="1"/>
          <p:nvPr/>
        </p:nvSpPr>
        <p:spPr>
          <a:xfrm>
            <a:off x="5178759" y="2913141"/>
            <a:ext cx="1329416" cy="306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42" b="1" dirty="0">
                <a:solidFill>
                  <a:srgbClr val="2F3E46"/>
                </a:solidFill>
                <a:latin typeface="Calibri" panose="020F0502020204030204" pitchFamily="34" charset="0"/>
                <a:ea typeface="Cambria" pitchFamily="34" charset="-122"/>
                <a:cs typeface="Cambria" pitchFamily="34" charset="-120"/>
              </a:rPr>
              <a:t>Quality Attributes</a:t>
            </a:r>
            <a:endParaRPr lang="en-US" sz="1342" dirty="0">
              <a:solidFill>
                <a:srgbClr val="2F3E46"/>
              </a:solidFill>
              <a:latin typeface="Calibri" panose="020F0502020204030204" pitchFamily="34" charset="0"/>
            </a:endParaRPr>
          </a:p>
        </p:txBody>
      </p:sp>
      <p:sp>
        <p:nvSpPr>
          <p:cNvPr id="39" name="Text 35">
            <a:extLst>
              <a:ext uri="{FF2B5EF4-FFF2-40B4-BE49-F238E27FC236}">
                <a16:creationId xmlns:a16="http://schemas.microsoft.com/office/drawing/2014/main" id="{9082FB11-0842-6169-8BC6-6377266176EC}"/>
              </a:ext>
            </a:extLst>
          </p:cNvPr>
          <p:cNvSpPr txBox="1"/>
          <p:nvPr/>
        </p:nvSpPr>
        <p:spPr>
          <a:xfrm>
            <a:off x="4769708" y="3356280"/>
            <a:ext cx="1738467" cy="954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69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Sicherheit, Zuverlässigkeit, Benutzbarkeit, Effizienz</a:t>
            </a:r>
            <a:endParaRPr lang="en-US" sz="969" dirty="0">
              <a:solidFill>
                <a:srgbClr val="2F3E46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80B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 7 · D2D · THEMENFREIGABE DURCH ERSTPRÜFER:IN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310896"/>
            <a:ext cx="6172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Persona: Prüfer:in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55464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5B6A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28</a:t>
            </a:fld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A63874F-3F1B-F731-64F8-40106D8D574B}"/>
              </a:ext>
            </a:extLst>
          </p:cNvPr>
          <p:cNvSpPr/>
          <p:nvPr/>
        </p:nvSpPr>
        <p:spPr>
          <a:xfrm>
            <a:off x="524280" y="838220"/>
            <a:ext cx="2425105" cy="3791982"/>
          </a:xfrm>
          <a:prstGeom prst="roundRect">
            <a:avLst>
              <a:gd name="adj" fmla="val 4364"/>
            </a:avLst>
          </a:prstGeom>
          <a:solidFill>
            <a:srgbClr val="EDF5DC"/>
          </a:solidFill>
          <a:ln w="12700">
            <a:solidFill>
              <a:srgbClr val="EDF5DC"/>
            </a:solidFill>
            <a:prstDash val="solid"/>
          </a:ln>
        </p:spPr>
        <p:txBody>
          <a:bodyPr/>
          <a:lstStyle/>
          <a:p>
            <a:endParaRPr lang="de-DE" sz="1736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12A8DB0-7B2A-1B81-90F5-51BE27B3AACD}"/>
              </a:ext>
            </a:extLst>
          </p:cNvPr>
          <p:cNvSpPr/>
          <p:nvPr/>
        </p:nvSpPr>
        <p:spPr>
          <a:xfrm>
            <a:off x="1097486" y="970498"/>
            <a:ext cx="1278692" cy="1278692"/>
          </a:xfrm>
          <a:prstGeom prst="ellipse">
            <a:avLst/>
          </a:prstGeom>
          <a:solidFill>
            <a:srgbClr val="4A5C66"/>
          </a:solidFill>
          <a:ln w="12700">
            <a:solidFill>
              <a:srgbClr val="80BA24"/>
            </a:solidFill>
            <a:prstDash val="solid"/>
          </a:ln>
        </p:spPr>
        <p:txBody>
          <a:bodyPr/>
          <a:lstStyle/>
          <a:p>
            <a:endParaRPr lang="de-DE" sz="1736"/>
          </a:p>
        </p:txBody>
      </p:sp>
      <p:pic>
        <p:nvPicPr>
          <p:cNvPr id="6" name="Image 0" descr="photos/u2.jpg">
            <a:extLst>
              <a:ext uri="{FF2B5EF4-FFF2-40B4-BE49-F238E27FC236}">
                <a16:creationId xmlns:a16="http://schemas.microsoft.com/office/drawing/2014/main" id="{07F3AC87-1404-CF96-D3E6-F12922260C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579" y="1014591"/>
            <a:ext cx="1190506" cy="1190506"/>
          </a:xfrm>
          <a:prstGeom prst="ellipse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57F2A9FE-594B-4D63-1B7F-38795D051CD1}"/>
              </a:ext>
            </a:extLst>
          </p:cNvPr>
          <p:cNvSpPr txBox="1"/>
          <p:nvPr/>
        </p:nvSpPr>
        <p:spPr>
          <a:xfrm>
            <a:off x="656558" y="2469654"/>
            <a:ext cx="2160548" cy="30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43" b="1" dirty="0">
                <a:solidFill>
                  <a:srgbClr val="2F3E46"/>
                </a:solidFill>
                <a:latin typeface="Calibri" panose="020F0502020204030204" pitchFamily="34" charset="0"/>
                <a:ea typeface="Cambria" pitchFamily="34" charset="-122"/>
                <a:cs typeface="Cambria" pitchFamily="34" charset="-120"/>
              </a:rPr>
              <a:t>Walter Weiß</a:t>
            </a:r>
            <a:endParaRPr lang="en-US" sz="1543" dirty="0">
              <a:solidFill>
                <a:srgbClr val="2F3E46"/>
              </a:solidFill>
              <a:latin typeface="Calibri" panose="020F0502020204030204" pitchFamily="34" charset="0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12FBA102-5F41-D90B-FEA3-A189A4CB6D89}"/>
              </a:ext>
            </a:extLst>
          </p:cNvPr>
          <p:cNvSpPr txBox="1"/>
          <p:nvPr/>
        </p:nvSpPr>
        <p:spPr>
          <a:xfrm>
            <a:off x="656558" y="2778303"/>
            <a:ext cx="2160548" cy="30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868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 für Wirtschaftsinformatik, Fachbereich MND</a:t>
            </a:r>
            <a:endParaRPr lang="en-US" sz="868" dirty="0">
              <a:solidFill>
                <a:srgbClr val="5B6A70"/>
              </a:solidFill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3D601DC8-FA8F-EDD1-4EAF-9C1DDAD879AC}"/>
              </a:ext>
            </a:extLst>
          </p:cNvPr>
          <p:cNvSpPr txBox="1"/>
          <p:nvPr/>
        </p:nvSpPr>
        <p:spPr>
          <a:xfrm>
            <a:off x="700651" y="3131046"/>
            <a:ext cx="2072362" cy="529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964" i="1" dirty="0">
                <a:solidFill>
                  <a:srgbClr val="4A5C66"/>
                </a:solidFill>
                <a:latin typeface="Calibri" panose="020F0502020204030204" pitchFamily="34" charset="0"/>
                <a:ea typeface="Cambria" pitchFamily="34" charset="-122"/>
                <a:cs typeface="Cambria" pitchFamily="34" charset="-120"/>
              </a:rPr>
              <a:t>„Ich akzeptiere Software sofort, wenn sie mir Zeit spart.“</a:t>
            </a:r>
            <a:endParaRPr lang="en-US" sz="964" dirty="0">
              <a:solidFill>
                <a:srgbClr val="4A5C66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54DE0FF8-74E3-B27B-21F8-723023D56B8B}"/>
              </a:ext>
            </a:extLst>
          </p:cNvPr>
          <p:cNvSpPr txBox="1"/>
          <p:nvPr/>
        </p:nvSpPr>
        <p:spPr>
          <a:xfrm>
            <a:off x="700651" y="3704253"/>
            <a:ext cx="2072362" cy="837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193"/>
              </a:spcAft>
            </a:pPr>
            <a:r>
              <a:rPr lang="en-US" sz="819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Alter: 50 Jahre</a:t>
            </a:r>
            <a:endParaRPr lang="en-US" sz="819" dirty="0">
              <a:solidFill>
                <a:srgbClr val="2F3E46"/>
              </a:solidFill>
            </a:endParaRPr>
          </a:p>
          <a:p>
            <a:pPr>
              <a:spcAft>
                <a:spcPts val="193"/>
              </a:spcAft>
            </a:pPr>
            <a:r>
              <a:rPr lang="en-US" sz="819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Ort: THM Friedberg</a:t>
            </a:r>
            <a:endParaRPr lang="en-US" sz="819" dirty="0">
              <a:solidFill>
                <a:srgbClr val="2F3E46"/>
              </a:solidFill>
            </a:endParaRPr>
          </a:p>
          <a:p>
            <a:pPr>
              <a:spcAft>
                <a:spcPts val="193"/>
              </a:spcAft>
            </a:pPr>
            <a:r>
              <a:rPr lang="en-US" sz="819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der Hochschule seit: über 10 Jahren</a:t>
            </a:r>
            <a:endParaRPr lang="en-US" sz="819" dirty="0">
              <a:solidFill>
                <a:srgbClr val="2F3E46"/>
              </a:solidFill>
            </a:endParaRPr>
          </a:p>
          <a:p>
            <a:pPr>
              <a:spcAft>
                <a:spcPts val="193"/>
              </a:spcAft>
            </a:pPr>
            <a:r>
              <a:rPr lang="en-US" sz="819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Betreut 10 bis 16 Arbeiten pro Semester</a:t>
            </a:r>
            <a:endParaRPr lang="en-US" sz="819" dirty="0">
              <a:solidFill>
                <a:srgbClr val="2F3E46"/>
              </a:solidFill>
            </a:endParaRPr>
          </a:p>
          <a:p>
            <a:pPr>
              <a:spcAft>
                <a:spcPts val="193"/>
              </a:spcAft>
            </a:pPr>
            <a:r>
              <a:rPr lang="en-US" sz="819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Geräte: Büro-PC, privates iPad, Smartphone</a:t>
            </a:r>
            <a:endParaRPr lang="en-US" sz="819" dirty="0">
              <a:solidFill>
                <a:srgbClr val="2F3E46"/>
              </a:solidFill>
            </a:endParaRP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AC72A199-8D0D-CB4C-B662-4293A17A8320}"/>
              </a:ext>
            </a:extLst>
          </p:cNvPr>
          <p:cNvSpPr/>
          <p:nvPr/>
        </p:nvSpPr>
        <p:spPr>
          <a:xfrm>
            <a:off x="3213941" y="864675"/>
            <a:ext cx="229283" cy="229283"/>
          </a:xfrm>
          <a:prstGeom prst="ellipse">
            <a:avLst/>
          </a:prstGeom>
          <a:solidFill>
            <a:srgbClr val="4A5C66"/>
          </a:solidFill>
          <a:ln w="12700">
            <a:solidFill>
              <a:srgbClr val="80BA24"/>
            </a:solidFill>
            <a:prstDash val="solid"/>
          </a:ln>
        </p:spPr>
        <p:txBody>
          <a:bodyPr/>
          <a:lstStyle/>
          <a:p>
            <a:endParaRPr lang="de-DE" sz="1736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A6ED4B08-36BC-E84D-09F4-24E22B0E7330}"/>
              </a:ext>
            </a:extLst>
          </p:cNvPr>
          <p:cNvSpPr txBox="1"/>
          <p:nvPr/>
        </p:nvSpPr>
        <p:spPr>
          <a:xfrm>
            <a:off x="3213941" y="864675"/>
            <a:ext cx="229283" cy="2292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68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19D56426-A442-AC21-689E-673667F65AD6}"/>
              </a:ext>
            </a:extLst>
          </p:cNvPr>
          <p:cNvSpPr txBox="1"/>
          <p:nvPr/>
        </p:nvSpPr>
        <p:spPr>
          <a:xfrm>
            <a:off x="3531410" y="838220"/>
            <a:ext cx="2284008" cy="282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6" b="1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Ziele</a:t>
            </a:r>
            <a:endParaRPr lang="en-US" sz="1206" dirty="0">
              <a:solidFill>
                <a:srgbClr val="4A5C66"/>
              </a:solidFill>
            </a:endParaRP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FE28CA7E-7C68-7310-9896-FD5622C936F4}"/>
              </a:ext>
            </a:extLst>
          </p:cNvPr>
          <p:cNvSpPr txBox="1"/>
          <p:nvPr/>
        </p:nvSpPr>
        <p:spPr>
          <a:xfrm>
            <a:off x="3258035" y="1173325"/>
            <a:ext cx="2557383" cy="1190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46971" indent="-146971">
              <a:spcAft>
                <a:spcPts val="289"/>
              </a:spcAft>
              <a:buSzPct val="100000"/>
              <a:buChar char="•"/>
            </a:pPr>
            <a:r>
              <a:rPr lang="en-US" sz="916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Betreuung mit einem Klick bestätigen</a:t>
            </a:r>
            <a:endParaRPr lang="en-US" sz="916" dirty="0">
              <a:solidFill>
                <a:srgbClr val="2F3E46"/>
              </a:solidFill>
            </a:endParaRPr>
          </a:p>
          <a:p>
            <a:pPr marL="146971" indent="-146971">
              <a:spcAft>
                <a:spcPts val="289"/>
              </a:spcAft>
              <a:buSzPct val="100000"/>
              <a:buChar char="•"/>
            </a:pPr>
            <a:r>
              <a:rPr lang="en-US" sz="916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Freigabe geht ohne Medienbruch direkt weiter</a:t>
            </a:r>
            <a:endParaRPr lang="en-US" sz="916" dirty="0">
              <a:solidFill>
                <a:srgbClr val="2F3E46"/>
              </a:solidFill>
            </a:endParaRPr>
          </a:p>
          <a:p>
            <a:pPr marL="146971" indent="-146971">
              <a:spcAft>
                <a:spcPts val="289"/>
              </a:spcAft>
              <a:buSzPct val="100000"/>
              <a:buChar char="•"/>
            </a:pPr>
            <a:r>
              <a:rPr lang="en-US" sz="916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Übersicht aller laufenden Arbeiten, um Engpässe zu vermeiden</a:t>
            </a:r>
            <a:endParaRPr lang="en-US" sz="916" dirty="0">
              <a:solidFill>
                <a:srgbClr val="2F3E46"/>
              </a:solidFill>
            </a:endParaRPr>
          </a:p>
          <a:p>
            <a:pPr marL="146971" indent="-146971">
              <a:spcAft>
                <a:spcPts val="289"/>
              </a:spcAft>
              <a:buSzPct val="100000"/>
              <a:buChar char="•"/>
            </a:pPr>
            <a:r>
              <a:rPr lang="en-US" sz="916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 für inhaltliche Betreuung statt Bürokratie</a:t>
            </a:r>
            <a:endParaRPr lang="en-US" sz="916" dirty="0">
              <a:solidFill>
                <a:srgbClr val="2F3E46"/>
              </a:solidFill>
            </a:endParaRPr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469ECD07-23CF-8BC8-B954-D0B8950B5672}"/>
              </a:ext>
            </a:extLst>
          </p:cNvPr>
          <p:cNvSpPr/>
          <p:nvPr/>
        </p:nvSpPr>
        <p:spPr>
          <a:xfrm>
            <a:off x="5947696" y="864675"/>
            <a:ext cx="229283" cy="229283"/>
          </a:xfrm>
          <a:prstGeom prst="ellipse">
            <a:avLst/>
          </a:prstGeom>
          <a:solidFill>
            <a:srgbClr val="4A5C66"/>
          </a:solidFill>
          <a:ln w="12700">
            <a:solidFill>
              <a:srgbClr val="80BA24"/>
            </a:solidFill>
            <a:prstDash val="solid"/>
          </a:ln>
        </p:spPr>
        <p:txBody>
          <a:bodyPr/>
          <a:lstStyle/>
          <a:p>
            <a:endParaRPr lang="de-DE" sz="1736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7B15B583-6505-3CBF-51EF-6872BA597B33}"/>
              </a:ext>
            </a:extLst>
          </p:cNvPr>
          <p:cNvSpPr txBox="1"/>
          <p:nvPr/>
        </p:nvSpPr>
        <p:spPr>
          <a:xfrm>
            <a:off x="5947696" y="864675"/>
            <a:ext cx="229283" cy="2292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68" dirty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AE063447-2441-18C9-691A-27D5C5A2CD0C}"/>
              </a:ext>
            </a:extLst>
          </p:cNvPr>
          <p:cNvSpPr txBox="1"/>
          <p:nvPr/>
        </p:nvSpPr>
        <p:spPr>
          <a:xfrm>
            <a:off x="6265164" y="838220"/>
            <a:ext cx="2284008" cy="282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6" b="1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Eigenschaften und Verhalten</a:t>
            </a:r>
            <a:endParaRPr lang="en-US" sz="1206" dirty="0">
              <a:solidFill>
                <a:srgbClr val="4A5C66"/>
              </a:solidFill>
            </a:endParaRPr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6549BF88-65D3-DDC6-F0DE-9C7F60AD511A}"/>
              </a:ext>
            </a:extLst>
          </p:cNvPr>
          <p:cNvSpPr txBox="1"/>
          <p:nvPr/>
        </p:nvSpPr>
        <p:spPr>
          <a:xfrm>
            <a:off x="5991789" y="1173325"/>
            <a:ext cx="2557383" cy="1190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46971" indent="-146971">
              <a:spcAft>
                <a:spcPts val="289"/>
              </a:spcAft>
              <a:buSzPct val="100000"/>
              <a:buChar char="•"/>
            </a:pPr>
            <a:r>
              <a:rPr lang="en-US" sz="916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Hohe Betreuungsbereitschaft, engagiert in Lehre und Praxis</a:t>
            </a:r>
            <a:endParaRPr lang="en-US" sz="916" dirty="0">
              <a:solidFill>
                <a:srgbClr val="2F3E46"/>
              </a:solidFill>
            </a:endParaRPr>
          </a:p>
          <a:p>
            <a:pPr marL="146971" indent="-146971">
              <a:spcAft>
                <a:spcPts val="289"/>
              </a:spcAft>
              <a:buSzPct val="100000"/>
              <a:buChar char="•"/>
            </a:pPr>
            <a:r>
              <a:rPr lang="en-US" sz="916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Betreut neben Vorlesungen und Forschungsprojekten</a:t>
            </a:r>
            <a:endParaRPr lang="en-US" sz="916" dirty="0">
              <a:solidFill>
                <a:srgbClr val="2F3E46"/>
              </a:solidFill>
            </a:endParaRPr>
          </a:p>
          <a:p>
            <a:pPr marL="146971" indent="-146971">
              <a:spcAft>
                <a:spcPts val="289"/>
              </a:spcAft>
              <a:buSzPct val="100000"/>
              <a:buChar char="•"/>
            </a:pPr>
            <a:r>
              <a:rPr lang="en-US" sz="916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Arbeitet viel asynchron von unterwegs</a:t>
            </a:r>
            <a:endParaRPr lang="en-US" sz="916" dirty="0">
              <a:solidFill>
                <a:srgbClr val="2F3E46"/>
              </a:solidFill>
            </a:endParaRPr>
          </a:p>
          <a:p>
            <a:pPr marL="146971" indent="-146971">
              <a:spcAft>
                <a:spcPts val="289"/>
              </a:spcAft>
              <a:buSzPct val="100000"/>
              <a:buChar char="•"/>
            </a:pPr>
            <a:r>
              <a:rPr lang="en-US" sz="916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Erst- oder Zweitprüfer:in, je nach Arbeit</a:t>
            </a:r>
            <a:endParaRPr lang="en-US" sz="916" dirty="0">
              <a:solidFill>
                <a:srgbClr val="2F3E46"/>
              </a:solidFill>
            </a:endParaRPr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7F16DFDA-85C8-E194-95CC-BD106F6F3B08}"/>
              </a:ext>
            </a:extLst>
          </p:cNvPr>
          <p:cNvSpPr/>
          <p:nvPr/>
        </p:nvSpPr>
        <p:spPr>
          <a:xfrm>
            <a:off x="3213941" y="2496109"/>
            <a:ext cx="229283" cy="229283"/>
          </a:xfrm>
          <a:prstGeom prst="ellipse">
            <a:avLst/>
          </a:prstGeom>
          <a:solidFill>
            <a:srgbClr val="4A5C66"/>
          </a:solidFill>
          <a:ln w="12700">
            <a:solidFill>
              <a:srgbClr val="80BA24"/>
            </a:solidFill>
            <a:prstDash val="solid"/>
          </a:ln>
        </p:spPr>
        <p:txBody>
          <a:bodyPr/>
          <a:lstStyle/>
          <a:p>
            <a:endParaRPr lang="de-DE" sz="1736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13F9DD7E-DA1B-93EF-0951-C7738F7F7C55}"/>
              </a:ext>
            </a:extLst>
          </p:cNvPr>
          <p:cNvSpPr txBox="1"/>
          <p:nvPr/>
        </p:nvSpPr>
        <p:spPr>
          <a:xfrm>
            <a:off x="3213941" y="2496109"/>
            <a:ext cx="229283" cy="2292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68" dirty="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2FD67D87-D4CB-0A09-9DB8-27976C897576}"/>
              </a:ext>
            </a:extLst>
          </p:cNvPr>
          <p:cNvSpPr txBox="1"/>
          <p:nvPr/>
        </p:nvSpPr>
        <p:spPr>
          <a:xfrm>
            <a:off x="3531410" y="2469654"/>
            <a:ext cx="2284008" cy="282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6" b="1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Frustrationen</a:t>
            </a:r>
            <a:endParaRPr lang="en-US" sz="1206" dirty="0">
              <a:solidFill>
                <a:srgbClr val="4A5C66"/>
              </a:solidFill>
            </a:endParaRPr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937B1677-DEC9-C444-AF55-90BF59363861}"/>
              </a:ext>
            </a:extLst>
          </p:cNvPr>
          <p:cNvSpPr txBox="1"/>
          <p:nvPr/>
        </p:nvSpPr>
        <p:spPr>
          <a:xfrm>
            <a:off x="3258035" y="2804759"/>
            <a:ext cx="2557383" cy="1190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46971" indent="-146971">
              <a:spcAft>
                <a:spcPts val="289"/>
              </a:spcAft>
              <a:buSzPct val="100000"/>
              <a:buChar char="•"/>
            </a:pPr>
            <a:r>
              <a:rPr lang="en-US" sz="916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Unleserliche Scans und fehlerhaft ausgefüllte Anträge</a:t>
            </a:r>
            <a:endParaRPr lang="en-US" sz="916" dirty="0">
              <a:solidFill>
                <a:srgbClr val="2F3E46"/>
              </a:solidFill>
            </a:endParaRPr>
          </a:p>
          <a:p>
            <a:pPr marL="146971" indent="-146971">
              <a:spcAft>
                <a:spcPts val="289"/>
              </a:spcAft>
              <a:buSzPct val="100000"/>
              <a:buChar char="•"/>
            </a:pPr>
            <a:r>
              <a:rPr lang="en-US" sz="916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Freigaben gehen im vollen Postfach unter</a:t>
            </a:r>
            <a:endParaRPr lang="en-US" sz="916" dirty="0">
              <a:solidFill>
                <a:srgbClr val="2F3E46"/>
              </a:solidFill>
            </a:endParaRPr>
          </a:p>
          <a:p>
            <a:pPr marL="146971" indent="-146971">
              <a:spcAft>
                <a:spcPts val="289"/>
              </a:spcAft>
              <a:buSzPct val="100000"/>
              <a:buChar char="•"/>
            </a:pPr>
            <a:r>
              <a:rPr lang="en-US" sz="916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Mühsame Abstimmung mit externen Zweitprüfer:innen ohne THM-Konto</a:t>
            </a:r>
            <a:endParaRPr lang="en-US" sz="916" dirty="0">
              <a:solidFill>
                <a:srgbClr val="2F3E46"/>
              </a:solidFill>
            </a:endParaRPr>
          </a:p>
          <a:p>
            <a:pPr marL="146971" indent="-146971">
              <a:spcAft>
                <a:spcPts val="289"/>
              </a:spcAft>
              <a:buSzPct val="100000"/>
              <a:buChar char="•"/>
            </a:pPr>
            <a:r>
              <a:rPr lang="en-US" sz="916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Überblick über Zeitplan und Begründung bei Verlängerungen</a:t>
            </a:r>
            <a:endParaRPr lang="en-US" sz="916" dirty="0">
              <a:solidFill>
                <a:srgbClr val="2F3E46"/>
              </a:solidFill>
            </a:endParaRPr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5823B991-7C88-BAFD-2A59-2FE66B7B8FFB}"/>
              </a:ext>
            </a:extLst>
          </p:cNvPr>
          <p:cNvSpPr/>
          <p:nvPr/>
        </p:nvSpPr>
        <p:spPr>
          <a:xfrm>
            <a:off x="5947696" y="2496109"/>
            <a:ext cx="229283" cy="229283"/>
          </a:xfrm>
          <a:prstGeom prst="ellipse">
            <a:avLst/>
          </a:prstGeom>
          <a:solidFill>
            <a:srgbClr val="4A5C66"/>
          </a:solidFill>
          <a:ln w="12700">
            <a:solidFill>
              <a:srgbClr val="80BA24"/>
            </a:solidFill>
            <a:prstDash val="solid"/>
          </a:ln>
        </p:spPr>
        <p:txBody>
          <a:bodyPr/>
          <a:lstStyle/>
          <a:p>
            <a:endParaRPr lang="de-DE" sz="1736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EB49E241-DF78-1DF0-A4F4-727DAE3A9CC1}"/>
              </a:ext>
            </a:extLst>
          </p:cNvPr>
          <p:cNvSpPr txBox="1"/>
          <p:nvPr/>
        </p:nvSpPr>
        <p:spPr>
          <a:xfrm>
            <a:off x="5947696" y="2496109"/>
            <a:ext cx="229283" cy="2292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68" dirty="0"/>
          </a:p>
        </p:txBody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196244A8-602A-8349-2490-A2C4CF317A55}"/>
              </a:ext>
            </a:extLst>
          </p:cNvPr>
          <p:cNvSpPr txBox="1"/>
          <p:nvPr/>
        </p:nvSpPr>
        <p:spPr>
          <a:xfrm>
            <a:off x="6265164" y="2469654"/>
            <a:ext cx="2284008" cy="282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6" b="1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Nutzungsüberwindung</a:t>
            </a:r>
            <a:endParaRPr lang="en-US" sz="1206" dirty="0">
              <a:solidFill>
                <a:srgbClr val="4A5C66"/>
              </a:solidFill>
            </a:endParaRPr>
          </a:p>
        </p:txBody>
      </p:sp>
      <p:sp>
        <p:nvSpPr>
          <p:cNvPr id="27" name="Text 23">
            <a:extLst>
              <a:ext uri="{FF2B5EF4-FFF2-40B4-BE49-F238E27FC236}">
                <a16:creationId xmlns:a16="http://schemas.microsoft.com/office/drawing/2014/main" id="{B0C27D5E-9DBD-76E8-00FF-D678DB37282A}"/>
              </a:ext>
            </a:extLst>
          </p:cNvPr>
          <p:cNvSpPr txBox="1"/>
          <p:nvPr/>
        </p:nvSpPr>
        <p:spPr>
          <a:xfrm>
            <a:off x="5991789" y="2804759"/>
            <a:ext cx="2557383" cy="1190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46971" indent="-146971">
              <a:spcAft>
                <a:spcPts val="289"/>
              </a:spcAft>
              <a:buSzPct val="100000"/>
              <a:buChar char="•"/>
            </a:pPr>
            <a:r>
              <a:rPr lang="en-US" sz="916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Spart spürbar Zeit gegenüber PDF und E-Mail</a:t>
            </a:r>
            <a:endParaRPr lang="en-US" sz="916" dirty="0">
              <a:solidFill>
                <a:srgbClr val="2F3E46"/>
              </a:solidFill>
            </a:endParaRPr>
          </a:p>
          <a:p>
            <a:pPr marL="146971" indent="-146971">
              <a:spcAft>
                <a:spcPts val="289"/>
              </a:spcAft>
              <a:buSzPct val="100000"/>
              <a:buChar char="•"/>
            </a:pPr>
            <a:r>
              <a:rPr lang="en-US" sz="916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Intuitiv bedienbar, ohne Schulung</a:t>
            </a:r>
            <a:endParaRPr lang="en-US" sz="916" dirty="0">
              <a:solidFill>
                <a:srgbClr val="2F3E46"/>
              </a:solidFill>
            </a:endParaRPr>
          </a:p>
          <a:p>
            <a:pPr marL="146971" indent="-146971">
              <a:spcAft>
                <a:spcPts val="289"/>
              </a:spcAft>
              <a:buSzPct val="100000"/>
              <a:buChar char="•"/>
            </a:pPr>
            <a:r>
              <a:rPr lang="en-US" sz="916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überkomplizierten Masken</a:t>
            </a:r>
            <a:endParaRPr lang="en-US" sz="916" dirty="0">
              <a:solidFill>
                <a:srgbClr val="2F3E46"/>
              </a:solidFill>
            </a:endParaRPr>
          </a:p>
          <a:p>
            <a:pPr marL="146971" indent="-146971">
              <a:spcAft>
                <a:spcPts val="289"/>
              </a:spcAft>
              <a:buSzPct val="100000"/>
              <a:buChar char="•"/>
            </a:pPr>
            <a:r>
              <a:rPr lang="en-US" sz="916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Funktioniert auch auf iPad und Smartphone</a:t>
            </a:r>
            <a:endParaRPr lang="en-US" sz="916" dirty="0">
              <a:solidFill>
                <a:srgbClr val="2F3E46"/>
              </a:solidFill>
            </a:endParaRPr>
          </a:p>
        </p:txBody>
      </p:sp>
      <p:sp>
        <p:nvSpPr>
          <p:cNvPr id="28" name="Text 24">
            <a:extLst>
              <a:ext uri="{FF2B5EF4-FFF2-40B4-BE49-F238E27FC236}">
                <a16:creationId xmlns:a16="http://schemas.microsoft.com/office/drawing/2014/main" id="{694AA922-9AC2-D8BE-78A4-B93553DEA0E5}"/>
              </a:ext>
            </a:extLst>
          </p:cNvPr>
          <p:cNvSpPr txBox="1"/>
          <p:nvPr/>
        </p:nvSpPr>
        <p:spPr>
          <a:xfrm>
            <a:off x="3213942" y="4162818"/>
            <a:ext cx="970042" cy="220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68" b="1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Technikaffinität</a:t>
            </a:r>
            <a:endParaRPr lang="en-US" sz="868" dirty="0">
              <a:solidFill>
                <a:srgbClr val="5B6A70"/>
              </a:solidFill>
            </a:endParaRPr>
          </a:p>
        </p:txBody>
      </p:sp>
      <p:sp>
        <p:nvSpPr>
          <p:cNvPr id="29" name="Shape 25">
            <a:extLst>
              <a:ext uri="{FF2B5EF4-FFF2-40B4-BE49-F238E27FC236}">
                <a16:creationId xmlns:a16="http://schemas.microsoft.com/office/drawing/2014/main" id="{4EEB4B10-3B26-4FFD-65C8-338E2B2BBD77}"/>
              </a:ext>
            </a:extLst>
          </p:cNvPr>
          <p:cNvSpPr/>
          <p:nvPr/>
        </p:nvSpPr>
        <p:spPr>
          <a:xfrm>
            <a:off x="4034680" y="4206911"/>
            <a:ext cx="132278" cy="132278"/>
          </a:xfrm>
          <a:prstGeom prst="ellipse">
            <a:avLst/>
          </a:prstGeom>
          <a:solidFill>
            <a:srgbClr val="4A5C66"/>
          </a:solidFill>
          <a:ln w="12700">
            <a:solidFill>
              <a:srgbClr val="80BA24"/>
            </a:solidFill>
            <a:prstDash val="solid"/>
          </a:ln>
        </p:spPr>
        <p:txBody>
          <a:bodyPr/>
          <a:lstStyle/>
          <a:p>
            <a:endParaRPr lang="de-DE" sz="1736"/>
          </a:p>
        </p:txBody>
      </p:sp>
      <p:sp>
        <p:nvSpPr>
          <p:cNvPr id="30" name="Shape 26">
            <a:extLst>
              <a:ext uri="{FF2B5EF4-FFF2-40B4-BE49-F238E27FC236}">
                <a16:creationId xmlns:a16="http://schemas.microsoft.com/office/drawing/2014/main" id="{5FCF9BFC-26B4-DB17-F085-DA5938152EBA}"/>
              </a:ext>
            </a:extLst>
          </p:cNvPr>
          <p:cNvSpPr/>
          <p:nvPr/>
        </p:nvSpPr>
        <p:spPr>
          <a:xfrm>
            <a:off x="4202233" y="4206911"/>
            <a:ext cx="132278" cy="132278"/>
          </a:xfrm>
          <a:prstGeom prst="ellipse">
            <a:avLst/>
          </a:prstGeom>
          <a:solidFill>
            <a:srgbClr val="4A5C66"/>
          </a:solidFill>
          <a:ln w="12700">
            <a:solidFill>
              <a:srgbClr val="80BA24"/>
            </a:solidFill>
            <a:prstDash val="solid"/>
          </a:ln>
        </p:spPr>
        <p:txBody>
          <a:bodyPr/>
          <a:lstStyle/>
          <a:p>
            <a:endParaRPr lang="de-DE" sz="1736"/>
          </a:p>
        </p:txBody>
      </p:sp>
      <p:sp>
        <p:nvSpPr>
          <p:cNvPr id="31" name="Shape 27">
            <a:extLst>
              <a:ext uri="{FF2B5EF4-FFF2-40B4-BE49-F238E27FC236}">
                <a16:creationId xmlns:a16="http://schemas.microsoft.com/office/drawing/2014/main" id="{0E19341D-03FA-562B-DF0B-6DBD90F7A6BB}"/>
              </a:ext>
            </a:extLst>
          </p:cNvPr>
          <p:cNvSpPr/>
          <p:nvPr/>
        </p:nvSpPr>
        <p:spPr>
          <a:xfrm>
            <a:off x="4369785" y="4206911"/>
            <a:ext cx="132278" cy="132278"/>
          </a:xfrm>
          <a:prstGeom prst="ellipse">
            <a:avLst/>
          </a:prstGeom>
          <a:solidFill>
            <a:srgbClr val="4A5C66"/>
          </a:solidFill>
          <a:ln w="12700">
            <a:solidFill>
              <a:srgbClr val="80BA24"/>
            </a:solidFill>
            <a:prstDash val="solid"/>
          </a:ln>
        </p:spPr>
        <p:txBody>
          <a:bodyPr/>
          <a:lstStyle/>
          <a:p>
            <a:endParaRPr lang="de-DE" sz="1736"/>
          </a:p>
        </p:txBody>
      </p:sp>
      <p:sp>
        <p:nvSpPr>
          <p:cNvPr id="32" name="Shape 28">
            <a:extLst>
              <a:ext uri="{FF2B5EF4-FFF2-40B4-BE49-F238E27FC236}">
                <a16:creationId xmlns:a16="http://schemas.microsoft.com/office/drawing/2014/main" id="{0F829913-C5F9-D617-EA56-1063A51473AE}"/>
              </a:ext>
            </a:extLst>
          </p:cNvPr>
          <p:cNvSpPr/>
          <p:nvPr/>
        </p:nvSpPr>
        <p:spPr>
          <a:xfrm>
            <a:off x="4537338" y="4206911"/>
            <a:ext cx="132278" cy="132278"/>
          </a:xfrm>
          <a:prstGeom prst="ellipse">
            <a:avLst/>
          </a:prstGeom>
          <a:solidFill>
            <a:srgbClr val="4A5C66"/>
          </a:solidFill>
          <a:ln w="12700">
            <a:solidFill>
              <a:srgbClr val="80BA24"/>
            </a:solidFill>
            <a:prstDash val="solid"/>
          </a:ln>
        </p:spPr>
        <p:txBody>
          <a:bodyPr/>
          <a:lstStyle/>
          <a:p>
            <a:endParaRPr lang="de-DE" sz="1736"/>
          </a:p>
        </p:txBody>
      </p:sp>
      <p:sp>
        <p:nvSpPr>
          <p:cNvPr id="33" name="Shape 29">
            <a:extLst>
              <a:ext uri="{FF2B5EF4-FFF2-40B4-BE49-F238E27FC236}">
                <a16:creationId xmlns:a16="http://schemas.microsoft.com/office/drawing/2014/main" id="{648673A5-DD70-CC7E-55E8-A39C7C5E2CCF}"/>
              </a:ext>
            </a:extLst>
          </p:cNvPr>
          <p:cNvSpPr/>
          <p:nvPr/>
        </p:nvSpPr>
        <p:spPr>
          <a:xfrm>
            <a:off x="4704891" y="4206911"/>
            <a:ext cx="132278" cy="132278"/>
          </a:xfrm>
          <a:prstGeom prst="ellipse">
            <a:avLst/>
          </a:prstGeom>
          <a:solidFill>
            <a:srgbClr val="D5E3B5"/>
          </a:solidFill>
          <a:ln w="12700">
            <a:solidFill>
              <a:srgbClr val="D5E3B5"/>
            </a:solidFill>
            <a:prstDash val="solid"/>
          </a:ln>
        </p:spPr>
        <p:txBody>
          <a:bodyPr/>
          <a:lstStyle/>
          <a:p>
            <a:endParaRPr lang="de-DE" sz="1736"/>
          </a:p>
        </p:txBody>
      </p:sp>
      <p:sp>
        <p:nvSpPr>
          <p:cNvPr id="34" name="Text 30">
            <a:extLst>
              <a:ext uri="{FF2B5EF4-FFF2-40B4-BE49-F238E27FC236}">
                <a16:creationId xmlns:a16="http://schemas.microsoft.com/office/drawing/2014/main" id="{8BF6E10C-7EE7-18D8-C6C2-A0BE5BE366A0}"/>
              </a:ext>
            </a:extLst>
          </p:cNvPr>
          <p:cNvSpPr txBox="1"/>
          <p:nvPr/>
        </p:nvSpPr>
        <p:spPr>
          <a:xfrm>
            <a:off x="5021747" y="4162818"/>
            <a:ext cx="970042" cy="220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68" b="1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Prozesskenntnis</a:t>
            </a:r>
            <a:endParaRPr lang="en-US" sz="868" dirty="0">
              <a:solidFill>
                <a:srgbClr val="5B6A70"/>
              </a:solidFill>
            </a:endParaRPr>
          </a:p>
        </p:txBody>
      </p:sp>
      <p:sp>
        <p:nvSpPr>
          <p:cNvPr id="35" name="Shape 31">
            <a:extLst>
              <a:ext uri="{FF2B5EF4-FFF2-40B4-BE49-F238E27FC236}">
                <a16:creationId xmlns:a16="http://schemas.microsoft.com/office/drawing/2014/main" id="{3E86D6A3-2CCA-FDAF-ACDB-4A378A689620}"/>
              </a:ext>
            </a:extLst>
          </p:cNvPr>
          <p:cNvSpPr/>
          <p:nvPr/>
        </p:nvSpPr>
        <p:spPr>
          <a:xfrm>
            <a:off x="5863122" y="4206911"/>
            <a:ext cx="132278" cy="132278"/>
          </a:xfrm>
          <a:prstGeom prst="ellipse">
            <a:avLst/>
          </a:prstGeom>
          <a:solidFill>
            <a:srgbClr val="4A5C66"/>
          </a:solidFill>
          <a:ln w="12700">
            <a:solidFill>
              <a:srgbClr val="80BA24"/>
            </a:solidFill>
            <a:prstDash val="solid"/>
          </a:ln>
        </p:spPr>
        <p:txBody>
          <a:bodyPr/>
          <a:lstStyle/>
          <a:p>
            <a:endParaRPr lang="de-DE" sz="1736"/>
          </a:p>
        </p:txBody>
      </p:sp>
      <p:sp>
        <p:nvSpPr>
          <p:cNvPr id="36" name="Shape 32">
            <a:extLst>
              <a:ext uri="{FF2B5EF4-FFF2-40B4-BE49-F238E27FC236}">
                <a16:creationId xmlns:a16="http://schemas.microsoft.com/office/drawing/2014/main" id="{5974B9CF-393F-62C0-9D3F-502542E756E5}"/>
              </a:ext>
            </a:extLst>
          </p:cNvPr>
          <p:cNvSpPr/>
          <p:nvPr/>
        </p:nvSpPr>
        <p:spPr>
          <a:xfrm>
            <a:off x="6030675" y="4206911"/>
            <a:ext cx="132278" cy="132278"/>
          </a:xfrm>
          <a:prstGeom prst="ellipse">
            <a:avLst/>
          </a:prstGeom>
          <a:solidFill>
            <a:srgbClr val="4A5C66"/>
          </a:solidFill>
          <a:ln w="12700">
            <a:solidFill>
              <a:srgbClr val="80BA24"/>
            </a:solidFill>
            <a:prstDash val="solid"/>
          </a:ln>
        </p:spPr>
        <p:txBody>
          <a:bodyPr/>
          <a:lstStyle/>
          <a:p>
            <a:endParaRPr lang="de-DE" sz="1736"/>
          </a:p>
        </p:txBody>
      </p:sp>
      <p:sp>
        <p:nvSpPr>
          <p:cNvPr id="37" name="Shape 33">
            <a:extLst>
              <a:ext uri="{FF2B5EF4-FFF2-40B4-BE49-F238E27FC236}">
                <a16:creationId xmlns:a16="http://schemas.microsoft.com/office/drawing/2014/main" id="{0BAE0332-4681-348A-1B2C-F45425028E18}"/>
              </a:ext>
            </a:extLst>
          </p:cNvPr>
          <p:cNvSpPr/>
          <p:nvPr/>
        </p:nvSpPr>
        <p:spPr>
          <a:xfrm>
            <a:off x="6198229" y="4206911"/>
            <a:ext cx="132278" cy="132278"/>
          </a:xfrm>
          <a:prstGeom prst="ellipse">
            <a:avLst/>
          </a:prstGeom>
          <a:solidFill>
            <a:srgbClr val="4A5C66"/>
          </a:solidFill>
          <a:ln w="12700">
            <a:solidFill>
              <a:srgbClr val="80BA24"/>
            </a:solidFill>
            <a:prstDash val="solid"/>
          </a:ln>
        </p:spPr>
        <p:txBody>
          <a:bodyPr/>
          <a:lstStyle/>
          <a:p>
            <a:endParaRPr lang="de-DE" sz="1736"/>
          </a:p>
        </p:txBody>
      </p:sp>
      <p:sp>
        <p:nvSpPr>
          <p:cNvPr id="38" name="Shape 34">
            <a:extLst>
              <a:ext uri="{FF2B5EF4-FFF2-40B4-BE49-F238E27FC236}">
                <a16:creationId xmlns:a16="http://schemas.microsoft.com/office/drawing/2014/main" id="{BF4357ED-81D9-ABE0-4060-423B8D086E78}"/>
              </a:ext>
            </a:extLst>
          </p:cNvPr>
          <p:cNvSpPr/>
          <p:nvPr/>
        </p:nvSpPr>
        <p:spPr>
          <a:xfrm>
            <a:off x="6365780" y="4206911"/>
            <a:ext cx="132278" cy="132278"/>
          </a:xfrm>
          <a:prstGeom prst="ellipse">
            <a:avLst/>
          </a:prstGeom>
          <a:solidFill>
            <a:srgbClr val="4A5C66"/>
          </a:solidFill>
          <a:ln w="12700">
            <a:solidFill>
              <a:srgbClr val="80BA24"/>
            </a:solidFill>
            <a:prstDash val="solid"/>
          </a:ln>
        </p:spPr>
        <p:txBody>
          <a:bodyPr/>
          <a:lstStyle/>
          <a:p>
            <a:endParaRPr lang="de-DE" sz="1736"/>
          </a:p>
        </p:txBody>
      </p:sp>
      <p:sp>
        <p:nvSpPr>
          <p:cNvPr id="39" name="Shape 35">
            <a:extLst>
              <a:ext uri="{FF2B5EF4-FFF2-40B4-BE49-F238E27FC236}">
                <a16:creationId xmlns:a16="http://schemas.microsoft.com/office/drawing/2014/main" id="{306DB228-B97A-E346-A940-49F0391F2D91}"/>
              </a:ext>
            </a:extLst>
          </p:cNvPr>
          <p:cNvSpPr/>
          <p:nvPr/>
        </p:nvSpPr>
        <p:spPr>
          <a:xfrm>
            <a:off x="6533333" y="4206911"/>
            <a:ext cx="132278" cy="132278"/>
          </a:xfrm>
          <a:prstGeom prst="ellipse">
            <a:avLst/>
          </a:prstGeom>
          <a:solidFill>
            <a:srgbClr val="D5E3B5"/>
          </a:solidFill>
          <a:ln w="12700">
            <a:solidFill>
              <a:srgbClr val="D5E3B5"/>
            </a:solidFill>
            <a:prstDash val="solid"/>
          </a:ln>
        </p:spPr>
        <p:txBody>
          <a:bodyPr/>
          <a:lstStyle/>
          <a:p>
            <a:endParaRPr lang="de-DE" sz="1736"/>
          </a:p>
        </p:txBody>
      </p:sp>
      <p:sp>
        <p:nvSpPr>
          <p:cNvPr id="40" name="Text 36">
            <a:extLst>
              <a:ext uri="{FF2B5EF4-FFF2-40B4-BE49-F238E27FC236}">
                <a16:creationId xmlns:a16="http://schemas.microsoft.com/office/drawing/2014/main" id="{A834B5F5-8B87-F671-6084-291B9FB87C4E}"/>
              </a:ext>
            </a:extLst>
          </p:cNvPr>
          <p:cNvSpPr txBox="1"/>
          <p:nvPr/>
        </p:nvSpPr>
        <p:spPr>
          <a:xfrm>
            <a:off x="6829552" y="4162818"/>
            <a:ext cx="970042" cy="220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68" b="1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Zeitbudget</a:t>
            </a:r>
            <a:endParaRPr lang="en-US" sz="868" dirty="0">
              <a:solidFill>
                <a:srgbClr val="5B6A70"/>
              </a:solidFill>
            </a:endParaRPr>
          </a:p>
        </p:txBody>
      </p:sp>
      <p:sp>
        <p:nvSpPr>
          <p:cNvPr id="41" name="Shape 37">
            <a:extLst>
              <a:ext uri="{FF2B5EF4-FFF2-40B4-BE49-F238E27FC236}">
                <a16:creationId xmlns:a16="http://schemas.microsoft.com/office/drawing/2014/main" id="{83D82D4E-FDBE-07BF-751E-2A185C0FAEA5}"/>
              </a:ext>
            </a:extLst>
          </p:cNvPr>
          <p:cNvSpPr/>
          <p:nvPr/>
        </p:nvSpPr>
        <p:spPr>
          <a:xfrm>
            <a:off x="7426452" y="4206911"/>
            <a:ext cx="132278" cy="132278"/>
          </a:xfrm>
          <a:prstGeom prst="ellipse">
            <a:avLst/>
          </a:prstGeom>
          <a:solidFill>
            <a:srgbClr val="4A5C66"/>
          </a:solidFill>
          <a:ln w="12700">
            <a:solidFill>
              <a:srgbClr val="80BA24"/>
            </a:solidFill>
            <a:prstDash val="solid"/>
          </a:ln>
        </p:spPr>
        <p:txBody>
          <a:bodyPr/>
          <a:lstStyle/>
          <a:p>
            <a:endParaRPr lang="de-DE" sz="1736"/>
          </a:p>
        </p:txBody>
      </p:sp>
      <p:sp>
        <p:nvSpPr>
          <p:cNvPr id="42" name="Shape 38">
            <a:extLst>
              <a:ext uri="{FF2B5EF4-FFF2-40B4-BE49-F238E27FC236}">
                <a16:creationId xmlns:a16="http://schemas.microsoft.com/office/drawing/2014/main" id="{89D19E67-5E18-8A88-78D9-40A741CCB703}"/>
              </a:ext>
            </a:extLst>
          </p:cNvPr>
          <p:cNvSpPr/>
          <p:nvPr/>
        </p:nvSpPr>
        <p:spPr>
          <a:xfrm>
            <a:off x="7594005" y="4206911"/>
            <a:ext cx="132278" cy="132278"/>
          </a:xfrm>
          <a:prstGeom prst="ellipse">
            <a:avLst/>
          </a:prstGeom>
          <a:solidFill>
            <a:srgbClr val="D5E3B5"/>
          </a:solidFill>
          <a:ln w="12700">
            <a:solidFill>
              <a:srgbClr val="D5E3B5"/>
            </a:solidFill>
            <a:prstDash val="solid"/>
          </a:ln>
        </p:spPr>
        <p:txBody>
          <a:bodyPr/>
          <a:lstStyle/>
          <a:p>
            <a:endParaRPr lang="de-DE" sz="1736"/>
          </a:p>
        </p:txBody>
      </p:sp>
      <p:sp>
        <p:nvSpPr>
          <p:cNvPr id="43" name="Shape 39">
            <a:extLst>
              <a:ext uri="{FF2B5EF4-FFF2-40B4-BE49-F238E27FC236}">
                <a16:creationId xmlns:a16="http://schemas.microsoft.com/office/drawing/2014/main" id="{A436798C-B9B6-0D4F-16DB-24928D621238}"/>
              </a:ext>
            </a:extLst>
          </p:cNvPr>
          <p:cNvSpPr/>
          <p:nvPr/>
        </p:nvSpPr>
        <p:spPr>
          <a:xfrm>
            <a:off x="7761558" y="4206911"/>
            <a:ext cx="132278" cy="132278"/>
          </a:xfrm>
          <a:prstGeom prst="ellipse">
            <a:avLst/>
          </a:prstGeom>
          <a:solidFill>
            <a:srgbClr val="D5E3B5"/>
          </a:solidFill>
          <a:ln w="12700">
            <a:solidFill>
              <a:srgbClr val="D5E3B5"/>
            </a:solidFill>
            <a:prstDash val="solid"/>
          </a:ln>
        </p:spPr>
        <p:txBody>
          <a:bodyPr/>
          <a:lstStyle/>
          <a:p>
            <a:endParaRPr lang="de-DE" sz="1736"/>
          </a:p>
        </p:txBody>
      </p:sp>
      <p:sp>
        <p:nvSpPr>
          <p:cNvPr id="44" name="Shape 40">
            <a:extLst>
              <a:ext uri="{FF2B5EF4-FFF2-40B4-BE49-F238E27FC236}">
                <a16:creationId xmlns:a16="http://schemas.microsoft.com/office/drawing/2014/main" id="{525261D1-7A56-4C83-D040-8FB2F46B60A1}"/>
              </a:ext>
            </a:extLst>
          </p:cNvPr>
          <p:cNvSpPr/>
          <p:nvPr/>
        </p:nvSpPr>
        <p:spPr>
          <a:xfrm>
            <a:off x="7929111" y="4206911"/>
            <a:ext cx="132278" cy="132278"/>
          </a:xfrm>
          <a:prstGeom prst="ellipse">
            <a:avLst/>
          </a:prstGeom>
          <a:solidFill>
            <a:srgbClr val="D5E3B5"/>
          </a:solidFill>
          <a:ln w="12700">
            <a:solidFill>
              <a:srgbClr val="D5E3B5"/>
            </a:solidFill>
            <a:prstDash val="solid"/>
          </a:ln>
        </p:spPr>
        <p:txBody>
          <a:bodyPr/>
          <a:lstStyle/>
          <a:p>
            <a:endParaRPr lang="de-DE" sz="1736"/>
          </a:p>
        </p:txBody>
      </p:sp>
      <p:sp>
        <p:nvSpPr>
          <p:cNvPr id="45" name="Shape 41">
            <a:extLst>
              <a:ext uri="{FF2B5EF4-FFF2-40B4-BE49-F238E27FC236}">
                <a16:creationId xmlns:a16="http://schemas.microsoft.com/office/drawing/2014/main" id="{8D06016C-3F1B-05E1-490A-769839929DF1}"/>
              </a:ext>
            </a:extLst>
          </p:cNvPr>
          <p:cNvSpPr/>
          <p:nvPr/>
        </p:nvSpPr>
        <p:spPr>
          <a:xfrm>
            <a:off x="8096662" y="4206911"/>
            <a:ext cx="132278" cy="132278"/>
          </a:xfrm>
          <a:prstGeom prst="ellipse">
            <a:avLst/>
          </a:prstGeom>
          <a:solidFill>
            <a:srgbClr val="D5E3B5"/>
          </a:solidFill>
          <a:ln w="12700">
            <a:solidFill>
              <a:srgbClr val="D5E3B5"/>
            </a:solidFill>
            <a:prstDash val="solid"/>
          </a:ln>
        </p:spPr>
        <p:txBody>
          <a:bodyPr/>
          <a:lstStyle/>
          <a:p>
            <a:endParaRPr lang="de-DE" sz="1736"/>
          </a:p>
        </p:txBody>
      </p:sp>
      <p:sp>
        <p:nvSpPr>
          <p:cNvPr id="46" name="Text 42">
            <a:extLst>
              <a:ext uri="{FF2B5EF4-FFF2-40B4-BE49-F238E27FC236}">
                <a16:creationId xmlns:a16="http://schemas.microsoft.com/office/drawing/2014/main" id="{D47A1716-EF27-6778-AAF1-3F6302FD6360}"/>
              </a:ext>
            </a:extLst>
          </p:cNvPr>
          <p:cNvSpPr txBox="1"/>
          <p:nvPr/>
        </p:nvSpPr>
        <p:spPr>
          <a:xfrm>
            <a:off x="3213942" y="4542016"/>
            <a:ext cx="5335230" cy="2204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en-US" sz="723" dirty="0">
                <a:solidFill>
                  <a:srgbClr val="9AA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Engineering – Praxisteil  ·  Personas  ·  Skala 1 = niedrig, 5 = hoch</a:t>
            </a:r>
            <a:endParaRPr lang="en-US" sz="723" dirty="0">
              <a:solidFill>
                <a:srgbClr val="9AA9AE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80B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 7 · D2D · THEMENFREIGABE DURCH ERSTPRÜFER:IN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310896"/>
            <a:ext cx="6172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Interface: Bedienoberfläche (Wireframes, Smartphone)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55464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5B6A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29</a:t>
            </a:fld>
            <a:endParaRPr lang="en-US"/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03F2EA2E-4A01-A768-EEF3-D51401E2433A}"/>
              </a:ext>
            </a:extLst>
          </p:cNvPr>
          <p:cNvSpPr/>
          <p:nvPr/>
        </p:nvSpPr>
        <p:spPr>
          <a:xfrm>
            <a:off x="866204" y="838263"/>
            <a:ext cx="1985248" cy="3672709"/>
          </a:xfrm>
          <a:prstGeom prst="roundRect">
            <a:avLst>
              <a:gd name="adj" fmla="val 8333"/>
            </a:avLst>
          </a:prstGeom>
          <a:solidFill>
            <a:srgbClr val="E6EAE8"/>
          </a:solidFill>
          <a:ln w="25400">
            <a:solidFill>
              <a:srgbClr val="4A5C66"/>
            </a:solidFill>
            <a:prstDash val="solid"/>
          </a:ln>
        </p:spPr>
        <p:txBody>
          <a:bodyPr/>
          <a:lstStyle/>
          <a:p>
            <a:endParaRPr lang="de-DE" sz="1303"/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46D8E45F-79DC-BAEA-DA9C-600BD87AA080}"/>
              </a:ext>
            </a:extLst>
          </p:cNvPr>
          <p:cNvSpPr/>
          <p:nvPr/>
        </p:nvSpPr>
        <p:spPr>
          <a:xfrm>
            <a:off x="998553" y="1102962"/>
            <a:ext cx="1720548" cy="3143310"/>
          </a:xfrm>
          <a:prstGeom prst="rect">
            <a:avLst/>
          </a:prstGeom>
          <a:solidFill>
            <a:srgbClr val="FFFFFF"/>
          </a:solidFill>
          <a:ln w="9525">
            <a:solidFill>
              <a:srgbClr val="9AA9AE"/>
            </a:solidFill>
            <a:prstDash val="solid"/>
          </a:ln>
        </p:spPr>
        <p:txBody>
          <a:bodyPr/>
          <a:lstStyle/>
          <a:p>
            <a:endParaRPr lang="de-DE" sz="1303"/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13BC1910-2EB8-F6C4-2EFE-6A55A081C90A}"/>
              </a:ext>
            </a:extLst>
          </p:cNvPr>
          <p:cNvSpPr txBox="1"/>
          <p:nvPr/>
        </p:nvSpPr>
        <p:spPr>
          <a:xfrm>
            <a:off x="1064729" y="1149285"/>
            <a:ext cx="1588199" cy="231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13" b="1" dirty="0">
                <a:solidFill>
                  <a:srgbClr val="2F3E46"/>
                </a:solidFill>
                <a:latin typeface="Calibri" panose="020F0502020204030204" pitchFamily="34" charset="0"/>
                <a:ea typeface="Cambria" pitchFamily="34" charset="-122"/>
                <a:cs typeface="Cambria" pitchFamily="34" charset="-120"/>
              </a:rPr>
              <a:t>Antrag mit Thema</a:t>
            </a:r>
            <a:endParaRPr lang="en-US" sz="1013" dirty="0">
              <a:solidFill>
                <a:srgbClr val="2F3E46"/>
              </a:solidFill>
              <a:latin typeface="Calibri" panose="020F0502020204030204" pitchFamily="34" charset="0"/>
            </a:endParaRP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B66EB41D-63AB-0ED9-1015-F397E3BC9BE3}"/>
              </a:ext>
            </a:extLst>
          </p:cNvPr>
          <p:cNvSpPr/>
          <p:nvPr/>
        </p:nvSpPr>
        <p:spPr>
          <a:xfrm>
            <a:off x="1064729" y="1433837"/>
            <a:ext cx="1588199" cy="224995"/>
          </a:xfrm>
          <a:prstGeom prst="rect">
            <a:avLst/>
          </a:prstGeom>
          <a:solidFill>
            <a:srgbClr val="FFFFFF"/>
          </a:solidFill>
          <a:ln w="9525">
            <a:solidFill>
              <a:srgbClr val="9AA9AE"/>
            </a:solidFill>
            <a:prstDash val="solid"/>
          </a:ln>
        </p:spPr>
        <p:txBody>
          <a:bodyPr/>
          <a:lstStyle/>
          <a:p>
            <a:endParaRPr lang="de-DE" sz="1303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EDD4F75E-593D-B951-49F9-8D8D68DEF24B}"/>
              </a:ext>
            </a:extLst>
          </p:cNvPr>
          <p:cNvSpPr txBox="1"/>
          <p:nvPr/>
        </p:nvSpPr>
        <p:spPr>
          <a:xfrm>
            <a:off x="1117669" y="1433837"/>
            <a:ext cx="1482319" cy="224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24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Studierende:r: &lt;Name&gt;</a:t>
            </a:r>
            <a:endParaRPr lang="en-US" sz="724" dirty="0">
              <a:solidFill>
                <a:srgbClr val="2F3E46"/>
              </a:solidFill>
            </a:endParaRP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9BF85678-18B7-1214-9BA7-D8CE71B7E9CF}"/>
              </a:ext>
            </a:extLst>
          </p:cNvPr>
          <p:cNvSpPr/>
          <p:nvPr/>
        </p:nvSpPr>
        <p:spPr>
          <a:xfrm>
            <a:off x="1064729" y="1731624"/>
            <a:ext cx="1588199" cy="224995"/>
          </a:xfrm>
          <a:prstGeom prst="rect">
            <a:avLst/>
          </a:prstGeom>
          <a:solidFill>
            <a:srgbClr val="FFFFFF"/>
          </a:solidFill>
          <a:ln w="9525">
            <a:solidFill>
              <a:srgbClr val="9AA9AE"/>
            </a:solidFill>
            <a:prstDash val="solid"/>
          </a:ln>
        </p:spPr>
        <p:txBody>
          <a:bodyPr/>
          <a:lstStyle/>
          <a:p>
            <a:endParaRPr lang="de-DE" sz="1303"/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FEC3CCE9-A544-32F2-C54A-B111C097F2E6}"/>
              </a:ext>
            </a:extLst>
          </p:cNvPr>
          <p:cNvSpPr txBox="1"/>
          <p:nvPr/>
        </p:nvSpPr>
        <p:spPr>
          <a:xfrm>
            <a:off x="1117669" y="1731624"/>
            <a:ext cx="1482319" cy="224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24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Studiengang: &lt;Studiengang&gt;</a:t>
            </a:r>
            <a:endParaRPr lang="en-US" sz="724" dirty="0">
              <a:solidFill>
                <a:srgbClr val="2F3E46"/>
              </a:solidFill>
            </a:endParaRP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B5729219-BF6A-E958-1FC7-6CF030214B1A}"/>
              </a:ext>
            </a:extLst>
          </p:cNvPr>
          <p:cNvSpPr/>
          <p:nvPr/>
        </p:nvSpPr>
        <p:spPr>
          <a:xfrm>
            <a:off x="1064729" y="2029411"/>
            <a:ext cx="1588199" cy="224995"/>
          </a:xfrm>
          <a:prstGeom prst="rect">
            <a:avLst/>
          </a:prstGeom>
          <a:solidFill>
            <a:srgbClr val="FFFFFF"/>
          </a:solidFill>
          <a:ln w="9525">
            <a:solidFill>
              <a:srgbClr val="9AA9AE"/>
            </a:solidFill>
            <a:prstDash val="solid"/>
          </a:ln>
        </p:spPr>
        <p:txBody>
          <a:bodyPr/>
          <a:lstStyle/>
          <a:p>
            <a:endParaRPr lang="de-DE" sz="1303"/>
          </a:p>
        </p:txBody>
      </p:sp>
      <p:sp>
        <p:nvSpPr>
          <p:cNvPr id="12" name="Text 12">
            <a:extLst>
              <a:ext uri="{FF2B5EF4-FFF2-40B4-BE49-F238E27FC236}">
                <a16:creationId xmlns:a16="http://schemas.microsoft.com/office/drawing/2014/main" id="{6FC7FCC5-A397-3B24-8D7C-CFBF3A668851}"/>
              </a:ext>
            </a:extLst>
          </p:cNvPr>
          <p:cNvSpPr txBox="1"/>
          <p:nvPr/>
        </p:nvSpPr>
        <p:spPr>
          <a:xfrm>
            <a:off x="1117669" y="2029411"/>
            <a:ext cx="1482319" cy="224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24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Abschluss: &lt;Bachelor / Master&gt;</a:t>
            </a:r>
            <a:endParaRPr lang="en-US" sz="724" dirty="0">
              <a:solidFill>
                <a:srgbClr val="2F3E46"/>
              </a:solidFill>
            </a:endParaRP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C05603BB-8403-C5B8-879E-5C5E0A300EB4}"/>
              </a:ext>
            </a:extLst>
          </p:cNvPr>
          <p:cNvSpPr/>
          <p:nvPr/>
        </p:nvSpPr>
        <p:spPr>
          <a:xfrm>
            <a:off x="1064729" y="2327199"/>
            <a:ext cx="1588199" cy="224995"/>
          </a:xfrm>
          <a:prstGeom prst="rect">
            <a:avLst/>
          </a:prstGeom>
          <a:solidFill>
            <a:srgbClr val="FFFFFF"/>
          </a:solidFill>
          <a:ln w="9525">
            <a:solidFill>
              <a:srgbClr val="9AA9AE"/>
            </a:solidFill>
            <a:prstDash val="solid"/>
          </a:ln>
        </p:spPr>
        <p:txBody>
          <a:bodyPr/>
          <a:lstStyle/>
          <a:p>
            <a:endParaRPr lang="de-DE" sz="1303"/>
          </a:p>
        </p:txBody>
      </p:sp>
      <p:sp>
        <p:nvSpPr>
          <p:cNvPr id="14" name="Text 14">
            <a:extLst>
              <a:ext uri="{FF2B5EF4-FFF2-40B4-BE49-F238E27FC236}">
                <a16:creationId xmlns:a16="http://schemas.microsoft.com/office/drawing/2014/main" id="{42AD187D-AE63-6D08-9364-5EC235D09850}"/>
              </a:ext>
            </a:extLst>
          </p:cNvPr>
          <p:cNvSpPr txBox="1"/>
          <p:nvPr/>
        </p:nvSpPr>
        <p:spPr>
          <a:xfrm>
            <a:off x="1117669" y="2327199"/>
            <a:ext cx="1482319" cy="224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24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Wunschstart: &lt;TT.MM.JJJJ&gt;</a:t>
            </a:r>
            <a:endParaRPr lang="en-US" sz="724" dirty="0">
              <a:solidFill>
                <a:srgbClr val="2F3E46"/>
              </a:solidFill>
            </a:endParaRP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C4DD07D8-C6F1-4A88-90D8-89E2E23CE5F4}"/>
              </a:ext>
            </a:extLst>
          </p:cNvPr>
          <p:cNvSpPr/>
          <p:nvPr/>
        </p:nvSpPr>
        <p:spPr>
          <a:xfrm>
            <a:off x="1064729" y="2624986"/>
            <a:ext cx="1588199" cy="224995"/>
          </a:xfrm>
          <a:prstGeom prst="rect">
            <a:avLst/>
          </a:prstGeom>
          <a:solidFill>
            <a:srgbClr val="FFFFFF"/>
          </a:solidFill>
          <a:ln w="9525">
            <a:solidFill>
              <a:srgbClr val="9AA9AE"/>
            </a:solidFill>
            <a:prstDash val="solid"/>
          </a:ln>
        </p:spPr>
        <p:txBody>
          <a:bodyPr/>
          <a:lstStyle/>
          <a:p>
            <a:endParaRPr lang="de-DE" sz="1303"/>
          </a:p>
        </p:txBody>
      </p:sp>
      <p:sp>
        <p:nvSpPr>
          <p:cNvPr id="16" name="Text 16">
            <a:extLst>
              <a:ext uri="{FF2B5EF4-FFF2-40B4-BE49-F238E27FC236}">
                <a16:creationId xmlns:a16="http://schemas.microsoft.com/office/drawing/2014/main" id="{296B1676-F8D0-1564-AC16-1B1528421449}"/>
              </a:ext>
            </a:extLst>
          </p:cNvPr>
          <p:cNvSpPr txBox="1"/>
          <p:nvPr/>
        </p:nvSpPr>
        <p:spPr>
          <a:xfrm>
            <a:off x="1117669" y="2624986"/>
            <a:ext cx="1482319" cy="224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24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Zulassung: angenommen</a:t>
            </a:r>
            <a:endParaRPr lang="en-US" sz="724" dirty="0">
              <a:solidFill>
                <a:srgbClr val="2F3E46"/>
              </a:solidFill>
            </a:endParaRP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A2F3D41D-F4C9-E180-E32A-7A2608DA703B}"/>
              </a:ext>
            </a:extLst>
          </p:cNvPr>
          <p:cNvSpPr/>
          <p:nvPr/>
        </p:nvSpPr>
        <p:spPr>
          <a:xfrm>
            <a:off x="1064729" y="2922773"/>
            <a:ext cx="1588199" cy="224995"/>
          </a:xfrm>
          <a:prstGeom prst="rect">
            <a:avLst/>
          </a:prstGeom>
          <a:solidFill>
            <a:srgbClr val="FFFFFF"/>
          </a:solidFill>
          <a:ln w="9525">
            <a:solidFill>
              <a:srgbClr val="9AA9AE"/>
            </a:solidFill>
            <a:prstDash val="solid"/>
          </a:ln>
        </p:spPr>
        <p:txBody>
          <a:bodyPr/>
          <a:lstStyle/>
          <a:p>
            <a:endParaRPr lang="de-DE" sz="1303"/>
          </a:p>
        </p:txBody>
      </p:sp>
      <p:sp>
        <p:nvSpPr>
          <p:cNvPr id="18" name="Text 18">
            <a:extLst>
              <a:ext uri="{FF2B5EF4-FFF2-40B4-BE49-F238E27FC236}">
                <a16:creationId xmlns:a16="http://schemas.microsoft.com/office/drawing/2014/main" id="{553C2DB9-A617-2649-277E-C9F8837849C7}"/>
              </a:ext>
            </a:extLst>
          </p:cNvPr>
          <p:cNvSpPr txBox="1"/>
          <p:nvPr/>
        </p:nvSpPr>
        <p:spPr>
          <a:xfrm>
            <a:off x="1117669" y="2922773"/>
            <a:ext cx="1482319" cy="224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24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Thema: &lt;Thema&gt;</a:t>
            </a:r>
            <a:endParaRPr lang="en-US" sz="724" dirty="0">
              <a:solidFill>
                <a:srgbClr val="2F3E46"/>
              </a:solidFill>
            </a:endParaRPr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0798D493-F021-4C22-E1D2-EA503F75E1E0}"/>
              </a:ext>
            </a:extLst>
          </p:cNvPr>
          <p:cNvSpPr/>
          <p:nvPr/>
        </p:nvSpPr>
        <p:spPr>
          <a:xfrm>
            <a:off x="1064729" y="3571287"/>
            <a:ext cx="1588199" cy="277935"/>
          </a:xfrm>
          <a:prstGeom prst="roundRect">
            <a:avLst>
              <a:gd name="adj" fmla="val 14286"/>
            </a:avLst>
          </a:prstGeom>
          <a:solidFill>
            <a:srgbClr val="80BA24"/>
          </a:solidFill>
          <a:ln w="12700">
            <a:solidFill>
              <a:srgbClr val="80BA24"/>
            </a:solidFill>
            <a:prstDash val="solid"/>
          </a:ln>
        </p:spPr>
        <p:txBody>
          <a:bodyPr/>
          <a:lstStyle/>
          <a:p>
            <a:endParaRPr lang="de-DE" sz="1303"/>
          </a:p>
        </p:txBody>
      </p:sp>
      <p:sp>
        <p:nvSpPr>
          <p:cNvPr id="20" name="Text 20">
            <a:extLst>
              <a:ext uri="{FF2B5EF4-FFF2-40B4-BE49-F238E27FC236}">
                <a16:creationId xmlns:a16="http://schemas.microsoft.com/office/drawing/2014/main" id="{6AABDFB3-D00B-CF25-E0CD-C723D75A076A}"/>
              </a:ext>
            </a:extLst>
          </p:cNvPr>
          <p:cNvSpPr txBox="1"/>
          <p:nvPr/>
        </p:nvSpPr>
        <p:spPr>
          <a:xfrm>
            <a:off x="1104434" y="3571287"/>
            <a:ext cx="1508789" cy="277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96" b="1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 prüfen</a:t>
            </a:r>
            <a:endParaRPr lang="en-US" sz="796" dirty="0">
              <a:solidFill>
                <a:srgbClr val="2F3E46"/>
              </a:solidFill>
            </a:endParaRPr>
          </a:p>
        </p:txBody>
      </p:sp>
      <p:sp>
        <p:nvSpPr>
          <p:cNvPr id="21" name="Text 21">
            <a:extLst>
              <a:ext uri="{FF2B5EF4-FFF2-40B4-BE49-F238E27FC236}">
                <a16:creationId xmlns:a16="http://schemas.microsoft.com/office/drawing/2014/main" id="{4156648D-FF8A-EF11-E947-2E8B8FF8EFAF}"/>
              </a:ext>
            </a:extLst>
          </p:cNvPr>
          <p:cNvSpPr txBox="1"/>
          <p:nvPr/>
        </p:nvSpPr>
        <p:spPr>
          <a:xfrm>
            <a:off x="866204" y="4563912"/>
            <a:ext cx="1985248" cy="198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868" b="1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 aufrufen</a:t>
            </a:r>
            <a:endParaRPr lang="en-US" sz="868" dirty="0">
              <a:solidFill>
                <a:srgbClr val="2F3E46"/>
              </a:solidFill>
            </a:endParaRPr>
          </a:p>
        </p:txBody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ED0A87C6-4339-E501-4226-F59DC5CC4699}"/>
              </a:ext>
            </a:extLst>
          </p:cNvPr>
          <p:cNvSpPr/>
          <p:nvPr/>
        </p:nvSpPr>
        <p:spPr>
          <a:xfrm>
            <a:off x="3579376" y="838263"/>
            <a:ext cx="1985248" cy="3672709"/>
          </a:xfrm>
          <a:prstGeom prst="roundRect">
            <a:avLst>
              <a:gd name="adj" fmla="val 8333"/>
            </a:avLst>
          </a:prstGeom>
          <a:solidFill>
            <a:srgbClr val="E6EAE8"/>
          </a:solidFill>
          <a:ln w="25400">
            <a:solidFill>
              <a:srgbClr val="4A5C66"/>
            </a:solidFill>
            <a:prstDash val="solid"/>
          </a:ln>
        </p:spPr>
        <p:txBody>
          <a:bodyPr/>
          <a:lstStyle/>
          <a:p>
            <a:endParaRPr lang="de-DE" sz="1303"/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9CAE8CE7-8F5D-F941-1032-ACA7C71562E1}"/>
              </a:ext>
            </a:extLst>
          </p:cNvPr>
          <p:cNvSpPr/>
          <p:nvPr/>
        </p:nvSpPr>
        <p:spPr>
          <a:xfrm>
            <a:off x="3711726" y="1102962"/>
            <a:ext cx="1720548" cy="3143310"/>
          </a:xfrm>
          <a:prstGeom prst="rect">
            <a:avLst/>
          </a:prstGeom>
          <a:solidFill>
            <a:srgbClr val="FFFFFF"/>
          </a:solidFill>
          <a:ln w="9525">
            <a:solidFill>
              <a:srgbClr val="9AA9AE"/>
            </a:solidFill>
            <a:prstDash val="solid"/>
          </a:ln>
        </p:spPr>
        <p:txBody>
          <a:bodyPr/>
          <a:lstStyle/>
          <a:p>
            <a:endParaRPr lang="de-DE" sz="1303"/>
          </a:p>
        </p:txBody>
      </p:sp>
      <p:sp>
        <p:nvSpPr>
          <p:cNvPr id="24" name="Text 24">
            <a:extLst>
              <a:ext uri="{FF2B5EF4-FFF2-40B4-BE49-F238E27FC236}">
                <a16:creationId xmlns:a16="http://schemas.microsoft.com/office/drawing/2014/main" id="{1AB2C73E-E7A8-0531-6E98-360603CC0A9C}"/>
              </a:ext>
            </a:extLst>
          </p:cNvPr>
          <p:cNvSpPr txBox="1"/>
          <p:nvPr/>
        </p:nvSpPr>
        <p:spPr>
          <a:xfrm>
            <a:off x="3777901" y="1149285"/>
            <a:ext cx="1588199" cy="231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13" b="1" dirty="0">
                <a:solidFill>
                  <a:srgbClr val="2F3E46"/>
                </a:solidFill>
                <a:latin typeface="Calibri" panose="020F0502020204030204" pitchFamily="34" charset="0"/>
                <a:ea typeface="Cambria" pitchFamily="34" charset="-122"/>
                <a:cs typeface="Cambria" pitchFamily="34" charset="-120"/>
              </a:rPr>
              <a:t>Thema prüfen</a:t>
            </a:r>
            <a:endParaRPr lang="en-US" sz="1013" dirty="0">
              <a:solidFill>
                <a:srgbClr val="2F3E46"/>
              </a:solidFill>
              <a:latin typeface="Calibri" panose="020F0502020204030204" pitchFamily="34" charset="0"/>
            </a:endParaRPr>
          </a:p>
        </p:txBody>
      </p:sp>
      <p:sp>
        <p:nvSpPr>
          <p:cNvPr id="26" name="Shape 25">
            <a:extLst>
              <a:ext uri="{FF2B5EF4-FFF2-40B4-BE49-F238E27FC236}">
                <a16:creationId xmlns:a16="http://schemas.microsoft.com/office/drawing/2014/main" id="{B0A90662-9182-2D6E-1387-C4C719719EEF}"/>
              </a:ext>
            </a:extLst>
          </p:cNvPr>
          <p:cNvSpPr/>
          <p:nvPr/>
        </p:nvSpPr>
        <p:spPr>
          <a:xfrm>
            <a:off x="3777901" y="1433837"/>
            <a:ext cx="1588199" cy="463225"/>
          </a:xfrm>
          <a:prstGeom prst="rect">
            <a:avLst/>
          </a:prstGeom>
          <a:solidFill>
            <a:srgbClr val="FFFFFF"/>
          </a:solidFill>
          <a:ln w="9525">
            <a:solidFill>
              <a:srgbClr val="9AA9AE"/>
            </a:solidFill>
            <a:prstDash val="solid"/>
          </a:ln>
        </p:spPr>
        <p:txBody>
          <a:bodyPr/>
          <a:lstStyle/>
          <a:p>
            <a:endParaRPr lang="de-DE" sz="1303"/>
          </a:p>
        </p:txBody>
      </p:sp>
      <p:sp>
        <p:nvSpPr>
          <p:cNvPr id="27" name="Text 26">
            <a:extLst>
              <a:ext uri="{FF2B5EF4-FFF2-40B4-BE49-F238E27FC236}">
                <a16:creationId xmlns:a16="http://schemas.microsoft.com/office/drawing/2014/main" id="{4E7F69B0-B5DE-F126-643B-F956A00C0FA4}"/>
              </a:ext>
            </a:extLst>
          </p:cNvPr>
          <p:cNvSpPr txBox="1"/>
          <p:nvPr/>
        </p:nvSpPr>
        <p:spPr>
          <a:xfrm>
            <a:off x="3830841" y="1433837"/>
            <a:ext cx="1482319" cy="463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24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Thema: &lt;Thema&gt;</a:t>
            </a:r>
            <a:endParaRPr lang="en-US" sz="724" dirty="0">
              <a:solidFill>
                <a:srgbClr val="2F3E46"/>
              </a:solidFill>
            </a:endParaRPr>
          </a:p>
        </p:txBody>
      </p:sp>
      <p:sp>
        <p:nvSpPr>
          <p:cNvPr id="28" name="Text 27">
            <a:extLst>
              <a:ext uri="{FF2B5EF4-FFF2-40B4-BE49-F238E27FC236}">
                <a16:creationId xmlns:a16="http://schemas.microsoft.com/office/drawing/2014/main" id="{12C0A0E6-7C1C-8794-FA81-521565D1C9EA}"/>
              </a:ext>
            </a:extLst>
          </p:cNvPr>
          <p:cNvSpPr txBox="1"/>
          <p:nvPr/>
        </p:nvSpPr>
        <p:spPr>
          <a:xfrm>
            <a:off x="3777901" y="1996324"/>
            <a:ext cx="1588199" cy="198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96" b="1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Passt das Thema?</a:t>
            </a:r>
            <a:endParaRPr lang="en-US" sz="796" dirty="0">
              <a:solidFill>
                <a:srgbClr val="2F3E46"/>
              </a:solidFill>
            </a:endParaRPr>
          </a:p>
        </p:txBody>
      </p:sp>
      <p:sp>
        <p:nvSpPr>
          <p:cNvPr id="29" name="Shape 28">
            <a:extLst>
              <a:ext uri="{FF2B5EF4-FFF2-40B4-BE49-F238E27FC236}">
                <a16:creationId xmlns:a16="http://schemas.microsoft.com/office/drawing/2014/main" id="{90B3C89F-5C45-12A8-C17F-4F5848CE727A}"/>
              </a:ext>
            </a:extLst>
          </p:cNvPr>
          <p:cNvSpPr/>
          <p:nvPr/>
        </p:nvSpPr>
        <p:spPr>
          <a:xfrm>
            <a:off x="3777901" y="2227936"/>
            <a:ext cx="1588199" cy="224995"/>
          </a:xfrm>
          <a:prstGeom prst="rect">
            <a:avLst/>
          </a:prstGeom>
          <a:solidFill>
            <a:srgbClr val="FFFFFF"/>
          </a:solidFill>
          <a:ln w="9525">
            <a:solidFill>
              <a:srgbClr val="9AA9AE"/>
            </a:solidFill>
            <a:prstDash val="solid"/>
          </a:ln>
        </p:spPr>
        <p:txBody>
          <a:bodyPr/>
          <a:lstStyle/>
          <a:p>
            <a:endParaRPr lang="de-DE" sz="1303"/>
          </a:p>
        </p:txBody>
      </p:sp>
      <p:sp>
        <p:nvSpPr>
          <p:cNvPr id="30" name="Text 29">
            <a:extLst>
              <a:ext uri="{FF2B5EF4-FFF2-40B4-BE49-F238E27FC236}">
                <a16:creationId xmlns:a16="http://schemas.microsoft.com/office/drawing/2014/main" id="{08DB05DC-498E-66F0-25F4-75C7031625EF}"/>
              </a:ext>
            </a:extLst>
          </p:cNvPr>
          <p:cNvSpPr txBox="1"/>
          <p:nvPr/>
        </p:nvSpPr>
        <p:spPr>
          <a:xfrm>
            <a:off x="3830841" y="2227936"/>
            <a:ext cx="1482319" cy="224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24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Ja</a:t>
            </a:r>
            <a:endParaRPr lang="en-US" sz="724" dirty="0">
              <a:solidFill>
                <a:srgbClr val="2F3E46"/>
              </a:solidFill>
            </a:endParaRPr>
          </a:p>
        </p:txBody>
      </p:sp>
      <p:sp>
        <p:nvSpPr>
          <p:cNvPr id="31" name="Shape 30">
            <a:extLst>
              <a:ext uri="{FF2B5EF4-FFF2-40B4-BE49-F238E27FC236}">
                <a16:creationId xmlns:a16="http://schemas.microsoft.com/office/drawing/2014/main" id="{345D735D-2382-A5A9-B42D-AE8A6D4D2FC9}"/>
              </a:ext>
            </a:extLst>
          </p:cNvPr>
          <p:cNvSpPr/>
          <p:nvPr/>
        </p:nvSpPr>
        <p:spPr>
          <a:xfrm>
            <a:off x="3777901" y="2505871"/>
            <a:ext cx="1588199" cy="224995"/>
          </a:xfrm>
          <a:prstGeom prst="rect">
            <a:avLst/>
          </a:prstGeom>
          <a:solidFill>
            <a:srgbClr val="FFFFFF"/>
          </a:solidFill>
          <a:ln w="9525">
            <a:solidFill>
              <a:srgbClr val="9AA9AE"/>
            </a:solidFill>
            <a:prstDash val="solid"/>
          </a:ln>
        </p:spPr>
        <p:txBody>
          <a:bodyPr/>
          <a:lstStyle/>
          <a:p>
            <a:endParaRPr lang="de-DE" sz="1303"/>
          </a:p>
        </p:txBody>
      </p:sp>
      <p:sp>
        <p:nvSpPr>
          <p:cNvPr id="32" name="Text 31">
            <a:extLst>
              <a:ext uri="{FF2B5EF4-FFF2-40B4-BE49-F238E27FC236}">
                <a16:creationId xmlns:a16="http://schemas.microsoft.com/office/drawing/2014/main" id="{EF59518C-B161-5C70-431B-C45B2D190D38}"/>
              </a:ext>
            </a:extLst>
          </p:cNvPr>
          <p:cNvSpPr txBox="1"/>
          <p:nvPr/>
        </p:nvSpPr>
        <p:spPr>
          <a:xfrm>
            <a:off x="3830841" y="2505871"/>
            <a:ext cx="1482319" cy="224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24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Nein</a:t>
            </a:r>
            <a:endParaRPr lang="en-US" sz="724" dirty="0">
              <a:solidFill>
                <a:srgbClr val="2F3E46"/>
              </a:solidFill>
            </a:endParaRPr>
          </a:p>
        </p:txBody>
      </p:sp>
      <p:sp>
        <p:nvSpPr>
          <p:cNvPr id="33" name="Shape 32">
            <a:extLst>
              <a:ext uri="{FF2B5EF4-FFF2-40B4-BE49-F238E27FC236}">
                <a16:creationId xmlns:a16="http://schemas.microsoft.com/office/drawing/2014/main" id="{6CB32950-2887-F531-9CDA-89F3AB81E740}"/>
              </a:ext>
            </a:extLst>
          </p:cNvPr>
          <p:cNvSpPr/>
          <p:nvPr/>
        </p:nvSpPr>
        <p:spPr>
          <a:xfrm>
            <a:off x="3777901" y="2856598"/>
            <a:ext cx="1588199" cy="383815"/>
          </a:xfrm>
          <a:prstGeom prst="rect">
            <a:avLst/>
          </a:prstGeom>
          <a:solidFill>
            <a:srgbClr val="F4F6F5"/>
          </a:solidFill>
          <a:ln w="9525">
            <a:solidFill>
              <a:srgbClr val="9AA9AE"/>
            </a:solidFill>
            <a:prstDash val="dash"/>
          </a:ln>
        </p:spPr>
        <p:txBody>
          <a:bodyPr/>
          <a:lstStyle/>
          <a:p>
            <a:endParaRPr lang="de-DE" sz="1303"/>
          </a:p>
        </p:txBody>
      </p:sp>
      <p:sp>
        <p:nvSpPr>
          <p:cNvPr id="34" name="Text 33">
            <a:extLst>
              <a:ext uri="{FF2B5EF4-FFF2-40B4-BE49-F238E27FC236}">
                <a16:creationId xmlns:a16="http://schemas.microsoft.com/office/drawing/2014/main" id="{AC4AE0AF-CE49-0A66-13B4-2461D3FAEA59}"/>
              </a:ext>
            </a:extLst>
          </p:cNvPr>
          <p:cNvSpPr txBox="1"/>
          <p:nvPr/>
        </p:nvSpPr>
        <p:spPr>
          <a:xfrm>
            <a:off x="3830841" y="2856598"/>
            <a:ext cx="1482319" cy="383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24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Änderungswunsch  [nur bei „Nein“]</a:t>
            </a:r>
            <a:endParaRPr lang="en-US" sz="724" dirty="0"/>
          </a:p>
        </p:txBody>
      </p:sp>
      <p:sp>
        <p:nvSpPr>
          <p:cNvPr id="35" name="Shape 34">
            <a:extLst>
              <a:ext uri="{FF2B5EF4-FFF2-40B4-BE49-F238E27FC236}">
                <a16:creationId xmlns:a16="http://schemas.microsoft.com/office/drawing/2014/main" id="{3D389FFA-2CCD-8DEA-80B9-A4EC0CACC978}"/>
              </a:ext>
            </a:extLst>
          </p:cNvPr>
          <p:cNvSpPr/>
          <p:nvPr/>
        </p:nvSpPr>
        <p:spPr>
          <a:xfrm>
            <a:off x="3777901" y="3220561"/>
            <a:ext cx="1588199" cy="277935"/>
          </a:xfrm>
          <a:prstGeom prst="roundRect">
            <a:avLst>
              <a:gd name="adj" fmla="val 14286"/>
            </a:avLst>
          </a:prstGeom>
          <a:solidFill>
            <a:srgbClr val="80BA24"/>
          </a:solidFill>
          <a:ln w="12700">
            <a:solidFill>
              <a:srgbClr val="80BA24"/>
            </a:solidFill>
            <a:prstDash val="solid"/>
          </a:ln>
        </p:spPr>
        <p:txBody>
          <a:bodyPr/>
          <a:lstStyle/>
          <a:p>
            <a:endParaRPr lang="de-DE" sz="1303"/>
          </a:p>
        </p:txBody>
      </p:sp>
      <p:sp>
        <p:nvSpPr>
          <p:cNvPr id="36" name="Text 35">
            <a:extLst>
              <a:ext uri="{FF2B5EF4-FFF2-40B4-BE49-F238E27FC236}">
                <a16:creationId xmlns:a16="http://schemas.microsoft.com/office/drawing/2014/main" id="{A96C8BEA-A71B-AD12-8F38-56DCB1AE22AD}"/>
              </a:ext>
            </a:extLst>
          </p:cNvPr>
          <p:cNvSpPr txBox="1"/>
          <p:nvPr/>
        </p:nvSpPr>
        <p:spPr>
          <a:xfrm>
            <a:off x="3817606" y="3220561"/>
            <a:ext cx="1508789" cy="277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96" b="1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Bestätigen und freigeben</a:t>
            </a:r>
            <a:endParaRPr lang="en-US" sz="796" dirty="0">
              <a:solidFill>
                <a:srgbClr val="2F3E46"/>
              </a:solidFill>
            </a:endParaRPr>
          </a:p>
        </p:txBody>
      </p:sp>
      <p:sp>
        <p:nvSpPr>
          <p:cNvPr id="37" name="Shape 36">
            <a:extLst>
              <a:ext uri="{FF2B5EF4-FFF2-40B4-BE49-F238E27FC236}">
                <a16:creationId xmlns:a16="http://schemas.microsoft.com/office/drawing/2014/main" id="{926F4A11-8432-F4EE-2979-6C23EE917EE4}"/>
              </a:ext>
            </a:extLst>
          </p:cNvPr>
          <p:cNvSpPr/>
          <p:nvPr/>
        </p:nvSpPr>
        <p:spPr>
          <a:xfrm>
            <a:off x="3777901" y="3571287"/>
            <a:ext cx="1588199" cy="277935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4A5C66"/>
            </a:solidFill>
            <a:prstDash val="solid"/>
          </a:ln>
        </p:spPr>
        <p:txBody>
          <a:bodyPr/>
          <a:lstStyle/>
          <a:p>
            <a:endParaRPr lang="de-DE" sz="1303"/>
          </a:p>
        </p:txBody>
      </p:sp>
      <p:sp>
        <p:nvSpPr>
          <p:cNvPr id="38" name="Text 37">
            <a:extLst>
              <a:ext uri="{FF2B5EF4-FFF2-40B4-BE49-F238E27FC236}">
                <a16:creationId xmlns:a16="http://schemas.microsoft.com/office/drawing/2014/main" id="{5DFF6F3C-E045-B357-8441-0F5AA62CB296}"/>
              </a:ext>
            </a:extLst>
          </p:cNvPr>
          <p:cNvSpPr txBox="1"/>
          <p:nvPr/>
        </p:nvSpPr>
        <p:spPr>
          <a:xfrm>
            <a:off x="3817606" y="3571287"/>
            <a:ext cx="1508789" cy="277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96" b="1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Änderungswunsch senden</a:t>
            </a:r>
            <a:endParaRPr lang="en-US" sz="796" dirty="0">
              <a:solidFill>
                <a:srgbClr val="2F3E46"/>
              </a:solidFill>
            </a:endParaRPr>
          </a:p>
        </p:txBody>
      </p:sp>
      <p:sp>
        <p:nvSpPr>
          <p:cNvPr id="39" name="Text 38">
            <a:extLst>
              <a:ext uri="{FF2B5EF4-FFF2-40B4-BE49-F238E27FC236}">
                <a16:creationId xmlns:a16="http://schemas.microsoft.com/office/drawing/2014/main" id="{42801259-E998-5A7B-8D4A-D4F76C014274}"/>
              </a:ext>
            </a:extLst>
          </p:cNvPr>
          <p:cNvSpPr txBox="1"/>
          <p:nvPr/>
        </p:nvSpPr>
        <p:spPr>
          <a:xfrm>
            <a:off x="3579376" y="4563912"/>
            <a:ext cx="1985248" cy="198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868" b="1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 prüfen, bestätigen</a:t>
            </a:r>
            <a:endParaRPr lang="en-US" sz="868" dirty="0">
              <a:solidFill>
                <a:srgbClr val="2F3E46"/>
              </a:solidFill>
            </a:endParaRPr>
          </a:p>
        </p:txBody>
      </p:sp>
      <p:sp>
        <p:nvSpPr>
          <p:cNvPr id="40" name="Shape 39">
            <a:extLst>
              <a:ext uri="{FF2B5EF4-FFF2-40B4-BE49-F238E27FC236}">
                <a16:creationId xmlns:a16="http://schemas.microsoft.com/office/drawing/2014/main" id="{25A2418E-490E-7CE9-5DC3-F47267BFF62E}"/>
              </a:ext>
            </a:extLst>
          </p:cNvPr>
          <p:cNvSpPr/>
          <p:nvPr/>
        </p:nvSpPr>
        <p:spPr>
          <a:xfrm>
            <a:off x="6292548" y="838263"/>
            <a:ext cx="1985248" cy="3672709"/>
          </a:xfrm>
          <a:prstGeom prst="roundRect">
            <a:avLst>
              <a:gd name="adj" fmla="val 8333"/>
            </a:avLst>
          </a:prstGeom>
          <a:solidFill>
            <a:srgbClr val="E6EAE8"/>
          </a:solidFill>
          <a:ln w="25400">
            <a:solidFill>
              <a:srgbClr val="4A5C66"/>
            </a:solidFill>
            <a:prstDash val="solid"/>
          </a:ln>
        </p:spPr>
        <p:txBody>
          <a:bodyPr/>
          <a:lstStyle/>
          <a:p>
            <a:endParaRPr lang="de-DE" sz="1303"/>
          </a:p>
        </p:txBody>
      </p:sp>
      <p:sp>
        <p:nvSpPr>
          <p:cNvPr id="41" name="Shape 40">
            <a:extLst>
              <a:ext uri="{FF2B5EF4-FFF2-40B4-BE49-F238E27FC236}">
                <a16:creationId xmlns:a16="http://schemas.microsoft.com/office/drawing/2014/main" id="{2707149B-3D41-52F7-82E7-41D832C0D22E}"/>
              </a:ext>
            </a:extLst>
          </p:cNvPr>
          <p:cNvSpPr/>
          <p:nvPr/>
        </p:nvSpPr>
        <p:spPr>
          <a:xfrm>
            <a:off x="6424899" y="1102962"/>
            <a:ext cx="1720548" cy="3143310"/>
          </a:xfrm>
          <a:prstGeom prst="rect">
            <a:avLst/>
          </a:prstGeom>
          <a:solidFill>
            <a:srgbClr val="FFFFFF"/>
          </a:solidFill>
          <a:ln w="9525">
            <a:solidFill>
              <a:srgbClr val="9AA9AE"/>
            </a:solidFill>
            <a:prstDash val="solid"/>
          </a:ln>
        </p:spPr>
        <p:txBody>
          <a:bodyPr/>
          <a:lstStyle/>
          <a:p>
            <a:endParaRPr lang="de-DE" sz="1303"/>
          </a:p>
        </p:txBody>
      </p:sp>
      <p:sp>
        <p:nvSpPr>
          <p:cNvPr id="42" name="Text 41">
            <a:extLst>
              <a:ext uri="{FF2B5EF4-FFF2-40B4-BE49-F238E27FC236}">
                <a16:creationId xmlns:a16="http://schemas.microsoft.com/office/drawing/2014/main" id="{AA0CF161-19EC-25E1-E797-A5FE48E183E3}"/>
              </a:ext>
            </a:extLst>
          </p:cNvPr>
          <p:cNvSpPr txBox="1"/>
          <p:nvPr/>
        </p:nvSpPr>
        <p:spPr>
          <a:xfrm>
            <a:off x="6491073" y="1149285"/>
            <a:ext cx="1588199" cy="231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13" b="1" dirty="0">
                <a:solidFill>
                  <a:srgbClr val="2F3E46"/>
                </a:solidFill>
                <a:latin typeface="Calibri" panose="020F0502020204030204" pitchFamily="34" charset="0"/>
                <a:ea typeface="Cambria" pitchFamily="34" charset="-122"/>
                <a:cs typeface="Cambria" pitchFamily="34" charset="-120"/>
              </a:rPr>
              <a:t>Themenfreigabe</a:t>
            </a:r>
            <a:endParaRPr lang="en-US" sz="1013" dirty="0">
              <a:solidFill>
                <a:srgbClr val="2F3E46"/>
              </a:solidFill>
              <a:latin typeface="Calibri" panose="020F0502020204030204" pitchFamily="34" charset="0"/>
            </a:endParaRPr>
          </a:p>
        </p:txBody>
      </p:sp>
      <p:sp>
        <p:nvSpPr>
          <p:cNvPr id="43" name="Shape 42">
            <a:extLst>
              <a:ext uri="{FF2B5EF4-FFF2-40B4-BE49-F238E27FC236}">
                <a16:creationId xmlns:a16="http://schemas.microsoft.com/office/drawing/2014/main" id="{03237578-019D-8822-8D56-A6AA8247C079}"/>
              </a:ext>
            </a:extLst>
          </p:cNvPr>
          <p:cNvSpPr/>
          <p:nvPr/>
        </p:nvSpPr>
        <p:spPr>
          <a:xfrm>
            <a:off x="6491073" y="1433837"/>
            <a:ext cx="1588199" cy="224995"/>
          </a:xfrm>
          <a:prstGeom prst="rect">
            <a:avLst/>
          </a:prstGeom>
          <a:solidFill>
            <a:srgbClr val="FFFFFF"/>
          </a:solidFill>
          <a:ln w="9525">
            <a:solidFill>
              <a:srgbClr val="9AA9AE"/>
            </a:solidFill>
            <a:prstDash val="solid"/>
          </a:ln>
        </p:spPr>
        <p:txBody>
          <a:bodyPr/>
          <a:lstStyle/>
          <a:p>
            <a:endParaRPr lang="de-DE" sz="1303"/>
          </a:p>
        </p:txBody>
      </p:sp>
      <p:sp>
        <p:nvSpPr>
          <p:cNvPr id="44" name="Text 43">
            <a:extLst>
              <a:ext uri="{FF2B5EF4-FFF2-40B4-BE49-F238E27FC236}">
                <a16:creationId xmlns:a16="http://schemas.microsoft.com/office/drawing/2014/main" id="{BE522835-76CD-8B62-3F15-11391A809E1B}"/>
              </a:ext>
            </a:extLst>
          </p:cNvPr>
          <p:cNvSpPr txBox="1"/>
          <p:nvPr/>
        </p:nvSpPr>
        <p:spPr>
          <a:xfrm>
            <a:off x="6544012" y="1433837"/>
            <a:ext cx="1482319" cy="224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24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Thema: &lt;Thema&gt;</a:t>
            </a:r>
            <a:endParaRPr lang="en-US" sz="724" dirty="0">
              <a:solidFill>
                <a:srgbClr val="2F3E46"/>
              </a:solidFill>
            </a:endParaRPr>
          </a:p>
        </p:txBody>
      </p:sp>
      <p:sp>
        <p:nvSpPr>
          <p:cNvPr id="45" name="Shape 44">
            <a:extLst>
              <a:ext uri="{FF2B5EF4-FFF2-40B4-BE49-F238E27FC236}">
                <a16:creationId xmlns:a16="http://schemas.microsoft.com/office/drawing/2014/main" id="{78347814-C57F-DA47-BBE3-C1D09550D16E}"/>
              </a:ext>
            </a:extLst>
          </p:cNvPr>
          <p:cNvSpPr/>
          <p:nvPr/>
        </p:nvSpPr>
        <p:spPr>
          <a:xfrm>
            <a:off x="6491073" y="1711772"/>
            <a:ext cx="1588199" cy="224995"/>
          </a:xfrm>
          <a:prstGeom prst="rect">
            <a:avLst/>
          </a:prstGeom>
          <a:solidFill>
            <a:srgbClr val="FFFFFF"/>
          </a:solidFill>
          <a:ln w="9525">
            <a:solidFill>
              <a:srgbClr val="9AA9AE"/>
            </a:solidFill>
            <a:prstDash val="solid"/>
          </a:ln>
        </p:spPr>
        <p:txBody>
          <a:bodyPr/>
          <a:lstStyle/>
          <a:p>
            <a:endParaRPr lang="de-DE" sz="1303"/>
          </a:p>
        </p:txBody>
      </p:sp>
      <p:sp>
        <p:nvSpPr>
          <p:cNvPr id="46" name="Text 45">
            <a:extLst>
              <a:ext uri="{FF2B5EF4-FFF2-40B4-BE49-F238E27FC236}">
                <a16:creationId xmlns:a16="http://schemas.microsoft.com/office/drawing/2014/main" id="{9C1CBB88-88E9-E4FA-21F3-0DB03612C53F}"/>
              </a:ext>
            </a:extLst>
          </p:cNvPr>
          <p:cNvSpPr txBox="1"/>
          <p:nvPr/>
        </p:nvSpPr>
        <p:spPr>
          <a:xfrm>
            <a:off x="6544012" y="1711772"/>
            <a:ext cx="1482319" cy="224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24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Freigegeben von: &lt;Erstprüfer:in&gt;</a:t>
            </a:r>
            <a:endParaRPr lang="en-US" sz="724" dirty="0">
              <a:solidFill>
                <a:srgbClr val="2F3E46"/>
              </a:solidFill>
            </a:endParaRPr>
          </a:p>
        </p:txBody>
      </p:sp>
      <p:sp>
        <p:nvSpPr>
          <p:cNvPr id="47" name="Shape 46">
            <a:extLst>
              <a:ext uri="{FF2B5EF4-FFF2-40B4-BE49-F238E27FC236}">
                <a16:creationId xmlns:a16="http://schemas.microsoft.com/office/drawing/2014/main" id="{018A3268-A040-CA49-9C39-8B6B891072E9}"/>
              </a:ext>
            </a:extLst>
          </p:cNvPr>
          <p:cNvSpPr/>
          <p:nvPr/>
        </p:nvSpPr>
        <p:spPr>
          <a:xfrm>
            <a:off x="6491073" y="1989706"/>
            <a:ext cx="1588199" cy="224995"/>
          </a:xfrm>
          <a:prstGeom prst="rect">
            <a:avLst/>
          </a:prstGeom>
          <a:solidFill>
            <a:srgbClr val="FFFFFF"/>
          </a:solidFill>
          <a:ln w="9525">
            <a:solidFill>
              <a:srgbClr val="9AA9AE"/>
            </a:solidFill>
            <a:prstDash val="solid"/>
          </a:ln>
        </p:spPr>
        <p:txBody>
          <a:bodyPr/>
          <a:lstStyle/>
          <a:p>
            <a:endParaRPr lang="de-DE" sz="1303"/>
          </a:p>
        </p:txBody>
      </p:sp>
      <p:sp>
        <p:nvSpPr>
          <p:cNvPr id="48" name="Text 47">
            <a:extLst>
              <a:ext uri="{FF2B5EF4-FFF2-40B4-BE49-F238E27FC236}">
                <a16:creationId xmlns:a16="http://schemas.microsoft.com/office/drawing/2014/main" id="{49AC7BB3-7F9D-E443-C499-208E20CBA9A1}"/>
              </a:ext>
            </a:extLst>
          </p:cNvPr>
          <p:cNvSpPr txBox="1"/>
          <p:nvPr/>
        </p:nvSpPr>
        <p:spPr>
          <a:xfrm>
            <a:off x="6544012" y="1989706"/>
            <a:ext cx="1482319" cy="224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24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Zeitpunkt: &lt;TT.MM.JJJJ HH:MM&gt;</a:t>
            </a:r>
            <a:endParaRPr lang="en-US" sz="724" dirty="0">
              <a:solidFill>
                <a:srgbClr val="2F3E46"/>
              </a:solidFill>
            </a:endParaRPr>
          </a:p>
        </p:txBody>
      </p:sp>
      <p:sp>
        <p:nvSpPr>
          <p:cNvPr id="49" name="Shape 48">
            <a:extLst>
              <a:ext uri="{FF2B5EF4-FFF2-40B4-BE49-F238E27FC236}">
                <a16:creationId xmlns:a16="http://schemas.microsoft.com/office/drawing/2014/main" id="{68A00D6E-D15E-BA63-BFA3-5E0159C8C122}"/>
              </a:ext>
            </a:extLst>
          </p:cNvPr>
          <p:cNvSpPr/>
          <p:nvPr/>
        </p:nvSpPr>
        <p:spPr>
          <a:xfrm>
            <a:off x="6491073" y="2426461"/>
            <a:ext cx="1588199" cy="224995"/>
          </a:xfrm>
          <a:prstGeom prst="rect">
            <a:avLst/>
          </a:prstGeom>
          <a:solidFill>
            <a:srgbClr val="FFFFFF"/>
          </a:solidFill>
          <a:ln w="9525">
            <a:solidFill>
              <a:srgbClr val="9AA9AE"/>
            </a:solidFill>
            <a:prstDash val="solid"/>
          </a:ln>
        </p:spPr>
        <p:txBody>
          <a:bodyPr/>
          <a:lstStyle/>
          <a:p>
            <a:endParaRPr lang="de-DE" sz="1303"/>
          </a:p>
        </p:txBody>
      </p:sp>
      <p:sp>
        <p:nvSpPr>
          <p:cNvPr id="50" name="Text 49">
            <a:extLst>
              <a:ext uri="{FF2B5EF4-FFF2-40B4-BE49-F238E27FC236}">
                <a16:creationId xmlns:a16="http://schemas.microsoft.com/office/drawing/2014/main" id="{07F93B8D-6DB6-4B89-65FA-E84FCAB76A32}"/>
              </a:ext>
            </a:extLst>
          </p:cNvPr>
          <p:cNvSpPr txBox="1"/>
          <p:nvPr/>
        </p:nvSpPr>
        <p:spPr>
          <a:xfrm>
            <a:off x="6544012" y="2426461"/>
            <a:ext cx="1482319" cy="224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24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Thema freigegeben</a:t>
            </a:r>
            <a:endParaRPr lang="en-US" sz="724" dirty="0">
              <a:solidFill>
                <a:srgbClr val="2F3E46"/>
              </a:solidFill>
            </a:endParaRPr>
          </a:p>
        </p:txBody>
      </p:sp>
      <p:sp>
        <p:nvSpPr>
          <p:cNvPr id="51" name="Text 50">
            <a:extLst>
              <a:ext uri="{FF2B5EF4-FFF2-40B4-BE49-F238E27FC236}">
                <a16:creationId xmlns:a16="http://schemas.microsoft.com/office/drawing/2014/main" id="{E26D4628-C0E7-E201-AE65-BE817EE51B70}"/>
              </a:ext>
            </a:extLst>
          </p:cNvPr>
          <p:cNvSpPr txBox="1"/>
          <p:nvPr/>
        </p:nvSpPr>
        <p:spPr>
          <a:xfrm>
            <a:off x="6491073" y="2757337"/>
            <a:ext cx="1588199" cy="198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688" i="1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Studierende:r wird benachrichtigt.</a:t>
            </a:r>
            <a:endParaRPr lang="en-US" sz="688" dirty="0"/>
          </a:p>
        </p:txBody>
      </p:sp>
      <p:sp>
        <p:nvSpPr>
          <p:cNvPr id="52" name="Shape 51">
            <a:extLst>
              <a:ext uri="{FF2B5EF4-FFF2-40B4-BE49-F238E27FC236}">
                <a16:creationId xmlns:a16="http://schemas.microsoft.com/office/drawing/2014/main" id="{6EA2737E-6D6A-CE0F-73B2-E4B3B69ED132}"/>
              </a:ext>
            </a:extLst>
          </p:cNvPr>
          <p:cNvSpPr/>
          <p:nvPr/>
        </p:nvSpPr>
        <p:spPr>
          <a:xfrm>
            <a:off x="6491073" y="3571287"/>
            <a:ext cx="1588199" cy="277935"/>
          </a:xfrm>
          <a:prstGeom prst="roundRect">
            <a:avLst>
              <a:gd name="adj" fmla="val 14286"/>
            </a:avLst>
          </a:prstGeom>
          <a:solidFill>
            <a:srgbClr val="80BA24"/>
          </a:solidFill>
          <a:ln w="12700">
            <a:solidFill>
              <a:srgbClr val="80BA24"/>
            </a:solidFill>
            <a:prstDash val="solid"/>
          </a:ln>
        </p:spPr>
        <p:txBody>
          <a:bodyPr/>
          <a:lstStyle/>
          <a:p>
            <a:endParaRPr lang="de-DE" sz="1303"/>
          </a:p>
        </p:txBody>
      </p:sp>
      <p:sp>
        <p:nvSpPr>
          <p:cNvPr id="53" name="Text 52">
            <a:extLst>
              <a:ext uri="{FF2B5EF4-FFF2-40B4-BE49-F238E27FC236}">
                <a16:creationId xmlns:a16="http://schemas.microsoft.com/office/drawing/2014/main" id="{61CB5DE4-106B-DA79-9316-39F7F9769DCF}"/>
              </a:ext>
            </a:extLst>
          </p:cNvPr>
          <p:cNvSpPr txBox="1"/>
          <p:nvPr/>
        </p:nvSpPr>
        <p:spPr>
          <a:xfrm>
            <a:off x="6530777" y="3571287"/>
            <a:ext cx="1508789" cy="277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96" b="1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Zurück zur Übersicht</a:t>
            </a:r>
            <a:endParaRPr lang="en-US" sz="796" dirty="0">
              <a:solidFill>
                <a:srgbClr val="2F3E46"/>
              </a:solidFill>
            </a:endParaRPr>
          </a:p>
        </p:txBody>
      </p:sp>
      <p:sp>
        <p:nvSpPr>
          <p:cNvPr id="54" name="Text 53">
            <a:extLst>
              <a:ext uri="{FF2B5EF4-FFF2-40B4-BE49-F238E27FC236}">
                <a16:creationId xmlns:a16="http://schemas.microsoft.com/office/drawing/2014/main" id="{66FE1221-8EC2-186D-A81A-0BE9E38DED83}"/>
              </a:ext>
            </a:extLst>
          </p:cNvPr>
          <p:cNvSpPr txBox="1"/>
          <p:nvPr/>
        </p:nvSpPr>
        <p:spPr>
          <a:xfrm>
            <a:off x="6292548" y="4563912"/>
            <a:ext cx="1985248" cy="198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868" b="1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 freigegeben</a:t>
            </a:r>
            <a:endParaRPr lang="en-US" sz="868" dirty="0">
              <a:solidFill>
                <a:srgbClr val="2F3E46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80B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 7 · D2D · THEMENFREIGABE DURCH ERSTPRÜFER:IN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310896"/>
            <a:ext cx="6172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Action: Themenfreigabe (Ablauf)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55464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5B6A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30</a:t>
            </a:fld>
            <a:endParaRPr lang="en-US"/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8E5914CC-CC31-60F3-906B-C9E292655380}"/>
              </a:ext>
            </a:extLst>
          </p:cNvPr>
          <p:cNvSpPr/>
          <p:nvPr/>
        </p:nvSpPr>
        <p:spPr>
          <a:xfrm>
            <a:off x="366063" y="990600"/>
            <a:ext cx="8411873" cy="1842016"/>
          </a:xfrm>
          <a:prstGeom prst="rect">
            <a:avLst/>
          </a:prstGeom>
          <a:solidFill>
            <a:srgbClr val="FFFFFF"/>
          </a:solidFill>
          <a:ln w="9525">
            <a:solidFill>
              <a:srgbClr val="C9D2CD"/>
            </a:solidFill>
            <a:prstDash val="solid"/>
          </a:ln>
        </p:spPr>
        <p:txBody>
          <a:bodyPr/>
          <a:lstStyle/>
          <a:p>
            <a:endParaRPr lang="de-DE" sz="1343"/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D7C1C86D-CC89-B2E5-57A8-F9F4A93442DD}"/>
              </a:ext>
            </a:extLst>
          </p:cNvPr>
          <p:cNvSpPr/>
          <p:nvPr/>
        </p:nvSpPr>
        <p:spPr>
          <a:xfrm>
            <a:off x="366064" y="990600"/>
            <a:ext cx="1091565" cy="1842016"/>
          </a:xfrm>
          <a:prstGeom prst="rect">
            <a:avLst/>
          </a:prstGeom>
          <a:solidFill>
            <a:srgbClr val="4A5C66"/>
          </a:solidFill>
          <a:ln w="9525">
            <a:solidFill>
              <a:srgbClr val="4A5C66"/>
            </a:solidFill>
            <a:prstDash val="solid"/>
          </a:ln>
        </p:spPr>
        <p:txBody>
          <a:bodyPr/>
          <a:lstStyle/>
          <a:p>
            <a:endParaRPr lang="de-DE" sz="1343"/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7C0AA00F-2AE9-4A22-7365-2BE58BF90691}"/>
              </a:ext>
            </a:extLst>
          </p:cNvPr>
          <p:cNvSpPr txBox="1"/>
          <p:nvPr/>
        </p:nvSpPr>
        <p:spPr>
          <a:xfrm>
            <a:off x="400175" y="990600"/>
            <a:ext cx="1023342" cy="1842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Erstprüfer:in</a:t>
            </a:r>
            <a:endParaRPr lang="en-US" sz="970" dirty="0"/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2FCE6ADF-7C0D-9FFB-6321-F4E974B092CA}"/>
              </a:ext>
            </a:extLst>
          </p:cNvPr>
          <p:cNvSpPr/>
          <p:nvPr/>
        </p:nvSpPr>
        <p:spPr>
          <a:xfrm>
            <a:off x="366063" y="2832616"/>
            <a:ext cx="8411873" cy="1159788"/>
          </a:xfrm>
          <a:prstGeom prst="rect">
            <a:avLst/>
          </a:prstGeom>
          <a:solidFill>
            <a:srgbClr val="F7F9F8"/>
          </a:solidFill>
          <a:ln w="9525">
            <a:solidFill>
              <a:srgbClr val="C9D2CD"/>
            </a:solidFill>
            <a:prstDash val="solid"/>
          </a:ln>
        </p:spPr>
        <p:txBody>
          <a:bodyPr/>
          <a:lstStyle/>
          <a:p>
            <a:endParaRPr lang="de-DE" sz="1343"/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B53610D4-B54F-5F4C-10F8-6C4B330F85F0}"/>
              </a:ext>
            </a:extLst>
          </p:cNvPr>
          <p:cNvSpPr/>
          <p:nvPr/>
        </p:nvSpPr>
        <p:spPr>
          <a:xfrm>
            <a:off x="366064" y="2832616"/>
            <a:ext cx="1091565" cy="1159788"/>
          </a:xfrm>
          <a:prstGeom prst="rect">
            <a:avLst/>
          </a:prstGeom>
          <a:solidFill>
            <a:srgbClr val="4A5C66"/>
          </a:solidFill>
          <a:ln w="9525">
            <a:solidFill>
              <a:srgbClr val="4A5C66"/>
            </a:solidFill>
            <a:prstDash val="solid"/>
          </a:ln>
        </p:spPr>
        <p:txBody>
          <a:bodyPr/>
          <a:lstStyle/>
          <a:p>
            <a:endParaRPr lang="de-DE" sz="1343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0C24C45C-0BF7-ED52-656C-5E85111F0580}"/>
              </a:ext>
            </a:extLst>
          </p:cNvPr>
          <p:cNvSpPr txBox="1"/>
          <p:nvPr/>
        </p:nvSpPr>
        <p:spPr>
          <a:xfrm>
            <a:off x="400175" y="2832616"/>
            <a:ext cx="1023342" cy="1159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(System)</a:t>
            </a:r>
            <a:endParaRPr lang="en-US" sz="970" dirty="0"/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FAE2F1A0-1B4B-FBE9-06DC-76E3B909DA49}"/>
              </a:ext>
            </a:extLst>
          </p:cNvPr>
          <p:cNvSpPr/>
          <p:nvPr/>
        </p:nvSpPr>
        <p:spPr>
          <a:xfrm>
            <a:off x="1901077" y="3289709"/>
            <a:ext cx="245602" cy="24560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4A5C66"/>
            </a:solidFill>
            <a:prstDash val="solid"/>
          </a:ln>
        </p:spPr>
        <p:txBody>
          <a:bodyPr/>
          <a:lstStyle/>
          <a:p>
            <a:endParaRPr lang="de-DE" sz="1343"/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63CBD331-8207-BFFC-EC98-6F8CD7564147}"/>
              </a:ext>
            </a:extLst>
          </p:cNvPr>
          <p:cNvSpPr txBox="1"/>
          <p:nvPr/>
        </p:nvSpPr>
        <p:spPr>
          <a:xfrm>
            <a:off x="1580429" y="3569422"/>
            <a:ext cx="886897" cy="307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709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schickt Thema an Prüfer</a:t>
            </a:r>
            <a:endParaRPr lang="en-US" sz="709" dirty="0">
              <a:solidFill>
                <a:srgbClr val="4A5C66"/>
              </a:solidFill>
            </a:endParaRP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81FDC72E-6099-2445-1D80-69A58DE4D0B5}"/>
              </a:ext>
            </a:extLst>
          </p:cNvPr>
          <p:cNvSpPr/>
          <p:nvPr/>
        </p:nvSpPr>
        <p:spPr>
          <a:xfrm>
            <a:off x="2515082" y="3139618"/>
            <a:ext cx="886897" cy="545783"/>
          </a:xfrm>
          <a:prstGeom prst="roundRect">
            <a:avLst>
              <a:gd name="adj" fmla="val 7500"/>
            </a:avLst>
          </a:prstGeom>
          <a:solidFill>
            <a:srgbClr val="E4F2C2"/>
          </a:solidFill>
          <a:ln w="12700">
            <a:solidFill>
              <a:srgbClr val="8FB04A"/>
            </a:solidFill>
            <a:prstDash val="solid"/>
          </a:ln>
        </p:spPr>
        <p:txBody>
          <a:bodyPr/>
          <a:lstStyle/>
          <a:p>
            <a:endParaRPr lang="de-DE" sz="1343"/>
          </a:p>
        </p:txBody>
      </p:sp>
      <p:sp>
        <p:nvSpPr>
          <p:cNvPr id="13" name="Text 13">
            <a:extLst>
              <a:ext uri="{FF2B5EF4-FFF2-40B4-BE49-F238E27FC236}">
                <a16:creationId xmlns:a16="http://schemas.microsoft.com/office/drawing/2014/main" id="{731FD523-C78D-DFEE-FCCB-F226BAAE90C1}"/>
              </a:ext>
            </a:extLst>
          </p:cNvPr>
          <p:cNvSpPr txBox="1"/>
          <p:nvPr/>
        </p:nvSpPr>
        <p:spPr>
          <a:xfrm>
            <a:off x="2556016" y="3139618"/>
            <a:ext cx="805029" cy="545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1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Erstprüfer:in informieren</a:t>
            </a:r>
            <a:endParaRPr lang="en-US" sz="821" dirty="0">
              <a:solidFill>
                <a:srgbClr val="2F3E46"/>
              </a:solidFill>
            </a:endParaRP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60499A8D-4445-B33E-5DF6-1E8FC4CAEE67}"/>
              </a:ext>
            </a:extLst>
          </p:cNvPr>
          <p:cNvSpPr/>
          <p:nvPr/>
        </p:nvSpPr>
        <p:spPr>
          <a:xfrm>
            <a:off x="2515082" y="1843385"/>
            <a:ext cx="886897" cy="545783"/>
          </a:xfrm>
          <a:prstGeom prst="roundRect">
            <a:avLst>
              <a:gd name="adj" fmla="val 7500"/>
            </a:avLst>
          </a:prstGeom>
          <a:solidFill>
            <a:srgbClr val="E4F2C2"/>
          </a:solidFill>
          <a:ln w="12700">
            <a:solidFill>
              <a:srgbClr val="8FB04A"/>
            </a:solidFill>
            <a:prstDash val="solid"/>
          </a:ln>
        </p:spPr>
        <p:txBody>
          <a:bodyPr/>
          <a:lstStyle/>
          <a:p>
            <a:endParaRPr lang="de-DE" sz="1343"/>
          </a:p>
        </p:txBody>
      </p:sp>
      <p:sp>
        <p:nvSpPr>
          <p:cNvPr id="15" name="Text 15">
            <a:extLst>
              <a:ext uri="{FF2B5EF4-FFF2-40B4-BE49-F238E27FC236}">
                <a16:creationId xmlns:a16="http://schemas.microsoft.com/office/drawing/2014/main" id="{402B2660-2F4C-0C2B-0610-0C02C7A36B41}"/>
              </a:ext>
            </a:extLst>
          </p:cNvPr>
          <p:cNvSpPr txBox="1"/>
          <p:nvPr/>
        </p:nvSpPr>
        <p:spPr>
          <a:xfrm>
            <a:off x="2556016" y="1843385"/>
            <a:ext cx="805029" cy="545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1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 aufrufen</a:t>
            </a:r>
            <a:endParaRPr lang="en-US" sz="821" dirty="0">
              <a:solidFill>
                <a:srgbClr val="2F3E46"/>
              </a:solidFill>
            </a:endParaRP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BDCE3B95-FB93-5C77-B338-2C632A0D3292}"/>
              </a:ext>
            </a:extLst>
          </p:cNvPr>
          <p:cNvSpPr/>
          <p:nvPr/>
        </p:nvSpPr>
        <p:spPr>
          <a:xfrm>
            <a:off x="3572537" y="1843385"/>
            <a:ext cx="886897" cy="545783"/>
          </a:xfrm>
          <a:prstGeom prst="roundRect">
            <a:avLst>
              <a:gd name="adj" fmla="val 7500"/>
            </a:avLst>
          </a:prstGeom>
          <a:solidFill>
            <a:srgbClr val="E4F2C2"/>
          </a:solidFill>
          <a:ln w="12700">
            <a:solidFill>
              <a:srgbClr val="8FB04A"/>
            </a:solidFill>
            <a:prstDash val="solid"/>
          </a:ln>
        </p:spPr>
        <p:txBody>
          <a:bodyPr/>
          <a:lstStyle/>
          <a:p>
            <a:endParaRPr lang="de-DE" sz="1343"/>
          </a:p>
        </p:txBody>
      </p:sp>
      <p:sp>
        <p:nvSpPr>
          <p:cNvPr id="17" name="Text 17">
            <a:extLst>
              <a:ext uri="{FF2B5EF4-FFF2-40B4-BE49-F238E27FC236}">
                <a16:creationId xmlns:a16="http://schemas.microsoft.com/office/drawing/2014/main" id="{6E4A79B4-87BD-3D8A-4EB4-D5839DF1563A}"/>
              </a:ext>
            </a:extLst>
          </p:cNvPr>
          <p:cNvSpPr txBox="1"/>
          <p:nvPr/>
        </p:nvSpPr>
        <p:spPr>
          <a:xfrm>
            <a:off x="3613471" y="1843385"/>
            <a:ext cx="805029" cy="545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1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 prüfen</a:t>
            </a:r>
            <a:endParaRPr lang="en-US" sz="821" dirty="0">
              <a:solidFill>
                <a:srgbClr val="2F3E46"/>
              </a:solidFill>
            </a:endParaRPr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84E9F782-BCD5-8283-C2CC-3BBB3848CCC4}"/>
              </a:ext>
            </a:extLst>
          </p:cNvPr>
          <p:cNvSpPr/>
          <p:nvPr/>
        </p:nvSpPr>
        <p:spPr>
          <a:xfrm>
            <a:off x="4732324" y="1928664"/>
            <a:ext cx="375225" cy="375225"/>
          </a:xfrm>
          <a:prstGeom prst="diamond">
            <a:avLst/>
          </a:prstGeom>
          <a:solidFill>
            <a:srgbClr val="FFFFFF"/>
          </a:solidFill>
          <a:ln w="15875">
            <a:solidFill>
              <a:srgbClr val="4A5C66"/>
            </a:solidFill>
            <a:prstDash val="solid"/>
          </a:ln>
        </p:spPr>
        <p:txBody>
          <a:bodyPr/>
          <a:lstStyle/>
          <a:p>
            <a:endParaRPr lang="de-DE" sz="1343"/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61BE8AB7-C670-B5E2-0191-22043ACA7BFB}"/>
              </a:ext>
            </a:extLst>
          </p:cNvPr>
          <p:cNvSpPr/>
          <p:nvPr/>
        </p:nvSpPr>
        <p:spPr>
          <a:xfrm>
            <a:off x="4844891" y="2041232"/>
            <a:ext cx="150090" cy="150090"/>
          </a:xfrm>
          <a:prstGeom prst="line">
            <a:avLst/>
          </a:prstGeom>
          <a:noFill/>
          <a:ln w="19050">
            <a:solidFill>
              <a:srgbClr val="4A5C66"/>
            </a:solidFill>
            <a:prstDash val="solid"/>
          </a:ln>
        </p:spPr>
        <p:txBody>
          <a:bodyPr/>
          <a:lstStyle/>
          <a:p>
            <a:endParaRPr lang="de-DE" sz="1343"/>
          </a:p>
        </p:txBody>
      </p:sp>
      <p:sp>
        <p:nvSpPr>
          <p:cNvPr id="20" name="Shape 20">
            <a:extLst>
              <a:ext uri="{FF2B5EF4-FFF2-40B4-BE49-F238E27FC236}">
                <a16:creationId xmlns:a16="http://schemas.microsoft.com/office/drawing/2014/main" id="{E7AE0E0C-8B6F-BF55-64F6-9198740199E1}"/>
              </a:ext>
            </a:extLst>
          </p:cNvPr>
          <p:cNvSpPr/>
          <p:nvPr/>
        </p:nvSpPr>
        <p:spPr>
          <a:xfrm flipV="1">
            <a:off x="4844891" y="2041232"/>
            <a:ext cx="150090" cy="150090"/>
          </a:xfrm>
          <a:prstGeom prst="line">
            <a:avLst/>
          </a:prstGeom>
          <a:noFill/>
          <a:ln w="19050">
            <a:solidFill>
              <a:srgbClr val="4A5C66"/>
            </a:solidFill>
            <a:prstDash val="solid"/>
          </a:ln>
        </p:spPr>
        <p:txBody>
          <a:bodyPr/>
          <a:lstStyle/>
          <a:p>
            <a:endParaRPr lang="de-DE" sz="1343"/>
          </a:p>
        </p:txBody>
      </p:sp>
      <p:sp>
        <p:nvSpPr>
          <p:cNvPr id="21" name="Text 21">
            <a:extLst>
              <a:ext uri="{FF2B5EF4-FFF2-40B4-BE49-F238E27FC236}">
                <a16:creationId xmlns:a16="http://schemas.microsoft.com/office/drawing/2014/main" id="{349D448B-545D-97A7-8CC1-72BF6022281B}"/>
              </a:ext>
            </a:extLst>
          </p:cNvPr>
          <p:cNvSpPr txBox="1"/>
          <p:nvPr/>
        </p:nvSpPr>
        <p:spPr>
          <a:xfrm>
            <a:off x="4408265" y="2331179"/>
            <a:ext cx="1023342" cy="204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709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Passt das Thema?</a:t>
            </a:r>
            <a:endParaRPr lang="en-US" sz="709" dirty="0">
              <a:solidFill>
                <a:srgbClr val="4A5C66"/>
              </a:solidFill>
            </a:endParaRPr>
          </a:p>
        </p:txBody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F5B5181B-E83F-6E35-7D7F-5AB7B5BAB521}"/>
              </a:ext>
            </a:extLst>
          </p:cNvPr>
          <p:cNvSpPr/>
          <p:nvPr/>
        </p:nvSpPr>
        <p:spPr>
          <a:xfrm>
            <a:off x="5482774" y="1843385"/>
            <a:ext cx="886897" cy="545783"/>
          </a:xfrm>
          <a:prstGeom prst="roundRect">
            <a:avLst>
              <a:gd name="adj" fmla="val 7500"/>
            </a:avLst>
          </a:prstGeom>
          <a:solidFill>
            <a:srgbClr val="E4F2C2"/>
          </a:solidFill>
          <a:ln w="12700">
            <a:solidFill>
              <a:srgbClr val="8FB04A"/>
            </a:solidFill>
            <a:prstDash val="solid"/>
          </a:ln>
        </p:spPr>
        <p:txBody>
          <a:bodyPr/>
          <a:lstStyle/>
          <a:p>
            <a:endParaRPr lang="de-DE" sz="1343"/>
          </a:p>
        </p:txBody>
      </p:sp>
      <p:sp>
        <p:nvSpPr>
          <p:cNvPr id="23" name="Text 23">
            <a:extLst>
              <a:ext uri="{FF2B5EF4-FFF2-40B4-BE49-F238E27FC236}">
                <a16:creationId xmlns:a16="http://schemas.microsoft.com/office/drawing/2014/main" id="{2A22B178-A3D4-9EAA-33B9-8A81FDC8A5E3}"/>
              </a:ext>
            </a:extLst>
          </p:cNvPr>
          <p:cNvSpPr txBox="1"/>
          <p:nvPr/>
        </p:nvSpPr>
        <p:spPr>
          <a:xfrm>
            <a:off x="5523709" y="1843385"/>
            <a:ext cx="805029" cy="545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1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 bestätigen und freigeben</a:t>
            </a:r>
            <a:endParaRPr lang="en-US" sz="821" dirty="0">
              <a:solidFill>
                <a:srgbClr val="2F3E46"/>
              </a:solidFill>
            </a:endParaRPr>
          </a:p>
        </p:txBody>
      </p:sp>
      <p:sp>
        <p:nvSpPr>
          <p:cNvPr id="24" name="Shape 24">
            <a:extLst>
              <a:ext uri="{FF2B5EF4-FFF2-40B4-BE49-F238E27FC236}">
                <a16:creationId xmlns:a16="http://schemas.microsoft.com/office/drawing/2014/main" id="{068470B3-9EBA-C338-0F95-BB1AEDB8A176}"/>
              </a:ext>
            </a:extLst>
          </p:cNvPr>
          <p:cNvSpPr/>
          <p:nvPr/>
        </p:nvSpPr>
        <p:spPr>
          <a:xfrm>
            <a:off x="7256567" y="1092934"/>
            <a:ext cx="886897" cy="545783"/>
          </a:xfrm>
          <a:prstGeom prst="roundRect">
            <a:avLst>
              <a:gd name="adj" fmla="val 7500"/>
            </a:avLst>
          </a:prstGeom>
          <a:solidFill>
            <a:srgbClr val="E4F2C2"/>
          </a:solidFill>
          <a:ln w="12700">
            <a:solidFill>
              <a:srgbClr val="8FB04A"/>
            </a:solidFill>
            <a:prstDash val="solid"/>
          </a:ln>
        </p:spPr>
        <p:txBody>
          <a:bodyPr/>
          <a:lstStyle/>
          <a:p>
            <a:endParaRPr lang="de-DE" sz="1343"/>
          </a:p>
        </p:txBody>
      </p:sp>
      <p:sp>
        <p:nvSpPr>
          <p:cNvPr id="26" name="Text 25">
            <a:extLst>
              <a:ext uri="{FF2B5EF4-FFF2-40B4-BE49-F238E27FC236}">
                <a16:creationId xmlns:a16="http://schemas.microsoft.com/office/drawing/2014/main" id="{44A45E04-1F12-B26E-6924-9C3B8489A45E}"/>
              </a:ext>
            </a:extLst>
          </p:cNvPr>
          <p:cNvSpPr txBox="1"/>
          <p:nvPr/>
        </p:nvSpPr>
        <p:spPr>
          <a:xfrm>
            <a:off x="7297501" y="1092934"/>
            <a:ext cx="805029" cy="545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1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Änderungswunsch eintragen</a:t>
            </a:r>
            <a:endParaRPr lang="en-US" sz="821" dirty="0">
              <a:solidFill>
                <a:srgbClr val="2F3E46"/>
              </a:solidFill>
            </a:endParaRPr>
          </a:p>
        </p:txBody>
      </p:sp>
      <p:sp>
        <p:nvSpPr>
          <p:cNvPr id="27" name="Shape 26">
            <a:extLst>
              <a:ext uri="{FF2B5EF4-FFF2-40B4-BE49-F238E27FC236}">
                <a16:creationId xmlns:a16="http://schemas.microsoft.com/office/drawing/2014/main" id="{4AF81511-C57C-76F8-6A0E-EB8960C7A036}"/>
              </a:ext>
            </a:extLst>
          </p:cNvPr>
          <p:cNvSpPr/>
          <p:nvPr/>
        </p:nvSpPr>
        <p:spPr>
          <a:xfrm>
            <a:off x="5482774" y="3139618"/>
            <a:ext cx="886897" cy="545783"/>
          </a:xfrm>
          <a:prstGeom prst="roundRect">
            <a:avLst>
              <a:gd name="adj" fmla="val 7500"/>
            </a:avLst>
          </a:prstGeom>
          <a:solidFill>
            <a:srgbClr val="E4F2C2"/>
          </a:solidFill>
          <a:ln w="12700">
            <a:solidFill>
              <a:srgbClr val="8FB04A"/>
            </a:solidFill>
            <a:prstDash val="solid"/>
          </a:ln>
        </p:spPr>
        <p:txBody>
          <a:bodyPr/>
          <a:lstStyle/>
          <a:p>
            <a:endParaRPr lang="de-DE" sz="1343"/>
          </a:p>
        </p:txBody>
      </p:sp>
      <p:sp>
        <p:nvSpPr>
          <p:cNvPr id="28" name="Text 27">
            <a:extLst>
              <a:ext uri="{FF2B5EF4-FFF2-40B4-BE49-F238E27FC236}">
                <a16:creationId xmlns:a16="http://schemas.microsoft.com/office/drawing/2014/main" id="{BE6260B8-2D27-513D-A01D-737D5AAE9AC1}"/>
              </a:ext>
            </a:extLst>
          </p:cNvPr>
          <p:cNvSpPr txBox="1"/>
          <p:nvPr/>
        </p:nvSpPr>
        <p:spPr>
          <a:xfrm>
            <a:off x="5523709" y="3139618"/>
            <a:ext cx="805029" cy="545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1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Themenfreigabe speichern</a:t>
            </a:r>
            <a:endParaRPr lang="en-US" sz="821" dirty="0">
              <a:solidFill>
                <a:srgbClr val="2F3E46"/>
              </a:solidFill>
            </a:endParaRPr>
          </a:p>
        </p:txBody>
      </p:sp>
      <p:sp>
        <p:nvSpPr>
          <p:cNvPr id="29" name="Shape 28">
            <a:extLst>
              <a:ext uri="{FF2B5EF4-FFF2-40B4-BE49-F238E27FC236}">
                <a16:creationId xmlns:a16="http://schemas.microsoft.com/office/drawing/2014/main" id="{F5F9C140-6F4E-BE75-5C93-0D23B22A48B2}"/>
              </a:ext>
            </a:extLst>
          </p:cNvPr>
          <p:cNvSpPr/>
          <p:nvPr/>
        </p:nvSpPr>
        <p:spPr>
          <a:xfrm>
            <a:off x="7256567" y="3139618"/>
            <a:ext cx="886897" cy="545783"/>
          </a:xfrm>
          <a:prstGeom prst="roundRect">
            <a:avLst>
              <a:gd name="adj" fmla="val 7500"/>
            </a:avLst>
          </a:prstGeom>
          <a:solidFill>
            <a:srgbClr val="E4F2C2"/>
          </a:solidFill>
          <a:ln w="12700">
            <a:solidFill>
              <a:srgbClr val="8FB04A"/>
            </a:solidFill>
            <a:prstDash val="solid"/>
          </a:ln>
        </p:spPr>
        <p:txBody>
          <a:bodyPr/>
          <a:lstStyle/>
          <a:p>
            <a:endParaRPr lang="de-DE" sz="1343"/>
          </a:p>
        </p:txBody>
      </p:sp>
      <p:sp>
        <p:nvSpPr>
          <p:cNvPr id="30" name="Text 29">
            <a:extLst>
              <a:ext uri="{FF2B5EF4-FFF2-40B4-BE49-F238E27FC236}">
                <a16:creationId xmlns:a16="http://schemas.microsoft.com/office/drawing/2014/main" id="{05BEF442-C9DB-84F5-871E-4C8E74AEF2FF}"/>
              </a:ext>
            </a:extLst>
          </p:cNvPr>
          <p:cNvSpPr txBox="1"/>
          <p:nvPr/>
        </p:nvSpPr>
        <p:spPr>
          <a:xfrm>
            <a:off x="7297501" y="3139618"/>
            <a:ext cx="805029" cy="545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1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Rückfrage an Studierende:n senden</a:t>
            </a:r>
            <a:endParaRPr lang="en-US" sz="821" dirty="0">
              <a:solidFill>
                <a:srgbClr val="2F3E46"/>
              </a:solidFill>
            </a:endParaRPr>
          </a:p>
        </p:txBody>
      </p:sp>
      <p:sp>
        <p:nvSpPr>
          <p:cNvPr id="31" name="Shape 30">
            <a:extLst>
              <a:ext uri="{FF2B5EF4-FFF2-40B4-BE49-F238E27FC236}">
                <a16:creationId xmlns:a16="http://schemas.microsoft.com/office/drawing/2014/main" id="{1010B603-976C-E1AE-930F-BB515E5C5CD2}"/>
              </a:ext>
            </a:extLst>
          </p:cNvPr>
          <p:cNvSpPr/>
          <p:nvPr/>
        </p:nvSpPr>
        <p:spPr>
          <a:xfrm>
            <a:off x="6574341" y="3289709"/>
            <a:ext cx="245602" cy="245602"/>
          </a:xfrm>
          <a:prstGeom prst="ellipse">
            <a:avLst/>
          </a:prstGeom>
          <a:solidFill>
            <a:srgbClr val="FFFFFF"/>
          </a:solidFill>
          <a:ln w="44450">
            <a:solidFill>
              <a:srgbClr val="4A5C66"/>
            </a:solidFill>
            <a:prstDash val="solid"/>
          </a:ln>
        </p:spPr>
        <p:txBody>
          <a:bodyPr/>
          <a:lstStyle/>
          <a:p>
            <a:endParaRPr lang="de-DE" sz="1343"/>
          </a:p>
        </p:txBody>
      </p:sp>
      <p:sp>
        <p:nvSpPr>
          <p:cNvPr id="32" name="Text 31">
            <a:extLst>
              <a:ext uri="{FF2B5EF4-FFF2-40B4-BE49-F238E27FC236}">
                <a16:creationId xmlns:a16="http://schemas.microsoft.com/office/drawing/2014/main" id="{546A8E7B-DDF8-7665-7BC2-234CA4EC3DB5}"/>
              </a:ext>
            </a:extLst>
          </p:cNvPr>
          <p:cNvSpPr txBox="1"/>
          <p:nvPr/>
        </p:nvSpPr>
        <p:spPr>
          <a:xfrm>
            <a:off x="6424249" y="3569422"/>
            <a:ext cx="545783" cy="307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709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</a:t>
            </a:r>
            <a:endParaRPr lang="en-US" sz="709" dirty="0">
              <a:solidFill>
                <a:srgbClr val="4A5C66"/>
              </a:solidFill>
            </a:endParaRPr>
          </a:p>
          <a:p>
            <a:pPr algn="ctr"/>
            <a:r>
              <a:rPr lang="en-US" sz="709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freigegeben</a:t>
            </a:r>
            <a:endParaRPr lang="en-US" sz="709" dirty="0">
              <a:solidFill>
                <a:srgbClr val="4A5C66"/>
              </a:solidFill>
            </a:endParaRPr>
          </a:p>
        </p:txBody>
      </p:sp>
      <p:sp>
        <p:nvSpPr>
          <p:cNvPr id="33" name="Shape 32">
            <a:extLst>
              <a:ext uri="{FF2B5EF4-FFF2-40B4-BE49-F238E27FC236}">
                <a16:creationId xmlns:a16="http://schemas.microsoft.com/office/drawing/2014/main" id="{410EF219-B575-0D5D-E5CE-FEF2C4EA321A}"/>
              </a:ext>
            </a:extLst>
          </p:cNvPr>
          <p:cNvSpPr/>
          <p:nvPr/>
        </p:nvSpPr>
        <p:spPr>
          <a:xfrm>
            <a:off x="8245798" y="3289709"/>
            <a:ext cx="245602" cy="245602"/>
          </a:xfrm>
          <a:prstGeom prst="ellipse">
            <a:avLst/>
          </a:prstGeom>
          <a:solidFill>
            <a:srgbClr val="FFFFFF"/>
          </a:solidFill>
          <a:ln w="44450">
            <a:solidFill>
              <a:srgbClr val="4A5C66"/>
            </a:solidFill>
            <a:prstDash val="solid"/>
          </a:ln>
        </p:spPr>
        <p:txBody>
          <a:bodyPr/>
          <a:lstStyle/>
          <a:p>
            <a:endParaRPr lang="de-DE" sz="1343"/>
          </a:p>
        </p:txBody>
      </p:sp>
      <p:sp>
        <p:nvSpPr>
          <p:cNvPr id="34" name="Text 33">
            <a:extLst>
              <a:ext uri="{FF2B5EF4-FFF2-40B4-BE49-F238E27FC236}">
                <a16:creationId xmlns:a16="http://schemas.microsoft.com/office/drawing/2014/main" id="{AF05813F-B265-2619-8050-9DDCA1DC6A7C}"/>
              </a:ext>
            </a:extLst>
          </p:cNvPr>
          <p:cNvSpPr txBox="1"/>
          <p:nvPr/>
        </p:nvSpPr>
        <p:spPr>
          <a:xfrm>
            <a:off x="8129819" y="3569422"/>
            <a:ext cx="477560" cy="307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709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Rückfrage</a:t>
            </a:r>
            <a:endParaRPr lang="en-US" sz="709" dirty="0">
              <a:solidFill>
                <a:srgbClr val="4A5C66"/>
              </a:solidFill>
            </a:endParaRPr>
          </a:p>
          <a:p>
            <a:pPr algn="ctr"/>
            <a:r>
              <a:rPr lang="en-US" sz="709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gesendet</a:t>
            </a:r>
            <a:endParaRPr lang="en-US" sz="709" dirty="0">
              <a:solidFill>
                <a:srgbClr val="4A5C66"/>
              </a:solidFill>
            </a:endParaRPr>
          </a:p>
        </p:txBody>
      </p:sp>
      <p:sp>
        <p:nvSpPr>
          <p:cNvPr id="35" name="Shape 34">
            <a:extLst>
              <a:ext uri="{FF2B5EF4-FFF2-40B4-BE49-F238E27FC236}">
                <a16:creationId xmlns:a16="http://schemas.microsoft.com/office/drawing/2014/main" id="{00BA003A-9945-AF32-3C56-B5E62996C874}"/>
              </a:ext>
            </a:extLst>
          </p:cNvPr>
          <p:cNvSpPr/>
          <p:nvPr/>
        </p:nvSpPr>
        <p:spPr>
          <a:xfrm>
            <a:off x="2146679" y="3412510"/>
            <a:ext cx="368403" cy="0"/>
          </a:xfrm>
          <a:prstGeom prst="line">
            <a:avLst/>
          </a:prstGeom>
          <a:noFill/>
          <a:ln w="19050">
            <a:solidFill>
              <a:srgbClr val="4A5C66"/>
            </a:solidFill>
            <a:prstDash val="solid"/>
            <a:tailEnd type="triangle"/>
          </a:ln>
        </p:spPr>
        <p:txBody>
          <a:bodyPr/>
          <a:lstStyle/>
          <a:p>
            <a:endParaRPr lang="de-DE" sz="1343"/>
          </a:p>
        </p:txBody>
      </p:sp>
      <p:sp>
        <p:nvSpPr>
          <p:cNvPr id="36" name="Shape 35">
            <a:extLst>
              <a:ext uri="{FF2B5EF4-FFF2-40B4-BE49-F238E27FC236}">
                <a16:creationId xmlns:a16="http://schemas.microsoft.com/office/drawing/2014/main" id="{E1DF9F43-9803-B3F8-9899-5871B4B38614}"/>
              </a:ext>
            </a:extLst>
          </p:cNvPr>
          <p:cNvSpPr/>
          <p:nvPr/>
        </p:nvSpPr>
        <p:spPr>
          <a:xfrm flipV="1">
            <a:off x="2958530" y="2389168"/>
            <a:ext cx="0" cy="750451"/>
          </a:xfrm>
          <a:prstGeom prst="line">
            <a:avLst/>
          </a:prstGeom>
          <a:noFill/>
          <a:ln w="19050">
            <a:solidFill>
              <a:srgbClr val="4A5C66"/>
            </a:solidFill>
            <a:prstDash val="solid"/>
            <a:tailEnd type="triangle"/>
          </a:ln>
        </p:spPr>
        <p:txBody>
          <a:bodyPr/>
          <a:lstStyle/>
          <a:p>
            <a:endParaRPr lang="de-DE" sz="1343"/>
          </a:p>
        </p:txBody>
      </p:sp>
      <p:sp>
        <p:nvSpPr>
          <p:cNvPr id="37" name="Shape 36">
            <a:extLst>
              <a:ext uri="{FF2B5EF4-FFF2-40B4-BE49-F238E27FC236}">
                <a16:creationId xmlns:a16="http://schemas.microsoft.com/office/drawing/2014/main" id="{B1FE31AE-51ED-0BA3-C2E2-8AF99BEDCF5E}"/>
              </a:ext>
            </a:extLst>
          </p:cNvPr>
          <p:cNvSpPr/>
          <p:nvPr/>
        </p:nvSpPr>
        <p:spPr>
          <a:xfrm>
            <a:off x="3401980" y="2116277"/>
            <a:ext cx="170557" cy="0"/>
          </a:xfrm>
          <a:prstGeom prst="line">
            <a:avLst/>
          </a:prstGeom>
          <a:noFill/>
          <a:ln w="19050">
            <a:solidFill>
              <a:srgbClr val="4A5C66"/>
            </a:solidFill>
            <a:prstDash val="solid"/>
            <a:tailEnd type="triangle"/>
          </a:ln>
        </p:spPr>
        <p:txBody>
          <a:bodyPr/>
          <a:lstStyle/>
          <a:p>
            <a:endParaRPr lang="de-DE" sz="1343"/>
          </a:p>
        </p:txBody>
      </p:sp>
      <p:sp>
        <p:nvSpPr>
          <p:cNvPr id="38" name="Shape 37">
            <a:extLst>
              <a:ext uri="{FF2B5EF4-FFF2-40B4-BE49-F238E27FC236}">
                <a16:creationId xmlns:a16="http://schemas.microsoft.com/office/drawing/2014/main" id="{EF1381B9-8CE7-174D-DADB-69A6D1A53BC4}"/>
              </a:ext>
            </a:extLst>
          </p:cNvPr>
          <p:cNvSpPr/>
          <p:nvPr/>
        </p:nvSpPr>
        <p:spPr>
          <a:xfrm>
            <a:off x="4459432" y="2116277"/>
            <a:ext cx="272891" cy="0"/>
          </a:xfrm>
          <a:prstGeom prst="line">
            <a:avLst/>
          </a:prstGeom>
          <a:noFill/>
          <a:ln w="19050">
            <a:solidFill>
              <a:srgbClr val="4A5C66"/>
            </a:solidFill>
            <a:prstDash val="solid"/>
            <a:tailEnd type="triangle"/>
          </a:ln>
        </p:spPr>
        <p:txBody>
          <a:bodyPr/>
          <a:lstStyle/>
          <a:p>
            <a:endParaRPr lang="de-DE" sz="1343"/>
          </a:p>
        </p:txBody>
      </p:sp>
      <p:sp>
        <p:nvSpPr>
          <p:cNvPr id="39" name="Shape 38">
            <a:extLst>
              <a:ext uri="{FF2B5EF4-FFF2-40B4-BE49-F238E27FC236}">
                <a16:creationId xmlns:a16="http://schemas.microsoft.com/office/drawing/2014/main" id="{09BCF1E1-1D66-5305-7FAE-EC66899CCB7A}"/>
              </a:ext>
            </a:extLst>
          </p:cNvPr>
          <p:cNvSpPr/>
          <p:nvPr/>
        </p:nvSpPr>
        <p:spPr>
          <a:xfrm>
            <a:off x="5107549" y="2116277"/>
            <a:ext cx="375225" cy="0"/>
          </a:xfrm>
          <a:prstGeom prst="line">
            <a:avLst/>
          </a:prstGeom>
          <a:noFill/>
          <a:ln w="19050">
            <a:solidFill>
              <a:srgbClr val="4A5C66"/>
            </a:solidFill>
            <a:prstDash val="solid"/>
            <a:tailEnd type="triangle"/>
          </a:ln>
        </p:spPr>
        <p:txBody>
          <a:bodyPr/>
          <a:lstStyle/>
          <a:p>
            <a:endParaRPr lang="de-DE" sz="1343"/>
          </a:p>
        </p:txBody>
      </p:sp>
      <p:sp>
        <p:nvSpPr>
          <p:cNvPr id="40" name="Text 39">
            <a:extLst>
              <a:ext uri="{FF2B5EF4-FFF2-40B4-BE49-F238E27FC236}">
                <a16:creationId xmlns:a16="http://schemas.microsoft.com/office/drawing/2014/main" id="{73B91D84-FE2B-94A6-1E24-9BCBED26E1AE}"/>
              </a:ext>
            </a:extLst>
          </p:cNvPr>
          <p:cNvSpPr txBox="1"/>
          <p:nvPr/>
        </p:nvSpPr>
        <p:spPr>
          <a:xfrm>
            <a:off x="5107549" y="1911608"/>
            <a:ext cx="204668" cy="204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709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</a:t>
            </a:r>
            <a:endParaRPr lang="en-US" sz="709" dirty="0">
              <a:solidFill>
                <a:srgbClr val="4A5C66"/>
              </a:solidFill>
            </a:endParaRPr>
          </a:p>
        </p:txBody>
      </p:sp>
      <p:sp>
        <p:nvSpPr>
          <p:cNvPr id="41" name="Shape 40">
            <a:extLst>
              <a:ext uri="{FF2B5EF4-FFF2-40B4-BE49-F238E27FC236}">
                <a16:creationId xmlns:a16="http://schemas.microsoft.com/office/drawing/2014/main" id="{3871B98F-8DF3-2E64-1EFA-7BB782AE9E18}"/>
              </a:ext>
            </a:extLst>
          </p:cNvPr>
          <p:cNvSpPr/>
          <p:nvPr/>
        </p:nvSpPr>
        <p:spPr>
          <a:xfrm flipV="1">
            <a:off x="4919937" y="1365826"/>
            <a:ext cx="0" cy="562838"/>
          </a:xfrm>
          <a:prstGeom prst="line">
            <a:avLst/>
          </a:prstGeom>
          <a:noFill/>
          <a:ln w="19050">
            <a:solidFill>
              <a:srgbClr val="4A5C66"/>
            </a:solidFill>
            <a:prstDash val="solid"/>
          </a:ln>
        </p:spPr>
        <p:txBody>
          <a:bodyPr/>
          <a:lstStyle/>
          <a:p>
            <a:endParaRPr lang="de-DE" sz="1343"/>
          </a:p>
        </p:txBody>
      </p:sp>
      <p:sp>
        <p:nvSpPr>
          <p:cNvPr id="42" name="Shape 41">
            <a:extLst>
              <a:ext uri="{FF2B5EF4-FFF2-40B4-BE49-F238E27FC236}">
                <a16:creationId xmlns:a16="http://schemas.microsoft.com/office/drawing/2014/main" id="{71429ABC-7AB6-A1E6-8E8A-4303659DEF6A}"/>
              </a:ext>
            </a:extLst>
          </p:cNvPr>
          <p:cNvSpPr/>
          <p:nvPr/>
        </p:nvSpPr>
        <p:spPr>
          <a:xfrm>
            <a:off x="4919937" y="1365826"/>
            <a:ext cx="2336631" cy="0"/>
          </a:xfrm>
          <a:prstGeom prst="line">
            <a:avLst/>
          </a:prstGeom>
          <a:noFill/>
          <a:ln w="19050">
            <a:solidFill>
              <a:srgbClr val="4A5C66"/>
            </a:solidFill>
            <a:prstDash val="solid"/>
            <a:tailEnd type="triangle"/>
          </a:ln>
        </p:spPr>
        <p:txBody>
          <a:bodyPr/>
          <a:lstStyle/>
          <a:p>
            <a:endParaRPr lang="de-DE" sz="1343"/>
          </a:p>
        </p:txBody>
      </p:sp>
      <p:sp>
        <p:nvSpPr>
          <p:cNvPr id="43" name="Text 42">
            <a:extLst>
              <a:ext uri="{FF2B5EF4-FFF2-40B4-BE49-F238E27FC236}">
                <a16:creationId xmlns:a16="http://schemas.microsoft.com/office/drawing/2014/main" id="{D7989081-BDD3-5AB3-0BF4-7B860AEC4C9F}"/>
              </a:ext>
            </a:extLst>
          </p:cNvPr>
          <p:cNvSpPr txBox="1"/>
          <p:nvPr/>
        </p:nvSpPr>
        <p:spPr>
          <a:xfrm>
            <a:off x="4954048" y="1570494"/>
            <a:ext cx="341114" cy="204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09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nein</a:t>
            </a:r>
            <a:endParaRPr lang="en-US" sz="709" dirty="0">
              <a:solidFill>
                <a:srgbClr val="4A5C66"/>
              </a:solidFill>
            </a:endParaRPr>
          </a:p>
        </p:txBody>
      </p:sp>
      <p:sp>
        <p:nvSpPr>
          <p:cNvPr id="44" name="Shape 43">
            <a:extLst>
              <a:ext uri="{FF2B5EF4-FFF2-40B4-BE49-F238E27FC236}">
                <a16:creationId xmlns:a16="http://schemas.microsoft.com/office/drawing/2014/main" id="{1A8DF16C-AF0A-2BCB-64FC-ED78A965B676}"/>
              </a:ext>
            </a:extLst>
          </p:cNvPr>
          <p:cNvSpPr/>
          <p:nvPr/>
        </p:nvSpPr>
        <p:spPr>
          <a:xfrm>
            <a:off x="5926224" y="2389168"/>
            <a:ext cx="0" cy="750451"/>
          </a:xfrm>
          <a:prstGeom prst="line">
            <a:avLst/>
          </a:prstGeom>
          <a:noFill/>
          <a:ln w="19050">
            <a:solidFill>
              <a:srgbClr val="4A5C66"/>
            </a:solidFill>
            <a:prstDash val="solid"/>
            <a:tailEnd type="triangle"/>
          </a:ln>
        </p:spPr>
        <p:txBody>
          <a:bodyPr/>
          <a:lstStyle/>
          <a:p>
            <a:endParaRPr lang="de-DE" sz="1343"/>
          </a:p>
        </p:txBody>
      </p:sp>
      <p:sp>
        <p:nvSpPr>
          <p:cNvPr id="45" name="Shape 44">
            <a:extLst>
              <a:ext uri="{FF2B5EF4-FFF2-40B4-BE49-F238E27FC236}">
                <a16:creationId xmlns:a16="http://schemas.microsoft.com/office/drawing/2014/main" id="{2594ADF1-F2EB-EBE0-572E-1A938C52486D}"/>
              </a:ext>
            </a:extLst>
          </p:cNvPr>
          <p:cNvSpPr/>
          <p:nvPr/>
        </p:nvSpPr>
        <p:spPr>
          <a:xfrm>
            <a:off x="6369671" y="3412510"/>
            <a:ext cx="204668" cy="0"/>
          </a:xfrm>
          <a:prstGeom prst="line">
            <a:avLst/>
          </a:prstGeom>
          <a:noFill/>
          <a:ln w="19050">
            <a:solidFill>
              <a:srgbClr val="4A5C66"/>
            </a:solidFill>
            <a:prstDash val="solid"/>
            <a:tailEnd type="triangle"/>
          </a:ln>
        </p:spPr>
        <p:txBody>
          <a:bodyPr/>
          <a:lstStyle/>
          <a:p>
            <a:endParaRPr lang="de-DE" sz="1343"/>
          </a:p>
        </p:txBody>
      </p:sp>
      <p:sp>
        <p:nvSpPr>
          <p:cNvPr id="46" name="Shape 45">
            <a:extLst>
              <a:ext uri="{FF2B5EF4-FFF2-40B4-BE49-F238E27FC236}">
                <a16:creationId xmlns:a16="http://schemas.microsoft.com/office/drawing/2014/main" id="{F04A666E-3CEB-1A2C-E2DA-7059E91BEA22}"/>
              </a:ext>
            </a:extLst>
          </p:cNvPr>
          <p:cNvSpPr/>
          <p:nvPr/>
        </p:nvSpPr>
        <p:spPr>
          <a:xfrm>
            <a:off x="7700016" y="1638717"/>
            <a:ext cx="0" cy="1500902"/>
          </a:xfrm>
          <a:prstGeom prst="line">
            <a:avLst/>
          </a:prstGeom>
          <a:noFill/>
          <a:ln w="19050">
            <a:solidFill>
              <a:srgbClr val="4A5C66"/>
            </a:solidFill>
            <a:prstDash val="solid"/>
            <a:tailEnd type="triangle"/>
          </a:ln>
        </p:spPr>
        <p:txBody>
          <a:bodyPr/>
          <a:lstStyle/>
          <a:p>
            <a:endParaRPr lang="de-DE" sz="1343"/>
          </a:p>
        </p:txBody>
      </p:sp>
      <p:sp>
        <p:nvSpPr>
          <p:cNvPr id="47" name="Shape 46">
            <a:extLst>
              <a:ext uri="{FF2B5EF4-FFF2-40B4-BE49-F238E27FC236}">
                <a16:creationId xmlns:a16="http://schemas.microsoft.com/office/drawing/2014/main" id="{8E743F13-DEC0-C9D9-6C31-EEC4E29C99DA}"/>
              </a:ext>
            </a:extLst>
          </p:cNvPr>
          <p:cNvSpPr/>
          <p:nvPr/>
        </p:nvSpPr>
        <p:spPr>
          <a:xfrm>
            <a:off x="8143464" y="3412510"/>
            <a:ext cx="102334" cy="0"/>
          </a:xfrm>
          <a:prstGeom prst="line">
            <a:avLst/>
          </a:prstGeom>
          <a:noFill/>
          <a:ln w="19050">
            <a:solidFill>
              <a:srgbClr val="4A5C66"/>
            </a:solidFill>
            <a:prstDash val="solid"/>
            <a:tailEnd type="triangle"/>
          </a:ln>
        </p:spPr>
        <p:txBody>
          <a:bodyPr/>
          <a:lstStyle/>
          <a:p>
            <a:endParaRPr lang="de-DE" sz="1343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80B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 7 · D2D · THEMENFREIGABE DURCH ERSTPRÜFER:IN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310896"/>
            <a:ext cx="6172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Data: Datenmodell (Ausschnitt)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55464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5B6A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31</a:t>
            </a:fld>
            <a:endParaRPr lang="en-US"/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67C6C246-E044-EE6B-10F5-51687D033B20}"/>
              </a:ext>
            </a:extLst>
          </p:cNvPr>
          <p:cNvSpPr/>
          <p:nvPr/>
        </p:nvSpPr>
        <p:spPr>
          <a:xfrm>
            <a:off x="2063770" y="838142"/>
            <a:ext cx="5016460" cy="293270"/>
          </a:xfrm>
          <a:prstGeom prst="rect">
            <a:avLst/>
          </a:prstGeom>
          <a:solidFill>
            <a:srgbClr val="2A74C2"/>
          </a:solidFill>
          <a:ln w="12700">
            <a:solidFill>
              <a:srgbClr val="2A74C2"/>
            </a:solidFill>
            <a:prstDash val="solid"/>
          </a:ln>
        </p:spPr>
        <p:txBody>
          <a:bodyPr/>
          <a:lstStyle/>
          <a:p>
            <a:endParaRPr lang="de-DE" sz="1519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F27C122F-6436-2BED-404B-0CC9D5A7D9D5}"/>
              </a:ext>
            </a:extLst>
          </p:cNvPr>
          <p:cNvSpPr txBox="1"/>
          <p:nvPr/>
        </p:nvSpPr>
        <p:spPr>
          <a:xfrm>
            <a:off x="2063770" y="838142"/>
            <a:ext cx="5016460" cy="293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97" b="1" dirty="0">
                <a:solidFill>
                  <a:srgbClr val="FFFFFF"/>
                </a:solidFill>
                <a:latin typeface="Calibri" panose="020F0502020204030204" pitchFamily="34" charset="0"/>
                <a:ea typeface="Cambria" pitchFamily="34" charset="-122"/>
                <a:cs typeface="Cambria" pitchFamily="34" charset="-120"/>
              </a:rPr>
              <a:t>Antrag</a:t>
            </a:r>
            <a:endParaRPr lang="en-US" sz="1097" dirty="0">
              <a:latin typeface="Calibri" panose="020F0502020204030204" pitchFamily="34" charset="0"/>
            </a:endParaRP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A9903E66-178A-204D-6160-1AB4E28D52EE}"/>
              </a:ext>
            </a:extLst>
          </p:cNvPr>
          <p:cNvSpPr/>
          <p:nvPr/>
        </p:nvSpPr>
        <p:spPr>
          <a:xfrm>
            <a:off x="2063770" y="1131412"/>
            <a:ext cx="5016460" cy="2365454"/>
          </a:xfrm>
          <a:prstGeom prst="rect">
            <a:avLst/>
          </a:prstGeom>
          <a:solidFill>
            <a:srgbClr val="EAF2FB"/>
          </a:solidFill>
          <a:ln w="12700">
            <a:solidFill>
              <a:srgbClr val="2A74C2"/>
            </a:solidFill>
            <a:prstDash val="solid"/>
          </a:ln>
        </p:spPr>
        <p:txBody>
          <a:bodyPr/>
          <a:lstStyle/>
          <a:p>
            <a:endParaRPr lang="de-DE" sz="1519"/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57B5CD40-6794-C568-327C-6BF3B3D670C4}"/>
              </a:ext>
            </a:extLst>
          </p:cNvPr>
          <p:cNvSpPr txBox="1"/>
          <p:nvPr/>
        </p:nvSpPr>
        <p:spPr>
          <a:xfrm>
            <a:off x="2140946" y="1185435"/>
            <a:ext cx="4900696" cy="2303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253"/>
              </a:spcAft>
            </a:pPr>
            <a:r>
              <a:rPr lang="en-US" sz="802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</a:t>
            </a:r>
            <a:r>
              <a:rPr lang="en-US" sz="928" u="sng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antrag_id</a:t>
            </a:r>
            <a:r>
              <a:rPr lang="en-US" sz="928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Int</a:t>
            </a:r>
            <a:endParaRPr lang="en-US" sz="928" dirty="0"/>
          </a:p>
          <a:p>
            <a:pPr>
              <a:spcAft>
                <a:spcPts val="253"/>
              </a:spcAft>
            </a:pPr>
            <a:r>
              <a:rPr lang="en-US" sz="802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</a:t>
            </a:r>
            <a:r>
              <a:rPr lang="en-US" sz="928" u="sng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matrikelnummer</a:t>
            </a:r>
            <a:r>
              <a:rPr lang="en-US" sz="928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Int</a:t>
            </a:r>
            <a:endParaRPr lang="en-US" sz="928" dirty="0"/>
          </a:p>
          <a:p>
            <a:pPr>
              <a:spcAft>
                <a:spcPts val="253"/>
              </a:spcAft>
            </a:pPr>
            <a:r>
              <a:rPr lang="en-US" sz="802" b="1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928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r>
              <a:rPr lang="en-US" sz="928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String</a:t>
            </a:r>
            <a:endParaRPr lang="en-US" sz="928" dirty="0"/>
          </a:p>
          <a:p>
            <a:pPr>
              <a:spcAft>
                <a:spcPts val="253"/>
              </a:spcAft>
            </a:pPr>
            <a:r>
              <a:rPr lang="en-US" sz="802" b="1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928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studiengang</a:t>
            </a:r>
            <a:r>
              <a:rPr lang="en-US" sz="928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String</a:t>
            </a:r>
            <a:endParaRPr lang="en-US" sz="928" dirty="0"/>
          </a:p>
          <a:p>
            <a:pPr>
              <a:spcAft>
                <a:spcPts val="253"/>
              </a:spcAft>
            </a:pPr>
            <a:r>
              <a:rPr lang="en-US" sz="802" b="1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928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studienabschluss</a:t>
            </a:r>
            <a:r>
              <a:rPr lang="en-US" sz="928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Abschlussart</a:t>
            </a:r>
            <a:endParaRPr lang="en-US" sz="928" dirty="0"/>
          </a:p>
          <a:p>
            <a:pPr>
              <a:spcAft>
                <a:spcPts val="253"/>
              </a:spcAft>
            </a:pPr>
            <a:r>
              <a:rPr lang="en-US" sz="802" b="1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928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gewuenschterStarttermin</a:t>
            </a:r>
            <a:r>
              <a:rPr lang="en-US" sz="928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Datum</a:t>
            </a:r>
            <a:endParaRPr lang="en-US" sz="928" dirty="0"/>
          </a:p>
          <a:p>
            <a:pPr>
              <a:spcAft>
                <a:spcPts val="253"/>
              </a:spcAft>
            </a:pPr>
            <a:r>
              <a:rPr lang="en-US" sz="802" b="1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928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</a:t>
            </a:r>
            <a:r>
              <a:rPr lang="en-US" sz="928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String</a:t>
            </a:r>
            <a:endParaRPr lang="en-US" sz="928" dirty="0"/>
          </a:p>
          <a:p>
            <a:pPr>
              <a:spcAft>
                <a:spcPts val="253"/>
              </a:spcAft>
            </a:pPr>
            <a:r>
              <a:rPr lang="en-US" sz="802" b="1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928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erstpruefer_name</a:t>
            </a:r>
            <a:r>
              <a:rPr lang="en-US" sz="928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String</a:t>
            </a:r>
            <a:endParaRPr lang="en-US" sz="928" dirty="0"/>
          </a:p>
          <a:p>
            <a:pPr>
              <a:spcAft>
                <a:spcPts val="253"/>
              </a:spcAft>
            </a:pPr>
            <a:r>
              <a:rPr lang="en-US" sz="802" b="1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928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erstpruefer_pruefernummer</a:t>
            </a:r>
            <a:r>
              <a:rPr lang="en-US" sz="928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Int</a:t>
            </a:r>
            <a:endParaRPr lang="en-US" sz="928" dirty="0"/>
          </a:p>
          <a:p>
            <a:pPr>
              <a:spcAft>
                <a:spcPts val="253"/>
              </a:spcAft>
            </a:pPr>
            <a:r>
              <a:rPr lang="en-US" sz="802" b="1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928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zulassung</a:t>
            </a:r>
            <a:r>
              <a:rPr lang="en-US" sz="928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Entscheidung</a:t>
            </a:r>
            <a:endParaRPr lang="en-US" sz="928" dirty="0"/>
          </a:p>
          <a:p>
            <a:pPr>
              <a:spcAft>
                <a:spcPts val="253"/>
              </a:spcAft>
            </a:pPr>
            <a:r>
              <a:rPr lang="en-US" sz="802" b="1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928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themenfreigabe_zeitpunkt</a:t>
            </a:r>
            <a:r>
              <a:rPr lang="en-US" sz="928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Datum</a:t>
            </a:r>
            <a:endParaRPr lang="en-US" sz="928" dirty="0"/>
          </a:p>
          <a:p>
            <a:pPr>
              <a:spcAft>
                <a:spcPts val="253"/>
              </a:spcAft>
            </a:pPr>
            <a:r>
              <a:rPr lang="en-US" sz="802" b="1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928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vorschlagBestaetigt</a:t>
            </a:r>
            <a:r>
              <a:rPr lang="en-US" sz="928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Boolean</a:t>
            </a:r>
            <a:endParaRPr lang="en-US" sz="928" dirty="0"/>
          </a:p>
          <a:p>
            <a:pPr>
              <a:spcAft>
                <a:spcPts val="253"/>
              </a:spcAft>
            </a:pPr>
            <a:r>
              <a:rPr lang="en-US" sz="802" b="1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928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r>
              <a:rPr lang="en-US" sz="928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Antragsstatus</a:t>
            </a:r>
            <a:endParaRPr lang="en-US" sz="928" dirty="0"/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805C43A5-DED6-1D79-A32D-7052016E4C42}"/>
              </a:ext>
            </a:extLst>
          </p:cNvPr>
          <p:cNvSpPr/>
          <p:nvPr/>
        </p:nvSpPr>
        <p:spPr>
          <a:xfrm>
            <a:off x="2102358" y="3844160"/>
            <a:ext cx="1389174" cy="918398"/>
          </a:xfrm>
          <a:prstGeom prst="rect">
            <a:avLst/>
          </a:prstGeom>
          <a:solidFill>
            <a:srgbClr val="FFFFFF"/>
          </a:solidFill>
          <a:ln w="25400">
            <a:solidFill>
              <a:srgbClr val="2A74C2"/>
            </a:solidFill>
            <a:prstDash val="solid"/>
          </a:ln>
        </p:spPr>
        <p:txBody>
          <a:bodyPr/>
          <a:lstStyle/>
          <a:p>
            <a:endParaRPr lang="de-DE" sz="1519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4527CBB8-1BD1-0979-8889-736D69D1C143}"/>
              </a:ext>
            </a:extLst>
          </p:cNvPr>
          <p:cNvSpPr txBox="1"/>
          <p:nvPr/>
        </p:nvSpPr>
        <p:spPr>
          <a:xfrm>
            <a:off x="2102358" y="3890465"/>
            <a:ext cx="1389174" cy="16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802" i="1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«enumeration»</a:t>
            </a:r>
            <a:endParaRPr lang="en-US" sz="802" dirty="0"/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99CB1E2E-24A5-24EE-BEE3-33B92D737977}"/>
              </a:ext>
            </a:extLst>
          </p:cNvPr>
          <p:cNvSpPr txBox="1"/>
          <p:nvPr/>
        </p:nvSpPr>
        <p:spPr>
          <a:xfrm>
            <a:off x="2102358" y="4044819"/>
            <a:ext cx="1389174" cy="200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055" b="1" dirty="0">
                <a:solidFill>
                  <a:srgbClr val="2F3E46"/>
                </a:solidFill>
                <a:latin typeface="Calibri" panose="020F0502020204030204" pitchFamily="34" charset="0"/>
                <a:ea typeface="Cambria" pitchFamily="34" charset="-122"/>
                <a:cs typeface="Cambria" pitchFamily="34" charset="-120"/>
              </a:rPr>
              <a:t>Abschlussart</a:t>
            </a:r>
            <a:endParaRPr lang="en-US" sz="1055" dirty="0">
              <a:solidFill>
                <a:srgbClr val="2F3E46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DE6585E8-3825-7BD9-057B-627365AC2F6E}"/>
              </a:ext>
            </a:extLst>
          </p:cNvPr>
          <p:cNvSpPr/>
          <p:nvPr/>
        </p:nvSpPr>
        <p:spPr>
          <a:xfrm>
            <a:off x="2102358" y="4268629"/>
            <a:ext cx="1389174" cy="0"/>
          </a:xfrm>
          <a:prstGeom prst="line">
            <a:avLst/>
          </a:prstGeom>
          <a:noFill/>
          <a:ln w="12700">
            <a:solidFill>
              <a:srgbClr val="2A74C2"/>
            </a:solidFill>
            <a:prstDash val="solid"/>
          </a:ln>
        </p:spPr>
        <p:txBody>
          <a:bodyPr/>
          <a:lstStyle/>
          <a:p>
            <a:endParaRPr lang="de-DE" sz="1519"/>
          </a:p>
        </p:txBody>
      </p:sp>
      <p:sp>
        <p:nvSpPr>
          <p:cNvPr id="12" name="Text 12">
            <a:extLst>
              <a:ext uri="{FF2B5EF4-FFF2-40B4-BE49-F238E27FC236}">
                <a16:creationId xmlns:a16="http://schemas.microsoft.com/office/drawing/2014/main" id="{95C9FAAA-358C-24BF-2888-8F483803002E}"/>
              </a:ext>
            </a:extLst>
          </p:cNvPr>
          <p:cNvSpPr txBox="1"/>
          <p:nvPr/>
        </p:nvSpPr>
        <p:spPr>
          <a:xfrm>
            <a:off x="2194970" y="4322652"/>
            <a:ext cx="1234821" cy="432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86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Bachelor</a:t>
            </a:r>
            <a:endParaRPr lang="en-US" sz="886" dirty="0">
              <a:solidFill>
                <a:srgbClr val="2F3E46"/>
              </a:solidFill>
            </a:endParaRPr>
          </a:p>
          <a:p>
            <a:r>
              <a:rPr lang="en-US" sz="886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</a:t>
            </a:r>
            <a:endParaRPr lang="en-US" sz="886" dirty="0">
              <a:solidFill>
                <a:srgbClr val="2F3E46"/>
              </a:solidFill>
            </a:endParaRP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E2F9B238-3D99-C30F-7C94-F6A6B8161638}"/>
              </a:ext>
            </a:extLst>
          </p:cNvPr>
          <p:cNvSpPr/>
          <p:nvPr/>
        </p:nvSpPr>
        <p:spPr>
          <a:xfrm>
            <a:off x="3723061" y="3844160"/>
            <a:ext cx="1543526" cy="918398"/>
          </a:xfrm>
          <a:prstGeom prst="rect">
            <a:avLst/>
          </a:prstGeom>
          <a:solidFill>
            <a:srgbClr val="FFFFFF"/>
          </a:solidFill>
          <a:ln w="25400">
            <a:solidFill>
              <a:srgbClr val="2A74C2"/>
            </a:solidFill>
            <a:prstDash val="solid"/>
          </a:ln>
        </p:spPr>
        <p:txBody>
          <a:bodyPr/>
          <a:lstStyle/>
          <a:p>
            <a:endParaRPr lang="de-DE" sz="1519"/>
          </a:p>
        </p:txBody>
      </p:sp>
      <p:sp>
        <p:nvSpPr>
          <p:cNvPr id="14" name="Text 14">
            <a:extLst>
              <a:ext uri="{FF2B5EF4-FFF2-40B4-BE49-F238E27FC236}">
                <a16:creationId xmlns:a16="http://schemas.microsoft.com/office/drawing/2014/main" id="{77D86AA4-8B8C-2946-79CC-5838685C94B1}"/>
              </a:ext>
            </a:extLst>
          </p:cNvPr>
          <p:cNvSpPr txBox="1"/>
          <p:nvPr/>
        </p:nvSpPr>
        <p:spPr>
          <a:xfrm>
            <a:off x="3723061" y="3890465"/>
            <a:ext cx="1543526" cy="16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802" i="1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«enumeration»</a:t>
            </a:r>
            <a:endParaRPr lang="en-US" sz="802" dirty="0"/>
          </a:p>
        </p:txBody>
      </p:sp>
      <p:sp>
        <p:nvSpPr>
          <p:cNvPr id="15" name="Text 15">
            <a:extLst>
              <a:ext uri="{FF2B5EF4-FFF2-40B4-BE49-F238E27FC236}">
                <a16:creationId xmlns:a16="http://schemas.microsoft.com/office/drawing/2014/main" id="{5C86D404-AF71-CEB0-F3A0-04B845DA8A30}"/>
              </a:ext>
            </a:extLst>
          </p:cNvPr>
          <p:cNvSpPr txBox="1"/>
          <p:nvPr/>
        </p:nvSpPr>
        <p:spPr>
          <a:xfrm>
            <a:off x="3723061" y="4044819"/>
            <a:ext cx="1543526" cy="200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055" b="1" dirty="0">
                <a:solidFill>
                  <a:srgbClr val="2F3E46"/>
                </a:solidFill>
                <a:latin typeface="Calibri" panose="020F0502020204030204" pitchFamily="34" charset="0"/>
                <a:ea typeface="Cambria" pitchFamily="34" charset="-122"/>
                <a:cs typeface="Cambria" pitchFamily="34" charset="-120"/>
              </a:rPr>
              <a:t>Entscheidung</a:t>
            </a:r>
            <a:endParaRPr lang="en-US" sz="1055" dirty="0">
              <a:solidFill>
                <a:srgbClr val="2F3E46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BC44B246-5044-68AC-E86F-AF8E9CC705FC}"/>
              </a:ext>
            </a:extLst>
          </p:cNvPr>
          <p:cNvSpPr/>
          <p:nvPr/>
        </p:nvSpPr>
        <p:spPr>
          <a:xfrm>
            <a:off x="3723061" y="4268629"/>
            <a:ext cx="1543526" cy="0"/>
          </a:xfrm>
          <a:prstGeom prst="line">
            <a:avLst/>
          </a:prstGeom>
          <a:noFill/>
          <a:ln w="12700">
            <a:solidFill>
              <a:srgbClr val="2A74C2"/>
            </a:solidFill>
            <a:prstDash val="solid"/>
          </a:ln>
        </p:spPr>
        <p:txBody>
          <a:bodyPr/>
          <a:lstStyle/>
          <a:p>
            <a:endParaRPr lang="de-DE" sz="1519"/>
          </a:p>
        </p:txBody>
      </p:sp>
      <p:sp>
        <p:nvSpPr>
          <p:cNvPr id="17" name="Text 17">
            <a:extLst>
              <a:ext uri="{FF2B5EF4-FFF2-40B4-BE49-F238E27FC236}">
                <a16:creationId xmlns:a16="http://schemas.microsoft.com/office/drawing/2014/main" id="{8C41DA3C-5E39-D707-36BA-36A69063451F}"/>
              </a:ext>
            </a:extLst>
          </p:cNvPr>
          <p:cNvSpPr txBox="1"/>
          <p:nvPr/>
        </p:nvSpPr>
        <p:spPr>
          <a:xfrm>
            <a:off x="3815672" y="4322652"/>
            <a:ext cx="1389174" cy="432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86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angenommen</a:t>
            </a:r>
            <a:endParaRPr lang="en-US" sz="886" dirty="0">
              <a:solidFill>
                <a:srgbClr val="2F3E46"/>
              </a:solidFill>
            </a:endParaRPr>
          </a:p>
          <a:p>
            <a:r>
              <a:rPr lang="en-US" sz="886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abgelehnt</a:t>
            </a:r>
            <a:endParaRPr lang="en-US" sz="886" dirty="0">
              <a:solidFill>
                <a:srgbClr val="2F3E46"/>
              </a:solidFill>
            </a:endParaRPr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4982BC5C-150E-4059-2F5F-3958DBC8A594}"/>
              </a:ext>
            </a:extLst>
          </p:cNvPr>
          <p:cNvSpPr/>
          <p:nvPr/>
        </p:nvSpPr>
        <p:spPr>
          <a:xfrm>
            <a:off x="5498116" y="3844160"/>
            <a:ext cx="1543526" cy="725457"/>
          </a:xfrm>
          <a:prstGeom prst="rect">
            <a:avLst/>
          </a:prstGeom>
          <a:solidFill>
            <a:srgbClr val="FFFFFF"/>
          </a:solidFill>
          <a:ln w="25400">
            <a:solidFill>
              <a:srgbClr val="2A74C2"/>
            </a:solidFill>
            <a:prstDash val="solid"/>
          </a:ln>
        </p:spPr>
        <p:txBody>
          <a:bodyPr/>
          <a:lstStyle/>
          <a:p>
            <a:endParaRPr lang="de-DE" sz="1519"/>
          </a:p>
        </p:txBody>
      </p:sp>
      <p:sp>
        <p:nvSpPr>
          <p:cNvPr id="19" name="Text 19">
            <a:extLst>
              <a:ext uri="{FF2B5EF4-FFF2-40B4-BE49-F238E27FC236}">
                <a16:creationId xmlns:a16="http://schemas.microsoft.com/office/drawing/2014/main" id="{C5666D12-F71E-95B8-6129-C9983F94EB66}"/>
              </a:ext>
            </a:extLst>
          </p:cNvPr>
          <p:cNvSpPr txBox="1"/>
          <p:nvPr/>
        </p:nvSpPr>
        <p:spPr>
          <a:xfrm>
            <a:off x="5498116" y="3890465"/>
            <a:ext cx="1543526" cy="16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802" i="1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«enumeration»</a:t>
            </a:r>
            <a:endParaRPr lang="en-US" sz="802" dirty="0"/>
          </a:p>
        </p:txBody>
      </p:sp>
      <p:sp>
        <p:nvSpPr>
          <p:cNvPr id="20" name="Text 20">
            <a:extLst>
              <a:ext uri="{FF2B5EF4-FFF2-40B4-BE49-F238E27FC236}">
                <a16:creationId xmlns:a16="http://schemas.microsoft.com/office/drawing/2014/main" id="{56B62C0A-F022-44B3-501D-2C7E39F9AA07}"/>
              </a:ext>
            </a:extLst>
          </p:cNvPr>
          <p:cNvSpPr txBox="1"/>
          <p:nvPr/>
        </p:nvSpPr>
        <p:spPr>
          <a:xfrm>
            <a:off x="5498116" y="4044819"/>
            <a:ext cx="1543526" cy="200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055" b="1" dirty="0">
                <a:solidFill>
                  <a:srgbClr val="2F3E46"/>
                </a:solidFill>
                <a:latin typeface="Calibri" panose="020F0502020204030204" pitchFamily="34" charset="0"/>
                <a:ea typeface="Cambria" pitchFamily="34" charset="-122"/>
                <a:cs typeface="Cambria" pitchFamily="34" charset="-120"/>
              </a:rPr>
              <a:t>Antragsstatus</a:t>
            </a:r>
            <a:endParaRPr lang="en-US" sz="1055" dirty="0">
              <a:solidFill>
                <a:srgbClr val="2F3E46"/>
              </a:solidFill>
              <a:latin typeface="Calibri" panose="020F0502020204030204" pitchFamily="34" charset="0"/>
            </a:endParaRPr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9C46D8D4-3A94-CB36-6FF8-1039AC0F528C}"/>
              </a:ext>
            </a:extLst>
          </p:cNvPr>
          <p:cNvSpPr/>
          <p:nvPr/>
        </p:nvSpPr>
        <p:spPr>
          <a:xfrm>
            <a:off x="5498116" y="4268629"/>
            <a:ext cx="1543526" cy="0"/>
          </a:xfrm>
          <a:prstGeom prst="line">
            <a:avLst/>
          </a:prstGeom>
          <a:noFill/>
          <a:ln w="12700">
            <a:solidFill>
              <a:srgbClr val="2A74C2"/>
            </a:solidFill>
            <a:prstDash val="solid"/>
          </a:ln>
        </p:spPr>
        <p:txBody>
          <a:bodyPr/>
          <a:lstStyle/>
          <a:p>
            <a:endParaRPr lang="de-DE" sz="1519"/>
          </a:p>
        </p:txBody>
      </p:sp>
      <p:sp>
        <p:nvSpPr>
          <p:cNvPr id="22" name="Text 22">
            <a:extLst>
              <a:ext uri="{FF2B5EF4-FFF2-40B4-BE49-F238E27FC236}">
                <a16:creationId xmlns:a16="http://schemas.microsoft.com/office/drawing/2014/main" id="{48D0DA17-D726-F87B-F446-AFD4A55EF96E}"/>
              </a:ext>
            </a:extLst>
          </p:cNvPr>
          <p:cNvSpPr txBox="1"/>
          <p:nvPr/>
        </p:nvSpPr>
        <p:spPr>
          <a:xfrm>
            <a:off x="5590727" y="4322652"/>
            <a:ext cx="1389174" cy="2392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86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noch zu validieren</a:t>
            </a:r>
            <a:endParaRPr lang="en-US" sz="886" dirty="0">
              <a:solidFill>
                <a:srgbClr val="2F3E46"/>
              </a:solidFill>
            </a:endParaRPr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376F0D55-1265-AA0B-6905-CB9B593DFCE8}"/>
              </a:ext>
            </a:extLst>
          </p:cNvPr>
          <p:cNvSpPr/>
          <p:nvPr/>
        </p:nvSpPr>
        <p:spPr>
          <a:xfrm>
            <a:off x="2796945" y="3651219"/>
            <a:ext cx="0" cy="192941"/>
          </a:xfrm>
          <a:prstGeom prst="line">
            <a:avLst/>
          </a:prstGeom>
          <a:noFill/>
          <a:ln w="19050">
            <a:solidFill>
              <a:srgbClr val="4A5C66"/>
            </a:solidFill>
            <a:prstDash val="solid"/>
          </a:ln>
        </p:spPr>
        <p:txBody>
          <a:bodyPr/>
          <a:lstStyle/>
          <a:p>
            <a:endParaRPr lang="de-DE" sz="1519"/>
          </a:p>
        </p:txBody>
      </p:sp>
      <p:sp>
        <p:nvSpPr>
          <p:cNvPr id="24" name="Shape 24">
            <a:extLst>
              <a:ext uri="{FF2B5EF4-FFF2-40B4-BE49-F238E27FC236}">
                <a16:creationId xmlns:a16="http://schemas.microsoft.com/office/drawing/2014/main" id="{478448CD-0FD3-9F46-2A65-9E8CB26DEDD8}"/>
              </a:ext>
            </a:extLst>
          </p:cNvPr>
          <p:cNvSpPr/>
          <p:nvPr/>
        </p:nvSpPr>
        <p:spPr>
          <a:xfrm>
            <a:off x="2719769" y="3496865"/>
            <a:ext cx="154353" cy="154353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A5C66"/>
            </a:solidFill>
            <a:prstDash val="solid"/>
          </a:ln>
        </p:spPr>
        <p:txBody>
          <a:bodyPr/>
          <a:lstStyle/>
          <a:p>
            <a:endParaRPr lang="de-DE" sz="1519"/>
          </a:p>
        </p:txBody>
      </p:sp>
      <p:sp>
        <p:nvSpPr>
          <p:cNvPr id="26" name="Shape 25">
            <a:extLst>
              <a:ext uri="{FF2B5EF4-FFF2-40B4-BE49-F238E27FC236}">
                <a16:creationId xmlns:a16="http://schemas.microsoft.com/office/drawing/2014/main" id="{18EF844E-D7B1-4374-3A76-A89767A1D4DA}"/>
              </a:ext>
            </a:extLst>
          </p:cNvPr>
          <p:cNvSpPr/>
          <p:nvPr/>
        </p:nvSpPr>
        <p:spPr>
          <a:xfrm>
            <a:off x="2719769" y="3574042"/>
            <a:ext cx="154353" cy="0"/>
          </a:xfrm>
          <a:prstGeom prst="line">
            <a:avLst/>
          </a:prstGeom>
          <a:noFill/>
          <a:ln w="15875">
            <a:solidFill>
              <a:srgbClr val="4A5C66"/>
            </a:solidFill>
            <a:prstDash val="solid"/>
          </a:ln>
        </p:spPr>
        <p:txBody>
          <a:bodyPr/>
          <a:lstStyle/>
          <a:p>
            <a:endParaRPr lang="de-DE" sz="1519"/>
          </a:p>
        </p:txBody>
      </p:sp>
      <p:sp>
        <p:nvSpPr>
          <p:cNvPr id="27" name="Shape 26">
            <a:extLst>
              <a:ext uri="{FF2B5EF4-FFF2-40B4-BE49-F238E27FC236}">
                <a16:creationId xmlns:a16="http://schemas.microsoft.com/office/drawing/2014/main" id="{4FB29957-809A-0F64-8EAA-023441E5C623}"/>
              </a:ext>
            </a:extLst>
          </p:cNvPr>
          <p:cNvSpPr/>
          <p:nvPr/>
        </p:nvSpPr>
        <p:spPr>
          <a:xfrm>
            <a:off x="2796945" y="3496865"/>
            <a:ext cx="0" cy="154353"/>
          </a:xfrm>
          <a:prstGeom prst="line">
            <a:avLst/>
          </a:prstGeom>
          <a:noFill/>
          <a:ln w="15875">
            <a:solidFill>
              <a:srgbClr val="4A5C66"/>
            </a:solidFill>
            <a:prstDash val="solid"/>
          </a:ln>
        </p:spPr>
        <p:txBody>
          <a:bodyPr/>
          <a:lstStyle/>
          <a:p>
            <a:endParaRPr lang="de-DE" sz="1519"/>
          </a:p>
        </p:txBody>
      </p:sp>
      <p:sp>
        <p:nvSpPr>
          <p:cNvPr id="28" name="Shape 27">
            <a:extLst>
              <a:ext uri="{FF2B5EF4-FFF2-40B4-BE49-F238E27FC236}">
                <a16:creationId xmlns:a16="http://schemas.microsoft.com/office/drawing/2014/main" id="{A34EF188-E219-57DE-5EE1-943A00893082}"/>
              </a:ext>
            </a:extLst>
          </p:cNvPr>
          <p:cNvSpPr/>
          <p:nvPr/>
        </p:nvSpPr>
        <p:spPr>
          <a:xfrm>
            <a:off x="4494824" y="3651219"/>
            <a:ext cx="0" cy="192941"/>
          </a:xfrm>
          <a:prstGeom prst="line">
            <a:avLst/>
          </a:prstGeom>
          <a:noFill/>
          <a:ln w="19050">
            <a:solidFill>
              <a:srgbClr val="4A5C66"/>
            </a:solidFill>
            <a:prstDash val="solid"/>
          </a:ln>
        </p:spPr>
        <p:txBody>
          <a:bodyPr/>
          <a:lstStyle/>
          <a:p>
            <a:endParaRPr lang="de-DE" sz="1519"/>
          </a:p>
        </p:txBody>
      </p:sp>
      <p:sp>
        <p:nvSpPr>
          <p:cNvPr id="29" name="Shape 28">
            <a:extLst>
              <a:ext uri="{FF2B5EF4-FFF2-40B4-BE49-F238E27FC236}">
                <a16:creationId xmlns:a16="http://schemas.microsoft.com/office/drawing/2014/main" id="{9DF35D63-0B6C-BE8D-0068-7F747824B015}"/>
              </a:ext>
            </a:extLst>
          </p:cNvPr>
          <p:cNvSpPr/>
          <p:nvPr/>
        </p:nvSpPr>
        <p:spPr>
          <a:xfrm>
            <a:off x="4417647" y="3496865"/>
            <a:ext cx="154353" cy="154353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A5C66"/>
            </a:solidFill>
            <a:prstDash val="solid"/>
          </a:ln>
        </p:spPr>
        <p:txBody>
          <a:bodyPr/>
          <a:lstStyle/>
          <a:p>
            <a:endParaRPr lang="de-DE" sz="1519"/>
          </a:p>
        </p:txBody>
      </p:sp>
      <p:sp>
        <p:nvSpPr>
          <p:cNvPr id="30" name="Shape 29">
            <a:extLst>
              <a:ext uri="{FF2B5EF4-FFF2-40B4-BE49-F238E27FC236}">
                <a16:creationId xmlns:a16="http://schemas.microsoft.com/office/drawing/2014/main" id="{0BAD8B99-C713-37D5-972D-D4EF2789302C}"/>
              </a:ext>
            </a:extLst>
          </p:cNvPr>
          <p:cNvSpPr/>
          <p:nvPr/>
        </p:nvSpPr>
        <p:spPr>
          <a:xfrm>
            <a:off x="4417647" y="3574042"/>
            <a:ext cx="154353" cy="0"/>
          </a:xfrm>
          <a:prstGeom prst="line">
            <a:avLst/>
          </a:prstGeom>
          <a:noFill/>
          <a:ln w="15875">
            <a:solidFill>
              <a:srgbClr val="4A5C66"/>
            </a:solidFill>
            <a:prstDash val="solid"/>
          </a:ln>
        </p:spPr>
        <p:txBody>
          <a:bodyPr/>
          <a:lstStyle/>
          <a:p>
            <a:endParaRPr lang="de-DE" sz="1519"/>
          </a:p>
        </p:txBody>
      </p:sp>
      <p:sp>
        <p:nvSpPr>
          <p:cNvPr id="31" name="Shape 30">
            <a:extLst>
              <a:ext uri="{FF2B5EF4-FFF2-40B4-BE49-F238E27FC236}">
                <a16:creationId xmlns:a16="http://schemas.microsoft.com/office/drawing/2014/main" id="{07E62715-CA03-7D4F-F319-28074D657182}"/>
              </a:ext>
            </a:extLst>
          </p:cNvPr>
          <p:cNvSpPr/>
          <p:nvPr/>
        </p:nvSpPr>
        <p:spPr>
          <a:xfrm>
            <a:off x="4494824" y="3496865"/>
            <a:ext cx="0" cy="154353"/>
          </a:xfrm>
          <a:prstGeom prst="line">
            <a:avLst/>
          </a:prstGeom>
          <a:noFill/>
          <a:ln w="15875">
            <a:solidFill>
              <a:srgbClr val="4A5C66"/>
            </a:solidFill>
            <a:prstDash val="solid"/>
          </a:ln>
        </p:spPr>
        <p:txBody>
          <a:bodyPr/>
          <a:lstStyle/>
          <a:p>
            <a:endParaRPr lang="de-DE" sz="1519"/>
          </a:p>
        </p:txBody>
      </p:sp>
      <p:sp>
        <p:nvSpPr>
          <p:cNvPr id="32" name="Shape 31">
            <a:extLst>
              <a:ext uri="{FF2B5EF4-FFF2-40B4-BE49-F238E27FC236}">
                <a16:creationId xmlns:a16="http://schemas.microsoft.com/office/drawing/2014/main" id="{6392CD8A-C128-B2AC-C88B-8CDB71331FBE}"/>
              </a:ext>
            </a:extLst>
          </p:cNvPr>
          <p:cNvSpPr/>
          <p:nvPr/>
        </p:nvSpPr>
        <p:spPr>
          <a:xfrm>
            <a:off x="6269879" y="3651219"/>
            <a:ext cx="0" cy="192941"/>
          </a:xfrm>
          <a:prstGeom prst="line">
            <a:avLst/>
          </a:prstGeom>
          <a:noFill/>
          <a:ln w="19050">
            <a:solidFill>
              <a:srgbClr val="4A5C66"/>
            </a:solidFill>
            <a:prstDash val="solid"/>
          </a:ln>
        </p:spPr>
        <p:txBody>
          <a:bodyPr/>
          <a:lstStyle/>
          <a:p>
            <a:endParaRPr lang="de-DE" sz="1519"/>
          </a:p>
        </p:txBody>
      </p:sp>
      <p:sp>
        <p:nvSpPr>
          <p:cNvPr id="33" name="Shape 32">
            <a:extLst>
              <a:ext uri="{FF2B5EF4-FFF2-40B4-BE49-F238E27FC236}">
                <a16:creationId xmlns:a16="http://schemas.microsoft.com/office/drawing/2014/main" id="{BB448B62-4446-8980-4A74-8FB86E312DC0}"/>
              </a:ext>
            </a:extLst>
          </p:cNvPr>
          <p:cNvSpPr/>
          <p:nvPr/>
        </p:nvSpPr>
        <p:spPr>
          <a:xfrm>
            <a:off x="6192703" y="3496865"/>
            <a:ext cx="154353" cy="154353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A5C66"/>
            </a:solidFill>
            <a:prstDash val="solid"/>
          </a:ln>
        </p:spPr>
        <p:txBody>
          <a:bodyPr/>
          <a:lstStyle/>
          <a:p>
            <a:endParaRPr lang="de-DE" sz="1519"/>
          </a:p>
        </p:txBody>
      </p:sp>
      <p:sp>
        <p:nvSpPr>
          <p:cNvPr id="34" name="Shape 33">
            <a:extLst>
              <a:ext uri="{FF2B5EF4-FFF2-40B4-BE49-F238E27FC236}">
                <a16:creationId xmlns:a16="http://schemas.microsoft.com/office/drawing/2014/main" id="{25C0CBF8-0D00-D422-C382-DD5D24904DF7}"/>
              </a:ext>
            </a:extLst>
          </p:cNvPr>
          <p:cNvSpPr/>
          <p:nvPr/>
        </p:nvSpPr>
        <p:spPr>
          <a:xfrm>
            <a:off x="6192703" y="3574042"/>
            <a:ext cx="154353" cy="0"/>
          </a:xfrm>
          <a:prstGeom prst="line">
            <a:avLst/>
          </a:prstGeom>
          <a:noFill/>
          <a:ln w="15875">
            <a:solidFill>
              <a:srgbClr val="4A5C66"/>
            </a:solidFill>
            <a:prstDash val="solid"/>
          </a:ln>
        </p:spPr>
        <p:txBody>
          <a:bodyPr/>
          <a:lstStyle/>
          <a:p>
            <a:endParaRPr lang="de-DE" sz="1519"/>
          </a:p>
        </p:txBody>
      </p:sp>
      <p:sp>
        <p:nvSpPr>
          <p:cNvPr id="35" name="Shape 34">
            <a:extLst>
              <a:ext uri="{FF2B5EF4-FFF2-40B4-BE49-F238E27FC236}">
                <a16:creationId xmlns:a16="http://schemas.microsoft.com/office/drawing/2014/main" id="{76B8C9D5-2DB8-1A2F-EDC7-ECD283556180}"/>
              </a:ext>
            </a:extLst>
          </p:cNvPr>
          <p:cNvSpPr/>
          <p:nvPr/>
        </p:nvSpPr>
        <p:spPr>
          <a:xfrm>
            <a:off x="6269879" y="3496865"/>
            <a:ext cx="0" cy="154353"/>
          </a:xfrm>
          <a:prstGeom prst="line">
            <a:avLst/>
          </a:prstGeom>
          <a:noFill/>
          <a:ln w="15875">
            <a:solidFill>
              <a:srgbClr val="4A5C66"/>
            </a:solidFill>
            <a:prstDash val="solid"/>
          </a:ln>
        </p:spPr>
        <p:txBody>
          <a:bodyPr/>
          <a:lstStyle/>
          <a:p>
            <a:endParaRPr lang="de-DE" sz="1519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80B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 7 · D2D · THEMENFREIGABE DURCH ERSTPRÜFER:IN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310896"/>
            <a:ext cx="6172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Control: Regeln und Entscheidungslogik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55464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5B6A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32</a:t>
            </a:fld>
            <a:endParaRPr lang="en-US"/>
          </a:p>
        </p:txBody>
      </p:sp>
      <p:graphicFrame>
        <p:nvGraphicFramePr>
          <p:cNvPr id="4" name="Table 0">
            <a:extLst>
              <a:ext uri="{FF2B5EF4-FFF2-40B4-BE49-F238E27FC236}">
                <a16:creationId xmlns:a16="http://schemas.microsoft.com/office/drawing/2014/main" id="{DC30165F-F734-6D12-3304-A0BA2CEA3B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0945726"/>
              </p:ext>
            </p:extLst>
          </p:nvPr>
        </p:nvGraphicFramePr>
        <p:xfrm>
          <a:off x="366063" y="990600"/>
          <a:ext cx="8411873" cy="2340042"/>
        </p:xfrm>
        <a:graphic>
          <a:graphicData uri="http://schemas.openxmlformats.org/drawingml/2006/table">
            <a:tbl>
              <a:tblPr/>
              <a:tblGrid>
                <a:gridCol w="55278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40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292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223" marR="68223" marT="81867" marB="81867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C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Durchsetzung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223" marR="68223" marT="81867" marB="81867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C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5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F3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 Erstprüfer:in wird der ihr zugeordnete Antrag mit dem Thema zum Aufruf angeboten.</a:t>
                      </a:r>
                      <a:endParaRPr lang="en-US" sz="1000" dirty="0">
                        <a:solidFill>
                          <a:srgbClr val="2F3E46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223" marR="68223" marT="81867" marB="81867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F3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Antragsansicht im Portal</a:t>
                      </a:r>
                      <a:endParaRPr lang="en-US" sz="1000" dirty="0">
                        <a:solidFill>
                          <a:srgbClr val="2F3E46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223" marR="68223" marT="81867" marB="81867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936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F3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Falls der Prüfungsausschuss den Antrag angenommen hat, kann die Erstprüfer:in das Thema bestätigen und freigeben.</a:t>
                      </a:r>
                      <a:endParaRPr lang="en-US" sz="1000" dirty="0">
                        <a:solidFill>
                          <a:srgbClr val="2F3E46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223" marR="68223" marT="81867" marB="81867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F3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Freigabe erst nach Annahme</a:t>
                      </a:r>
                      <a:endParaRPr lang="en-US" sz="1000" dirty="0">
                        <a:solidFill>
                          <a:srgbClr val="2F3E46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223" marR="68223" marT="81867" marB="81867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15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F3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Nur die dem Antrag zugeordnete Erstprüfer:in kann das Thema freigeben.</a:t>
                      </a:r>
                      <a:endParaRPr lang="en-US" sz="1000" dirty="0">
                        <a:solidFill>
                          <a:srgbClr val="2F3E46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223" marR="68223" marT="81867" marB="81867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F3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Rollenprüfung im Portal</a:t>
                      </a:r>
                      <a:endParaRPr lang="en-US" sz="1000" dirty="0">
                        <a:solidFill>
                          <a:srgbClr val="2F3E46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223" marR="68223" marT="81867" marB="81867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15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F3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 der Freigabe werden Thema und Zeitpunkt gespeichert.</a:t>
                      </a:r>
                      <a:endParaRPr lang="en-US" sz="1000" dirty="0">
                        <a:solidFill>
                          <a:srgbClr val="2F3E46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223" marR="68223" marT="81867" marB="81867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F3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Speichern im Portal</a:t>
                      </a:r>
                      <a:endParaRPr lang="en-US" sz="1000" dirty="0">
                        <a:solidFill>
                          <a:srgbClr val="2F3E46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223" marR="68223" marT="81867" marB="81867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15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F3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Bestätigt die Erstprüfer:in das Thema nicht, trägt sie einen Änderungswunsch ein.</a:t>
                      </a:r>
                      <a:endParaRPr lang="en-US" sz="1000" dirty="0">
                        <a:solidFill>
                          <a:srgbClr val="2F3E46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223" marR="68223" marT="81867" marB="81867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F3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Eingabefeld im Portal</a:t>
                      </a:r>
                      <a:endParaRPr lang="en-US" sz="1000" dirty="0">
                        <a:solidFill>
                          <a:srgbClr val="2F3E46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223" marR="68223" marT="81867" marB="81867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392040"/>
                  </a:ext>
                </a:extLst>
              </a:tr>
              <a:tr h="3115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F3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Nach der Freigabe steht der Antrag für das Festlegen der Bearbeitungszeit bereit.</a:t>
                      </a:r>
                      <a:endParaRPr lang="en-US" sz="1000" dirty="0">
                        <a:solidFill>
                          <a:srgbClr val="2F3E46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223" marR="68223" marT="81867" marB="81867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F3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Statuswechsel im Portal</a:t>
                      </a:r>
                      <a:endParaRPr lang="en-US" sz="1000" dirty="0">
                        <a:solidFill>
                          <a:srgbClr val="2F3E46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223" marR="68223" marT="81867" marB="81867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84615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80B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 7 · D2D · THEMENFREIGABE DURCH ERSTPRÜFER:IN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310896"/>
            <a:ext cx="6172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Environment: Betriebs- und Entwicklungsumgebung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55464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5B6A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33</a:t>
            </a:fld>
            <a:endParaRPr lang="en-US"/>
          </a:p>
        </p:txBody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0AE2CCAD-5550-A6BF-5F94-832AC8195966}"/>
              </a:ext>
            </a:extLst>
          </p:cNvPr>
          <p:cNvSpPr txBox="1"/>
          <p:nvPr/>
        </p:nvSpPr>
        <p:spPr>
          <a:xfrm>
            <a:off x="366064" y="990600"/>
            <a:ext cx="4093369" cy="238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94" b="1" dirty="0">
                <a:solidFill>
                  <a:srgbClr val="2F3E46"/>
                </a:solidFill>
                <a:latin typeface="Calibri" panose="020F0502020204030204" pitchFamily="34" charset="0"/>
                <a:ea typeface="Cambria" pitchFamily="34" charset="-122"/>
                <a:cs typeface="Cambria" pitchFamily="34" charset="-120"/>
              </a:rPr>
              <a:t>Operational Environment</a:t>
            </a:r>
            <a:endParaRPr lang="en-US" sz="1194" dirty="0">
              <a:solidFill>
                <a:srgbClr val="2F3E46"/>
              </a:solidFill>
              <a:latin typeface="Calibri" panose="020F0502020204030204" pitchFamily="34" charset="0"/>
            </a:endParaRPr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0F67CFB2-8154-5B9A-F231-174A600B2A2C}"/>
              </a:ext>
            </a:extLst>
          </p:cNvPr>
          <p:cNvSpPr txBox="1"/>
          <p:nvPr/>
        </p:nvSpPr>
        <p:spPr>
          <a:xfrm>
            <a:off x="366065" y="2457391"/>
            <a:ext cx="8391406" cy="27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33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Technologieplattform: Webportal im Browser am Desktop, Anmeldung über THM-Login.</a:t>
            </a:r>
            <a:endParaRPr lang="en-US" sz="933" dirty="0">
              <a:solidFill>
                <a:srgbClr val="2F3E46"/>
              </a:solidFill>
            </a:endParaRPr>
          </a:p>
        </p:txBody>
      </p:sp>
      <p:graphicFrame>
        <p:nvGraphicFramePr>
          <p:cNvPr id="6" name="Table 1">
            <a:extLst>
              <a:ext uri="{FF2B5EF4-FFF2-40B4-BE49-F238E27FC236}">
                <a16:creationId xmlns:a16="http://schemas.microsoft.com/office/drawing/2014/main" id="{D849E5D2-8BD4-0E8B-0543-F125902C6C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9679704"/>
              </p:ext>
            </p:extLst>
          </p:nvPr>
        </p:nvGraphicFramePr>
        <p:xfrm>
          <a:off x="366064" y="3173730"/>
          <a:ext cx="8411873" cy="425256"/>
        </p:xfrm>
        <a:graphic>
          <a:graphicData uri="http://schemas.openxmlformats.org/drawingml/2006/table">
            <a:tbl>
              <a:tblPr/>
              <a:tblGrid>
                <a:gridCol w="27971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71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76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26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Software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223" marR="68223" marT="40934" marB="40934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C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223" marR="68223" marT="40934" marB="40934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C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223" marR="68223" marT="40934" marB="40934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C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33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5A43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ThesisFlow </a:t>
                      </a:r>
                      <a:r>
                        <a:rPr lang="en-US" sz="900" dirty="0">
                          <a:solidFill>
                            <a:srgbClr val="5A43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(Webanwendung), E-Mail-Dienst der THM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223" marR="68223" marT="40934" marB="40934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A43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Desktop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223" marR="68223" marT="40934" marB="40934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F3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THM-Login, Prüfungsordnungen B.Sc. und M.Sc., Allg. PO THM § 17 (3)</a:t>
                      </a:r>
                      <a:endParaRPr lang="en-US" sz="900" dirty="0">
                        <a:solidFill>
                          <a:srgbClr val="2F3E46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223" marR="68223" marT="40934" marB="40934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Table 0">
            <a:extLst>
              <a:ext uri="{FF2B5EF4-FFF2-40B4-BE49-F238E27FC236}">
                <a16:creationId xmlns:a16="http://schemas.microsoft.com/office/drawing/2014/main" id="{CA2766D6-579F-2791-240C-A6AAC7EE76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9069716"/>
              </p:ext>
            </p:extLst>
          </p:nvPr>
        </p:nvGraphicFramePr>
        <p:xfrm>
          <a:off x="366064" y="1263492"/>
          <a:ext cx="8411873" cy="856196"/>
        </p:xfrm>
        <a:graphic>
          <a:graphicData uri="http://schemas.openxmlformats.org/drawingml/2006/table">
            <a:tbl>
              <a:tblPr/>
              <a:tblGrid>
                <a:gridCol w="23877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66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773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831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223" marR="68223" marT="40934" marB="40934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C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223" marR="68223" marT="40934" marB="40934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C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Eigenschaften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223" marR="68223" marT="40934" marB="40934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C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26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F3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Erstprüfer:</a:t>
                      </a:r>
                      <a:r>
                        <a:rPr lang="en-US" sz="900">
                          <a:solidFill>
                            <a:srgbClr val="2F3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(Walter Weiß)</a:t>
                      </a:r>
                      <a:endParaRPr lang="en-US" sz="900" dirty="0">
                        <a:solidFill>
                          <a:srgbClr val="2F3E46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223" marR="68223" marT="40934" marB="40934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F3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Office, Homeoffice</a:t>
                      </a:r>
                      <a:endParaRPr lang="en-US" sz="900" dirty="0">
                        <a:solidFill>
                          <a:srgbClr val="2F3E46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223" marR="68223" marT="40934" marB="40934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F3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Desktop</a:t>
                      </a:r>
                      <a:endParaRPr lang="en-US" sz="900" dirty="0">
                        <a:solidFill>
                          <a:srgbClr val="2F3E46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223" marR="68223" marT="40934" marB="40934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26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F3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Studierende:</a:t>
                      </a:r>
                      <a:r>
                        <a:rPr lang="en-US" sz="900">
                          <a:solidFill>
                            <a:srgbClr val="2F3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(Jonas)</a:t>
                      </a:r>
                      <a:endParaRPr lang="en-US" sz="900" dirty="0">
                        <a:solidFill>
                          <a:srgbClr val="2F3E46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223" marR="68223" marT="40934" marB="40934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F3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zu Hause (WG)</a:t>
                      </a:r>
                      <a:endParaRPr lang="en-US" sz="900" dirty="0">
                        <a:solidFill>
                          <a:srgbClr val="2F3E46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223" marR="68223" marT="40934" marB="40934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latin typeface="Calibri" charset="0"/>
                          <a:ea typeface="Calibri" charset="0"/>
                          <a:cs typeface="Calibri" charset="0"/>
                        </a:rPr>
                        <a:t>Laptop, Desktop, Handy</a:t>
                      </a:r>
                    </a:p>
                  </a:txBody>
                  <a:tcPr marL="68223" marR="68223" marT="40934" marB="40934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80B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 7 · D2D · THEMENFREIGABE DURCH ERSTPRÜFER:IN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310896"/>
            <a:ext cx="6172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Quality Attributes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55464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5B6A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34</a:t>
            </a:fld>
            <a:endParaRPr lang="en-US"/>
          </a:p>
        </p:txBody>
      </p:sp>
      <p:graphicFrame>
        <p:nvGraphicFramePr>
          <p:cNvPr id="4" name="Table 0">
            <a:extLst>
              <a:ext uri="{FF2B5EF4-FFF2-40B4-BE49-F238E27FC236}">
                <a16:creationId xmlns:a16="http://schemas.microsoft.com/office/drawing/2014/main" id="{C2A6E6C1-A1A6-7E62-7754-CA6437C3B5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0016667"/>
              </p:ext>
            </p:extLst>
          </p:nvPr>
        </p:nvGraphicFramePr>
        <p:xfrm>
          <a:off x="366063" y="990600"/>
          <a:ext cx="8411873" cy="2964281"/>
        </p:xfrm>
        <a:graphic>
          <a:graphicData uri="http://schemas.openxmlformats.org/drawingml/2006/table">
            <a:tbl>
              <a:tblPr/>
              <a:tblGrid>
                <a:gridCol w="17737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40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4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63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223" marR="68223" marT="61401" marB="61401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C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Anforderung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223" marR="68223" marT="61401" marB="61401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C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Prüfbarkeit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223" marR="68223" marT="61401" marB="61401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C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0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F3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Sicherheit</a:t>
                      </a:r>
                      <a:endParaRPr lang="en-US" sz="900" dirty="0">
                        <a:solidFill>
                          <a:srgbClr val="2F3E46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223" marR="68223" marT="61401" marB="61401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F3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Themenfreigabe und Antragsdaten sind vor Zugriff durch nicht berechtigte Personen geschützt</a:t>
                      </a:r>
                      <a:endParaRPr lang="en-US" sz="900" dirty="0">
                        <a:solidFill>
                          <a:srgbClr val="2F3E46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223" marR="68223" marT="61401" marB="61401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F3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Aufruf und Freigabeversuch mit einem nicht zugeordneten Konto werden verhindert</a:t>
                      </a:r>
                      <a:endParaRPr lang="en-US" sz="900" dirty="0">
                        <a:solidFill>
                          <a:srgbClr val="2F3E46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223" marR="68223" marT="61401" marB="61401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0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F3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Zuverlässigkeit</a:t>
                      </a:r>
                      <a:endParaRPr lang="en-US" sz="900" dirty="0">
                        <a:solidFill>
                          <a:srgbClr val="2F3E46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223" marR="68223" marT="61401" marB="61401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F3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Eine erteilte Themenfreigabe bleibt vollständig und unverändert gespeichert</a:t>
                      </a:r>
                      <a:endParaRPr lang="en-US" sz="900" dirty="0">
                        <a:solidFill>
                          <a:srgbClr val="2F3E46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223" marR="68223" marT="61401" marB="61401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F3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Nach erneutem Aufruf sind Thema und Zeitpunkt identisch vorhanden</a:t>
                      </a:r>
                      <a:endParaRPr lang="en-US" sz="900" dirty="0">
                        <a:solidFill>
                          <a:srgbClr val="2F3E46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223" marR="68223" marT="61401" marB="61401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70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F3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Benutzbarkeit</a:t>
                      </a:r>
                      <a:endParaRPr lang="en-US" sz="900" dirty="0">
                        <a:solidFill>
                          <a:srgbClr val="2F3E46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223" marR="68223" marT="61401" marB="61401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F3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Die Themenfreigabe ist ohne Schulung am Desktop und am Smartphone möglich</a:t>
                      </a:r>
                      <a:endParaRPr lang="en-US" sz="900" dirty="0">
                        <a:solidFill>
                          <a:srgbClr val="2F3E46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223" marR="68223" marT="61401" marB="61401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F3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Nutzungstest mit Erstprüfenden auf beiden Gerätetypen, Zielwert noch zu validieren</a:t>
                      </a:r>
                      <a:endParaRPr lang="en-US" sz="900" dirty="0">
                        <a:solidFill>
                          <a:srgbClr val="2F3E46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223" marR="68223" marT="61401" marB="61401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70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F3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Effizienz</a:t>
                      </a:r>
                      <a:endParaRPr lang="en-US" sz="900" dirty="0">
                        <a:solidFill>
                          <a:srgbClr val="2F3E46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223" marR="68223" marT="61401" marB="61401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F3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Weniger Arbeitsschritte als im heutigen Formularprozess</a:t>
                      </a:r>
                      <a:endParaRPr lang="en-US" sz="900" dirty="0">
                        <a:solidFill>
                          <a:srgbClr val="2F3E46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223" marR="68223" marT="61401" marB="61401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 err="1">
                          <a:solidFill>
                            <a:srgbClr val="2F3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Vergleich der Arbeitsschritte heute und im Portal, Zielwert noch zu validieren</a:t>
                      </a:r>
                      <a:endParaRPr lang="en-US" sz="900" dirty="0">
                        <a:solidFill>
                          <a:srgbClr val="2F3E46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223" marR="68223" marT="61401" marB="61401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80B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 7 · D2D · VERLÄNGERUNGSANTRAG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310896"/>
            <a:ext cx="6172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7 Dimensionen im Überblick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55464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5B6A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35</a:t>
            </a:fld>
            <a:endParaRPr lang="en-US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233A3A8A-7033-A718-F6ED-51297D836F8D}"/>
              </a:ext>
            </a:extLst>
          </p:cNvPr>
          <p:cNvSpPr/>
          <p:nvPr/>
        </p:nvSpPr>
        <p:spPr>
          <a:xfrm>
            <a:off x="365591" y="990600"/>
            <a:ext cx="2011168" cy="1636205"/>
          </a:xfrm>
          <a:prstGeom prst="roundRect">
            <a:avLst>
              <a:gd name="adj" fmla="val 2500"/>
            </a:avLst>
          </a:prstGeom>
          <a:solidFill>
            <a:srgbClr val="E4F2C2"/>
          </a:solidFill>
          <a:ln/>
        </p:spPr>
        <p:txBody>
          <a:bodyPr/>
          <a:lstStyle/>
          <a:p>
            <a:endParaRPr lang="de-DE" sz="1342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CBB73C90-4E1C-1AA5-67C3-A879EF1D8F37}"/>
              </a:ext>
            </a:extLst>
          </p:cNvPr>
          <p:cNvSpPr/>
          <p:nvPr/>
        </p:nvSpPr>
        <p:spPr>
          <a:xfrm>
            <a:off x="501942" y="1126951"/>
            <a:ext cx="306788" cy="306788"/>
          </a:xfrm>
          <a:prstGeom prst="rect">
            <a:avLst/>
          </a:prstGeom>
          <a:solidFill>
            <a:srgbClr val="A97C00"/>
          </a:solidFill>
          <a:ln/>
        </p:spPr>
        <p:txBody>
          <a:bodyPr/>
          <a:lstStyle/>
          <a:p>
            <a:endParaRPr lang="de-DE" sz="1342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1115E05-ACCD-43E3-81FF-198644E6D995}"/>
              </a:ext>
            </a:extLst>
          </p:cNvPr>
          <p:cNvSpPr txBox="1"/>
          <p:nvPr/>
        </p:nvSpPr>
        <p:spPr>
          <a:xfrm>
            <a:off x="501942" y="1126951"/>
            <a:ext cx="306788" cy="306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93" b="1" dirty="0">
                <a:solidFill>
                  <a:srgbClr val="FFFFFF"/>
                </a:solidFill>
                <a:latin typeface="Calibri" panose="020F0502020204030204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93" dirty="0">
              <a:latin typeface="Calibri" panose="020F0502020204030204" pitchFamily="34" charset="0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1482DCC6-2304-3934-0892-5EAD9F5DD153}"/>
              </a:ext>
            </a:extLst>
          </p:cNvPr>
          <p:cNvSpPr txBox="1"/>
          <p:nvPr/>
        </p:nvSpPr>
        <p:spPr>
          <a:xfrm>
            <a:off x="910993" y="1126951"/>
            <a:ext cx="1329416" cy="306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42" b="1" dirty="0">
                <a:solidFill>
                  <a:srgbClr val="2F3E46"/>
                </a:solidFill>
                <a:latin typeface="Calibri" panose="020F0502020204030204" pitchFamily="34" charset="0"/>
                <a:ea typeface="Cambria" pitchFamily="34" charset="-122"/>
                <a:cs typeface="Cambria" pitchFamily="34" charset="-120"/>
              </a:rPr>
              <a:t>User</a:t>
            </a:r>
            <a:endParaRPr lang="en-US" sz="1342" dirty="0">
              <a:solidFill>
                <a:srgbClr val="2F3E46"/>
              </a:solidFill>
              <a:latin typeface="Calibri" panose="020F0502020204030204" pitchFamily="34" charset="0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CD1409A1-85C8-4EAD-51A2-AB23FC398381}"/>
              </a:ext>
            </a:extLst>
          </p:cNvPr>
          <p:cNvSpPr txBox="1"/>
          <p:nvPr/>
        </p:nvSpPr>
        <p:spPr>
          <a:xfrm>
            <a:off x="501942" y="1570090"/>
            <a:ext cx="1738467" cy="954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69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Studierende:</a:t>
            </a:r>
            <a:r>
              <a:rPr lang="en-US" sz="969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(Persona Jonas Rosamann), </a:t>
            </a:r>
            <a:r>
              <a:rPr lang="en-US" sz="969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Erstprüfer:in, Prüfungsausschuss</a:t>
            </a:r>
            <a:endParaRPr lang="en-US" sz="969" dirty="0">
              <a:solidFill>
                <a:srgbClr val="2F3E46"/>
              </a:solidFill>
            </a:endParaRP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7F7F4BAC-91C7-E38C-15AD-869A33FF7956}"/>
              </a:ext>
            </a:extLst>
          </p:cNvPr>
          <p:cNvSpPr/>
          <p:nvPr/>
        </p:nvSpPr>
        <p:spPr>
          <a:xfrm>
            <a:off x="2499475" y="990600"/>
            <a:ext cx="2011168" cy="1636205"/>
          </a:xfrm>
          <a:prstGeom prst="roundRect">
            <a:avLst>
              <a:gd name="adj" fmla="val 2500"/>
            </a:avLst>
          </a:prstGeom>
          <a:solidFill>
            <a:srgbClr val="E4F2C2"/>
          </a:solidFill>
          <a:ln/>
        </p:spPr>
        <p:txBody>
          <a:bodyPr/>
          <a:lstStyle/>
          <a:p>
            <a:endParaRPr lang="de-DE" sz="1342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E5F6437C-00A6-25E2-8C3F-C2CE04A925D5}"/>
              </a:ext>
            </a:extLst>
          </p:cNvPr>
          <p:cNvSpPr/>
          <p:nvPr/>
        </p:nvSpPr>
        <p:spPr>
          <a:xfrm>
            <a:off x="2635825" y="1126951"/>
            <a:ext cx="306788" cy="306788"/>
          </a:xfrm>
          <a:prstGeom prst="rect">
            <a:avLst/>
          </a:prstGeom>
          <a:solidFill>
            <a:srgbClr val="7B2D9B"/>
          </a:solidFill>
          <a:ln/>
        </p:spPr>
        <p:txBody>
          <a:bodyPr/>
          <a:lstStyle/>
          <a:p>
            <a:endParaRPr lang="de-DE" sz="1342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8391D59A-7D2B-DD90-6285-7DBB13EEA190}"/>
              </a:ext>
            </a:extLst>
          </p:cNvPr>
          <p:cNvSpPr txBox="1"/>
          <p:nvPr/>
        </p:nvSpPr>
        <p:spPr>
          <a:xfrm>
            <a:off x="2635825" y="1126951"/>
            <a:ext cx="306788" cy="306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93" b="1" dirty="0">
                <a:solidFill>
                  <a:srgbClr val="FFFFFF"/>
                </a:solidFill>
                <a:latin typeface="Calibri" panose="020F0502020204030204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93" dirty="0">
              <a:latin typeface="Calibri" panose="020F0502020204030204" pitchFamily="34" charset="0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68100E11-F4EF-49C1-5662-CEAD6B63D458}"/>
              </a:ext>
            </a:extLst>
          </p:cNvPr>
          <p:cNvSpPr txBox="1"/>
          <p:nvPr/>
        </p:nvSpPr>
        <p:spPr>
          <a:xfrm>
            <a:off x="3044876" y="1126951"/>
            <a:ext cx="1329416" cy="306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42" b="1" dirty="0">
                <a:solidFill>
                  <a:srgbClr val="2F3E46"/>
                </a:solidFill>
                <a:latin typeface="Calibri" panose="020F0502020204030204" pitchFamily="34" charset="0"/>
                <a:ea typeface="Cambria" pitchFamily="34" charset="-122"/>
                <a:cs typeface="Cambria" pitchFamily="34" charset="-120"/>
              </a:rPr>
              <a:t>Interface</a:t>
            </a:r>
            <a:endParaRPr lang="en-US" sz="1342" dirty="0">
              <a:solidFill>
                <a:srgbClr val="2F3E46"/>
              </a:solidFill>
              <a:latin typeface="Calibri" panose="020F0502020204030204" pitchFamily="34" charset="0"/>
            </a:endParaRP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08B22303-3046-DAC3-9CB8-F9F6468260DA}"/>
              </a:ext>
            </a:extLst>
          </p:cNvPr>
          <p:cNvSpPr txBox="1"/>
          <p:nvPr/>
        </p:nvSpPr>
        <p:spPr>
          <a:xfrm>
            <a:off x="2635825" y="1570090"/>
            <a:ext cx="1738467" cy="954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69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Webanwendung mit THM-Login; Wireframes und Kontextdiagramm</a:t>
            </a:r>
            <a:endParaRPr lang="en-US" sz="969" dirty="0">
              <a:solidFill>
                <a:srgbClr val="2F3E46"/>
              </a:solidFill>
            </a:endParaRPr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B16E9C79-E212-556C-A42B-19FD8C71CC64}"/>
              </a:ext>
            </a:extLst>
          </p:cNvPr>
          <p:cNvSpPr/>
          <p:nvPr/>
        </p:nvSpPr>
        <p:spPr>
          <a:xfrm>
            <a:off x="4633357" y="990600"/>
            <a:ext cx="2011168" cy="1636205"/>
          </a:xfrm>
          <a:prstGeom prst="roundRect">
            <a:avLst>
              <a:gd name="adj" fmla="val 2500"/>
            </a:avLst>
          </a:prstGeom>
          <a:solidFill>
            <a:srgbClr val="E4F2C2"/>
          </a:solidFill>
          <a:ln/>
        </p:spPr>
        <p:txBody>
          <a:bodyPr/>
          <a:lstStyle/>
          <a:p>
            <a:endParaRPr lang="de-DE" sz="1342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B6DCD290-FF6B-D941-0FC4-AE2771B548FC}"/>
              </a:ext>
            </a:extLst>
          </p:cNvPr>
          <p:cNvSpPr/>
          <p:nvPr/>
        </p:nvSpPr>
        <p:spPr>
          <a:xfrm>
            <a:off x="4769708" y="1126951"/>
            <a:ext cx="306788" cy="306788"/>
          </a:xfrm>
          <a:prstGeom prst="rect">
            <a:avLst/>
          </a:prstGeom>
          <a:solidFill>
            <a:srgbClr val="2E8B4F"/>
          </a:solidFill>
          <a:ln/>
        </p:spPr>
        <p:txBody>
          <a:bodyPr/>
          <a:lstStyle/>
          <a:p>
            <a:endParaRPr lang="de-DE" sz="1342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9A49479A-EEB6-CDE4-332B-23A8C930F2FF}"/>
              </a:ext>
            </a:extLst>
          </p:cNvPr>
          <p:cNvSpPr txBox="1"/>
          <p:nvPr/>
        </p:nvSpPr>
        <p:spPr>
          <a:xfrm>
            <a:off x="4769708" y="1126951"/>
            <a:ext cx="306788" cy="306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93" b="1" dirty="0">
                <a:solidFill>
                  <a:srgbClr val="FFFFFF"/>
                </a:solidFill>
                <a:latin typeface="Calibri" panose="020F0502020204030204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93" dirty="0">
              <a:latin typeface="Calibri" panose="020F0502020204030204" pitchFamily="34" charset="0"/>
            </a:endParaRPr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B2BC2EA6-7523-AD39-0BFA-D3B804569BFE}"/>
              </a:ext>
            </a:extLst>
          </p:cNvPr>
          <p:cNvSpPr txBox="1"/>
          <p:nvPr/>
        </p:nvSpPr>
        <p:spPr>
          <a:xfrm>
            <a:off x="5178759" y="1126951"/>
            <a:ext cx="1329416" cy="306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42" b="1" dirty="0">
                <a:solidFill>
                  <a:srgbClr val="2F3E46"/>
                </a:solidFill>
                <a:latin typeface="Calibri" panose="020F0502020204030204" pitchFamily="34" charset="0"/>
                <a:ea typeface="Cambria" pitchFamily="34" charset="-122"/>
                <a:cs typeface="Cambria" pitchFamily="34" charset="-120"/>
              </a:rPr>
              <a:t>Action</a:t>
            </a:r>
            <a:endParaRPr lang="en-US" sz="1342" dirty="0">
              <a:solidFill>
                <a:srgbClr val="2F3E46"/>
              </a:solidFill>
              <a:latin typeface="Calibri" panose="020F0502020204030204" pitchFamily="34" charset="0"/>
            </a:endParaRPr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BA10F7D2-19AB-4842-6DBF-BD25A92C1FAF}"/>
              </a:ext>
            </a:extLst>
          </p:cNvPr>
          <p:cNvSpPr txBox="1"/>
          <p:nvPr/>
        </p:nvSpPr>
        <p:spPr>
          <a:xfrm>
            <a:off x="4769708" y="1570090"/>
            <a:ext cx="1738467" cy="954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69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Antrag starten, Dokument anhängen, absenden; Antragseingang verarbeiten</a:t>
            </a:r>
            <a:endParaRPr lang="en-US" sz="969" dirty="0">
              <a:solidFill>
                <a:srgbClr val="2F3E46"/>
              </a:solidFill>
            </a:endParaRPr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B102C77A-E20A-3D5C-CE25-0630F26A5CD6}"/>
              </a:ext>
            </a:extLst>
          </p:cNvPr>
          <p:cNvSpPr/>
          <p:nvPr/>
        </p:nvSpPr>
        <p:spPr>
          <a:xfrm>
            <a:off x="6767241" y="990600"/>
            <a:ext cx="2011168" cy="1636205"/>
          </a:xfrm>
          <a:prstGeom prst="roundRect">
            <a:avLst>
              <a:gd name="adj" fmla="val 2500"/>
            </a:avLst>
          </a:prstGeom>
          <a:solidFill>
            <a:srgbClr val="E4F2C2"/>
          </a:solidFill>
          <a:ln/>
        </p:spPr>
        <p:txBody>
          <a:bodyPr/>
          <a:lstStyle/>
          <a:p>
            <a:endParaRPr lang="de-DE" sz="1342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CCDAE8D4-12CE-EFA1-908D-D4209ED687D4}"/>
              </a:ext>
            </a:extLst>
          </p:cNvPr>
          <p:cNvSpPr/>
          <p:nvPr/>
        </p:nvSpPr>
        <p:spPr>
          <a:xfrm>
            <a:off x="6903592" y="1126951"/>
            <a:ext cx="306788" cy="306788"/>
          </a:xfrm>
          <a:prstGeom prst="rect">
            <a:avLst/>
          </a:prstGeom>
          <a:solidFill>
            <a:srgbClr val="2A74C2"/>
          </a:solidFill>
          <a:ln/>
        </p:spPr>
        <p:txBody>
          <a:bodyPr/>
          <a:lstStyle/>
          <a:p>
            <a:endParaRPr lang="de-DE" sz="1342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E349B6E4-2015-C619-F457-B6F97B32CA2C}"/>
              </a:ext>
            </a:extLst>
          </p:cNvPr>
          <p:cNvSpPr txBox="1"/>
          <p:nvPr/>
        </p:nvSpPr>
        <p:spPr>
          <a:xfrm>
            <a:off x="6903592" y="1126951"/>
            <a:ext cx="306788" cy="306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93" b="1" dirty="0">
                <a:solidFill>
                  <a:srgbClr val="FFFFFF"/>
                </a:solidFill>
                <a:latin typeface="Calibri" panose="020F0502020204030204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93" dirty="0">
              <a:latin typeface="Calibri" panose="020F0502020204030204" pitchFamily="34" charset="0"/>
            </a:endParaRPr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ADB1E7EE-101C-6928-EAA1-43471EAF11B2}"/>
              </a:ext>
            </a:extLst>
          </p:cNvPr>
          <p:cNvSpPr txBox="1"/>
          <p:nvPr/>
        </p:nvSpPr>
        <p:spPr>
          <a:xfrm>
            <a:off x="7312643" y="1126951"/>
            <a:ext cx="1329416" cy="306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42" b="1" dirty="0">
                <a:solidFill>
                  <a:srgbClr val="2F3E46"/>
                </a:solidFill>
                <a:latin typeface="Calibri" panose="020F0502020204030204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1342" dirty="0">
              <a:solidFill>
                <a:srgbClr val="2F3E46"/>
              </a:solidFill>
              <a:latin typeface="Calibri" panose="020F0502020204030204" pitchFamily="34" charset="0"/>
            </a:endParaRPr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BEC3CE71-C30D-3987-6700-FC14C1C09785}"/>
              </a:ext>
            </a:extLst>
          </p:cNvPr>
          <p:cNvSpPr txBox="1"/>
          <p:nvPr/>
        </p:nvSpPr>
        <p:spPr>
          <a:xfrm>
            <a:off x="6903592" y="1570090"/>
            <a:ext cx="1738467" cy="954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69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Abschlussarbeit und Verlängerungsantrag mit altem und neuem Abgabetermin</a:t>
            </a:r>
            <a:endParaRPr lang="en-US" sz="969" dirty="0">
              <a:solidFill>
                <a:srgbClr val="2F3E46"/>
              </a:solidFill>
            </a:endParaRPr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84E45635-DAC8-3F78-A35F-C1758EAF1F35}"/>
              </a:ext>
            </a:extLst>
          </p:cNvPr>
          <p:cNvSpPr/>
          <p:nvPr/>
        </p:nvSpPr>
        <p:spPr>
          <a:xfrm>
            <a:off x="365591" y="2776790"/>
            <a:ext cx="2011168" cy="1636205"/>
          </a:xfrm>
          <a:prstGeom prst="roundRect">
            <a:avLst>
              <a:gd name="adj" fmla="val 2500"/>
            </a:avLst>
          </a:prstGeom>
          <a:solidFill>
            <a:srgbClr val="E4F2C2"/>
          </a:solidFill>
          <a:ln/>
        </p:spPr>
        <p:txBody>
          <a:bodyPr/>
          <a:lstStyle/>
          <a:p>
            <a:endParaRPr lang="de-DE" sz="1342"/>
          </a:p>
        </p:txBody>
      </p:sp>
      <p:sp>
        <p:nvSpPr>
          <p:cNvPr id="26" name="Shape 22">
            <a:extLst>
              <a:ext uri="{FF2B5EF4-FFF2-40B4-BE49-F238E27FC236}">
                <a16:creationId xmlns:a16="http://schemas.microsoft.com/office/drawing/2014/main" id="{877B3BD1-D0A7-BEAD-CE89-C2B47E4590B3}"/>
              </a:ext>
            </a:extLst>
          </p:cNvPr>
          <p:cNvSpPr/>
          <p:nvPr/>
        </p:nvSpPr>
        <p:spPr>
          <a:xfrm>
            <a:off x="501942" y="2913141"/>
            <a:ext cx="306788" cy="30678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de-DE" sz="1342"/>
          </a:p>
        </p:txBody>
      </p:sp>
      <p:sp>
        <p:nvSpPr>
          <p:cNvPr id="27" name="Text 23">
            <a:extLst>
              <a:ext uri="{FF2B5EF4-FFF2-40B4-BE49-F238E27FC236}">
                <a16:creationId xmlns:a16="http://schemas.microsoft.com/office/drawing/2014/main" id="{7DCB27E3-530E-AC33-E8A1-902D2B024434}"/>
              </a:ext>
            </a:extLst>
          </p:cNvPr>
          <p:cNvSpPr txBox="1"/>
          <p:nvPr/>
        </p:nvSpPr>
        <p:spPr>
          <a:xfrm>
            <a:off x="501942" y="2913141"/>
            <a:ext cx="306788" cy="306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93" b="1" dirty="0">
                <a:solidFill>
                  <a:srgbClr val="FFFFFF"/>
                </a:solidFill>
                <a:latin typeface="Calibri" panose="020F0502020204030204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193" dirty="0">
              <a:latin typeface="Calibri" panose="020F0502020204030204" pitchFamily="34" charset="0"/>
            </a:endParaRPr>
          </a:p>
        </p:txBody>
      </p:sp>
      <p:sp>
        <p:nvSpPr>
          <p:cNvPr id="28" name="Text 24">
            <a:extLst>
              <a:ext uri="{FF2B5EF4-FFF2-40B4-BE49-F238E27FC236}">
                <a16:creationId xmlns:a16="http://schemas.microsoft.com/office/drawing/2014/main" id="{1B3704CE-020B-4F67-C625-B4784CE4775F}"/>
              </a:ext>
            </a:extLst>
          </p:cNvPr>
          <p:cNvSpPr txBox="1"/>
          <p:nvPr/>
        </p:nvSpPr>
        <p:spPr>
          <a:xfrm>
            <a:off x="910993" y="2913141"/>
            <a:ext cx="1329416" cy="306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42" b="1" dirty="0">
                <a:solidFill>
                  <a:srgbClr val="2F3E46"/>
                </a:solidFill>
                <a:latin typeface="Calibri" panose="020F0502020204030204" pitchFamily="34" charset="0"/>
                <a:ea typeface="Cambria" pitchFamily="34" charset="-122"/>
                <a:cs typeface="Cambria" pitchFamily="34" charset="-120"/>
              </a:rPr>
              <a:t>Control</a:t>
            </a:r>
            <a:endParaRPr lang="en-US" sz="1342" dirty="0">
              <a:solidFill>
                <a:srgbClr val="2F3E46"/>
              </a:solidFill>
              <a:latin typeface="Calibri" panose="020F0502020204030204" pitchFamily="34" charset="0"/>
            </a:endParaRPr>
          </a:p>
        </p:txBody>
      </p:sp>
      <p:sp>
        <p:nvSpPr>
          <p:cNvPr id="29" name="Text 25">
            <a:extLst>
              <a:ext uri="{FF2B5EF4-FFF2-40B4-BE49-F238E27FC236}">
                <a16:creationId xmlns:a16="http://schemas.microsoft.com/office/drawing/2014/main" id="{EC625AB3-40AF-EE09-E99E-C002CDB12539}"/>
              </a:ext>
            </a:extLst>
          </p:cNvPr>
          <p:cNvSpPr txBox="1"/>
          <p:nvPr/>
        </p:nvSpPr>
        <p:spPr>
          <a:xfrm>
            <a:off x="501942" y="3356280"/>
            <a:ext cx="1738467" cy="954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69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Zugriff nur mit THM-Login; neuer Abgabetermin = alter Abgabetermin + Verlängerungsdauer</a:t>
            </a:r>
            <a:endParaRPr lang="en-US" sz="969" dirty="0">
              <a:solidFill>
                <a:srgbClr val="2F3E46"/>
              </a:solidFill>
            </a:endParaRPr>
          </a:p>
        </p:txBody>
      </p:sp>
      <p:sp>
        <p:nvSpPr>
          <p:cNvPr id="30" name="Shape 26">
            <a:extLst>
              <a:ext uri="{FF2B5EF4-FFF2-40B4-BE49-F238E27FC236}">
                <a16:creationId xmlns:a16="http://schemas.microsoft.com/office/drawing/2014/main" id="{F5E64E8A-B01B-FCAE-6C7E-41A963FA66F5}"/>
              </a:ext>
            </a:extLst>
          </p:cNvPr>
          <p:cNvSpPr/>
          <p:nvPr/>
        </p:nvSpPr>
        <p:spPr>
          <a:xfrm>
            <a:off x="2499475" y="2776790"/>
            <a:ext cx="2011168" cy="1636205"/>
          </a:xfrm>
          <a:prstGeom prst="roundRect">
            <a:avLst>
              <a:gd name="adj" fmla="val 2500"/>
            </a:avLst>
          </a:prstGeom>
          <a:solidFill>
            <a:srgbClr val="E4F2C2"/>
          </a:solidFill>
          <a:ln/>
        </p:spPr>
        <p:txBody>
          <a:bodyPr/>
          <a:lstStyle/>
          <a:p>
            <a:endParaRPr lang="de-DE" sz="1342"/>
          </a:p>
        </p:txBody>
      </p:sp>
      <p:sp>
        <p:nvSpPr>
          <p:cNvPr id="31" name="Shape 27">
            <a:extLst>
              <a:ext uri="{FF2B5EF4-FFF2-40B4-BE49-F238E27FC236}">
                <a16:creationId xmlns:a16="http://schemas.microsoft.com/office/drawing/2014/main" id="{8C060F6B-4DDF-59D8-BDA4-E9A5D625D4B6}"/>
              </a:ext>
            </a:extLst>
          </p:cNvPr>
          <p:cNvSpPr/>
          <p:nvPr/>
        </p:nvSpPr>
        <p:spPr>
          <a:xfrm>
            <a:off x="2635825" y="2913141"/>
            <a:ext cx="306788" cy="306788"/>
          </a:xfrm>
          <a:prstGeom prst="rect">
            <a:avLst/>
          </a:prstGeom>
          <a:solidFill>
            <a:srgbClr val="222222"/>
          </a:solidFill>
          <a:ln/>
        </p:spPr>
        <p:txBody>
          <a:bodyPr/>
          <a:lstStyle/>
          <a:p>
            <a:endParaRPr lang="de-DE" sz="1342"/>
          </a:p>
        </p:txBody>
      </p:sp>
      <p:sp>
        <p:nvSpPr>
          <p:cNvPr id="32" name="Text 28">
            <a:extLst>
              <a:ext uri="{FF2B5EF4-FFF2-40B4-BE49-F238E27FC236}">
                <a16:creationId xmlns:a16="http://schemas.microsoft.com/office/drawing/2014/main" id="{0FC018D8-4280-733F-35DE-78A5B26B4739}"/>
              </a:ext>
            </a:extLst>
          </p:cNvPr>
          <p:cNvSpPr txBox="1"/>
          <p:nvPr/>
        </p:nvSpPr>
        <p:spPr>
          <a:xfrm>
            <a:off x="2635825" y="2913141"/>
            <a:ext cx="306788" cy="306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93" b="1" dirty="0">
                <a:solidFill>
                  <a:srgbClr val="FFFFFF"/>
                </a:solidFill>
                <a:latin typeface="Calibri" panose="020F0502020204030204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193" dirty="0">
              <a:latin typeface="Calibri" panose="020F0502020204030204" pitchFamily="34" charset="0"/>
            </a:endParaRPr>
          </a:p>
        </p:txBody>
      </p:sp>
      <p:sp>
        <p:nvSpPr>
          <p:cNvPr id="33" name="Text 29">
            <a:extLst>
              <a:ext uri="{FF2B5EF4-FFF2-40B4-BE49-F238E27FC236}">
                <a16:creationId xmlns:a16="http://schemas.microsoft.com/office/drawing/2014/main" id="{CC202972-699A-95C3-0120-950899C88D62}"/>
              </a:ext>
            </a:extLst>
          </p:cNvPr>
          <p:cNvSpPr txBox="1"/>
          <p:nvPr/>
        </p:nvSpPr>
        <p:spPr>
          <a:xfrm>
            <a:off x="3044876" y="2913141"/>
            <a:ext cx="1329416" cy="306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42" b="1" dirty="0">
                <a:solidFill>
                  <a:srgbClr val="2F3E46"/>
                </a:solidFill>
                <a:latin typeface="Calibri" panose="020F0502020204030204" pitchFamily="34" charset="0"/>
                <a:ea typeface="Cambria" pitchFamily="34" charset="-122"/>
                <a:cs typeface="Cambria" pitchFamily="34" charset="-120"/>
              </a:rPr>
              <a:t>Environment</a:t>
            </a:r>
            <a:endParaRPr lang="en-US" sz="1342" dirty="0">
              <a:solidFill>
                <a:srgbClr val="2F3E46"/>
              </a:solidFill>
              <a:latin typeface="Calibri" panose="020F0502020204030204" pitchFamily="34" charset="0"/>
            </a:endParaRPr>
          </a:p>
        </p:txBody>
      </p:sp>
      <p:sp>
        <p:nvSpPr>
          <p:cNvPr id="34" name="Text 30">
            <a:extLst>
              <a:ext uri="{FF2B5EF4-FFF2-40B4-BE49-F238E27FC236}">
                <a16:creationId xmlns:a16="http://schemas.microsoft.com/office/drawing/2014/main" id="{F2E48439-84B9-0E37-680E-AB55D344DD0C}"/>
              </a:ext>
            </a:extLst>
          </p:cNvPr>
          <p:cNvSpPr txBox="1"/>
          <p:nvPr/>
        </p:nvSpPr>
        <p:spPr>
          <a:xfrm>
            <a:off x="2635825" y="3356280"/>
            <a:ext cx="1738467" cy="954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69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auf Handy, Laptop und Desktop; E-Mail-Dienst</a:t>
            </a:r>
            <a:endParaRPr lang="en-US" sz="969" dirty="0">
              <a:solidFill>
                <a:srgbClr val="2F3E46"/>
              </a:solidFill>
            </a:endParaRPr>
          </a:p>
        </p:txBody>
      </p:sp>
      <p:sp>
        <p:nvSpPr>
          <p:cNvPr id="35" name="Shape 31">
            <a:extLst>
              <a:ext uri="{FF2B5EF4-FFF2-40B4-BE49-F238E27FC236}">
                <a16:creationId xmlns:a16="http://schemas.microsoft.com/office/drawing/2014/main" id="{56391BBE-CA20-39E7-45B4-63547DF540DC}"/>
              </a:ext>
            </a:extLst>
          </p:cNvPr>
          <p:cNvSpPr/>
          <p:nvPr/>
        </p:nvSpPr>
        <p:spPr>
          <a:xfrm>
            <a:off x="4633357" y="2776790"/>
            <a:ext cx="2011168" cy="1636205"/>
          </a:xfrm>
          <a:prstGeom prst="roundRect">
            <a:avLst>
              <a:gd name="adj" fmla="val 2500"/>
            </a:avLst>
          </a:prstGeom>
          <a:solidFill>
            <a:srgbClr val="E4F2C2"/>
          </a:solidFill>
          <a:ln/>
        </p:spPr>
        <p:txBody>
          <a:bodyPr/>
          <a:lstStyle/>
          <a:p>
            <a:endParaRPr lang="de-DE" sz="1342"/>
          </a:p>
        </p:txBody>
      </p:sp>
      <p:sp>
        <p:nvSpPr>
          <p:cNvPr id="36" name="Shape 32">
            <a:extLst>
              <a:ext uri="{FF2B5EF4-FFF2-40B4-BE49-F238E27FC236}">
                <a16:creationId xmlns:a16="http://schemas.microsoft.com/office/drawing/2014/main" id="{72C5EDC2-2DCC-9F50-D3AE-5F8229A41185}"/>
              </a:ext>
            </a:extLst>
          </p:cNvPr>
          <p:cNvSpPr/>
          <p:nvPr/>
        </p:nvSpPr>
        <p:spPr>
          <a:xfrm>
            <a:off x="4769708" y="2913141"/>
            <a:ext cx="306788" cy="306788"/>
          </a:xfrm>
          <a:prstGeom prst="rect">
            <a:avLst/>
          </a:prstGeom>
          <a:solidFill>
            <a:srgbClr val="6B7378"/>
          </a:solidFill>
          <a:ln/>
        </p:spPr>
        <p:txBody>
          <a:bodyPr/>
          <a:lstStyle/>
          <a:p>
            <a:endParaRPr lang="de-DE" sz="1342"/>
          </a:p>
        </p:txBody>
      </p:sp>
      <p:sp>
        <p:nvSpPr>
          <p:cNvPr id="37" name="Text 33">
            <a:extLst>
              <a:ext uri="{FF2B5EF4-FFF2-40B4-BE49-F238E27FC236}">
                <a16:creationId xmlns:a16="http://schemas.microsoft.com/office/drawing/2014/main" id="{70018ADD-6741-DF17-728E-4F25E4874CCA}"/>
              </a:ext>
            </a:extLst>
          </p:cNvPr>
          <p:cNvSpPr txBox="1"/>
          <p:nvPr/>
        </p:nvSpPr>
        <p:spPr>
          <a:xfrm>
            <a:off x="4769708" y="2913141"/>
            <a:ext cx="306788" cy="306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93" b="1" dirty="0">
                <a:solidFill>
                  <a:srgbClr val="FFFFFF"/>
                </a:solidFill>
                <a:latin typeface="Calibri" panose="020F0502020204030204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193" dirty="0">
              <a:latin typeface="Calibri" panose="020F0502020204030204" pitchFamily="34" charset="0"/>
            </a:endParaRPr>
          </a:p>
        </p:txBody>
      </p:sp>
      <p:sp>
        <p:nvSpPr>
          <p:cNvPr id="38" name="Text 34">
            <a:extLst>
              <a:ext uri="{FF2B5EF4-FFF2-40B4-BE49-F238E27FC236}">
                <a16:creationId xmlns:a16="http://schemas.microsoft.com/office/drawing/2014/main" id="{E207F1F9-CD94-6C46-4FB4-3B4E456FF961}"/>
              </a:ext>
            </a:extLst>
          </p:cNvPr>
          <p:cNvSpPr txBox="1"/>
          <p:nvPr/>
        </p:nvSpPr>
        <p:spPr>
          <a:xfrm>
            <a:off x="5178759" y="2913141"/>
            <a:ext cx="1329416" cy="306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42" b="1" dirty="0">
                <a:solidFill>
                  <a:srgbClr val="2F3E46"/>
                </a:solidFill>
                <a:latin typeface="Calibri" panose="020F0502020204030204" pitchFamily="34" charset="0"/>
                <a:ea typeface="Cambria" pitchFamily="34" charset="-122"/>
                <a:cs typeface="Cambria" pitchFamily="34" charset="-120"/>
              </a:rPr>
              <a:t>Quality Attributes</a:t>
            </a:r>
            <a:endParaRPr lang="en-US" sz="1342" dirty="0">
              <a:solidFill>
                <a:srgbClr val="2F3E46"/>
              </a:solidFill>
              <a:latin typeface="Calibri" panose="020F0502020204030204" pitchFamily="34" charset="0"/>
            </a:endParaRPr>
          </a:p>
        </p:txBody>
      </p:sp>
      <p:sp>
        <p:nvSpPr>
          <p:cNvPr id="39" name="Text 35">
            <a:extLst>
              <a:ext uri="{FF2B5EF4-FFF2-40B4-BE49-F238E27FC236}">
                <a16:creationId xmlns:a16="http://schemas.microsoft.com/office/drawing/2014/main" id="{381C358B-9971-BD46-B806-119117C339CF}"/>
              </a:ext>
            </a:extLst>
          </p:cNvPr>
          <p:cNvSpPr txBox="1"/>
          <p:nvPr/>
        </p:nvSpPr>
        <p:spPr>
          <a:xfrm>
            <a:off x="4769708" y="3356280"/>
            <a:ext cx="1738467" cy="954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69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Benutzbarkeit, Verfügbarkeit, Transparenz, Datenschutz, Pflegbarkeit</a:t>
            </a:r>
            <a:endParaRPr lang="en-US" sz="969" dirty="0">
              <a:solidFill>
                <a:srgbClr val="2F3E46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80B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 7 · D2D · VERLÄNGERUNGSANTRAG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310896"/>
            <a:ext cx="6172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Persona: Studierende:r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55464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5B6A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36</a:t>
            </a:fld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B0733E1-5457-090A-E5C3-B4CAC7AA80E0}"/>
              </a:ext>
            </a:extLst>
          </p:cNvPr>
          <p:cNvSpPr/>
          <p:nvPr/>
        </p:nvSpPr>
        <p:spPr>
          <a:xfrm>
            <a:off x="524280" y="838220"/>
            <a:ext cx="2425105" cy="3791982"/>
          </a:xfrm>
          <a:prstGeom prst="roundRect">
            <a:avLst>
              <a:gd name="adj" fmla="val 4364"/>
            </a:avLst>
          </a:prstGeom>
          <a:solidFill>
            <a:srgbClr val="EDF5DC"/>
          </a:solidFill>
          <a:ln w="12700">
            <a:solidFill>
              <a:srgbClr val="EDF5DC"/>
            </a:solidFill>
            <a:prstDash val="solid"/>
          </a:ln>
        </p:spPr>
        <p:txBody>
          <a:bodyPr/>
          <a:lstStyle/>
          <a:p>
            <a:endParaRPr lang="de-DE" sz="1736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E3B1479-4808-2EC5-6E7D-65930E267006}"/>
              </a:ext>
            </a:extLst>
          </p:cNvPr>
          <p:cNvSpPr/>
          <p:nvPr/>
        </p:nvSpPr>
        <p:spPr>
          <a:xfrm>
            <a:off x="1097486" y="970498"/>
            <a:ext cx="1278692" cy="1278692"/>
          </a:xfrm>
          <a:prstGeom prst="ellipse">
            <a:avLst/>
          </a:prstGeom>
          <a:solidFill>
            <a:srgbClr val="4A5C66"/>
          </a:solidFill>
          <a:ln w="12700">
            <a:solidFill>
              <a:srgbClr val="80BA24"/>
            </a:solidFill>
            <a:prstDash val="solid"/>
          </a:ln>
        </p:spPr>
        <p:txBody>
          <a:bodyPr/>
          <a:lstStyle/>
          <a:p>
            <a:endParaRPr lang="de-DE" sz="1736"/>
          </a:p>
        </p:txBody>
      </p:sp>
      <p:pic>
        <p:nvPicPr>
          <p:cNvPr id="6" name="Image 0" descr="photos/u1.jpg">
            <a:extLst>
              <a:ext uri="{FF2B5EF4-FFF2-40B4-BE49-F238E27FC236}">
                <a16:creationId xmlns:a16="http://schemas.microsoft.com/office/drawing/2014/main" id="{F137D468-E72C-FE9E-B46A-23C4550BAA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579" y="1014591"/>
            <a:ext cx="1190506" cy="1190506"/>
          </a:xfrm>
          <a:prstGeom prst="ellipse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F748D0A0-5FB4-7DAB-ABCF-A488B1B62BF3}"/>
              </a:ext>
            </a:extLst>
          </p:cNvPr>
          <p:cNvSpPr txBox="1"/>
          <p:nvPr/>
        </p:nvSpPr>
        <p:spPr>
          <a:xfrm>
            <a:off x="656558" y="2469654"/>
            <a:ext cx="2160548" cy="30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43" b="1" dirty="0">
                <a:solidFill>
                  <a:srgbClr val="2F3E46"/>
                </a:solidFill>
                <a:latin typeface="Calibri" panose="020F0502020204030204" pitchFamily="34" charset="0"/>
                <a:ea typeface="Cambria" pitchFamily="34" charset="-122"/>
                <a:cs typeface="Cambria" pitchFamily="34" charset="-120"/>
              </a:rPr>
              <a:t>Jonas Rosamann</a:t>
            </a:r>
            <a:endParaRPr lang="en-US" sz="1543" dirty="0">
              <a:solidFill>
                <a:srgbClr val="2F3E46"/>
              </a:solidFill>
              <a:latin typeface="Calibri" panose="020F0502020204030204" pitchFamily="34" charset="0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2CC6DCCD-A84E-E802-929A-6A24C5596D66}"/>
              </a:ext>
            </a:extLst>
          </p:cNvPr>
          <p:cNvSpPr txBox="1"/>
          <p:nvPr/>
        </p:nvSpPr>
        <p:spPr>
          <a:xfrm>
            <a:off x="656558" y="2778303"/>
            <a:ext cx="2160548" cy="30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868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Wirtschaftsinformatik, kurz vor der Abschlussarbeit</a:t>
            </a:r>
            <a:endParaRPr lang="en-US" sz="868" dirty="0">
              <a:solidFill>
                <a:srgbClr val="5B6A70"/>
              </a:solidFill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4895A4C9-66CA-E093-646E-E3895AF84D1F}"/>
              </a:ext>
            </a:extLst>
          </p:cNvPr>
          <p:cNvSpPr txBox="1"/>
          <p:nvPr/>
        </p:nvSpPr>
        <p:spPr>
          <a:xfrm>
            <a:off x="700651" y="3131046"/>
            <a:ext cx="2072362" cy="529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964" i="1" dirty="0">
                <a:solidFill>
                  <a:srgbClr val="4A5C66"/>
                </a:solidFill>
                <a:latin typeface="Calibri" panose="020F0502020204030204" pitchFamily="34" charset="0"/>
                <a:ea typeface="Cambria" pitchFamily="34" charset="-122"/>
                <a:cs typeface="Cambria" pitchFamily="34" charset="-120"/>
              </a:rPr>
              <a:t>„Ich will einfach wissen, ob mein Antrag angekommen ist und was noch fehlt.“</a:t>
            </a:r>
            <a:endParaRPr lang="en-US" sz="964" dirty="0">
              <a:solidFill>
                <a:srgbClr val="4A5C66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5D0F327F-32A8-4C62-849C-8629FD3C56DB}"/>
              </a:ext>
            </a:extLst>
          </p:cNvPr>
          <p:cNvSpPr txBox="1"/>
          <p:nvPr/>
        </p:nvSpPr>
        <p:spPr>
          <a:xfrm>
            <a:off x="700651" y="3704253"/>
            <a:ext cx="2072362" cy="837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193"/>
              </a:spcAft>
            </a:pPr>
            <a:r>
              <a:rPr lang="en-US" sz="819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Alter: 23 Jahre</a:t>
            </a:r>
            <a:endParaRPr lang="en-US" sz="819" dirty="0">
              <a:solidFill>
                <a:srgbClr val="2F3E46"/>
              </a:solidFill>
            </a:endParaRPr>
          </a:p>
          <a:p>
            <a:pPr>
              <a:spcAft>
                <a:spcPts val="193"/>
              </a:spcAft>
            </a:pPr>
            <a:r>
              <a:rPr lang="en-US" sz="819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Wohnort: Gießen, WG</a:t>
            </a:r>
            <a:endParaRPr lang="en-US" sz="819" dirty="0">
              <a:solidFill>
                <a:srgbClr val="2F3E46"/>
              </a:solidFill>
            </a:endParaRPr>
          </a:p>
          <a:p>
            <a:pPr>
              <a:spcAft>
                <a:spcPts val="193"/>
              </a:spcAft>
            </a:pPr>
            <a:r>
              <a:rPr lang="en-US" sz="819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Familienstand: ledig</a:t>
            </a:r>
            <a:endParaRPr lang="en-US" sz="819" dirty="0">
              <a:solidFill>
                <a:srgbClr val="2F3E46"/>
              </a:solidFill>
            </a:endParaRPr>
          </a:p>
          <a:p>
            <a:pPr>
              <a:spcAft>
                <a:spcPts val="193"/>
              </a:spcAft>
            </a:pPr>
            <a:r>
              <a:rPr lang="en-US" sz="819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Nebenjob: Werkstudent, 12 h/Woche</a:t>
            </a:r>
            <a:endParaRPr lang="en-US" sz="819" dirty="0">
              <a:solidFill>
                <a:srgbClr val="2F3E46"/>
              </a:solidFill>
            </a:endParaRPr>
          </a:p>
          <a:p>
            <a:pPr>
              <a:spcAft>
                <a:spcPts val="193"/>
              </a:spcAft>
            </a:pPr>
            <a:r>
              <a:rPr lang="en-US" sz="819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Geräte: Smartphone, Laptop zu Hause</a:t>
            </a:r>
            <a:endParaRPr lang="en-US" sz="819" dirty="0">
              <a:solidFill>
                <a:srgbClr val="2F3E46"/>
              </a:solidFill>
            </a:endParaRP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9B5172C9-4BD7-82FA-E529-2A2C9FFE746E}"/>
              </a:ext>
            </a:extLst>
          </p:cNvPr>
          <p:cNvSpPr/>
          <p:nvPr/>
        </p:nvSpPr>
        <p:spPr>
          <a:xfrm>
            <a:off x="3213941" y="864675"/>
            <a:ext cx="229283" cy="229283"/>
          </a:xfrm>
          <a:prstGeom prst="ellipse">
            <a:avLst/>
          </a:prstGeom>
          <a:solidFill>
            <a:srgbClr val="4A5C66"/>
          </a:solidFill>
          <a:ln w="12700">
            <a:solidFill>
              <a:srgbClr val="80BA24"/>
            </a:solidFill>
            <a:prstDash val="solid"/>
          </a:ln>
        </p:spPr>
        <p:txBody>
          <a:bodyPr/>
          <a:lstStyle/>
          <a:p>
            <a:endParaRPr lang="de-DE" sz="1736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9295E2B5-7251-7959-004B-5DD7C951FB1D}"/>
              </a:ext>
            </a:extLst>
          </p:cNvPr>
          <p:cNvSpPr txBox="1"/>
          <p:nvPr/>
        </p:nvSpPr>
        <p:spPr>
          <a:xfrm>
            <a:off x="3213941" y="864675"/>
            <a:ext cx="229283" cy="2292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68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E8C12DBA-E702-916F-D2E2-FD921D0AE132}"/>
              </a:ext>
            </a:extLst>
          </p:cNvPr>
          <p:cNvSpPr txBox="1"/>
          <p:nvPr/>
        </p:nvSpPr>
        <p:spPr>
          <a:xfrm>
            <a:off x="3531410" y="838220"/>
            <a:ext cx="2284008" cy="282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6" b="1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Ziele</a:t>
            </a:r>
            <a:endParaRPr lang="en-US" sz="1206" dirty="0">
              <a:solidFill>
                <a:srgbClr val="4A5C66"/>
              </a:solidFill>
            </a:endParaRP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D9D10430-4034-6E00-AA5E-5F3119A3F76F}"/>
              </a:ext>
            </a:extLst>
          </p:cNvPr>
          <p:cNvSpPr txBox="1"/>
          <p:nvPr/>
        </p:nvSpPr>
        <p:spPr>
          <a:xfrm>
            <a:off x="3258035" y="1173325"/>
            <a:ext cx="2557383" cy="1190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46971" indent="-146971">
              <a:spcAft>
                <a:spcPts val="289"/>
              </a:spcAft>
              <a:buSzPct val="100000"/>
              <a:buChar char="•"/>
            </a:pPr>
            <a:r>
              <a:rPr lang="en-US" sz="916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Antrag in einem Durchgang korrekt einreichen</a:t>
            </a:r>
            <a:endParaRPr lang="en-US" sz="916" dirty="0">
              <a:solidFill>
                <a:srgbClr val="2F3E46"/>
              </a:solidFill>
            </a:endParaRPr>
          </a:p>
          <a:p>
            <a:pPr marL="146971" indent="-146971">
              <a:spcAft>
                <a:spcPts val="289"/>
              </a:spcAft>
              <a:buSzPct val="100000"/>
              <a:buChar char="•"/>
            </a:pPr>
            <a:r>
              <a:rPr lang="en-US" sz="916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Bearbeitungsstand jederzeit am Handy sehen</a:t>
            </a:r>
            <a:endParaRPr lang="en-US" sz="916" dirty="0">
              <a:solidFill>
                <a:srgbClr val="2F3E46"/>
              </a:solidFill>
            </a:endParaRPr>
          </a:p>
          <a:p>
            <a:pPr marL="146971" indent="-146971">
              <a:spcAft>
                <a:spcPts val="289"/>
              </a:spcAft>
              <a:buSzPct val="100000"/>
              <a:buChar char="•"/>
            </a:pPr>
            <a:r>
              <a:rPr lang="en-US" sz="916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Prüfende ohne Unterschriftenlauf bestätigen lassen</a:t>
            </a:r>
            <a:endParaRPr lang="en-US" sz="916" dirty="0">
              <a:solidFill>
                <a:srgbClr val="2F3E46"/>
              </a:solidFill>
            </a:endParaRPr>
          </a:p>
          <a:p>
            <a:pPr marL="146971" indent="-146971">
              <a:spcAft>
                <a:spcPts val="289"/>
              </a:spcAft>
              <a:buSzPct val="100000"/>
              <a:buChar char="•"/>
            </a:pPr>
            <a:r>
              <a:rPr lang="en-US" sz="916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Studium in Regelstudienzeit abschließen</a:t>
            </a:r>
            <a:endParaRPr lang="en-US" sz="916" dirty="0">
              <a:solidFill>
                <a:srgbClr val="2F3E46"/>
              </a:solidFill>
            </a:endParaRPr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0F7A2ECE-F78B-C9F6-730D-F61DBE0432AA}"/>
              </a:ext>
            </a:extLst>
          </p:cNvPr>
          <p:cNvSpPr/>
          <p:nvPr/>
        </p:nvSpPr>
        <p:spPr>
          <a:xfrm>
            <a:off x="5947696" y="864675"/>
            <a:ext cx="229283" cy="229283"/>
          </a:xfrm>
          <a:prstGeom prst="ellipse">
            <a:avLst/>
          </a:prstGeom>
          <a:solidFill>
            <a:srgbClr val="4A5C66"/>
          </a:solidFill>
          <a:ln w="12700">
            <a:solidFill>
              <a:srgbClr val="80BA24"/>
            </a:solidFill>
            <a:prstDash val="solid"/>
          </a:ln>
        </p:spPr>
        <p:txBody>
          <a:bodyPr/>
          <a:lstStyle/>
          <a:p>
            <a:endParaRPr lang="de-DE" sz="1736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FC5E7C59-C942-5471-0EC4-7FE400418549}"/>
              </a:ext>
            </a:extLst>
          </p:cNvPr>
          <p:cNvSpPr txBox="1"/>
          <p:nvPr/>
        </p:nvSpPr>
        <p:spPr>
          <a:xfrm>
            <a:off x="5947696" y="864675"/>
            <a:ext cx="229283" cy="2292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68" dirty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3C088216-E256-F5BD-3C2B-4CC18D68D743}"/>
              </a:ext>
            </a:extLst>
          </p:cNvPr>
          <p:cNvSpPr txBox="1"/>
          <p:nvPr/>
        </p:nvSpPr>
        <p:spPr>
          <a:xfrm>
            <a:off x="6265164" y="838220"/>
            <a:ext cx="2284008" cy="282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6" b="1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Eigenschaften und Verhalten</a:t>
            </a:r>
            <a:endParaRPr lang="en-US" sz="1206" dirty="0">
              <a:solidFill>
                <a:srgbClr val="4A5C66"/>
              </a:solidFill>
            </a:endParaRPr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AA3BA993-D370-BAA2-AEA4-4D086B11ACA6}"/>
              </a:ext>
            </a:extLst>
          </p:cNvPr>
          <p:cNvSpPr txBox="1"/>
          <p:nvPr/>
        </p:nvSpPr>
        <p:spPr>
          <a:xfrm>
            <a:off x="5991789" y="1173325"/>
            <a:ext cx="2557383" cy="1190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46971" indent="-146971">
              <a:spcAft>
                <a:spcPts val="289"/>
              </a:spcAft>
              <a:buSzPct val="100000"/>
              <a:buChar char="•"/>
            </a:pPr>
            <a:r>
              <a:rPr lang="en-US" sz="916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Erste Abschlussarbeit, unsicher bei Formalien</a:t>
            </a:r>
            <a:endParaRPr lang="en-US" sz="916" dirty="0">
              <a:solidFill>
                <a:srgbClr val="2F3E46"/>
              </a:solidFill>
            </a:endParaRPr>
          </a:p>
          <a:p>
            <a:pPr marL="146971" indent="-146971">
              <a:spcAft>
                <a:spcPts val="289"/>
              </a:spcAft>
              <a:buSzPct val="100000"/>
              <a:buChar char="•"/>
            </a:pPr>
            <a:r>
              <a:rPr lang="en-US" sz="916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Digital-native, erwartet App-Komfort</a:t>
            </a:r>
            <a:endParaRPr lang="en-US" sz="916" dirty="0">
              <a:solidFill>
                <a:srgbClr val="2F3E46"/>
              </a:solidFill>
            </a:endParaRPr>
          </a:p>
          <a:p>
            <a:pPr marL="146971" indent="-146971">
              <a:spcAft>
                <a:spcPts val="289"/>
              </a:spcAft>
              <a:buSzPct val="100000"/>
              <a:buChar char="•"/>
            </a:pPr>
            <a:r>
              <a:rPr lang="en-US" sz="916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knapp, reagiert auf Erinnerungen</a:t>
            </a:r>
            <a:endParaRPr lang="en-US" sz="916" dirty="0">
              <a:solidFill>
                <a:srgbClr val="2F3E46"/>
              </a:solidFill>
            </a:endParaRPr>
          </a:p>
          <a:p>
            <a:pPr marL="146971" indent="-146971">
              <a:spcAft>
                <a:spcPts val="289"/>
              </a:spcAft>
              <a:buSzPct val="100000"/>
              <a:buChar char="•"/>
            </a:pPr>
            <a:r>
              <a:rPr lang="en-US" sz="916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Volleyball, Serien, wenig Geduld mit Papier</a:t>
            </a:r>
            <a:endParaRPr lang="en-US" sz="916" dirty="0">
              <a:solidFill>
                <a:srgbClr val="2F3E46"/>
              </a:solidFill>
            </a:endParaRPr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79CAAE80-5CA2-988D-32C0-B6C5E9EDC6BE}"/>
              </a:ext>
            </a:extLst>
          </p:cNvPr>
          <p:cNvSpPr/>
          <p:nvPr/>
        </p:nvSpPr>
        <p:spPr>
          <a:xfrm>
            <a:off x="3213941" y="2496109"/>
            <a:ext cx="229283" cy="229283"/>
          </a:xfrm>
          <a:prstGeom prst="ellipse">
            <a:avLst/>
          </a:prstGeom>
          <a:solidFill>
            <a:srgbClr val="4A5C66"/>
          </a:solidFill>
          <a:ln w="12700">
            <a:solidFill>
              <a:srgbClr val="80BA24"/>
            </a:solidFill>
            <a:prstDash val="solid"/>
          </a:ln>
        </p:spPr>
        <p:txBody>
          <a:bodyPr/>
          <a:lstStyle/>
          <a:p>
            <a:endParaRPr lang="de-DE" sz="1736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F73ECFD9-3FFD-D0D2-0339-0DDE9B894868}"/>
              </a:ext>
            </a:extLst>
          </p:cNvPr>
          <p:cNvSpPr txBox="1"/>
          <p:nvPr/>
        </p:nvSpPr>
        <p:spPr>
          <a:xfrm>
            <a:off x="3213941" y="2496109"/>
            <a:ext cx="229283" cy="2292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68" dirty="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5AB03700-C817-F7FC-396C-391774AC73EE}"/>
              </a:ext>
            </a:extLst>
          </p:cNvPr>
          <p:cNvSpPr txBox="1"/>
          <p:nvPr/>
        </p:nvSpPr>
        <p:spPr>
          <a:xfrm>
            <a:off x="3531410" y="2469654"/>
            <a:ext cx="2284008" cy="282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6" b="1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Frustrationen</a:t>
            </a:r>
            <a:endParaRPr lang="en-US" sz="1206" dirty="0">
              <a:solidFill>
                <a:srgbClr val="4A5C66"/>
              </a:solidFill>
            </a:endParaRPr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6A4B926B-7282-BF9B-0157-BB21AC5188E2}"/>
              </a:ext>
            </a:extLst>
          </p:cNvPr>
          <p:cNvSpPr txBox="1"/>
          <p:nvPr/>
        </p:nvSpPr>
        <p:spPr>
          <a:xfrm>
            <a:off x="3258035" y="2804759"/>
            <a:ext cx="2557383" cy="1190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46971" indent="-146971">
              <a:spcAft>
                <a:spcPts val="289"/>
              </a:spcAft>
              <a:buSzPct val="100000"/>
              <a:buChar char="•"/>
            </a:pPr>
            <a:r>
              <a:rPr lang="en-US" sz="916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ausdrucken, unterschreiben, scannen, mailen</a:t>
            </a:r>
            <a:endParaRPr lang="en-US" sz="916" dirty="0">
              <a:solidFill>
                <a:srgbClr val="2F3E46"/>
              </a:solidFill>
            </a:endParaRPr>
          </a:p>
          <a:p>
            <a:pPr marL="146971" indent="-146971">
              <a:spcAft>
                <a:spcPts val="289"/>
              </a:spcAft>
              <a:buSzPct val="100000"/>
              <a:buChar char="•"/>
            </a:pPr>
            <a:r>
              <a:rPr lang="en-US" sz="916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Wochenlang keine Rückmeldung zum Antrag</a:t>
            </a:r>
            <a:endParaRPr lang="en-US" sz="916" dirty="0">
              <a:solidFill>
                <a:srgbClr val="2F3E46"/>
              </a:solidFill>
            </a:endParaRPr>
          </a:p>
          <a:p>
            <a:pPr marL="146971" indent="-146971">
              <a:spcAft>
                <a:spcPts val="289"/>
              </a:spcAft>
              <a:buSzPct val="100000"/>
              <a:buChar char="•"/>
            </a:pPr>
            <a:r>
              <a:rPr lang="en-US" sz="916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Unsicher, ob alles vollständig ist</a:t>
            </a:r>
            <a:endParaRPr lang="en-US" sz="916" dirty="0">
              <a:solidFill>
                <a:srgbClr val="2F3E46"/>
              </a:solidFill>
            </a:endParaRPr>
          </a:p>
          <a:p>
            <a:pPr marL="146971" indent="-146971">
              <a:spcAft>
                <a:spcPts val="289"/>
              </a:spcAft>
              <a:buSzPct val="100000"/>
              <a:buChar char="•"/>
            </a:pPr>
            <a:r>
              <a:rPr lang="de-DE" sz="916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Dekanat / Prüfungsamt nur zu Öffnungszeiten erreichbar</a:t>
            </a:r>
            <a:endParaRPr lang="en-US" sz="916" dirty="0">
              <a:solidFill>
                <a:srgbClr val="2F3E46"/>
              </a:solidFill>
            </a:endParaRPr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143A7F7B-2A39-0C39-8A60-CBAFFDDB5C00}"/>
              </a:ext>
            </a:extLst>
          </p:cNvPr>
          <p:cNvSpPr/>
          <p:nvPr/>
        </p:nvSpPr>
        <p:spPr>
          <a:xfrm>
            <a:off x="5947696" y="2496109"/>
            <a:ext cx="229283" cy="229283"/>
          </a:xfrm>
          <a:prstGeom prst="ellipse">
            <a:avLst/>
          </a:prstGeom>
          <a:solidFill>
            <a:srgbClr val="4A5C66"/>
          </a:solidFill>
          <a:ln w="12700">
            <a:solidFill>
              <a:srgbClr val="80BA24"/>
            </a:solidFill>
            <a:prstDash val="solid"/>
          </a:ln>
        </p:spPr>
        <p:txBody>
          <a:bodyPr/>
          <a:lstStyle/>
          <a:p>
            <a:endParaRPr lang="de-DE" sz="1736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AFF538F8-7FB2-A2A4-1CE6-67151E73996F}"/>
              </a:ext>
            </a:extLst>
          </p:cNvPr>
          <p:cNvSpPr txBox="1"/>
          <p:nvPr/>
        </p:nvSpPr>
        <p:spPr>
          <a:xfrm>
            <a:off x="5947696" y="2496109"/>
            <a:ext cx="229283" cy="2292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68" dirty="0"/>
          </a:p>
        </p:txBody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315185CB-8C06-9C05-0F54-E2FE9C661ED1}"/>
              </a:ext>
            </a:extLst>
          </p:cNvPr>
          <p:cNvSpPr txBox="1"/>
          <p:nvPr/>
        </p:nvSpPr>
        <p:spPr>
          <a:xfrm>
            <a:off x="6265164" y="2469654"/>
            <a:ext cx="2284008" cy="282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6" b="1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Nutzungsüberwindung</a:t>
            </a:r>
            <a:endParaRPr lang="en-US" sz="1206" dirty="0">
              <a:solidFill>
                <a:srgbClr val="4A5C66"/>
              </a:solidFill>
            </a:endParaRPr>
          </a:p>
        </p:txBody>
      </p:sp>
      <p:sp>
        <p:nvSpPr>
          <p:cNvPr id="27" name="Text 23">
            <a:extLst>
              <a:ext uri="{FF2B5EF4-FFF2-40B4-BE49-F238E27FC236}">
                <a16:creationId xmlns:a16="http://schemas.microsoft.com/office/drawing/2014/main" id="{2048968F-6512-55C8-D288-0D240546BAA9}"/>
              </a:ext>
            </a:extLst>
          </p:cNvPr>
          <p:cNvSpPr txBox="1"/>
          <p:nvPr/>
        </p:nvSpPr>
        <p:spPr>
          <a:xfrm>
            <a:off x="5991789" y="2804759"/>
            <a:ext cx="2557383" cy="1190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46971" indent="-146971">
              <a:spcAft>
                <a:spcPts val="289"/>
              </a:spcAft>
              <a:buSzPct val="100000"/>
              <a:buChar char="•"/>
            </a:pPr>
            <a:r>
              <a:rPr lang="en-US" sz="916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Schritt-für-Schritt-Führung mit Pflichtfeldprüfung</a:t>
            </a:r>
            <a:endParaRPr lang="en-US" sz="916" dirty="0">
              <a:solidFill>
                <a:srgbClr val="2F3E46"/>
              </a:solidFill>
            </a:endParaRPr>
          </a:p>
          <a:p>
            <a:pPr marL="146971" indent="-146971">
              <a:spcAft>
                <a:spcPts val="289"/>
              </a:spcAft>
              <a:buSzPct val="100000"/>
              <a:buChar char="•"/>
            </a:pPr>
            <a:r>
              <a:rPr lang="en-US" sz="916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mit THM-Konto, keine neue Registrierung</a:t>
            </a:r>
            <a:endParaRPr lang="en-US" sz="916" dirty="0">
              <a:solidFill>
                <a:srgbClr val="2F3E46"/>
              </a:solidFill>
            </a:endParaRPr>
          </a:p>
          <a:p>
            <a:pPr marL="146971" indent="-146971">
              <a:spcAft>
                <a:spcPts val="289"/>
              </a:spcAft>
              <a:buSzPct val="100000"/>
              <a:buChar char="•"/>
            </a:pPr>
            <a:r>
              <a:rPr lang="en-US" sz="916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Push- oder Mail-Benachrichtigung bei Statuswechsel</a:t>
            </a:r>
            <a:endParaRPr lang="en-US" sz="916" dirty="0">
              <a:solidFill>
                <a:srgbClr val="2F3E46"/>
              </a:solidFill>
            </a:endParaRPr>
          </a:p>
          <a:p>
            <a:pPr marL="146971" indent="-146971">
              <a:spcAft>
                <a:spcPts val="289"/>
              </a:spcAft>
              <a:buSzPct val="100000"/>
              <a:buChar char="•"/>
            </a:pPr>
            <a:r>
              <a:rPr lang="en-US" sz="916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 genauso komfortabel wie am Desktop</a:t>
            </a:r>
            <a:endParaRPr lang="en-US" sz="916" dirty="0">
              <a:solidFill>
                <a:srgbClr val="2F3E46"/>
              </a:solidFill>
            </a:endParaRPr>
          </a:p>
        </p:txBody>
      </p:sp>
      <p:sp>
        <p:nvSpPr>
          <p:cNvPr id="28" name="Text 24">
            <a:extLst>
              <a:ext uri="{FF2B5EF4-FFF2-40B4-BE49-F238E27FC236}">
                <a16:creationId xmlns:a16="http://schemas.microsoft.com/office/drawing/2014/main" id="{EF74FCA4-F3F8-F56F-3489-C7A5AAE481AF}"/>
              </a:ext>
            </a:extLst>
          </p:cNvPr>
          <p:cNvSpPr txBox="1"/>
          <p:nvPr/>
        </p:nvSpPr>
        <p:spPr>
          <a:xfrm>
            <a:off x="3213942" y="4162818"/>
            <a:ext cx="970042" cy="220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68" b="1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Technikaffinität</a:t>
            </a:r>
            <a:endParaRPr lang="en-US" sz="868" dirty="0">
              <a:solidFill>
                <a:srgbClr val="5B6A70"/>
              </a:solidFill>
            </a:endParaRPr>
          </a:p>
        </p:txBody>
      </p:sp>
      <p:sp>
        <p:nvSpPr>
          <p:cNvPr id="29" name="Shape 25">
            <a:extLst>
              <a:ext uri="{FF2B5EF4-FFF2-40B4-BE49-F238E27FC236}">
                <a16:creationId xmlns:a16="http://schemas.microsoft.com/office/drawing/2014/main" id="{A0187E68-DCA1-BCC5-65D2-57FD792ECD2B}"/>
              </a:ext>
            </a:extLst>
          </p:cNvPr>
          <p:cNvSpPr/>
          <p:nvPr/>
        </p:nvSpPr>
        <p:spPr>
          <a:xfrm>
            <a:off x="4034680" y="4206911"/>
            <a:ext cx="132278" cy="132278"/>
          </a:xfrm>
          <a:prstGeom prst="ellipse">
            <a:avLst/>
          </a:prstGeom>
          <a:solidFill>
            <a:srgbClr val="4A5C66"/>
          </a:solidFill>
          <a:ln w="12700">
            <a:solidFill>
              <a:srgbClr val="80BA24"/>
            </a:solidFill>
            <a:prstDash val="solid"/>
          </a:ln>
        </p:spPr>
        <p:txBody>
          <a:bodyPr/>
          <a:lstStyle/>
          <a:p>
            <a:endParaRPr lang="de-DE" sz="1736"/>
          </a:p>
        </p:txBody>
      </p:sp>
      <p:sp>
        <p:nvSpPr>
          <p:cNvPr id="30" name="Shape 26">
            <a:extLst>
              <a:ext uri="{FF2B5EF4-FFF2-40B4-BE49-F238E27FC236}">
                <a16:creationId xmlns:a16="http://schemas.microsoft.com/office/drawing/2014/main" id="{3B2E98E0-1CBC-DC8E-3DE1-CF6D34EDEF87}"/>
              </a:ext>
            </a:extLst>
          </p:cNvPr>
          <p:cNvSpPr/>
          <p:nvPr/>
        </p:nvSpPr>
        <p:spPr>
          <a:xfrm>
            <a:off x="4202233" y="4206911"/>
            <a:ext cx="132278" cy="132278"/>
          </a:xfrm>
          <a:prstGeom prst="ellipse">
            <a:avLst/>
          </a:prstGeom>
          <a:solidFill>
            <a:srgbClr val="4A5C66"/>
          </a:solidFill>
          <a:ln w="12700">
            <a:solidFill>
              <a:srgbClr val="80BA24"/>
            </a:solidFill>
            <a:prstDash val="solid"/>
          </a:ln>
        </p:spPr>
        <p:txBody>
          <a:bodyPr/>
          <a:lstStyle/>
          <a:p>
            <a:endParaRPr lang="de-DE" sz="1736"/>
          </a:p>
        </p:txBody>
      </p:sp>
      <p:sp>
        <p:nvSpPr>
          <p:cNvPr id="31" name="Shape 27">
            <a:extLst>
              <a:ext uri="{FF2B5EF4-FFF2-40B4-BE49-F238E27FC236}">
                <a16:creationId xmlns:a16="http://schemas.microsoft.com/office/drawing/2014/main" id="{7C64BA7A-478E-70D5-848F-3C93B61FB464}"/>
              </a:ext>
            </a:extLst>
          </p:cNvPr>
          <p:cNvSpPr/>
          <p:nvPr/>
        </p:nvSpPr>
        <p:spPr>
          <a:xfrm>
            <a:off x="4369785" y="4206911"/>
            <a:ext cx="132278" cy="132278"/>
          </a:xfrm>
          <a:prstGeom prst="ellipse">
            <a:avLst/>
          </a:prstGeom>
          <a:solidFill>
            <a:srgbClr val="4A5C66"/>
          </a:solidFill>
          <a:ln w="12700">
            <a:solidFill>
              <a:srgbClr val="80BA24"/>
            </a:solidFill>
            <a:prstDash val="solid"/>
          </a:ln>
        </p:spPr>
        <p:txBody>
          <a:bodyPr/>
          <a:lstStyle/>
          <a:p>
            <a:endParaRPr lang="de-DE" sz="1736"/>
          </a:p>
        </p:txBody>
      </p:sp>
      <p:sp>
        <p:nvSpPr>
          <p:cNvPr id="32" name="Shape 28">
            <a:extLst>
              <a:ext uri="{FF2B5EF4-FFF2-40B4-BE49-F238E27FC236}">
                <a16:creationId xmlns:a16="http://schemas.microsoft.com/office/drawing/2014/main" id="{0335EB75-814F-4758-1F23-E95011621BD2}"/>
              </a:ext>
            </a:extLst>
          </p:cNvPr>
          <p:cNvSpPr/>
          <p:nvPr/>
        </p:nvSpPr>
        <p:spPr>
          <a:xfrm>
            <a:off x="4537338" y="4206911"/>
            <a:ext cx="132278" cy="132278"/>
          </a:xfrm>
          <a:prstGeom prst="ellipse">
            <a:avLst/>
          </a:prstGeom>
          <a:solidFill>
            <a:srgbClr val="4A5C66"/>
          </a:solidFill>
          <a:ln w="12700">
            <a:solidFill>
              <a:srgbClr val="80BA24"/>
            </a:solidFill>
            <a:prstDash val="solid"/>
          </a:ln>
        </p:spPr>
        <p:txBody>
          <a:bodyPr/>
          <a:lstStyle/>
          <a:p>
            <a:endParaRPr lang="de-DE" sz="1736"/>
          </a:p>
        </p:txBody>
      </p:sp>
      <p:sp>
        <p:nvSpPr>
          <p:cNvPr id="33" name="Shape 29">
            <a:extLst>
              <a:ext uri="{FF2B5EF4-FFF2-40B4-BE49-F238E27FC236}">
                <a16:creationId xmlns:a16="http://schemas.microsoft.com/office/drawing/2014/main" id="{ABA2C93A-27E0-6A26-2A2D-F289BC39D3D3}"/>
              </a:ext>
            </a:extLst>
          </p:cNvPr>
          <p:cNvSpPr/>
          <p:nvPr/>
        </p:nvSpPr>
        <p:spPr>
          <a:xfrm>
            <a:off x="4704891" y="4206911"/>
            <a:ext cx="132278" cy="132278"/>
          </a:xfrm>
          <a:prstGeom prst="ellipse">
            <a:avLst/>
          </a:prstGeom>
          <a:solidFill>
            <a:srgbClr val="D5E3B5"/>
          </a:solidFill>
          <a:ln w="12700">
            <a:solidFill>
              <a:srgbClr val="D5E3B5"/>
            </a:solidFill>
            <a:prstDash val="solid"/>
          </a:ln>
        </p:spPr>
        <p:txBody>
          <a:bodyPr/>
          <a:lstStyle/>
          <a:p>
            <a:endParaRPr lang="de-DE" sz="1736"/>
          </a:p>
        </p:txBody>
      </p:sp>
      <p:sp>
        <p:nvSpPr>
          <p:cNvPr id="34" name="Text 30">
            <a:extLst>
              <a:ext uri="{FF2B5EF4-FFF2-40B4-BE49-F238E27FC236}">
                <a16:creationId xmlns:a16="http://schemas.microsoft.com/office/drawing/2014/main" id="{1EE8F916-1FFA-E899-56A7-634D40539D2F}"/>
              </a:ext>
            </a:extLst>
          </p:cNvPr>
          <p:cNvSpPr txBox="1"/>
          <p:nvPr/>
        </p:nvSpPr>
        <p:spPr>
          <a:xfrm>
            <a:off x="5021747" y="4162818"/>
            <a:ext cx="970042" cy="220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68" b="1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Prozesskenntnis</a:t>
            </a:r>
            <a:endParaRPr lang="en-US" sz="868" dirty="0">
              <a:solidFill>
                <a:srgbClr val="5B6A70"/>
              </a:solidFill>
            </a:endParaRPr>
          </a:p>
        </p:txBody>
      </p:sp>
      <p:sp>
        <p:nvSpPr>
          <p:cNvPr id="35" name="Shape 31">
            <a:extLst>
              <a:ext uri="{FF2B5EF4-FFF2-40B4-BE49-F238E27FC236}">
                <a16:creationId xmlns:a16="http://schemas.microsoft.com/office/drawing/2014/main" id="{6124BE91-625F-304F-E9F8-B25041CE3DED}"/>
              </a:ext>
            </a:extLst>
          </p:cNvPr>
          <p:cNvSpPr/>
          <p:nvPr/>
        </p:nvSpPr>
        <p:spPr>
          <a:xfrm>
            <a:off x="5863122" y="4206911"/>
            <a:ext cx="132278" cy="132278"/>
          </a:xfrm>
          <a:prstGeom prst="ellipse">
            <a:avLst/>
          </a:prstGeom>
          <a:solidFill>
            <a:srgbClr val="4A5C66"/>
          </a:solidFill>
          <a:ln w="12700">
            <a:solidFill>
              <a:srgbClr val="80BA24"/>
            </a:solidFill>
            <a:prstDash val="solid"/>
          </a:ln>
        </p:spPr>
        <p:txBody>
          <a:bodyPr/>
          <a:lstStyle/>
          <a:p>
            <a:endParaRPr lang="de-DE" sz="1736"/>
          </a:p>
        </p:txBody>
      </p:sp>
      <p:sp>
        <p:nvSpPr>
          <p:cNvPr id="36" name="Shape 32">
            <a:extLst>
              <a:ext uri="{FF2B5EF4-FFF2-40B4-BE49-F238E27FC236}">
                <a16:creationId xmlns:a16="http://schemas.microsoft.com/office/drawing/2014/main" id="{BC93FBF0-1857-1529-08E1-B21626138B86}"/>
              </a:ext>
            </a:extLst>
          </p:cNvPr>
          <p:cNvSpPr/>
          <p:nvPr/>
        </p:nvSpPr>
        <p:spPr>
          <a:xfrm>
            <a:off x="6030675" y="4206911"/>
            <a:ext cx="132278" cy="132278"/>
          </a:xfrm>
          <a:prstGeom prst="ellipse">
            <a:avLst/>
          </a:prstGeom>
          <a:solidFill>
            <a:srgbClr val="D5E3B5"/>
          </a:solidFill>
          <a:ln w="12700">
            <a:solidFill>
              <a:srgbClr val="D5E3B5"/>
            </a:solidFill>
            <a:prstDash val="solid"/>
          </a:ln>
        </p:spPr>
        <p:txBody>
          <a:bodyPr/>
          <a:lstStyle/>
          <a:p>
            <a:endParaRPr lang="de-DE" sz="1736"/>
          </a:p>
        </p:txBody>
      </p:sp>
      <p:sp>
        <p:nvSpPr>
          <p:cNvPr id="37" name="Shape 33">
            <a:extLst>
              <a:ext uri="{FF2B5EF4-FFF2-40B4-BE49-F238E27FC236}">
                <a16:creationId xmlns:a16="http://schemas.microsoft.com/office/drawing/2014/main" id="{E5F391C8-BBBB-00E7-E970-B26A40043B37}"/>
              </a:ext>
            </a:extLst>
          </p:cNvPr>
          <p:cNvSpPr/>
          <p:nvPr/>
        </p:nvSpPr>
        <p:spPr>
          <a:xfrm>
            <a:off x="6198229" y="4206911"/>
            <a:ext cx="132278" cy="132278"/>
          </a:xfrm>
          <a:prstGeom prst="ellipse">
            <a:avLst/>
          </a:prstGeom>
          <a:solidFill>
            <a:srgbClr val="D5E3B5"/>
          </a:solidFill>
          <a:ln w="12700">
            <a:solidFill>
              <a:srgbClr val="D5E3B5"/>
            </a:solidFill>
            <a:prstDash val="solid"/>
          </a:ln>
        </p:spPr>
        <p:txBody>
          <a:bodyPr/>
          <a:lstStyle/>
          <a:p>
            <a:endParaRPr lang="de-DE" sz="1736"/>
          </a:p>
        </p:txBody>
      </p:sp>
      <p:sp>
        <p:nvSpPr>
          <p:cNvPr id="38" name="Shape 34">
            <a:extLst>
              <a:ext uri="{FF2B5EF4-FFF2-40B4-BE49-F238E27FC236}">
                <a16:creationId xmlns:a16="http://schemas.microsoft.com/office/drawing/2014/main" id="{5A770C47-A1FF-FB90-9BFD-FC81D888D9B2}"/>
              </a:ext>
            </a:extLst>
          </p:cNvPr>
          <p:cNvSpPr/>
          <p:nvPr/>
        </p:nvSpPr>
        <p:spPr>
          <a:xfrm>
            <a:off x="6365780" y="4206911"/>
            <a:ext cx="132278" cy="132278"/>
          </a:xfrm>
          <a:prstGeom prst="ellipse">
            <a:avLst/>
          </a:prstGeom>
          <a:solidFill>
            <a:srgbClr val="D5E3B5"/>
          </a:solidFill>
          <a:ln w="12700">
            <a:solidFill>
              <a:srgbClr val="D5E3B5"/>
            </a:solidFill>
            <a:prstDash val="solid"/>
          </a:ln>
        </p:spPr>
        <p:txBody>
          <a:bodyPr/>
          <a:lstStyle/>
          <a:p>
            <a:endParaRPr lang="de-DE" sz="1736"/>
          </a:p>
        </p:txBody>
      </p:sp>
      <p:sp>
        <p:nvSpPr>
          <p:cNvPr id="39" name="Shape 35">
            <a:extLst>
              <a:ext uri="{FF2B5EF4-FFF2-40B4-BE49-F238E27FC236}">
                <a16:creationId xmlns:a16="http://schemas.microsoft.com/office/drawing/2014/main" id="{F75EB884-33FF-4F43-2EB4-D9AEBCACFE0F}"/>
              </a:ext>
            </a:extLst>
          </p:cNvPr>
          <p:cNvSpPr/>
          <p:nvPr/>
        </p:nvSpPr>
        <p:spPr>
          <a:xfrm>
            <a:off x="6533333" y="4206911"/>
            <a:ext cx="132278" cy="132278"/>
          </a:xfrm>
          <a:prstGeom prst="ellipse">
            <a:avLst/>
          </a:prstGeom>
          <a:solidFill>
            <a:srgbClr val="D5E3B5"/>
          </a:solidFill>
          <a:ln w="12700">
            <a:solidFill>
              <a:srgbClr val="D5E3B5"/>
            </a:solidFill>
            <a:prstDash val="solid"/>
          </a:ln>
        </p:spPr>
        <p:txBody>
          <a:bodyPr/>
          <a:lstStyle/>
          <a:p>
            <a:endParaRPr lang="de-DE" sz="1736"/>
          </a:p>
        </p:txBody>
      </p:sp>
      <p:sp>
        <p:nvSpPr>
          <p:cNvPr id="40" name="Text 36">
            <a:extLst>
              <a:ext uri="{FF2B5EF4-FFF2-40B4-BE49-F238E27FC236}">
                <a16:creationId xmlns:a16="http://schemas.microsoft.com/office/drawing/2014/main" id="{2AFD434C-C45B-D26B-0AE4-AABFFDA5CE9C}"/>
              </a:ext>
            </a:extLst>
          </p:cNvPr>
          <p:cNvSpPr txBox="1"/>
          <p:nvPr/>
        </p:nvSpPr>
        <p:spPr>
          <a:xfrm>
            <a:off x="6829552" y="4162818"/>
            <a:ext cx="970042" cy="220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68" b="1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Zeitbudget</a:t>
            </a:r>
            <a:endParaRPr lang="en-US" sz="868" dirty="0">
              <a:solidFill>
                <a:srgbClr val="5B6A70"/>
              </a:solidFill>
            </a:endParaRPr>
          </a:p>
        </p:txBody>
      </p:sp>
      <p:sp>
        <p:nvSpPr>
          <p:cNvPr id="41" name="Shape 37">
            <a:extLst>
              <a:ext uri="{FF2B5EF4-FFF2-40B4-BE49-F238E27FC236}">
                <a16:creationId xmlns:a16="http://schemas.microsoft.com/office/drawing/2014/main" id="{9050052E-1307-4462-6B91-4F901B9B9E73}"/>
              </a:ext>
            </a:extLst>
          </p:cNvPr>
          <p:cNvSpPr/>
          <p:nvPr/>
        </p:nvSpPr>
        <p:spPr>
          <a:xfrm>
            <a:off x="7426452" y="4206911"/>
            <a:ext cx="132278" cy="132278"/>
          </a:xfrm>
          <a:prstGeom prst="ellipse">
            <a:avLst/>
          </a:prstGeom>
          <a:solidFill>
            <a:srgbClr val="4A5C66"/>
          </a:solidFill>
          <a:ln w="12700">
            <a:solidFill>
              <a:srgbClr val="80BA24"/>
            </a:solidFill>
            <a:prstDash val="solid"/>
          </a:ln>
        </p:spPr>
        <p:txBody>
          <a:bodyPr/>
          <a:lstStyle/>
          <a:p>
            <a:endParaRPr lang="de-DE" sz="1736"/>
          </a:p>
        </p:txBody>
      </p:sp>
      <p:sp>
        <p:nvSpPr>
          <p:cNvPr id="42" name="Shape 38">
            <a:extLst>
              <a:ext uri="{FF2B5EF4-FFF2-40B4-BE49-F238E27FC236}">
                <a16:creationId xmlns:a16="http://schemas.microsoft.com/office/drawing/2014/main" id="{928D2EB9-D521-CCFA-97EF-2F7756E14BD5}"/>
              </a:ext>
            </a:extLst>
          </p:cNvPr>
          <p:cNvSpPr/>
          <p:nvPr/>
        </p:nvSpPr>
        <p:spPr>
          <a:xfrm>
            <a:off x="7594005" y="4206911"/>
            <a:ext cx="132278" cy="132278"/>
          </a:xfrm>
          <a:prstGeom prst="ellipse">
            <a:avLst/>
          </a:prstGeom>
          <a:solidFill>
            <a:srgbClr val="4A5C66"/>
          </a:solidFill>
          <a:ln w="12700">
            <a:solidFill>
              <a:srgbClr val="80BA24"/>
            </a:solidFill>
            <a:prstDash val="solid"/>
          </a:ln>
        </p:spPr>
        <p:txBody>
          <a:bodyPr/>
          <a:lstStyle/>
          <a:p>
            <a:endParaRPr lang="de-DE" sz="1736"/>
          </a:p>
        </p:txBody>
      </p:sp>
      <p:sp>
        <p:nvSpPr>
          <p:cNvPr id="43" name="Shape 39">
            <a:extLst>
              <a:ext uri="{FF2B5EF4-FFF2-40B4-BE49-F238E27FC236}">
                <a16:creationId xmlns:a16="http://schemas.microsoft.com/office/drawing/2014/main" id="{5CFFD5DE-F29E-0602-655F-66E5863C58F9}"/>
              </a:ext>
            </a:extLst>
          </p:cNvPr>
          <p:cNvSpPr/>
          <p:nvPr/>
        </p:nvSpPr>
        <p:spPr>
          <a:xfrm>
            <a:off x="7761558" y="4206911"/>
            <a:ext cx="132278" cy="132278"/>
          </a:xfrm>
          <a:prstGeom prst="ellipse">
            <a:avLst/>
          </a:prstGeom>
          <a:solidFill>
            <a:srgbClr val="4A5C66"/>
          </a:solidFill>
          <a:ln w="12700">
            <a:solidFill>
              <a:srgbClr val="80BA24"/>
            </a:solidFill>
            <a:prstDash val="solid"/>
          </a:ln>
        </p:spPr>
        <p:txBody>
          <a:bodyPr/>
          <a:lstStyle/>
          <a:p>
            <a:endParaRPr lang="de-DE" sz="1736"/>
          </a:p>
        </p:txBody>
      </p:sp>
      <p:sp>
        <p:nvSpPr>
          <p:cNvPr id="44" name="Shape 40">
            <a:extLst>
              <a:ext uri="{FF2B5EF4-FFF2-40B4-BE49-F238E27FC236}">
                <a16:creationId xmlns:a16="http://schemas.microsoft.com/office/drawing/2014/main" id="{76654B32-F2B5-8480-86CC-3A37EF836CEB}"/>
              </a:ext>
            </a:extLst>
          </p:cNvPr>
          <p:cNvSpPr/>
          <p:nvPr/>
        </p:nvSpPr>
        <p:spPr>
          <a:xfrm>
            <a:off x="7929111" y="4206911"/>
            <a:ext cx="132278" cy="132278"/>
          </a:xfrm>
          <a:prstGeom prst="ellipse">
            <a:avLst/>
          </a:prstGeom>
          <a:solidFill>
            <a:srgbClr val="D5E3B5"/>
          </a:solidFill>
          <a:ln w="12700">
            <a:solidFill>
              <a:srgbClr val="D5E3B5"/>
            </a:solidFill>
            <a:prstDash val="solid"/>
          </a:ln>
        </p:spPr>
        <p:txBody>
          <a:bodyPr/>
          <a:lstStyle/>
          <a:p>
            <a:endParaRPr lang="de-DE" sz="1736"/>
          </a:p>
        </p:txBody>
      </p:sp>
      <p:sp>
        <p:nvSpPr>
          <p:cNvPr id="45" name="Shape 41">
            <a:extLst>
              <a:ext uri="{FF2B5EF4-FFF2-40B4-BE49-F238E27FC236}">
                <a16:creationId xmlns:a16="http://schemas.microsoft.com/office/drawing/2014/main" id="{2E473973-530E-2213-6DFB-CDC63503D9BC}"/>
              </a:ext>
            </a:extLst>
          </p:cNvPr>
          <p:cNvSpPr/>
          <p:nvPr/>
        </p:nvSpPr>
        <p:spPr>
          <a:xfrm>
            <a:off x="8096662" y="4206911"/>
            <a:ext cx="132278" cy="132278"/>
          </a:xfrm>
          <a:prstGeom prst="ellipse">
            <a:avLst/>
          </a:prstGeom>
          <a:solidFill>
            <a:srgbClr val="D5E3B5"/>
          </a:solidFill>
          <a:ln w="12700">
            <a:solidFill>
              <a:srgbClr val="D5E3B5"/>
            </a:solidFill>
            <a:prstDash val="solid"/>
          </a:ln>
        </p:spPr>
        <p:txBody>
          <a:bodyPr/>
          <a:lstStyle/>
          <a:p>
            <a:endParaRPr lang="de-DE" sz="1736"/>
          </a:p>
        </p:txBody>
      </p:sp>
      <p:sp>
        <p:nvSpPr>
          <p:cNvPr id="46" name="Text 42">
            <a:extLst>
              <a:ext uri="{FF2B5EF4-FFF2-40B4-BE49-F238E27FC236}">
                <a16:creationId xmlns:a16="http://schemas.microsoft.com/office/drawing/2014/main" id="{3216E045-6772-DBD8-A062-4F87951558D8}"/>
              </a:ext>
            </a:extLst>
          </p:cNvPr>
          <p:cNvSpPr txBox="1"/>
          <p:nvPr/>
        </p:nvSpPr>
        <p:spPr>
          <a:xfrm>
            <a:off x="3213942" y="4542016"/>
            <a:ext cx="5335230" cy="2204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en-US" sz="723" dirty="0">
                <a:solidFill>
                  <a:srgbClr val="9AA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Engineering – Praxisteil  ·  Personas  ·  Skala 1 = niedrig, 5 = hoch</a:t>
            </a:r>
            <a:endParaRPr lang="en-US" sz="723" dirty="0">
              <a:solidFill>
                <a:srgbClr val="9AA9AE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80B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 7 · D2D · VERLÄNGERUNGSANTRAG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310896"/>
            <a:ext cx="6172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Interface: Bedienoberfläche (Wireframes, Smartphone)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55464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5B6A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37</a:t>
            </a:fld>
            <a:endParaRPr lang="en-US"/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C618B4DF-4004-FBC0-7313-3DDE7A0D14B8}"/>
              </a:ext>
            </a:extLst>
          </p:cNvPr>
          <p:cNvSpPr/>
          <p:nvPr/>
        </p:nvSpPr>
        <p:spPr>
          <a:xfrm>
            <a:off x="866204" y="838263"/>
            <a:ext cx="1985248" cy="3672709"/>
          </a:xfrm>
          <a:prstGeom prst="roundRect">
            <a:avLst>
              <a:gd name="adj" fmla="val 8333"/>
            </a:avLst>
          </a:prstGeom>
          <a:solidFill>
            <a:srgbClr val="E6EAE8"/>
          </a:solidFill>
          <a:ln w="25400">
            <a:solidFill>
              <a:srgbClr val="4A5C66"/>
            </a:solidFill>
            <a:prstDash val="solid"/>
          </a:ln>
        </p:spPr>
        <p:txBody>
          <a:bodyPr/>
          <a:lstStyle/>
          <a:p>
            <a:endParaRPr lang="de-DE" sz="1303"/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59430726-B039-D299-3872-53CE17766ED9}"/>
              </a:ext>
            </a:extLst>
          </p:cNvPr>
          <p:cNvSpPr/>
          <p:nvPr/>
        </p:nvSpPr>
        <p:spPr>
          <a:xfrm>
            <a:off x="998553" y="1102962"/>
            <a:ext cx="1720548" cy="3143310"/>
          </a:xfrm>
          <a:prstGeom prst="rect">
            <a:avLst/>
          </a:prstGeom>
          <a:solidFill>
            <a:srgbClr val="FFFFFF"/>
          </a:solidFill>
          <a:ln w="9525">
            <a:solidFill>
              <a:srgbClr val="9AA9AE"/>
            </a:solidFill>
            <a:prstDash val="solid"/>
          </a:ln>
        </p:spPr>
        <p:txBody>
          <a:bodyPr/>
          <a:lstStyle/>
          <a:p>
            <a:endParaRPr lang="de-DE" sz="1303"/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7091B3A1-8470-9DFA-CBC7-5F72EDB5A1DD}"/>
              </a:ext>
            </a:extLst>
          </p:cNvPr>
          <p:cNvSpPr txBox="1"/>
          <p:nvPr/>
        </p:nvSpPr>
        <p:spPr>
          <a:xfrm>
            <a:off x="1064729" y="1149285"/>
            <a:ext cx="1588199" cy="231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13" b="1" dirty="0">
                <a:solidFill>
                  <a:srgbClr val="2F3E46"/>
                </a:solidFill>
                <a:latin typeface="Calibri" panose="020F0502020204030204" pitchFamily="34" charset="0"/>
                <a:ea typeface="Cambria" pitchFamily="34" charset="-122"/>
                <a:cs typeface="Cambria" pitchFamily="34" charset="-120"/>
              </a:rPr>
              <a:t>Meine Abschlussarbeit</a:t>
            </a:r>
            <a:endParaRPr lang="en-US" sz="1013" dirty="0">
              <a:solidFill>
                <a:srgbClr val="2F3E46"/>
              </a:solidFill>
              <a:latin typeface="Calibri" panose="020F0502020204030204" pitchFamily="34" charset="0"/>
            </a:endParaRP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79A99453-0E50-C00B-0096-5CADF125AF84}"/>
              </a:ext>
            </a:extLst>
          </p:cNvPr>
          <p:cNvSpPr/>
          <p:nvPr/>
        </p:nvSpPr>
        <p:spPr>
          <a:xfrm>
            <a:off x="1064729" y="1433837"/>
            <a:ext cx="1588199" cy="251465"/>
          </a:xfrm>
          <a:prstGeom prst="rect">
            <a:avLst/>
          </a:prstGeom>
          <a:solidFill>
            <a:srgbClr val="FFFFFF"/>
          </a:solidFill>
          <a:ln w="9525">
            <a:solidFill>
              <a:srgbClr val="4A5C66"/>
            </a:solidFill>
            <a:prstDash val="solid"/>
          </a:ln>
        </p:spPr>
        <p:txBody>
          <a:bodyPr/>
          <a:lstStyle/>
          <a:p>
            <a:endParaRPr lang="de-DE" sz="1303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957BC648-E57F-4913-B61A-3A113C433F0E}"/>
              </a:ext>
            </a:extLst>
          </p:cNvPr>
          <p:cNvSpPr txBox="1"/>
          <p:nvPr/>
        </p:nvSpPr>
        <p:spPr>
          <a:xfrm>
            <a:off x="1117669" y="1433837"/>
            <a:ext cx="1482319" cy="251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24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Arbeit: Masterarbeit  ▾</a:t>
            </a:r>
            <a:endParaRPr lang="en-US" sz="724" dirty="0">
              <a:solidFill>
                <a:srgbClr val="2F3E46"/>
              </a:solidFill>
            </a:endParaRP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D028E1A8-3FFF-B6F1-E655-50A2BC89FBA0}"/>
              </a:ext>
            </a:extLst>
          </p:cNvPr>
          <p:cNvSpPr/>
          <p:nvPr/>
        </p:nvSpPr>
        <p:spPr>
          <a:xfrm>
            <a:off x="1064729" y="1764712"/>
            <a:ext cx="1588199" cy="224995"/>
          </a:xfrm>
          <a:prstGeom prst="rect">
            <a:avLst/>
          </a:prstGeom>
          <a:solidFill>
            <a:srgbClr val="FFFFFF"/>
          </a:solidFill>
          <a:ln w="9525">
            <a:solidFill>
              <a:srgbClr val="9AA9AE"/>
            </a:solidFill>
            <a:prstDash val="solid"/>
          </a:ln>
        </p:spPr>
        <p:txBody>
          <a:bodyPr/>
          <a:lstStyle/>
          <a:p>
            <a:endParaRPr lang="de-DE" sz="1303"/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4F31E5E1-E6E0-B340-1D87-551EA63DB97C}"/>
              </a:ext>
            </a:extLst>
          </p:cNvPr>
          <p:cNvSpPr txBox="1"/>
          <p:nvPr/>
        </p:nvSpPr>
        <p:spPr>
          <a:xfrm>
            <a:off x="1117669" y="1764712"/>
            <a:ext cx="1482319" cy="224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24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Thema: &lt;Thema&gt;</a:t>
            </a:r>
            <a:endParaRPr lang="en-US" sz="724" dirty="0">
              <a:solidFill>
                <a:srgbClr val="2F3E46"/>
              </a:solidFill>
            </a:endParaRP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5F62E5D2-1B4C-1BB4-1375-60EFE8D8A07F}"/>
              </a:ext>
            </a:extLst>
          </p:cNvPr>
          <p:cNvSpPr/>
          <p:nvPr/>
        </p:nvSpPr>
        <p:spPr>
          <a:xfrm>
            <a:off x="1064729" y="2062499"/>
            <a:ext cx="1588199" cy="224995"/>
          </a:xfrm>
          <a:prstGeom prst="rect">
            <a:avLst/>
          </a:prstGeom>
          <a:solidFill>
            <a:srgbClr val="FFFFFF"/>
          </a:solidFill>
          <a:ln w="9525">
            <a:solidFill>
              <a:srgbClr val="9AA9AE"/>
            </a:solidFill>
            <a:prstDash val="solid"/>
          </a:ln>
        </p:spPr>
        <p:txBody>
          <a:bodyPr/>
          <a:lstStyle/>
          <a:p>
            <a:endParaRPr lang="de-DE" sz="1303"/>
          </a:p>
        </p:txBody>
      </p:sp>
      <p:sp>
        <p:nvSpPr>
          <p:cNvPr id="12" name="Text 12">
            <a:extLst>
              <a:ext uri="{FF2B5EF4-FFF2-40B4-BE49-F238E27FC236}">
                <a16:creationId xmlns:a16="http://schemas.microsoft.com/office/drawing/2014/main" id="{8D700B5F-7720-6619-9474-EED3D6A720A0}"/>
              </a:ext>
            </a:extLst>
          </p:cNvPr>
          <p:cNvSpPr txBox="1"/>
          <p:nvPr/>
        </p:nvSpPr>
        <p:spPr>
          <a:xfrm>
            <a:off x="1117669" y="2062499"/>
            <a:ext cx="1482319" cy="224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24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Firma: &lt;Firma&gt;</a:t>
            </a:r>
            <a:endParaRPr lang="en-US" sz="724" dirty="0">
              <a:solidFill>
                <a:srgbClr val="2F3E46"/>
              </a:solidFill>
            </a:endParaRP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AC1DFB88-ACE8-5F8A-8A63-F96FADAC4354}"/>
              </a:ext>
            </a:extLst>
          </p:cNvPr>
          <p:cNvSpPr/>
          <p:nvPr/>
        </p:nvSpPr>
        <p:spPr>
          <a:xfrm>
            <a:off x="1064729" y="2360286"/>
            <a:ext cx="1588199" cy="224995"/>
          </a:xfrm>
          <a:prstGeom prst="rect">
            <a:avLst/>
          </a:prstGeom>
          <a:solidFill>
            <a:srgbClr val="FFFFFF"/>
          </a:solidFill>
          <a:ln w="9525">
            <a:solidFill>
              <a:srgbClr val="9AA9AE"/>
            </a:solidFill>
            <a:prstDash val="solid"/>
          </a:ln>
        </p:spPr>
        <p:txBody>
          <a:bodyPr/>
          <a:lstStyle/>
          <a:p>
            <a:endParaRPr lang="de-DE" sz="1303"/>
          </a:p>
        </p:txBody>
      </p:sp>
      <p:sp>
        <p:nvSpPr>
          <p:cNvPr id="14" name="Text 14">
            <a:extLst>
              <a:ext uri="{FF2B5EF4-FFF2-40B4-BE49-F238E27FC236}">
                <a16:creationId xmlns:a16="http://schemas.microsoft.com/office/drawing/2014/main" id="{6EBB0CEB-8332-0C8F-98FD-386172B4C9EB}"/>
              </a:ext>
            </a:extLst>
          </p:cNvPr>
          <p:cNvSpPr txBox="1"/>
          <p:nvPr/>
        </p:nvSpPr>
        <p:spPr>
          <a:xfrm>
            <a:off x="1117669" y="2360286"/>
            <a:ext cx="1482319" cy="224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24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Beginn: &lt;TT.MM.JJJJ&gt;</a:t>
            </a:r>
            <a:endParaRPr lang="en-US" sz="724" dirty="0">
              <a:solidFill>
                <a:srgbClr val="2F3E46"/>
              </a:solidFill>
            </a:endParaRP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5874F9AB-0633-0618-6FD3-FE534034E67E}"/>
              </a:ext>
            </a:extLst>
          </p:cNvPr>
          <p:cNvSpPr/>
          <p:nvPr/>
        </p:nvSpPr>
        <p:spPr>
          <a:xfrm>
            <a:off x="1064729" y="2658074"/>
            <a:ext cx="1588199" cy="224995"/>
          </a:xfrm>
          <a:prstGeom prst="rect">
            <a:avLst/>
          </a:prstGeom>
          <a:solidFill>
            <a:srgbClr val="FFFFFF"/>
          </a:solidFill>
          <a:ln w="9525">
            <a:solidFill>
              <a:srgbClr val="9AA9AE"/>
            </a:solidFill>
            <a:prstDash val="solid"/>
          </a:ln>
        </p:spPr>
        <p:txBody>
          <a:bodyPr/>
          <a:lstStyle/>
          <a:p>
            <a:endParaRPr lang="de-DE" sz="1303"/>
          </a:p>
        </p:txBody>
      </p:sp>
      <p:sp>
        <p:nvSpPr>
          <p:cNvPr id="16" name="Text 16">
            <a:extLst>
              <a:ext uri="{FF2B5EF4-FFF2-40B4-BE49-F238E27FC236}">
                <a16:creationId xmlns:a16="http://schemas.microsoft.com/office/drawing/2014/main" id="{419F9EDC-E623-9269-850F-7570BE422BC9}"/>
              </a:ext>
            </a:extLst>
          </p:cNvPr>
          <p:cNvSpPr txBox="1"/>
          <p:nvPr/>
        </p:nvSpPr>
        <p:spPr>
          <a:xfrm>
            <a:off x="1117669" y="2658074"/>
            <a:ext cx="1482319" cy="224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24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Abgabetermin: &lt;TT.MM.JJJJ&gt;</a:t>
            </a:r>
            <a:endParaRPr lang="en-US" sz="724" dirty="0">
              <a:solidFill>
                <a:srgbClr val="2F3E46"/>
              </a:solidFill>
            </a:endParaRP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48002E64-5F43-73DC-D083-33352495A873}"/>
              </a:ext>
            </a:extLst>
          </p:cNvPr>
          <p:cNvSpPr/>
          <p:nvPr/>
        </p:nvSpPr>
        <p:spPr>
          <a:xfrm>
            <a:off x="1064729" y="2955860"/>
            <a:ext cx="1588199" cy="224995"/>
          </a:xfrm>
          <a:prstGeom prst="rect">
            <a:avLst/>
          </a:prstGeom>
          <a:solidFill>
            <a:srgbClr val="FFFFFF"/>
          </a:solidFill>
          <a:ln w="9525">
            <a:solidFill>
              <a:srgbClr val="9AA9AE"/>
            </a:solidFill>
            <a:prstDash val="solid"/>
          </a:ln>
        </p:spPr>
        <p:txBody>
          <a:bodyPr/>
          <a:lstStyle/>
          <a:p>
            <a:endParaRPr lang="de-DE" sz="1303"/>
          </a:p>
        </p:txBody>
      </p:sp>
      <p:sp>
        <p:nvSpPr>
          <p:cNvPr id="18" name="Text 18">
            <a:extLst>
              <a:ext uri="{FF2B5EF4-FFF2-40B4-BE49-F238E27FC236}">
                <a16:creationId xmlns:a16="http://schemas.microsoft.com/office/drawing/2014/main" id="{20FB744F-EF4D-CCC3-49B5-27AEBBA56194}"/>
              </a:ext>
            </a:extLst>
          </p:cNvPr>
          <p:cNvSpPr txBox="1"/>
          <p:nvPr/>
        </p:nvSpPr>
        <p:spPr>
          <a:xfrm>
            <a:off x="1117669" y="2955860"/>
            <a:ext cx="1482319" cy="224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24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In Bearbeitung</a:t>
            </a:r>
            <a:endParaRPr lang="en-US" sz="724" dirty="0">
              <a:solidFill>
                <a:srgbClr val="2F3E46"/>
              </a:solidFill>
            </a:endParaRPr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2A295228-9AE2-19D5-2CDC-72F5D175BC09}"/>
              </a:ext>
            </a:extLst>
          </p:cNvPr>
          <p:cNvSpPr/>
          <p:nvPr/>
        </p:nvSpPr>
        <p:spPr>
          <a:xfrm>
            <a:off x="1064729" y="3571287"/>
            <a:ext cx="1588199" cy="277935"/>
          </a:xfrm>
          <a:prstGeom prst="roundRect">
            <a:avLst>
              <a:gd name="adj" fmla="val 14286"/>
            </a:avLst>
          </a:prstGeom>
          <a:solidFill>
            <a:srgbClr val="80BA24"/>
          </a:solidFill>
          <a:ln w="12700">
            <a:solidFill>
              <a:srgbClr val="80BA24"/>
            </a:solidFill>
            <a:prstDash val="solid"/>
          </a:ln>
        </p:spPr>
        <p:txBody>
          <a:bodyPr/>
          <a:lstStyle/>
          <a:p>
            <a:endParaRPr lang="de-DE" sz="1303"/>
          </a:p>
        </p:txBody>
      </p:sp>
      <p:sp>
        <p:nvSpPr>
          <p:cNvPr id="20" name="Text 20">
            <a:extLst>
              <a:ext uri="{FF2B5EF4-FFF2-40B4-BE49-F238E27FC236}">
                <a16:creationId xmlns:a16="http://schemas.microsoft.com/office/drawing/2014/main" id="{F75126BD-2BB0-9E27-68EC-768EDAF26B60}"/>
              </a:ext>
            </a:extLst>
          </p:cNvPr>
          <p:cNvSpPr txBox="1"/>
          <p:nvPr/>
        </p:nvSpPr>
        <p:spPr>
          <a:xfrm>
            <a:off x="1104434" y="3571287"/>
            <a:ext cx="1508789" cy="277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96" b="1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Verlängerung beantragen</a:t>
            </a:r>
            <a:endParaRPr lang="en-US" sz="796" dirty="0">
              <a:solidFill>
                <a:srgbClr val="2F3E46"/>
              </a:solidFill>
            </a:endParaRPr>
          </a:p>
        </p:txBody>
      </p:sp>
      <p:sp>
        <p:nvSpPr>
          <p:cNvPr id="21" name="Text 21">
            <a:extLst>
              <a:ext uri="{FF2B5EF4-FFF2-40B4-BE49-F238E27FC236}">
                <a16:creationId xmlns:a16="http://schemas.microsoft.com/office/drawing/2014/main" id="{B7070A31-7B7A-9A0B-FF1E-81797186BDA2}"/>
              </a:ext>
            </a:extLst>
          </p:cNvPr>
          <p:cNvSpPr txBox="1"/>
          <p:nvPr/>
        </p:nvSpPr>
        <p:spPr>
          <a:xfrm>
            <a:off x="866204" y="4563912"/>
            <a:ext cx="1985248" cy="198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868" b="1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Arbeit auswählen (5.3.1)</a:t>
            </a:r>
            <a:endParaRPr lang="en-US" sz="868" dirty="0">
              <a:solidFill>
                <a:srgbClr val="2F3E46"/>
              </a:solidFill>
            </a:endParaRPr>
          </a:p>
        </p:txBody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B1EB7B36-8844-9983-5B0F-B3273E617C44}"/>
              </a:ext>
            </a:extLst>
          </p:cNvPr>
          <p:cNvSpPr/>
          <p:nvPr/>
        </p:nvSpPr>
        <p:spPr>
          <a:xfrm>
            <a:off x="3579376" y="838263"/>
            <a:ext cx="1985248" cy="3672709"/>
          </a:xfrm>
          <a:prstGeom prst="roundRect">
            <a:avLst>
              <a:gd name="adj" fmla="val 8333"/>
            </a:avLst>
          </a:prstGeom>
          <a:solidFill>
            <a:srgbClr val="E6EAE8"/>
          </a:solidFill>
          <a:ln w="25400">
            <a:solidFill>
              <a:srgbClr val="4A5C66"/>
            </a:solidFill>
            <a:prstDash val="solid"/>
          </a:ln>
        </p:spPr>
        <p:txBody>
          <a:bodyPr/>
          <a:lstStyle/>
          <a:p>
            <a:endParaRPr lang="de-DE" sz="1303"/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4F75C302-A2B7-A66D-CA84-128E09F8A714}"/>
              </a:ext>
            </a:extLst>
          </p:cNvPr>
          <p:cNvSpPr/>
          <p:nvPr/>
        </p:nvSpPr>
        <p:spPr>
          <a:xfrm>
            <a:off x="3711726" y="1102962"/>
            <a:ext cx="1720548" cy="3143310"/>
          </a:xfrm>
          <a:prstGeom prst="rect">
            <a:avLst/>
          </a:prstGeom>
          <a:solidFill>
            <a:srgbClr val="FFFFFF"/>
          </a:solidFill>
          <a:ln w="9525">
            <a:solidFill>
              <a:srgbClr val="9AA9AE"/>
            </a:solidFill>
            <a:prstDash val="solid"/>
          </a:ln>
        </p:spPr>
        <p:txBody>
          <a:bodyPr/>
          <a:lstStyle/>
          <a:p>
            <a:endParaRPr lang="de-DE" sz="1303"/>
          </a:p>
        </p:txBody>
      </p:sp>
      <p:sp>
        <p:nvSpPr>
          <p:cNvPr id="24" name="Text 24">
            <a:extLst>
              <a:ext uri="{FF2B5EF4-FFF2-40B4-BE49-F238E27FC236}">
                <a16:creationId xmlns:a16="http://schemas.microsoft.com/office/drawing/2014/main" id="{E2AF78C2-E7A5-99AB-FAB4-7E577C09643A}"/>
              </a:ext>
            </a:extLst>
          </p:cNvPr>
          <p:cNvSpPr txBox="1"/>
          <p:nvPr/>
        </p:nvSpPr>
        <p:spPr>
          <a:xfrm>
            <a:off x="3777901" y="1149285"/>
            <a:ext cx="1588199" cy="231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13" b="1" dirty="0">
                <a:solidFill>
                  <a:srgbClr val="2F3E46"/>
                </a:solidFill>
                <a:latin typeface="Calibri" panose="020F0502020204030204" pitchFamily="34" charset="0"/>
                <a:ea typeface="Cambria" pitchFamily="34" charset="-122"/>
                <a:cs typeface="Cambria" pitchFamily="34" charset="-120"/>
              </a:rPr>
              <a:t>Verlängerungsantrag</a:t>
            </a:r>
            <a:endParaRPr lang="en-US" sz="1013" dirty="0">
              <a:solidFill>
                <a:srgbClr val="2F3E46"/>
              </a:solidFill>
              <a:latin typeface="Calibri" panose="020F0502020204030204" pitchFamily="34" charset="0"/>
            </a:endParaRPr>
          </a:p>
        </p:txBody>
      </p:sp>
      <p:sp>
        <p:nvSpPr>
          <p:cNvPr id="26" name="Shape 25">
            <a:extLst>
              <a:ext uri="{FF2B5EF4-FFF2-40B4-BE49-F238E27FC236}">
                <a16:creationId xmlns:a16="http://schemas.microsoft.com/office/drawing/2014/main" id="{222621B1-1402-D182-D54C-29381409176F}"/>
              </a:ext>
            </a:extLst>
          </p:cNvPr>
          <p:cNvSpPr/>
          <p:nvPr/>
        </p:nvSpPr>
        <p:spPr>
          <a:xfrm>
            <a:off x="3777901" y="1433837"/>
            <a:ext cx="1588199" cy="224995"/>
          </a:xfrm>
          <a:prstGeom prst="rect">
            <a:avLst/>
          </a:prstGeom>
          <a:solidFill>
            <a:srgbClr val="F4F6F5"/>
          </a:solidFill>
          <a:ln w="9525">
            <a:solidFill>
              <a:srgbClr val="9AA9AE"/>
            </a:solidFill>
            <a:prstDash val="solid"/>
          </a:ln>
        </p:spPr>
        <p:txBody>
          <a:bodyPr/>
          <a:lstStyle/>
          <a:p>
            <a:endParaRPr lang="de-DE" sz="1303"/>
          </a:p>
        </p:txBody>
      </p:sp>
      <p:sp>
        <p:nvSpPr>
          <p:cNvPr id="27" name="Text 26">
            <a:extLst>
              <a:ext uri="{FF2B5EF4-FFF2-40B4-BE49-F238E27FC236}">
                <a16:creationId xmlns:a16="http://schemas.microsoft.com/office/drawing/2014/main" id="{BDB20A1C-E490-7D4D-DC8B-5552175467B2}"/>
              </a:ext>
            </a:extLst>
          </p:cNvPr>
          <p:cNvSpPr txBox="1"/>
          <p:nvPr/>
        </p:nvSpPr>
        <p:spPr>
          <a:xfrm>
            <a:off x="3830841" y="1433837"/>
            <a:ext cx="1482319" cy="224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24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 [aus THM-Konto]</a:t>
            </a:r>
            <a:endParaRPr lang="en-US" sz="724" dirty="0"/>
          </a:p>
        </p:txBody>
      </p:sp>
      <p:sp>
        <p:nvSpPr>
          <p:cNvPr id="28" name="Shape 27">
            <a:extLst>
              <a:ext uri="{FF2B5EF4-FFF2-40B4-BE49-F238E27FC236}">
                <a16:creationId xmlns:a16="http://schemas.microsoft.com/office/drawing/2014/main" id="{C214BE2D-4DCD-7D28-74F9-AF9B6B2749A9}"/>
              </a:ext>
            </a:extLst>
          </p:cNvPr>
          <p:cNvSpPr/>
          <p:nvPr/>
        </p:nvSpPr>
        <p:spPr>
          <a:xfrm>
            <a:off x="3777901" y="1691919"/>
            <a:ext cx="1588199" cy="224995"/>
          </a:xfrm>
          <a:prstGeom prst="rect">
            <a:avLst/>
          </a:prstGeom>
          <a:solidFill>
            <a:srgbClr val="F4F6F5"/>
          </a:solidFill>
          <a:ln w="9525">
            <a:solidFill>
              <a:srgbClr val="9AA9AE"/>
            </a:solidFill>
            <a:prstDash val="solid"/>
          </a:ln>
        </p:spPr>
        <p:txBody>
          <a:bodyPr/>
          <a:lstStyle/>
          <a:p>
            <a:endParaRPr lang="de-DE" sz="1303"/>
          </a:p>
        </p:txBody>
      </p:sp>
      <p:sp>
        <p:nvSpPr>
          <p:cNvPr id="29" name="Text 28">
            <a:extLst>
              <a:ext uri="{FF2B5EF4-FFF2-40B4-BE49-F238E27FC236}">
                <a16:creationId xmlns:a16="http://schemas.microsoft.com/office/drawing/2014/main" id="{69A9CD4F-178F-CD58-0E50-CF12E0BA6F16}"/>
              </a:ext>
            </a:extLst>
          </p:cNvPr>
          <p:cNvSpPr txBox="1"/>
          <p:nvPr/>
        </p:nvSpPr>
        <p:spPr>
          <a:xfrm>
            <a:off x="3830841" y="1691919"/>
            <a:ext cx="1482319" cy="224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24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  [aus Arbeit]</a:t>
            </a:r>
            <a:endParaRPr lang="en-US" sz="724" dirty="0"/>
          </a:p>
        </p:txBody>
      </p:sp>
      <p:sp>
        <p:nvSpPr>
          <p:cNvPr id="30" name="Shape 29">
            <a:extLst>
              <a:ext uri="{FF2B5EF4-FFF2-40B4-BE49-F238E27FC236}">
                <a16:creationId xmlns:a16="http://schemas.microsoft.com/office/drawing/2014/main" id="{41439377-F106-3D35-E01E-09973D8695B7}"/>
              </a:ext>
            </a:extLst>
          </p:cNvPr>
          <p:cNvSpPr/>
          <p:nvPr/>
        </p:nvSpPr>
        <p:spPr>
          <a:xfrm>
            <a:off x="3777901" y="1950001"/>
            <a:ext cx="1588199" cy="224995"/>
          </a:xfrm>
          <a:prstGeom prst="rect">
            <a:avLst/>
          </a:prstGeom>
          <a:solidFill>
            <a:srgbClr val="F4F6F5"/>
          </a:solidFill>
          <a:ln w="9525">
            <a:solidFill>
              <a:srgbClr val="9AA9AE"/>
            </a:solidFill>
            <a:prstDash val="solid"/>
          </a:ln>
        </p:spPr>
        <p:txBody>
          <a:bodyPr/>
          <a:lstStyle/>
          <a:p>
            <a:endParaRPr lang="de-DE" sz="1303"/>
          </a:p>
        </p:txBody>
      </p:sp>
      <p:sp>
        <p:nvSpPr>
          <p:cNvPr id="31" name="Text 30">
            <a:extLst>
              <a:ext uri="{FF2B5EF4-FFF2-40B4-BE49-F238E27FC236}">
                <a16:creationId xmlns:a16="http://schemas.microsoft.com/office/drawing/2014/main" id="{4889BFA3-71B3-8BF5-456E-81EE66E87DCE}"/>
              </a:ext>
            </a:extLst>
          </p:cNvPr>
          <p:cNvSpPr txBox="1"/>
          <p:nvPr/>
        </p:nvSpPr>
        <p:spPr>
          <a:xfrm>
            <a:off x="3830841" y="1950001"/>
            <a:ext cx="1482319" cy="224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24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  [aus Arbeit]</a:t>
            </a:r>
            <a:endParaRPr lang="en-US" sz="724" dirty="0"/>
          </a:p>
        </p:txBody>
      </p:sp>
      <p:sp>
        <p:nvSpPr>
          <p:cNvPr id="32" name="Shape 31">
            <a:extLst>
              <a:ext uri="{FF2B5EF4-FFF2-40B4-BE49-F238E27FC236}">
                <a16:creationId xmlns:a16="http://schemas.microsoft.com/office/drawing/2014/main" id="{AA25F339-BC1C-CABC-F20A-7756782D13A4}"/>
              </a:ext>
            </a:extLst>
          </p:cNvPr>
          <p:cNvSpPr/>
          <p:nvPr/>
        </p:nvSpPr>
        <p:spPr>
          <a:xfrm>
            <a:off x="3777901" y="2208084"/>
            <a:ext cx="1588199" cy="224995"/>
          </a:xfrm>
          <a:prstGeom prst="rect">
            <a:avLst/>
          </a:prstGeom>
          <a:solidFill>
            <a:srgbClr val="F4F6F5"/>
          </a:solidFill>
          <a:ln w="9525">
            <a:solidFill>
              <a:srgbClr val="9AA9AE"/>
            </a:solidFill>
            <a:prstDash val="solid"/>
          </a:ln>
        </p:spPr>
        <p:txBody>
          <a:bodyPr/>
          <a:lstStyle/>
          <a:p>
            <a:endParaRPr lang="de-DE" sz="1303"/>
          </a:p>
        </p:txBody>
      </p:sp>
      <p:sp>
        <p:nvSpPr>
          <p:cNvPr id="33" name="Text 32">
            <a:extLst>
              <a:ext uri="{FF2B5EF4-FFF2-40B4-BE49-F238E27FC236}">
                <a16:creationId xmlns:a16="http://schemas.microsoft.com/office/drawing/2014/main" id="{62ECE6ED-6898-5864-1108-F13E097B5CD2}"/>
              </a:ext>
            </a:extLst>
          </p:cNvPr>
          <p:cNvSpPr txBox="1"/>
          <p:nvPr/>
        </p:nvSpPr>
        <p:spPr>
          <a:xfrm>
            <a:off x="3830841" y="2208084"/>
            <a:ext cx="1482319" cy="224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24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 Abgabetermin  [aus Arbeit]</a:t>
            </a:r>
            <a:endParaRPr lang="en-US" sz="724" dirty="0"/>
          </a:p>
        </p:txBody>
      </p:sp>
      <p:sp>
        <p:nvSpPr>
          <p:cNvPr id="34" name="Shape 33">
            <a:extLst>
              <a:ext uri="{FF2B5EF4-FFF2-40B4-BE49-F238E27FC236}">
                <a16:creationId xmlns:a16="http://schemas.microsoft.com/office/drawing/2014/main" id="{39CA1E6B-4950-6ED7-16E2-D7CEFF8948D4}"/>
              </a:ext>
            </a:extLst>
          </p:cNvPr>
          <p:cNvSpPr/>
          <p:nvPr/>
        </p:nvSpPr>
        <p:spPr>
          <a:xfrm>
            <a:off x="3777901" y="2466166"/>
            <a:ext cx="1588199" cy="224995"/>
          </a:xfrm>
          <a:prstGeom prst="rect">
            <a:avLst/>
          </a:prstGeom>
          <a:solidFill>
            <a:srgbClr val="F4F6F5"/>
          </a:solidFill>
          <a:ln w="9525">
            <a:solidFill>
              <a:srgbClr val="9AA9AE"/>
            </a:solidFill>
            <a:prstDash val="solid"/>
          </a:ln>
        </p:spPr>
        <p:txBody>
          <a:bodyPr/>
          <a:lstStyle/>
          <a:p>
            <a:endParaRPr lang="de-DE" sz="1303"/>
          </a:p>
        </p:txBody>
      </p:sp>
      <p:sp>
        <p:nvSpPr>
          <p:cNvPr id="35" name="Text 34">
            <a:extLst>
              <a:ext uri="{FF2B5EF4-FFF2-40B4-BE49-F238E27FC236}">
                <a16:creationId xmlns:a16="http://schemas.microsoft.com/office/drawing/2014/main" id="{A7148196-D90F-7382-27DE-B1DFA0F1570A}"/>
              </a:ext>
            </a:extLst>
          </p:cNvPr>
          <p:cNvSpPr txBox="1"/>
          <p:nvPr/>
        </p:nvSpPr>
        <p:spPr>
          <a:xfrm>
            <a:off x="3830841" y="2466166"/>
            <a:ext cx="1482319" cy="224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24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Neuer Abgabetermin  [automatisch berechnet]</a:t>
            </a:r>
            <a:endParaRPr lang="en-US" sz="724" dirty="0"/>
          </a:p>
        </p:txBody>
      </p:sp>
      <p:sp>
        <p:nvSpPr>
          <p:cNvPr id="36" name="Shape 35">
            <a:extLst>
              <a:ext uri="{FF2B5EF4-FFF2-40B4-BE49-F238E27FC236}">
                <a16:creationId xmlns:a16="http://schemas.microsoft.com/office/drawing/2014/main" id="{832A7969-020F-B7C4-8B1F-7AAF449A9970}"/>
              </a:ext>
            </a:extLst>
          </p:cNvPr>
          <p:cNvSpPr/>
          <p:nvPr/>
        </p:nvSpPr>
        <p:spPr>
          <a:xfrm>
            <a:off x="3777901" y="2737483"/>
            <a:ext cx="1588199" cy="383815"/>
          </a:xfrm>
          <a:prstGeom prst="rect">
            <a:avLst/>
          </a:prstGeom>
          <a:solidFill>
            <a:srgbClr val="F4F6F5"/>
          </a:solidFill>
          <a:ln w="9525">
            <a:solidFill>
              <a:srgbClr val="9AA9AE"/>
            </a:solidFill>
            <a:prstDash val="solid"/>
          </a:ln>
        </p:spPr>
        <p:txBody>
          <a:bodyPr/>
          <a:lstStyle/>
          <a:p>
            <a:endParaRPr lang="de-DE" sz="1303"/>
          </a:p>
        </p:txBody>
      </p:sp>
      <p:sp>
        <p:nvSpPr>
          <p:cNvPr id="37" name="Text 36">
            <a:extLst>
              <a:ext uri="{FF2B5EF4-FFF2-40B4-BE49-F238E27FC236}">
                <a16:creationId xmlns:a16="http://schemas.microsoft.com/office/drawing/2014/main" id="{3D700068-BD90-05BF-1666-F1955EF1869E}"/>
              </a:ext>
            </a:extLst>
          </p:cNvPr>
          <p:cNvSpPr txBox="1"/>
          <p:nvPr/>
        </p:nvSpPr>
        <p:spPr>
          <a:xfrm>
            <a:off x="3830841" y="2737483"/>
            <a:ext cx="1482319" cy="383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24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Grund  [Textfeld, mehrzeilig]</a:t>
            </a:r>
            <a:endParaRPr lang="en-US" sz="724" dirty="0"/>
          </a:p>
        </p:txBody>
      </p:sp>
      <p:sp>
        <p:nvSpPr>
          <p:cNvPr id="38" name="Shape 37">
            <a:extLst>
              <a:ext uri="{FF2B5EF4-FFF2-40B4-BE49-F238E27FC236}">
                <a16:creationId xmlns:a16="http://schemas.microsoft.com/office/drawing/2014/main" id="{F2006B82-4A34-FFE7-FF32-AC88CCDF06DE}"/>
              </a:ext>
            </a:extLst>
          </p:cNvPr>
          <p:cNvSpPr/>
          <p:nvPr/>
        </p:nvSpPr>
        <p:spPr>
          <a:xfrm>
            <a:off x="3777901" y="3187473"/>
            <a:ext cx="1588199" cy="224995"/>
          </a:xfrm>
          <a:prstGeom prst="rect">
            <a:avLst/>
          </a:prstGeom>
          <a:solidFill>
            <a:srgbClr val="FFFFFF"/>
          </a:solidFill>
          <a:ln w="9525">
            <a:solidFill>
              <a:srgbClr val="9AA9AE"/>
            </a:solidFill>
            <a:prstDash val="dash"/>
          </a:ln>
        </p:spPr>
        <p:txBody>
          <a:bodyPr/>
          <a:lstStyle/>
          <a:p>
            <a:endParaRPr lang="de-DE" sz="1303"/>
          </a:p>
        </p:txBody>
      </p:sp>
      <p:sp>
        <p:nvSpPr>
          <p:cNvPr id="39" name="Text 38">
            <a:extLst>
              <a:ext uri="{FF2B5EF4-FFF2-40B4-BE49-F238E27FC236}">
                <a16:creationId xmlns:a16="http://schemas.microsoft.com/office/drawing/2014/main" id="{056DB512-E143-01F2-6B57-0CB65F9AFC51}"/>
              </a:ext>
            </a:extLst>
          </p:cNvPr>
          <p:cNvSpPr txBox="1"/>
          <p:nvPr/>
        </p:nvSpPr>
        <p:spPr>
          <a:xfrm>
            <a:off x="3830841" y="3187473"/>
            <a:ext cx="1482319" cy="224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24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＋ Dokument hochladen (optional)</a:t>
            </a:r>
            <a:endParaRPr lang="en-US" sz="724" dirty="0">
              <a:solidFill>
                <a:srgbClr val="2F3E46"/>
              </a:solidFill>
            </a:endParaRPr>
          </a:p>
        </p:txBody>
      </p:sp>
      <p:sp>
        <p:nvSpPr>
          <p:cNvPr id="40" name="Shape 39">
            <a:extLst>
              <a:ext uri="{FF2B5EF4-FFF2-40B4-BE49-F238E27FC236}">
                <a16:creationId xmlns:a16="http://schemas.microsoft.com/office/drawing/2014/main" id="{A03E216B-CFA3-F910-B5D0-7F472603E8BE}"/>
              </a:ext>
            </a:extLst>
          </p:cNvPr>
          <p:cNvSpPr/>
          <p:nvPr/>
        </p:nvSpPr>
        <p:spPr>
          <a:xfrm>
            <a:off x="3777901" y="3571287"/>
            <a:ext cx="1588199" cy="277935"/>
          </a:xfrm>
          <a:prstGeom prst="roundRect">
            <a:avLst>
              <a:gd name="adj" fmla="val 14286"/>
            </a:avLst>
          </a:prstGeom>
          <a:solidFill>
            <a:srgbClr val="80BA24"/>
          </a:solidFill>
          <a:ln w="12700">
            <a:solidFill>
              <a:srgbClr val="80BA24"/>
            </a:solidFill>
            <a:prstDash val="solid"/>
          </a:ln>
        </p:spPr>
        <p:txBody>
          <a:bodyPr/>
          <a:lstStyle/>
          <a:p>
            <a:endParaRPr lang="de-DE" sz="1303"/>
          </a:p>
        </p:txBody>
      </p:sp>
      <p:sp>
        <p:nvSpPr>
          <p:cNvPr id="41" name="Text 40">
            <a:extLst>
              <a:ext uri="{FF2B5EF4-FFF2-40B4-BE49-F238E27FC236}">
                <a16:creationId xmlns:a16="http://schemas.microsoft.com/office/drawing/2014/main" id="{283F31C1-8EC4-838B-03F6-F04A0F89EC89}"/>
              </a:ext>
            </a:extLst>
          </p:cNvPr>
          <p:cNvSpPr txBox="1"/>
          <p:nvPr/>
        </p:nvSpPr>
        <p:spPr>
          <a:xfrm>
            <a:off x="3817606" y="3571287"/>
            <a:ext cx="1508789" cy="277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96" b="1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Antrag absenden</a:t>
            </a:r>
            <a:endParaRPr lang="en-US" sz="796" dirty="0">
              <a:solidFill>
                <a:srgbClr val="2F3E46"/>
              </a:solidFill>
            </a:endParaRPr>
          </a:p>
        </p:txBody>
      </p:sp>
      <p:sp>
        <p:nvSpPr>
          <p:cNvPr id="42" name="Text 41">
            <a:extLst>
              <a:ext uri="{FF2B5EF4-FFF2-40B4-BE49-F238E27FC236}">
                <a16:creationId xmlns:a16="http://schemas.microsoft.com/office/drawing/2014/main" id="{ED5B68E6-70A1-45B0-E7C1-67F9E1DEB507}"/>
              </a:ext>
            </a:extLst>
          </p:cNvPr>
          <p:cNvSpPr txBox="1"/>
          <p:nvPr/>
        </p:nvSpPr>
        <p:spPr>
          <a:xfrm>
            <a:off x="3579376" y="4563912"/>
            <a:ext cx="1985248" cy="198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868" b="1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 prüfen, absenden (5.3.2)</a:t>
            </a:r>
            <a:endParaRPr lang="en-US" sz="868" dirty="0">
              <a:solidFill>
                <a:srgbClr val="2F3E46"/>
              </a:solidFill>
            </a:endParaRPr>
          </a:p>
        </p:txBody>
      </p:sp>
      <p:sp>
        <p:nvSpPr>
          <p:cNvPr id="43" name="Shape 42">
            <a:extLst>
              <a:ext uri="{FF2B5EF4-FFF2-40B4-BE49-F238E27FC236}">
                <a16:creationId xmlns:a16="http://schemas.microsoft.com/office/drawing/2014/main" id="{9239B3A8-6853-3F63-7F2D-D47F1C788A2D}"/>
              </a:ext>
            </a:extLst>
          </p:cNvPr>
          <p:cNvSpPr/>
          <p:nvPr/>
        </p:nvSpPr>
        <p:spPr>
          <a:xfrm>
            <a:off x="6292548" y="838263"/>
            <a:ext cx="1985248" cy="3672709"/>
          </a:xfrm>
          <a:prstGeom prst="roundRect">
            <a:avLst>
              <a:gd name="adj" fmla="val 8333"/>
            </a:avLst>
          </a:prstGeom>
          <a:solidFill>
            <a:srgbClr val="E6EAE8"/>
          </a:solidFill>
          <a:ln w="25400">
            <a:solidFill>
              <a:srgbClr val="4A5C66"/>
            </a:solidFill>
            <a:prstDash val="solid"/>
          </a:ln>
        </p:spPr>
        <p:txBody>
          <a:bodyPr/>
          <a:lstStyle/>
          <a:p>
            <a:endParaRPr lang="de-DE" sz="1303"/>
          </a:p>
        </p:txBody>
      </p:sp>
      <p:sp>
        <p:nvSpPr>
          <p:cNvPr id="44" name="Shape 43">
            <a:extLst>
              <a:ext uri="{FF2B5EF4-FFF2-40B4-BE49-F238E27FC236}">
                <a16:creationId xmlns:a16="http://schemas.microsoft.com/office/drawing/2014/main" id="{E14BBDBB-86FC-B351-D7F9-D39A94DA4E92}"/>
              </a:ext>
            </a:extLst>
          </p:cNvPr>
          <p:cNvSpPr/>
          <p:nvPr/>
        </p:nvSpPr>
        <p:spPr>
          <a:xfrm>
            <a:off x="6424899" y="1102962"/>
            <a:ext cx="1720548" cy="3143310"/>
          </a:xfrm>
          <a:prstGeom prst="rect">
            <a:avLst/>
          </a:prstGeom>
          <a:solidFill>
            <a:srgbClr val="FFFFFF"/>
          </a:solidFill>
          <a:ln w="9525">
            <a:solidFill>
              <a:srgbClr val="9AA9AE"/>
            </a:solidFill>
            <a:prstDash val="solid"/>
          </a:ln>
        </p:spPr>
        <p:txBody>
          <a:bodyPr/>
          <a:lstStyle/>
          <a:p>
            <a:endParaRPr lang="de-DE" sz="1303"/>
          </a:p>
        </p:txBody>
      </p:sp>
      <p:sp>
        <p:nvSpPr>
          <p:cNvPr id="45" name="Text 44">
            <a:extLst>
              <a:ext uri="{FF2B5EF4-FFF2-40B4-BE49-F238E27FC236}">
                <a16:creationId xmlns:a16="http://schemas.microsoft.com/office/drawing/2014/main" id="{D4B857E8-0814-1EB5-90DA-29AAE55833E1}"/>
              </a:ext>
            </a:extLst>
          </p:cNvPr>
          <p:cNvSpPr txBox="1"/>
          <p:nvPr/>
        </p:nvSpPr>
        <p:spPr>
          <a:xfrm>
            <a:off x="6491073" y="1149285"/>
            <a:ext cx="1588199" cy="231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13" b="1" dirty="0">
                <a:solidFill>
                  <a:srgbClr val="2F3E46"/>
                </a:solidFill>
                <a:latin typeface="Calibri" panose="020F0502020204030204" pitchFamily="34" charset="0"/>
                <a:ea typeface="Cambria" pitchFamily="34" charset="-122"/>
                <a:cs typeface="Cambria" pitchFamily="34" charset="-120"/>
              </a:rPr>
              <a:t>Status Ihres Antrags</a:t>
            </a:r>
            <a:endParaRPr lang="en-US" sz="1013" dirty="0">
              <a:solidFill>
                <a:srgbClr val="2F3E46"/>
              </a:solidFill>
              <a:latin typeface="Calibri" panose="020F0502020204030204" pitchFamily="34" charset="0"/>
            </a:endParaRPr>
          </a:p>
        </p:txBody>
      </p:sp>
      <p:sp>
        <p:nvSpPr>
          <p:cNvPr id="46" name="Shape 45">
            <a:extLst>
              <a:ext uri="{FF2B5EF4-FFF2-40B4-BE49-F238E27FC236}">
                <a16:creationId xmlns:a16="http://schemas.microsoft.com/office/drawing/2014/main" id="{B88717A1-EE1A-981A-52E7-6348B657A64D}"/>
              </a:ext>
            </a:extLst>
          </p:cNvPr>
          <p:cNvSpPr/>
          <p:nvPr/>
        </p:nvSpPr>
        <p:spPr>
          <a:xfrm>
            <a:off x="6491073" y="1433837"/>
            <a:ext cx="1588199" cy="224995"/>
          </a:xfrm>
          <a:prstGeom prst="rect">
            <a:avLst/>
          </a:prstGeom>
          <a:solidFill>
            <a:srgbClr val="FFFFFF"/>
          </a:solidFill>
          <a:ln w="9525">
            <a:solidFill>
              <a:srgbClr val="9AA9AE"/>
            </a:solidFill>
            <a:prstDash val="solid"/>
          </a:ln>
        </p:spPr>
        <p:txBody>
          <a:bodyPr/>
          <a:lstStyle/>
          <a:p>
            <a:endParaRPr lang="de-DE" sz="1303"/>
          </a:p>
        </p:txBody>
      </p:sp>
      <p:sp>
        <p:nvSpPr>
          <p:cNvPr id="47" name="Text 46">
            <a:extLst>
              <a:ext uri="{FF2B5EF4-FFF2-40B4-BE49-F238E27FC236}">
                <a16:creationId xmlns:a16="http://schemas.microsoft.com/office/drawing/2014/main" id="{7C72C415-365B-ED5C-B0FB-6CA7DD138666}"/>
              </a:ext>
            </a:extLst>
          </p:cNvPr>
          <p:cNvSpPr txBox="1"/>
          <p:nvPr/>
        </p:nvSpPr>
        <p:spPr>
          <a:xfrm>
            <a:off x="6544012" y="1433837"/>
            <a:ext cx="1482319" cy="224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24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Arbeit: &lt;Thema&gt;</a:t>
            </a:r>
            <a:endParaRPr lang="en-US" sz="724" dirty="0">
              <a:solidFill>
                <a:srgbClr val="2F3E46"/>
              </a:solidFill>
            </a:endParaRPr>
          </a:p>
        </p:txBody>
      </p:sp>
      <p:sp>
        <p:nvSpPr>
          <p:cNvPr id="48" name="Shape 47">
            <a:extLst>
              <a:ext uri="{FF2B5EF4-FFF2-40B4-BE49-F238E27FC236}">
                <a16:creationId xmlns:a16="http://schemas.microsoft.com/office/drawing/2014/main" id="{C90CEE43-D38E-5076-206D-B8DE2D2B4970}"/>
              </a:ext>
            </a:extLst>
          </p:cNvPr>
          <p:cNvSpPr/>
          <p:nvPr/>
        </p:nvSpPr>
        <p:spPr>
          <a:xfrm>
            <a:off x="6491073" y="1711772"/>
            <a:ext cx="1588199" cy="224995"/>
          </a:xfrm>
          <a:prstGeom prst="rect">
            <a:avLst/>
          </a:prstGeom>
          <a:solidFill>
            <a:srgbClr val="FFFFFF"/>
          </a:solidFill>
          <a:ln w="9525">
            <a:solidFill>
              <a:srgbClr val="9AA9AE"/>
            </a:solidFill>
            <a:prstDash val="solid"/>
          </a:ln>
        </p:spPr>
        <p:txBody>
          <a:bodyPr/>
          <a:lstStyle/>
          <a:p>
            <a:endParaRPr lang="de-DE" sz="1303"/>
          </a:p>
        </p:txBody>
      </p:sp>
      <p:sp>
        <p:nvSpPr>
          <p:cNvPr id="49" name="Text 48">
            <a:extLst>
              <a:ext uri="{FF2B5EF4-FFF2-40B4-BE49-F238E27FC236}">
                <a16:creationId xmlns:a16="http://schemas.microsoft.com/office/drawing/2014/main" id="{A3A0BF0F-4D5F-3027-7397-1F25C7F4E0DB}"/>
              </a:ext>
            </a:extLst>
          </p:cNvPr>
          <p:cNvSpPr txBox="1"/>
          <p:nvPr/>
        </p:nvSpPr>
        <p:spPr>
          <a:xfrm>
            <a:off x="6544012" y="1711772"/>
            <a:ext cx="1482319" cy="224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24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 Abgabetermin: &lt;TT.MM.JJJJ&gt;</a:t>
            </a:r>
            <a:endParaRPr lang="en-US" sz="724" dirty="0">
              <a:solidFill>
                <a:srgbClr val="2F3E46"/>
              </a:solidFill>
            </a:endParaRPr>
          </a:p>
        </p:txBody>
      </p:sp>
      <p:sp>
        <p:nvSpPr>
          <p:cNvPr id="50" name="Shape 49">
            <a:extLst>
              <a:ext uri="{FF2B5EF4-FFF2-40B4-BE49-F238E27FC236}">
                <a16:creationId xmlns:a16="http://schemas.microsoft.com/office/drawing/2014/main" id="{A4427276-2EEE-25EA-4694-B032AF7BA586}"/>
              </a:ext>
            </a:extLst>
          </p:cNvPr>
          <p:cNvSpPr/>
          <p:nvPr/>
        </p:nvSpPr>
        <p:spPr>
          <a:xfrm>
            <a:off x="6491073" y="1989706"/>
            <a:ext cx="1588199" cy="224995"/>
          </a:xfrm>
          <a:prstGeom prst="rect">
            <a:avLst/>
          </a:prstGeom>
          <a:solidFill>
            <a:srgbClr val="FFFFFF"/>
          </a:solidFill>
          <a:ln w="9525">
            <a:solidFill>
              <a:srgbClr val="9AA9AE"/>
            </a:solidFill>
            <a:prstDash val="solid"/>
          </a:ln>
        </p:spPr>
        <p:txBody>
          <a:bodyPr/>
          <a:lstStyle/>
          <a:p>
            <a:endParaRPr lang="de-DE" sz="1303"/>
          </a:p>
        </p:txBody>
      </p:sp>
      <p:sp>
        <p:nvSpPr>
          <p:cNvPr id="51" name="Text 50">
            <a:extLst>
              <a:ext uri="{FF2B5EF4-FFF2-40B4-BE49-F238E27FC236}">
                <a16:creationId xmlns:a16="http://schemas.microsoft.com/office/drawing/2014/main" id="{6E47752E-FD0C-3160-1877-5FAA4E33F0ED}"/>
              </a:ext>
            </a:extLst>
          </p:cNvPr>
          <p:cNvSpPr txBox="1"/>
          <p:nvPr/>
        </p:nvSpPr>
        <p:spPr>
          <a:xfrm>
            <a:off x="6544012" y="1989706"/>
            <a:ext cx="1482319" cy="224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24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Neuer Abgabetermin: &lt;TT.MM.JJJJ&gt;</a:t>
            </a:r>
            <a:endParaRPr lang="en-US" sz="724" dirty="0">
              <a:solidFill>
                <a:srgbClr val="2F3E46"/>
              </a:solidFill>
            </a:endParaRPr>
          </a:p>
        </p:txBody>
      </p:sp>
      <p:sp>
        <p:nvSpPr>
          <p:cNvPr id="52" name="Shape 51">
            <a:extLst>
              <a:ext uri="{FF2B5EF4-FFF2-40B4-BE49-F238E27FC236}">
                <a16:creationId xmlns:a16="http://schemas.microsoft.com/office/drawing/2014/main" id="{2E555033-3C22-8DCF-18BE-6BA942C9BE87}"/>
              </a:ext>
            </a:extLst>
          </p:cNvPr>
          <p:cNvSpPr/>
          <p:nvPr/>
        </p:nvSpPr>
        <p:spPr>
          <a:xfrm>
            <a:off x="6491073" y="2360286"/>
            <a:ext cx="1588199" cy="224995"/>
          </a:xfrm>
          <a:prstGeom prst="rect">
            <a:avLst/>
          </a:prstGeom>
          <a:solidFill>
            <a:srgbClr val="FFFFFF"/>
          </a:solidFill>
          <a:ln w="9525">
            <a:solidFill>
              <a:srgbClr val="9AA9AE"/>
            </a:solidFill>
            <a:prstDash val="solid"/>
          </a:ln>
        </p:spPr>
        <p:txBody>
          <a:bodyPr/>
          <a:lstStyle/>
          <a:p>
            <a:endParaRPr lang="de-DE" sz="1303"/>
          </a:p>
        </p:txBody>
      </p:sp>
      <p:sp>
        <p:nvSpPr>
          <p:cNvPr id="53" name="Text 52">
            <a:extLst>
              <a:ext uri="{FF2B5EF4-FFF2-40B4-BE49-F238E27FC236}">
                <a16:creationId xmlns:a16="http://schemas.microsoft.com/office/drawing/2014/main" id="{3BFB5CCA-BC5B-2F00-8581-AF48CFB50633}"/>
              </a:ext>
            </a:extLst>
          </p:cNvPr>
          <p:cNvSpPr txBox="1"/>
          <p:nvPr/>
        </p:nvSpPr>
        <p:spPr>
          <a:xfrm>
            <a:off x="6544012" y="2360286"/>
            <a:ext cx="1482319" cy="224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24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Antrag eingereicht</a:t>
            </a:r>
            <a:endParaRPr lang="en-US" sz="724" dirty="0">
              <a:solidFill>
                <a:srgbClr val="2F3E46"/>
              </a:solidFill>
            </a:endParaRPr>
          </a:p>
        </p:txBody>
      </p:sp>
      <p:sp>
        <p:nvSpPr>
          <p:cNvPr id="54" name="Shape 53">
            <a:extLst>
              <a:ext uri="{FF2B5EF4-FFF2-40B4-BE49-F238E27FC236}">
                <a16:creationId xmlns:a16="http://schemas.microsoft.com/office/drawing/2014/main" id="{6DC7164C-2541-92E4-9FA2-817E000121E5}"/>
              </a:ext>
            </a:extLst>
          </p:cNvPr>
          <p:cNvSpPr/>
          <p:nvPr/>
        </p:nvSpPr>
        <p:spPr>
          <a:xfrm>
            <a:off x="6491073" y="2638221"/>
            <a:ext cx="1588199" cy="224995"/>
          </a:xfrm>
          <a:prstGeom prst="rect">
            <a:avLst/>
          </a:prstGeom>
          <a:solidFill>
            <a:srgbClr val="FFFFFF"/>
          </a:solidFill>
          <a:ln w="9525">
            <a:solidFill>
              <a:srgbClr val="9AA9AE"/>
            </a:solidFill>
            <a:prstDash val="solid"/>
          </a:ln>
        </p:spPr>
        <p:txBody>
          <a:bodyPr/>
          <a:lstStyle/>
          <a:p>
            <a:endParaRPr lang="de-DE" sz="1303"/>
          </a:p>
        </p:txBody>
      </p:sp>
      <p:sp>
        <p:nvSpPr>
          <p:cNvPr id="55" name="Text 54">
            <a:extLst>
              <a:ext uri="{FF2B5EF4-FFF2-40B4-BE49-F238E27FC236}">
                <a16:creationId xmlns:a16="http://schemas.microsoft.com/office/drawing/2014/main" id="{5B090772-F5AA-8650-16CA-8130B667B16E}"/>
              </a:ext>
            </a:extLst>
          </p:cNvPr>
          <p:cNvSpPr txBox="1"/>
          <p:nvPr/>
        </p:nvSpPr>
        <p:spPr>
          <a:xfrm>
            <a:off x="6544012" y="2638221"/>
            <a:ext cx="1482319" cy="224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24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Stellungnahme Erstprüfer:in</a:t>
            </a:r>
            <a:endParaRPr lang="en-US" sz="724" dirty="0">
              <a:solidFill>
                <a:srgbClr val="2F3E46"/>
              </a:solidFill>
            </a:endParaRPr>
          </a:p>
        </p:txBody>
      </p:sp>
      <p:sp>
        <p:nvSpPr>
          <p:cNvPr id="56" name="Shape 55">
            <a:extLst>
              <a:ext uri="{FF2B5EF4-FFF2-40B4-BE49-F238E27FC236}">
                <a16:creationId xmlns:a16="http://schemas.microsoft.com/office/drawing/2014/main" id="{65F9E913-DC09-34EE-C94D-CBEF610E041D}"/>
              </a:ext>
            </a:extLst>
          </p:cNvPr>
          <p:cNvSpPr/>
          <p:nvPr/>
        </p:nvSpPr>
        <p:spPr>
          <a:xfrm>
            <a:off x="6491073" y="2916156"/>
            <a:ext cx="1588199" cy="224995"/>
          </a:xfrm>
          <a:prstGeom prst="rect">
            <a:avLst/>
          </a:prstGeom>
          <a:solidFill>
            <a:srgbClr val="FFFFFF"/>
          </a:solidFill>
          <a:ln w="9525">
            <a:solidFill>
              <a:srgbClr val="9AA9AE"/>
            </a:solidFill>
            <a:prstDash val="solid"/>
          </a:ln>
        </p:spPr>
        <p:txBody>
          <a:bodyPr/>
          <a:lstStyle/>
          <a:p>
            <a:endParaRPr lang="de-DE" sz="1303"/>
          </a:p>
        </p:txBody>
      </p:sp>
      <p:sp>
        <p:nvSpPr>
          <p:cNvPr id="57" name="Text 56">
            <a:extLst>
              <a:ext uri="{FF2B5EF4-FFF2-40B4-BE49-F238E27FC236}">
                <a16:creationId xmlns:a16="http://schemas.microsoft.com/office/drawing/2014/main" id="{738DFC52-96FE-31A6-39CB-B10173BB241D}"/>
              </a:ext>
            </a:extLst>
          </p:cNvPr>
          <p:cNvSpPr txBox="1"/>
          <p:nvPr/>
        </p:nvSpPr>
        <p:spPr>
          <a:xfrm>
            <a:off x="6544012" y="2916156"/>
            <a:ext cx="1482319" cy="224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24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Entscheidung Prüfungsausschuss</a:t>
            </a:r>
            <a:endParaRPr lang="en-US" sz="724" dirty="0">
              <a:solidFill>
                <a:srgbClr val="2F3E46"/>
              </a:solidFill>
            </a:endParaRPr>
          </a:p>
        </p:txBody>
      </p:sp>
      <p:sp>
        <p:nvSpPr>
          <p:cNvPr id="58" name="Text 57">
            <a:extLst>
              <a:ext uri="{FF2B5EF4-FFF2-40B4-BE49-F238E27FC236}">
                <a16:creationId xmlns:a16="http://schemas.microsoft.com/office/drawing/2014/main" id="{1C162FF0-0B3A-C155-538A-0F29B8BC2B50}"/>
              </a:ext>
            </a:extLst>
          </p:cNvPr>
          <p:cNvSpPr txBox="1"/>
          <p:nvPr/>
        </p:nvSpPr>
        <p:spPr>
          <a:xfrm>
            <a:off x="6491073" y="3253649"/>
            <a:ext cx="1588199" cy="198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688" i="1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Benachrichtigung bei jedem Statuswechsel.</a:t>
            </a:r>
            <a:endParaRPr lang="en-US" sz="688" dirty="0"/>
          </a:p>
        </p:txBody>
      </p:sp>
      <p:sp>
        <p:nvSpPr>
          <p:cNvPr id="59" name="Shape 58">
            <a:extLst>
              <a:ext uri="{FF2B5EF4-FFF2-40B4-BE49-F238E27FC236}">
                <a16:creationId xmlns:a16="http://schemas.microsoft.com/office/drawing/2014/main" id="{3C951FBA-5477-0E1A-91F4-A9477BA3365B}"/>
              </a:ext>
            </a:extLst>
          </p:cNvPr>
          <p:cNvSpPr/>
          <p:nvPr/>
        </p:nvSpPr>
        <p:spPr>
          <a:xfrm>
            <a:off x="6491073" y="3571287"/>
            <a:ext cx="1588199" cy="277935"/>
          </a:xfrm>
          <a:prstGeom prst="roundRect">
            <a:avLst>
              <a:gd name="adj" fmla="val 14286"/>
            </a:avLst>
          </a:prstGeom>
          <a:solidFill>
            <a:srgbClr val="80BA24"/>
          </a:solidFill>
          <a:ln w="12700">
            <a:solidFill>
              <a:srgbClr val="80BA24"/>
            </a:solidFill>
            <a:prstDash val="solid"/>
          </a:ln>
        </p:spPr>
        <p:txBody>
          <a:bodyPr/>
          <a:lstStyle/>
          <a:p>
            <a:endParaRPr lang="de-DE" sz="1303"/>
          </a:p>
        </p:txBody>
      </p:sp>
      <p:sp>
        <p:nvSpPr>
          <p:cNvPr id="60" name="Text 59">
            <a:extLst>
              <a:ext uri="{FF2B5EF4-FFF2-40B4-BE49-F238E27FC236}">
                <a16:creationId xmlns:a16="http://schemas.microsoft.com/office/drawing/2014/main" id="{37F42392-7DC0-3249-4C3D-A684C5D658FC}"/>
              </a:ext>
            </a:extLst>
          </p:cNvPr>
          <p:cNvSpPr txBox="1"/>
          <p:nvPr/>
        </p:nvSpPr>
        <p:spPr>
          <a:xfrm>
            <a:off x="6530777" y="3571287"/>
            <a:ext cx="1508789" cy="277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96" b="1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Zurück zur Übersicht</a:t>
            </a:r>
            <a:endParaRPr lang="en-US" sz="796" dirty="0">
              <a:solidFill>
                <a:srgbClr val="2F3E46"/>
              </a:solidFill>
            </a:endParaRPr>
          </a:p>
        </p:txBody>
      </p:sp>
      <p:sp>
        <p:nvSpPr>
          <p:cNvPr id="61" name="Text 60">
            <a:extLst>
              <a:ext uri="{FF2B5EF4-FFF2-40B4-BE49-F238E27FC236}">
                <a16:creationId xmlns:a16="http://schemas.microsoft.com/office/drawing/2014/main" id="{930F1745-2D33-9CC5-7B11-81804C02B08B}"/>
              </a:ext>
            </a:extLst>
          </p:cNvPr>
          <p:cNvSpPr txBox="1"/>
          <p:nvPr/>
        </p:nvSpPr>
        <p:spPr>
          <a:xfrm>
            <a:off x="6292548" y="4563912"/>
            <a:ext cx="1985248" cy="198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868" b="1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sehen (5.3.3)</a:t>
            </a:r>
            <a:endParaRPr lang="en-US" sz="868" dirty="0">
              <a:solidFill>
                <a:srgbClr val="2F3E46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80B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 7 · D2D · VERLÄNGERUNGSANTRAG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310896"/>
            <a:ext cx="6172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Action: Verlängerungsantrag stellen (Ablauf)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55464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5B6A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38</a:t>
            </a:fld>
            <a:endParaRPr lang="en-US"/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BE3AC558-B414-1507-09E0-D9295502AD03}"/>
              </a:ext>
            </a:extLst>
          </p:cNvPr>
          <p:cNvSpPr/>
          <p:nvPr/>
        </p:nvSpPr>
        <p:spPr>
          <a:xfrm>
            <a:off x="366063" y="990600"/>
            <a:ext cx="8411873" cy="1159788"/>
          </a:xfrm>
          <a:prstGeom prst="rect">
            <a:avLst/>
          </a:prstGeom>
          <a:solidFill>
            <a:srgbClr val="FFFFFF"/>
          </a:solidFill>
          <a:ln w="9525">
            <a:solidFill>
              <a:srgbClr val="C9D2CD"/>
            </a:solidFill>
            <a:prstDash val="solid"/>
          </a:ln>
        </p:spPr>
        <p:txBody>
          <a:bodyPr/>
          <a:lstStyle/>
          <a:p>
            <a:endParaRPr lang="de-DE" sz="1343"/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EED09039-C2AE-1204-AFFF-C911268FE479}"/>
              </a:ext>
            </a:extLst>
          </p:cNvPr>
          <p:cNvSpPr/>
          <p:nvPr/>
        </p:nvSpPr>
        <p:spPr>
          <a:xfrm>
            <a:off x="366064" y="990600"/>
            <a:ext cx="1091565" cy="1159788"/>
          </a:xfrm>
          <a:prstGeom prst="rect">
            <a:avLst/>
          </a:prstGeom>
          <a:solidFill>
            <a:srgbClr val="4A5C66"/>
          </a:solidFill>
          <a:ln w="9525">
            <a:solidFill>
              <a:srgbClr val="4A5C66"/>
            </a:solidFill>
            <a:prstDash val="solid"/>
          </a:ln>
        </p:spPr>
        <p:txBody>
          <a:bodyPr/>
          <a:lstStyle/>
          <a:p>
            <a:endParaRPr lang="de-DE" sz="1343"/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D953261A-28AC-DB6F-E6FA-D3A08E09992D}"/>
              </a:ext>
            </a:extLst>
          </p:cNvPr>
          <p:cNvSpPr txBox="1"/>
          <p:nvPr/>
        </p:nvSpPr>
        <p:spPr>
          <a:xfrm>
            <a:off x="400175" y="990600"/>
            <a:ext cx="1023342" cy="1159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Studierende:r</a:t>
            </a:r>
            <a:endParaRPr lang="en-US" sz="970" dirty="0"/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1ABDE96C-B300-78C6-2B81-A3D762956F42}"/>
              </a:ext>
            </a:extLst>
          </p:cNvPr>
          <p:cNvSpPr/>
          <p:nvPr/>
        </p:nvSpPr>
        <p:spPr>
          <a:xfrm>
            <a:off x="366063" y="2150388"/>
            <a:ext cx="8411873" cy="1159788"/>
          </a:xfrm>
          <a:prstGeom prst="rect">
            <a:avLst/>
          </a:prstGeom>
          <a:solidFill>
            <a:srgbClr val="F7F9F8"/>
          </a:solidFill>
          <a:ln w="9525">
            <a:solidFill>
              <a:srgbClr val="C9D2CD"/>
            </a:solidFill>
            <a:prstDash val="solid"/>
          </a:ln>
        </p:spPr>
        <p:txBody>
          <a:bodyPr/>
          <a:lstStyle/>
          <a:p>
            <a:endParaRPr lang="de-DE" sz="1343"/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4F380457-1E77-E305-5C9F-D1E30C84DEC9}"/>
              </a:ext>
            </a:extLst>
          </p:cNvPr>
          <p:cNvSpPr/>
          <p:nvPr/>
        </p:nvSpPr>
        <p:spPr>
          <a:xfrm>
            <a:off x="366064" y="2150388"/>
            <a:ext cx="1091565" cy="1159788"/>
          </a:xfrm>
          <a:prstGeom prst="rect">
            <a:avLst/>
          </a:prstGeom>
          <a:solidFill>
            <a:srgbClr val="4A5C66"/>
          </a:solidFill>
          <a:ln w="9525">
            <a:solidFill>
              <a:srgbClr val="4A5C66"/>
            </a:solidFill>
            <a:prstDash val="solid"/>
          </a:ln>
        </p:spPr>
        <p:txBody>
          <a:bodyPr/>
          <a:lstStyle/>
          <a:p>
            <a:endParaRPr lang="de-DE" sz="1343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F7D1D13F-2069-3157-0FFB-E4A5364D9B24}"/>
              </a:ext>
            </a:extLst>
          </p:cNvPr>
          <p:cNvSpPr txBox="1"/>
          <p:nvPr/>
        </p:nvSpPr>
        <p:spPr>
          <a:xfrm>
            <a:off x="400175" y="2150388"/>
            <a:ext cx="1023342" cy="1159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(System)</a:t>
            </a:r>
            <a:endParaRPr lang="en-US" sz="970" dirty="0"/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66B277C5-9A83-27B6-292E-D4F4C411A94F}"/>
              </a:ext>
            </a:extLst>
          </p:cNvPr>
          <p:cNvSpPr/>
          <p:nvPr/>
        </p:nvSpPr>
        <p:spPr>
          <a:xfrm>
            <a:off x="366063" y="3310176"/>
            <a:ext cx="8411873" cy="1159788"/>
          </a:xfrm>
          <a:prstGeom prst="rect">
            <a:avLst/>
          </a:prstGeom>
          <a:solidFill>
            <a:srgbClr val="FFFFFF"/>
          </a:solidFill>
          <a:ln w="9525">
            <a:solidFill>
              <a:srgbClr val="C9D2CD"/>
            </a:solidFill>
            <a:prstDash val="solid"/>
          </a:ln>
        </p:spPr>
        <p:txBody>
          <a:bodyPr/>
          <a:lstStyle/>
          <a:p>
            <a:endParaRPr lang="de-DE" sz="1343"/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0966F943-8E6E-236E-F6F5-5F66867E6391}"/>
              </a:ext>
            </a:extLst>
          </p:cNvPr>
          <p:cNvSpPr/>
          <p:nvPr/>
        </p:nvSpPr>
        <p:spPr>
          <a:xfrm>
            <a:off x="366064" y="3310176"/>
            <a:ext cx="1091565" cy="1159788"/>
          </a:xfrm>
          <a:prstGeom prst="rect">
            <a:avLst/>
          </a:prstGeom>
          <a:solidFill>
            <a:srgbClr val="4A5C66"/>
          </a:solidFill>
          <a:ln w="9525">
            <a:solidFill>
              <a:srgbClr val="4A5C66"/>
            </a:solidFill>
            <a:prstDash val="solid"/>
          </a:ln>
        </p:spPr>
        <p:txBody>
          <a:bodyPr/>
          <a:lstStyle/>
          <a:p>
            <a:endParaRPr lang="de-DE" sz="1343"/>
          </a:p>
        </p:txBody>
      </p:sp>
      <p:sp>
        <p:nvSpPr>
          <p:cNvPr id="12" name="Text 12">
            <a:extLst>
              <a:ext uri="{FF2B5EF4-FFF2-40B4-BE49-F238E27FC236}">
                <a16:creationId xmlns:a16="http://schemas.microsoft.com/office/drawing/2014/main" id="{DA94CDAF-5073-5831-FA46-90560915F5CE}"/>
              </a:ext>
            </a:extLst>
          </p:cNvPr>
          <p:cNvSpPr txBox="1"/>
          <p:nvPr/>
        </p:nvSpPr>
        <p:spPr>
          <a:xfrm>
            <a:off x="400175" y="3310176"/>
            <a:ext cx="1023342" cy="1159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Erstprüfer:in</a:t>
            </a:r>
            <a:endParaRPr lang="en-US" sz="970" dirty="0"/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8E3DC9D7-716F-B7AA-2D14-AF19E574D539}"/>
              </a:ext>
            </a:extLst>
          </p:cNvPr>
          <p:cNvSpPr/>
          <p:nvPr/>
        </p:nvSpPr>
        <p:spPr>
          <a:xfrm>
            <a:off x="1798743" y="1447693"/>
            <a:ext cx="245602" cy="24560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4A5C66"/>
            </a:solidFill>
            <a:prstDash val="solid"/>
          </a:ln>
        </p:spPr>
        <p:txBody>
          <a:bodyPr/>
          <a:lstStyle/>
          <a:p>
            <a:endParaRPr lang="de-DE" sz="1343"/>
          </a:p>
        </p:txBody>
      </p:sp>
      <p:sp>
        <p:nvSpPr>
          <p:cNvPr id="14" name="Text 14">
            <a:extLst>
              <a:ext uri="{FF2B5EF4-FFF2-40B4-BE49-F238E27FC236}">
                <a16:creationId xmlns:a16="http://schemas.microsoft.com/office/drawing/2014/main" id="{F23DA37A-6136-2A8F-2121-28FFFA59DC93}"/>
              </a:ext>
            </a:extLst>
          </p:cNvPr>
          <p:cNvSpPr txBox="1"/>
          <p:nvPr/>
        </p:nvSpPr>
        <p:spPr>
          <a:xfrm>
            <a:off x="1614541" y="1720584"/>
            <a:ext cx="614005" cy="27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709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Verlängerung nötig</a:t>
            </a:r>
            <a:endParaRPr lang="en-US" sz="709" dirty="0">
              <a:solidFill>
                <a:srgbClr val="4A5C66"/>
              </a:solidFill>
            </a:endParaRP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360EF300-6620-709E-B3D7-252A396F7570}"/>
              </a:ext>
            </a:extLst>
          </p:cNvPr>
          <p:cNvSpPr/>
          <p:nvPr/>
        </p:nvSpPr>
        <p:spPr>
          <a:xfrm>
            <a:off x="2180790" y="1297603"/>
            <a:ext cx="716340" cy="545783"/>
          </a:xfrm>
          <a:prstGeom prst="roundRect">
            <a:avLst>
              <a:gd name="adj" fmla="val 7500"/>
            </a:avLst>
          </a:prstGeom>
          <a:solidFill>
            <a:srgbClr val="E4F2C2"/>
          </a:solidFill>
          <a:ln w="12700">
            <a:solidFill>
              <a:srgbClr val="8FB04A"/>
            </a:solidFill>
            <a:prstDash val="solid"/>
          </a:ln>
        </p:spPr>
        <p:txBody>
          <a:bodyPr/>
          <a:lstStyle/>
          <a:p>
            <a:endParaRPr lang="de-DE" sz="1343"/>
          </a:p>
        </p:txBody>
      </p:sp>
      <p:sp>
        <p:nvSpPr>
          <p:cNvPr id="16" name="Text 16">
            <a:extLst>
              <a:ext uri="{FF2B5EF4-FFF2-40B4-BE49-F238E27FC236}">
                <a16:creationId xmlns:a16="http://schemas.microsoft.com/office/drawing/2014/main" id="{F33ED92E-3A08-6ABE-24B2-DB69EA3B8AA1}"/>
              </a:ext>
            </a:extLst>
          </p:cNvPr>
          <p:cNvSpPr txBox="1"/>
          <p:nvPr/>
        </p:nvSpPr>
        <p:spPr>
          <a:xfrm>
            <a:off x="2221724" y="1297603"/>
            <a:ext cx="634472" cy="545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46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Arbeit wählen, Antrag starten (5.3.1)</a:t>
            </a:r>
            <a:endParaRPr lang="en-US" sz="746" dirty="0">
              <a:solidFill>
                <a:srgbClr val="2F3E46"/>
              </a:solidFill>
            </a:endParaRP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92BBEB71-BFFC-6C71-F1DF-BCDBB1A3930F}"/>
              </a:ext>
            </a:extLst>
          </p:cNvPr>
          <p:cNvSpPr/>
          <p:nvPr/>
        </p:nvSpPr>
        <p:spPr>
          <a:xfrm>
            <a:off x="3033575" y="1297603"/>
            <a:ext cx="716340" cy="545783"/>
          </a:xfrm>
          <a:prstGeom prst="roundRect">
            <a:avLst>
              <a:gd name="adj" fmla="val 7500"/>
            </a:avLst>
          </a:prstGeom>
          <a:solidFill>
            <a:srgbClr val="E4F2C2"/>
          </a:solidFill>
          <a:ln w="12700">
            <a:solidFill>
              <a:srgbClr val="8FB04A"/>
            </a:solidFill>
            <a:prstDash val="solid"/>
          </a:ln>
        </p:spPr>
        <p:txBody>
          <a:bodyPr/>
          <a:lstStyle/>
          <a:p>
            <a:endParaRPr lang="de-DE" sz="1343"/>
          </a:p>
        </p:txBody>
      </p:sp>
      <p:sp>
        <p:nvSpPr>
          <p:cNvPr id="18" name="Text 18">
            <a:extLst>
              <a:ext uri="{FF2B5EF4-FFF2-40B4-BE49-F238E27FC236}">
                <a16:creationId xmlns:a16="http://schemas.microsoft.com/office/drawing/2014/main" id="{8B0BD45B-990C-C37D-9F11-1F9109B75BC9}"/>
              </a:ext>
            </a:extLst>
          </p:cNvPr>
          <p:cNvSpPr txBox="1"/>
          <p:nvPr/>
        </p:nvSpPr>
        <p:spPr>
          <a:xfrm>
            <a:off x="3074509" y="1297603"/>
            <a:ext cx="634472" cy="545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46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 prüfen, Grund angeben (5.3.2)</a:t>
            </a:r>
            <a:endParaRPr lang="en-US" sz="746" dirty="0">
              <a:solidFill>
                <a:srgbClr val="2F3E46"/>
              </a:solidFill>
            </a:endParaRPr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530241F7-26EA-6FF4-4041-FD88B25B6D6C}"/>
              </a:ext>
            </a:extLst>
          </p:cNvPr>
          <p:cNvSpPr/>
          <p:nvPr/>
        </p:nvSpPr>
        <p:spPr>
          <a:xfrm>
            <a:off x="3886361" y="1427226"/>
            <a:ext cx="286536" cy="286536"/>
          </a:xfrm>
          <a:prstGeom prst="diamond">
            <a:avLst/>
          </a:prstGeom>
          <a:solidFill>
            <a:srgbClr val="FFFFFF"/>
          </a:solidFill>
          <a:ln w="15875">
            <a:solidFill>
              <a:srgbClr val="4A5C66"/>
            </a:solidFill>
            <a:prstDash val="solid"/>
          </a:ln>
        </p:spPr>
        <p:txBody>
          <a:bodyPr/>
          <a:lstStyle/>
          <a:p>
            <a:endParaRPr lang="de-DE" sz="1343"/>
          </a:p>
        </p:txBody>
      </p:sp>
      <p:sp>
        <p:nvSpPr>
          <p:cNvPr id="20" name="Shape 20">
            <a:extLst>
              <a:ext uri="{FF2B5EF4-FFF2-40B4-BE49-F238E27FC236}">
                <a16:creationId xmlns:a16="http://schemas.microsoft.com/office/drawing/2014/main" id="{A8449D2E-44E0-6019-4F42-9F586E08189F}"/>
              </a:ext>
            </a:extLst>
          </p:cNvPr>
          <p:cNvSpPr/>
          <p:nvPr/>
        </p:nvSpPr>
        <p:spPr>
          <a:xfrm>
            <a:off x="3961406" y="1502271"/>
            <a:ext cx="136446" cy="136446"/>
          </a:xfrm>
          <a:prstGeom prst="line">
            <a:avLst/>
          </a:prstGeom>
          <a:noFill/>
          <a:ln w="19050">
            <a:solidFill>
              <a:srgbClr val="4A5C66"/>
            </a:solidFill>
            <a:prstDash val="solid"/>
          </a:ln>
        </p:spPr>
        <p:txBody>
          <a:bodyPr/>
          <a:lstStyle/>
          <a:p>
            <a:endParaRPr lang="de-DE" sz="1343"/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E46EB832-1D03-9CC0-8409-FC6D216CBE92}"/>
              </a:ext>
            </a:extLst>
          </p:cNvPr>
          <p:cNvSpPr/>
          <p:nvPr/>
        </p:nvSpPr>
        <p:spPr>
          <a:xfrm flipV="1">
            <a:off x="3961406" y="1502271"/>
            <a:ext cx="136446" cy="136446"/>
          </a:xfrm>
          <a:prstGeom prst="line">
            <a:avLst/>
          </a:prstGeom>
          <a:noFill/>
          <a:ln w="19050">
            <a:solidFill>
              <a:srgbClr val="4A5C66"/>
            </a:solidFill>
            <a:prstDash val="solid"/>
          </a:ln>
        </p:spPr>
        <p:txBody>
          <a:bodyPr/>
          <a:lstStyle/>
          <a:p>
            <a:endParaRPr lang="de-DE" sz="1343"/>
          </a:p>
        </p:txBody>
      </p:sp>
      <p:sp>
        <p:nvSpPr>
          <p:cNvPr id="22" name="Text 22">
            <a:extLst>
              <a:ext uri="{FF2B5EF4-FFF2-40B4-BE49-F238E27FC236}">
                <a16:creationId xmlns:a16="http://schemas.microsoft.com/office/drawing/2014/main" id="{A293B038-2FA3-C165-0AE5-DE29C6721382}"/>
              </a:ext>
            </a:extLst>
          </p:cNvPr>
          <p:cNvSpPr txBox="1"/>
          <p:nvPr/>
        </p:nvSpPr>
        <p:spPr>
          <a:xfrm>
            <a:off x="3620293" y="1106579"/>
            <a:ext cx="818674" cy="286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709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 vorhanden?</a:t>
            </a:r>
            <a:endParaRPr lang="en-US" sz="709" dirty="0">
              <a:solidFill>
                <a:srgbClr val="4A5C66"/>
              </a:solidFill>
            </a:endParaRPr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ACD893D0-57ED-71D1-3FB3-D9C52D8EEBA2}"/>
              </a:ext>
            </a:extLst>
          </p:cNvPr>
          <p:cNvSpPr/>
          <p:nvPr/>
        </p:nvSpPr>
        <p:spPr>
          <a:xfrm>
            <a:off x="4309342" y="1297603"/>
            <a:ext cx="716340" cy="545783"/>
          </a:xfrm>
          <a:prstGeom prst="roundRect">
            <a:avLst>
              <a:gd name="adj" fmla="val 7500"/>
            </a:avLst>
          </a:prstGeom>
          <a:solidFill>
            <a:srgbClr val="E4F2C2"/>
          </a:solidFill>
          <a:ln w="12700">
            <a:solidFill>
              <a:srgbClr val="8FB04A"/>
            </a:solidFill>
            <a:prstDash val="solid"/>
          </a:ln>
        </p:spPr>
        <p:txBody>
          <a:bodyPr/>
          <a:lstStyle/>
          <a:p>
            <a:endParaRPr lang="de-DE" sz="1343"/>
          </a:p>
        </p:txBody>
      </p:sp>
      <p:sp>
        <p:nvSpPr>
          <p:cNvPr id="24" name="Text 24">
            <a:extLst>
              <a:ext uri="{FF2B5EF4-FFF2-40B4-BE49-F238E27FC236}">
                <a16:creationId xmlns:a16="http://schemas.microsoft.com/office/drawing/2014/main" id="{9DF80598-82F2-78AE-6E03-9F8286E93C3D}"/>
              </a:ext>
            </a:extLst>
          </p:cNvPr>
          <p:cNvSpPr txBox="1"/>
          <p:nvPr/>
        </p:nvSpPr>
        <p:spPr>
          <a:xfrm>
            <a:off x="4350276" y="1297603"/>
            <a:ext cx="634472" cy="545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46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 hochladen</a:t>
            </a:r>
            <a:endParaRPr lang="en-US" sz="746" dirty="0">
              <a:solidFill>
                <a:srgbClr val="2F3E46"/>
              </a:solidFill>
            </a:endParaRPr>
          </a:p>
        </p:txBody>
      </p:sp>
      <p:sp>
        <p:nvSpPr>
          <p:cNvPr id="26" name="Shape 25">
            <a:extLst>
              <a:ext uri="{FF2B5EF4-FFF2-40B4-BE49-F238E27FC236}">
                <a16:creationId xmlns:a16="http://schemas.microsoft.com/office/drawing/2014/main" id="{C023FC49-96BE-506B-E64C-04B6379DCC0D}"/>
              </a:ext>
            </a:extLst>
          </p:cNvPr>
          <p:cNvSpPr/>
          <p:nvPr/>
        </p:nvSpPr>
        <p:spPr>
          <a:xfrm>
            <a:off x="5162128" y="1427226"/>
            <a:ext cx="286536" cy="286536"/>
          </a:xfrm>
          <a:prstGeom prst="diamond">
            <a:avLst/>
          </a:prstGeom>
          <a:solidFill>
            <a:srgbClr val="FFFFFF"/>
          </a:solidFill>
          <a:ln w="15875">
            <a:solidFill>
              <a:srgbClr val="4A5C66"/>
            </a:solidFill>
            <a:prstDash val="solid"/>
          </a:ln>
        </p:spPr>
        <p:txBody>
          <a:bodyPr/>
          <a:lstStyle/>
          <a:p>
            <a:endParaRPr lang="de-DE" sz="1343"/>
          </a:p>
        </p:txBody>
      </p:sp>
      <p:sp>
        <p:nvSpPr>
          <p:cNvPr id="27" name="Shape 26">
            <a:extLst>
              <a:ext uri="{FF2B5EF4-FFF2-40B4-BE49-F238E27FC236}">
                <a16:creationId xmlns:a16="http://schemas.microsoft.com/office/drawing/2014/main" id="{50D480DA-225F-5317-C518-30F2FD450070}"/>
              </a:ext>
            </a:extLst>
          </p:cNvPr>
          <p:cNvSpPr/>
          <p:nvPr/>
        </p:nvSpPr>
        <p:spPr>
          <a:xfrm>
            <a:off x="5237173" y="1502271"/>
            <a:ext cx="136446" cy="136446"/>
          </a:xfrm>
          <a:prstGeom prst="line">
            <a:avLst/>
          </a:prstGeom>
          <a:noFill/>
          <a:ln w="19050">
            <a:solidFill>
              <a:srgbClr val="4A5C66"/>
            </a:solidFill>
            <a:prstDash val="solid"/>
          </a:ln>
        </p:spPr>
        <p:txBody>
          <a:bodyPr/>
          <a:lstStyle/>
          <a:p>
            <a:endParaRPr lang="de-DE" sz="1343"/>
          </a:p>
        </p:txBody>
      </p:sp>
      <p:sp>
        <p:nvSpPr>
          <p:cNvPr id="28" name="Shape 27">
            <a:extLst>
              <a:ext uri="{FF2B5EF4-FFF2-40B4-BE49-F238E27FC236}">
                <a16:creationId xmlns:a16="http://schemas.microsoft.com/office/drawing/2014/main" id="{537B573C-4FD8-F90A-249C-D55EE701AB64}"/>
              </a:ext>
            </a:extLst>
          </p:cNvPr>
          <p:cNvSpPr/>
          <p:nvPr/>
        </p:nvSpPr>
        <p:spPr>
          <a:xfrm flipV="1">
            <a:off x="5237173" y="1502271"/>
            <a:ext cx="136446" cy="136446"/>
          </a:xfrm>
          <a:prstGeom prst="line">
            <a:avLst/>
          </a:prstGeom>
          <a:noFill/>
          <a:ln w="19050">
            <a:solidFill>
              <a:srgbClr val="4A5C66"/>
            </a:solidFill>
            <a:prstDash val="solid"/>
          </a:ln>
        </p:spPr>
        <p:txBody>
          <a:bodyPr/>
          <a:lstStyle/>
          <a:p>
            <a:endParaRPr lang="de-DE" sz="1343"/>
          </a:p>
        </p:txBody>
      </p:sp>
      <p:sp>
        <p:nvSpPr>
          <p:cNvPr id="29" name="Shape 28">
            <a:extLst>
              <a:ext uri="{FF2B5EF4-FFF2-40B4-BE49-F238E27FC236}">
                <a16:creationId xmlns:a16="http://schemas.microsoft.com/office/drawing/2014/main" id="{FB551D9D-B48D-2A99-9879-1995A5DB8A53}"/>
              </a:ext>
            </a:extLst>
          </p:cNvPr>
          <p:cNvSpPr/>
          <p:nvPr/>
        </p:nvSpPr>
        <p:spPr>
          <a:xfrm>
            <a:off x="5585108" y="1297603"/>
            <a:ext cx="716340" cy="545783"/>
          </a:xfrm>
          <a:prstGeom prst="roundRect">
            <a:avLst>
              <a:gd name="adj" fmla="val 7500"/>
            </a:avLst>
          </a:prstGeom>
          <a:solidFill>
            <a:srgbClr val="E4F2C2"/>
          </a:solidFill>
          <a:ln w="12700">
            <a:solidFill>
              <a:srgbClr val="8FB04A"/>
            </a:solidFill>
            <a:prstDash val="solid"/>
          </a:ln>
        </p:spPr>
        <p:txBody>
          <a:bodyPr/>
          <a:lstStyle/>
          <a:p>
            <a:endParaRPr lang="de-DE" sz="1343"/>
          </a:p>
        </p:txBody>
      </p:sp>
      <p:sp>
        <p:nvSpPr>
          <p:cNvPr id="30" name="Text 29">
            <a:extLst>
              <a:ext uri="{FF2B5EF4-FFF2-40B4-BE49-F238E27FC236}">
                <a16:creationId xmlns:a16="http://schemas.microsoft.com/office/drawing/2014/main" id="{349D108D-2B30-3580-36CC-3ED8FDE3F277}"/>
              </a:ext>
            </a:extLst>
          </p:cNvPr>
          <p:cNvSpPr txBox="1"/>
          <p:nvPr/>
        </p:nvSpPr>
        <p:spPr>
          <a:xfrm>
            <a:off x="5626042" y="1297603"/>
            <a:ext cx="634472" cy="545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46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Antrag absenden (5.3.3)</a:t>
            </a:r>
            <a:endParaRPr lang="en-US" sz="746" dirty="0">
              <a:solidFill>
                <a:srgbClr val="2F3E46"/>
              </a:solidFill>
            </a:endParaRPr>
          </a:p>
        </p:txBody>
      </p:sp>
      <p:sp>
        <p:nvSpPr>
          <p:cNvPr id="31" name="Shape 30">
            <a:extLst>
              <a:ext uri="{FF2B5EF4-FFF2-40B4-BE49-F238E27FC236}">
                <a16:creationId xmlns:a16="http://schemas.microsoft.com/office/drawing/2014/main" id="{4FB565FB-F358-35AE-21C9-97B664CEE621}"/>
              </a:ext>
            </a:extLst>
          </p:cNvPr>
          <p:cNvSpPr/>
          <p:nvPr/>
        </p:nvSpPr>
        <p:spPr>
          <a:xfrm>
            <a:off x="6437894" y="1427226"/>
            <a:ext cx="286536" cy="286536"/>
          </a:xfrm>
          <a:prstGeom prst="diamond">
            <a:avLst/>
          </a:prstGeom>
          <a:solidFill>
            <a:srgbClr val="FFFFFF"/>
          </a:solidFill>
          <a:ln w="15875">
            <a:solidFill>
              <a:srgbClr val="4A5C66"/>
            </a:solidFill>
            <a:prstDash val="solid"/>
          </a:ln>
        </p:spPr>
        <p:txBody>
          <a:bodyPr/>
          <a:lstStyle/>
          <a:p>
            <a:endParaRPr lang="de-DE" sz="1343"/>
          </a:p>
        </p:txBody>
      </p:sp>
      <p:sp>
        <p:nvSpPr>
          <p:cNvPr id="32" name="Shape 31">
            <a:extLst>
              <a:ext uri="{FF2B5EF4-FFF2-40B4-BE49-F238E27FC236}">
                <a16:creationId xmlns:a16="http://schemas.microsoft.com/office/drawing/2014/main" id="{9D168D18-DD37-A2C4-26A6-D2FE31EF95B6}"/>
              </a:ext>
            </a:extLst>
          </p:cNvPr>
          <p:cNvSpPr/>
          <p:nvPr/>
        </p:nvSpPr>
        <p:spPr>
          <a:xfrm>
            <a:off x="6499294" y="1570494"/>
            <a:ext cx="163735" cy="0"/>
          </a:xfrm>
          <a:prstGeom prst="line">
            <a:avLst/>
          </a:prstGeom>
          <a:noFill/>
          <a:ln w="19050">
            <a:solidFill>
              <a:srgbClr val="4A5C66"/>
            </a:solidFill>
            <a:prstDash val="solid"/>
          </a:ln>
        </p:spPr>
        <p:txBody>
          <a:bodyPr/>
          <a:lstStyle/>
          <a:p>
            <a:endParaRPr lang="de-DE" sz="1343"/>
          </a:p>
        </p:txBody>
      </p:sp>
      <p:sp>
        <p:nvSpPr>
          <p:cNvPr id="33" name="Shape 32">
            <a:extLst>
              <a:ext uri="{FF2B5EF4-FFF2-40B4-BE49-F238E27FC236}">
                <a16:creationId xmlns:a16="http://schemas.microsoft.com/office/drawing/2014/main" id="{59D0EE92-D2C1-CB68-E854-84EB93B8175E}"/>
              </a:ext>
            </a:extLst>
          </p:cNvPr>
          <p:cNvSpPr/>
          <p:nvPr/>
        </p:nvSpPr>
        <p:spPr>
          <a:xfrm>
            <a:off x="6581163" y="1488627"/>
            <a:ext cx="0" cy="163735"/>
          </a:xfrm>
          <a:prstGeom prst="line">
            <a:avLst/>
          </a:prstGeom>
          <a:noFill/>
          <a:ln w="19050">
            <a:solidFill>
              <a:srgbClr val="4A5C66"/>
            </a:solidFill>
            <a:prstDash val="solid"/>
          </a:ln>
        </p:spPr>
        <p:txBody>
          <a:bodyPr/>
          <a:lstStyle/>
          <a:p>
            <a:endParaRPr lang="de-DE" sz="1343"/>
          </a:p>
        </p:txBody>
      </p:sp>
      <p:sp>
        <p:nvSpPr>
          <p:cNvPr id="34" name="Shape 33">
            <a:extLst>
              <a:ext uri="{FF2B5EF4-FFF2-40B4-BE49-F238E27FC236}">
                <a16:creationId xmlns:a16="http://schemas.microsoft.com/office/drawing/2014/main" id="{2657EBDB-D1C1-DD40-3D7F-EA204E67BB08}"/>
              </a:ext>
            </a:extLst>
          </p:cNvPr>
          <p:cNvSpPr/>
          <p:nvPr/>
        </p:nvSpPr>
        <p:spPr>
          <a:xfrm>
            <a:off x="6860876" y="1297603"/>
            <a:ext cx="716340" cy="545783"/>
          </a:xfrm>
          <a:prstGeom prst="roundRect">
            <a:avLst>
              <a:gd name="adj" fmla="val 7500"/>
            </a:avLst>
          </a:prstGeom>
          <a:solidFill>
            <a:srgbClr val="E4F2C2"/>
          </a:solidFill>
          <a:ln w="12700">
            <a:solidFill>
              <a:srgbClr val="8FB04A"/>
            </a:solidFill>
            <a:prstDash val="solid"/>
          </a:ln>
        </p:spPr>
        <p:txBody>
          <a:bodyPr/>
          <a:lstStyle/>
          <a:p>
            <a:endParaRPr lang="de-DE" sz="1343"/>
          </a:p>
        </p:txBody>
      </p:sp>
      <p:sp>
        <p:nvSpPr>
          <p:cNvPr id="35" name="Text 34">
            <a:extLst>
              <a:ext uri="{FF2B5EF4-FFF2-40B4-BE49-F238E27FC236}">
                <a16:creationId xmlns:a16="http://schemas.microsoft.com/office/drawing/2014/main" id="{B9B7D2C1-C9DC-D460-0E75-B6A3A460878D}"/>
              </a:ext>
            </a:extLst>
          </p:cNvPr>
          <p:cNvSpPr txBox="1"/>
          <p:nvPr/>
        </p:nvSpPr>
        <p:spPr>
          <a:xfrm>
            <a:off x="6901810" y="1297603"/>
            <a:ext cx="634472" cy="545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46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im Portal sehen (5.3.3)</a:t>
            </a:r>
            <a:endParaRPr lang="en-US" sz="746" dirty="0">
              <a:solidFill>
                <a:srgbClr val="2F3E46"/>
              </a:solidFill>
            </a:endParaRPr>
          </a:p>
        </p:txBody>
      </p:sp>
      <p:sp>
        <p:nvSpPr>
          <p:cNvPr id="36" name="Shape 35">
            <a:extLst>
              <a:ext uri="{FF2B5EF4-FFF2-40B4-BE49-F238E27FC236}">
                <a16:creationId xmlns:a16="http://schemas.microsoft.com/office/drawing/2014/main" id="{69848AC4-83C4-FBBA-9F3B-58BE70199444}"/>
              </a:ext>
            </a:extLst>
          </p:cNvPr>
          <p:cNvSpPr/>
          <p:nvPr/>
        </p:nvSpPr>
        <p:spPr>
          <a:xfrm>
            <a:off x="7075777" y="2587014"/>
            <a:ext cx="286536" cy="286536"/>
          </a:xfrm>
          <a:prstGeom prst="diamond">
            <a:avLst/>
          </a:prstGeom>
          <a:solidFill>
            <a:srgbClr val="FFFFFF"/>
          </a:solidFill>
          <a:ln w="15875">
            <a:solidFill>
              <a:srgbClr val="4A5C66"/>
            </a:solidFill>
            <a:prstDash val="solid"/>
          </a:ln>
        </p:spPr>
        <p:txBody>
          <a:bodyPr/>
          <a:lstStyle/>
          <a:p>
            <a:endParaRPr lang="de-DE" sz="1343"/>
          </a:p>
        </p:txBody>
      </p:sp>
      <p:sp>
        <p:nvSpPr>
          <p:cNvPr id="37" name="Shape 36">
            <a:extLst>
              <a:ext uri="{FF2B5EF4-FFF2-40B4-BE49-F238E27FC236}">
                <a16:creationId xmlns:a16="http://schemas.microsoft.com/office/drawing/2014/main" id="{661F895C-4759-B0FE-A09B-72F30A840F2F}"/>
              </a:ext>
            </a:extLst>
          </p:cNvPr>
          <p:cNvSpPr/>
          <p:nvPr/>
        </p:nvSpPr>
        <p:spPr>
          <a:xfrm>
            <a:off x="7137178" y="2730282"/>
            <a:ext cx="163735" cy="0"/>
          </a:xfrm>
          <a:prstGeom prst="line">
            <a:avLst/>
          </a:prstGeom>
          <a:noFill/>
          <a:ln w="19050">
            <a:solidFill>
              <a:srgbClr val="4A5C66"/>
            </a:solidFill>
            <a:prstDash val="solid"/>
          </a:ln>
        </p:spPr>
        <p:txBody>
          <a:bodyPr/>
          <a:lstStyle/>
          <a:p>
            <a:endParaRPr lang="de-DE" sz="1343"/>
          </a:p>
        </p:txBody>
      </p:sp>
      <p:sp>
        <p:nvSpPr>
          <p:cNvPr id="38" name="Shape 37">
            <a:extLst>
              <a:ext uri="{FF2B5EF4-FFF2-40B4-BE49-F238E27FC236}">
                <a16:creationId xmlns:a16="http://schemas.microsoft.com/office/drawing/2014/main" id="{A3A16F4D-03EA-D60F-3A38-98F4A580F8F2}"/>
              </a:ext>
            </a:extLst>
          </p:cNvPr>
          <p:cNvSpPr/>
          <p:nvPr/>
        </p:nvSpPr>
        <p:spPr>
          <a:xfrm>
            <a:off x="7219045" y="2648414"/>
            <a:ext cx="0" cy="163735"/>
          </a:xfrm>
          <a:prstGeom prst="line">
            <a:avLst/>
          </a:prstGeom>
          <a:noFill/>
          <a:ln w="19050">
            <a:solidFill>
              <a:srgbClr val="4A5C66"/>
            </a:solidFill>
            <a:prstDash val="solid"/>
          </a:ln>
        </p:spPr>
        <p:txBody>
          <a:bodyPr/>
          <a:lstStyle/>
          <a:p>
            <a:endParaRPr lang="de-DE" sz="1343"/>
          </a:p>
        </p:txBody>
      </p:sp>
      <p:sp>
        <p:nvSpPr>
          <p:cNvPr id="39" name="Shape 38">
            <a:extLst>
              <a:ext uri="{FF2B5EF4-FFF2-40B4-BE49-F238E27FC236}">
                <a16:creationId xmlns:a16="http://schemas.microsoft.com/office/drawing/2014/main" id="{3790D2A4-7A3C-439A-8D25-C6C526DB426B}"/>
              </a:ext>
            </a:extLst>
          </p:cNvPr>
          <p:cNvSpPr/>
          <p:nvPr/>
        </p:nvSpPr>
        <p:spPr>
          <a:xfrm>
            <a:off x="8136642" y="2607481"/>
            <a:ext cx="245602" cy="245602"/>
          </a:xfrm>
          <a:prstGeom prst="ellipse">
            <a:avLst/>
          </a:prstGeom>
          <a:solidFill>
            <a:srgbClr val="FFFFFF"/>
          </a:solidFill>
          <a:ln w="44450">
            <a:solidFill>
              <a:srgbClr val="4A5C66"/>
            </a:solidFill>
            <a:prstDash val="solid"/>
          </a:ln>
        </p:spPr>
        <p:txBody>
          <a:bodyPr/>
          <a:lstStyle/>
          <a:p>
            <a:endParaRPr lang="de-DE" sz="1343"/>
          </a:p>
        </p:txBody>
      </p:sp>
      <p:sp>
        <p:nvSpPr>
          <p:cNvPr id="40" name="Text 39">
            <a:extLst>
              <a:ext uri="{FF2B5EF4-FFF2-40B4-BE49-F238E27FC236}">
                <a16:creationId xmlns:a16="http://schemas.microsoft.com/office/drawing/2014/main" id="{AFA5C2C1-26CF-E9C7-4217-663B8C782263}"/>
              </a:ext>
            </a:extLst>
          </p:cNvPr>
          <p:cNvSpPr txBox="1"/>
          <p:nvPr/>
        </p:nvSpPr>
        <p:spPr>
          <a:xfrm>
            <a:off x="7850106" y="2894017"/>
            <a:ext cx="818674" cy="27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709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Antrag im System bestätigt</a:t>
            </a:r>
            <a:endParaRPr lang="en-US" sz="709" dirty="0">
              <a:solidFill>
                <a:srgbClr val="4A5C66"/>
              </a:solidFill>
            </a:endParaRPr>
          </a:p>
        </p:txBody>
      </p:sp>
      <p:sp>
        <p:nvSpPr>
          <p:cNvPr id="41" name="Shape 40">
            <a:extLst>
              <a:ext uri="{FF2B5EF4-FFF2-40B4-BE49-F238E27FC236}">
                <a16:creationId xmlns:a16="http://schemas.microsoft.com/office/drawing/2014/main" id="{7772DB47-9B2B-1634-8375-F811573827B7}"/>
              </a:ext>
            </a:extLst>
          </p:cNvPr>
          <p:cNvSpPr/>
          <p:nvPr/>
        </p:nvSpPr>
        <p:spPr>
          <a:xfrm>
            <a:off x="2044345" y="1570494"/>
            <a:ext cx="136446" cy="0"/>
          </a:xfrm>
          <a:prstGeom prst="line">
            <a:avLst/>
          </a:prstGeom>
          <a:noFill/>
          <a:ln w="19050">
            <a:solidFill>
              <a:srgbClr val="4A5C66"/>
            </a:solidFill>
            <a:prstDash val="solid"/>
            <a:tailEnd type="triangle"/>
          </a:ln>
        </p:spPr>
        <p:txBody>
          <a:bodyPr/>
          <a:lstStyle/>
          <a:p>
            <a:endParaRPr lang="de-DE" sz="1343"/>
          </a:p>
        </p:txBody>
      </p:sp>
      <p:sp>
        <p:nvSpPr>
          <p:cNvPr id="42" name="Shape 41">
            <a:extLst>
              <a:ext uri="{FF2B5EF4-FFF2-40B4-BE49-F238E27FC236}">
                <a16:creationId xmlns:a16="http://schemas.microsoft.com/office/drawing/2014/main" id="{B1426DE0-5CC7-7504-6779-FED7A6E62037}"/>
              </a:ext>
            </a:extLst>
          </p:cNvPr>
          <p:cNvSpPr/>
          <p:nvPr/>
        </p:nvSpPr>
        <p:spPr>
          <a:xfrm>
            <a:off x="2897130" y="1570494"/>
            <a:ext cx="136446" cy="0"/>
          </a:xfrm>
          <a:prstGeom prst="line">
            <a:avLst/>
          </a:prstGeom>
          <a:noFill/>
          <a:ln w="19050">
            <a:solidFill>
              <a:srgbClr val="4A5C66"/>
            </a:solidFill>
            <a:prstDash val="solid"/>
            <a:tailEnd type="triangle"/>
          </a:ln>
        </p:spPr>
        <p:txBody>
          <a:bodyPr/>
          <a:lstStyle/>
          <a:p>
            <a:endParaRPr lang="de-DE" sz="1343"/>
          </a:p>
        </p:txBody>
      </p:sp>
      <p:sp>
        <p:nvSpPr>
          <p:cNvPr id="43" name="Shape 42">
            <a:extLst>
              <a:ext uri="{FF2B5EF4-FFF2-40B4-BE49-F238E27FC236}">
                <a16:creationId xmlns:a16="http://schemas.microsoft.com/office/drawing/2014/main" id="{055BF553-E575-2EFB-EB9B-0E39448CDAEB}"/>
              </a:ext>
            </a:extLst>
          </p:cNvPr>
          <p:cNvSpPr/>
          <p:nvPr/>
        </p:nvSpPr>
        <p:spPr>
          <a:xfrm>
            <a:off x="3749915" y="1570494"/>
            <a:ext cx="136446" cy="0"/>
          </a:xfrm>
          <a:prstGeom prst="line">
            <a:avLst/>
          </a:prstGeom>
          <a:noFill/>
          <a:ln w="19050">
            <a:solidFill>
              <a:srgbClr val="4A5C66"/>
            </a:solidFill>
            <a:prstDash val="solid"/>
            <a:tailEnd type="triangle"/>
          </a:ln>
        </p:spPr>
        <p:txBody>
          <a:bodyPr/>
          <a:lstStyle/>
          <a:p>
            <a:endParaRPr lang="de-DE" sz="1343"/>
          </a:p>
        </p:txBody>
      </p:sp>
      <p:sp>
        <p:nvSpPr>
          <p:cNvPr id="44" name="Shape 43">
            <a:extLst>
              <a:ext uri="{FF2B5EF4-FFF2-40B4-BE49-F238E27FC236}">
                <a16:creationId xmlns:a16="http://schemas.microsoft.com/office/drawing/2014/main" id="{E77DB809-A34A-308B-D403-049A3AA53499}"/>
              </a:ext>
            </a:extLst>
          </p:cNvPr>
          <p:cNvSpPr/>
          <p:nvPr/>
        </p:nvSpPr>
        <p:spPr>
          <a:xfrm>
            <a:off x="4172896" y="1570494"/>
            <a:ext cx="136446" cy="0"/>
          </a:xfrm>
          <a:prstGeom prst="line">
            <a:avLst/>
          </a:prstGeom>
          <a:noFill/>
          <a:ln w="19050">
            <a:solidFill>
              <a:srgbClr val="4A5C66"/>
            </a:solidFill>
            <a:prstDash val="solid"/>
            <a:tailEnd type="triangle"/>
          </a:ln>
        </p:spPr>
        <p:txBody>
          <a:bodyPr/>
          <a:lstStyle/>
          <a:p>
            <a:endParaRPr lang="de-DE" sz="1343"/>
          </a:p>
        </p:txBody>
      </p:sp>
      <p:sp>
        <p:nvSpPr>
          <p:cNvPr id="45" name="Shape 44">
            <a:extLst>
              <a:ext uri="{FF2B5EF4-FFF2-40B4-BE49-F238E27FC236}">
                <a16:creationId xmlns:a16="http://schemas.microsoft.com/office/drawing/2014/main" id="{5F99C650-71DF-AA12-141B-4A8D2268DCEE}"/>
              </a:ext>
            </a:extLst>
          </p:cNvPr>
          <p:cNvSpPr/>
          <p:nvPr/>
        </p:nvSpPr>
        <p:spPr>
          <a:xfrm>
            <a:off x="5025681" y="1570494"/>
            <a:ext cx="136446" cy="0"/>
          </a:xfrm>
          <a:prstGeom prst="line">
            <a:avLst/>
          </a:prstGeom>
          <a:noFill/>
          <a:ln w="19050">
            <a:solidFill>
              <a:srgbClr val="4A5C66"/>
            </a:solidFill>
            <a:prstDash val="solid"/>
            <a:tailEnd type="triangle"/>
          </a:ln>
        </p:spPr>
        <p:txBody>
          <a:bodyPr/>
          <a:lstStyle/>
          <a:p>
            <a:endParaRPr lang="de-DE" sz="1343"/>
          </a:p>
        </p:txBody>
      </p:sp>
      <p:sp>
        <p:nvSpPr>
          <p:cNvPr id="46" name="Shape 45">
            <a:extLst>
              <a:ext uri="{FF2B5EF4-FFF2-40B4-BE49-F238E27FC236}">
                <a16:creationId xmlns:a16="http://schemas.microsoft.com/office/drawing/2014/main" id="{1D917110-C7A4-4C4A-4182-9FD9BE2E2CAC}"/>
              </a:ext>
            </a:extLst>
          </p:cNvPr>
          <p:cNvSpPr/>
          <p:nvPr/>
        </p:nvSpPr>
        <p:spPr>
          <a:xfrm>
            <a:off x="5448664" y="1570494"/>
            <a:ext cx="136446" cy="0"/>
          </a:xfrm>
          <a:prstGeom prst="line">
            <a:avLst/>
          </a:prstGeom>
          <a:noFill/>
          <a:ln w="19050">
            <a:solidFill>
              <a:srgbClr val="4A5C66"/>
            </a:solidFill>
            <a:prstDash val="solid"/>
            <a:tailEnd type="triangle"/>
          </a:ln>
        </p:spPr>
        <p:txBody>
          <a:bodyPr/>
          <a:lstStyle/>
          <a:p>
            <a:endParaRPr lang="de-DE" sz="1343"/>
          </a:p>
        </p:txBody>
      </p:sp>
      <p:sp>
        <p:nvSpPr>
          <p:cNvPr id="47" name="Shape 46">
            <a:extLst>
              <a:ext uri="{FF2B5EF4-FFF2-40B4-BE49-F238E27FC236}">
                <a16:creationId xmlns:a16="http://schemas.microsoft.com/office/drawing/2014/main" id="{59622F95-483D-91B9-0507-0641A94721EC}"/>
              </a:ext>
            </a:extLst>
          </p:cNvPr>
          <p:cNvSpPr/>
          <p:nvPr/>
        </p:nvSpPr>
        <p:spPr>
          <a:xfrm>
            <a:off x="6301448" y="1570494"/>
            <a:ext cx="136446" cy="0"/>
          </a:xfrm>
          <a:prstGeom prst="line">
            <a:avLst/>
          </a:prstGeom>
          <a:noFill/>
          <a:ln w="19050">
            <a:solidFill>
              <a:srgbClr val="4A5C66"/>
            </a:solidFill>
            <a:prstDash val="solid"/>
            <a:tailEnd type="triangle"/>
          </a:ln>
        </p:spPr>
        <p:txBody>
          <a:bodyPr/>
          <a:lstStyle/>
          <a:p>
            <a:endParaRPr lang="de-DE" sz="1343"/>
          </a:p>
        </p:txBody>
      </p:sp>
      <p:sp>
        <p:nvSpPr>
          <p:cNvPr id="48" name="Shape 47">
            <a:extLst>
              <a:ext uri="{FF2B5EF4-FFF2-40B4-BE49-F238E27FC236}">
                <a16:creationId xmlns:a16="http://schemas.microsoft.com/office/drawing/2014/main" id="{74235896-9C74-725D-E6C4-82D757FB7C55}"/>
              </a:ext>
            </a:extLst>
          </p:cNvPr>
          <p:cNvSpPr/>
          <p:nvPr/>
        </p:nvSpPr>
        <p:spPr>
          <a:xfrm>
            <a:off x="6724431" y="1570494"/>
            <a:ext cx="136446" cy="0"/>
          </a:xfrm>
          <a:prstGeom prst="line">
            <a:avLst/>
          </a:prstGeom>
          <a:noFill/>
          <a:ln w="19050">
            <a:solidFill>
              <a:srgbClr val="4A5C66"/>
            </a:solidFill>
            <a:prstDash val="solid"/>
            <a:tailEnd type="triangle"/>
          </a:ln>
        </p:spPr>
        <p:txBody>
          <a:bodyPr/>
          <a:lstStyle/>
          <a:p>
            <a:endParaRPr lang="de-DE" sz="1343"/>
          </a:p>
        </p:txBody>
      </p:sp>
      <p:sp>
        <p:nvSpPr>
          <p:cNvPr id="49" name="Shape 48">
            <a:extLst>
              <a:ext uri="{FF2B5EF4-FFF2-40B4-BE49-F238E27FC236}">
                <a16:creationId xmlns:a16="http://schemas.microsoft.com/office/drawing/2014/main" id="{BB251E30-7BF4-2021-92A8-EB89F0513A59}"/>
              </a:ext>
            </a:extLst>
          </p:cNvPr>
          <p:cNvSpPr/>
          <p:nvPr/>
        </p:nvSpPr>
        <p:spPr>
          <a:xfrm>
            <a:off x="4029629" y="1713762"/>
            <a:ext cx="0" cy="279714"/>
          </a:xfrm>
          <a:prstGeom prst="line">
            <a:avLst/>
          </a:prstGeom>
          <a:noFill/>
          <a:ln w="19050">
            <a:solidFill>
              <a:srgbClr val="4A5C66"/>
            </a:solidFill>
            <a:prstDash val="solid"/>
          </a:ln>
        </p:spPr>
        <p:txBody>
          <a:bodyPr/>
          <a:lstStyle/>
          <a:p>
            <a:endParaRPr lang="de-DE" sz="1343"/>
          </a:p>
        </p:txBody>
      </p:sp>
      <p:sp>
        <p:nvSpPr>
          <p:cNvPr id="50" name="Shape 49">
            <a:extLst>
              <a:ext uri="{FF2B5EF4-FFF2-40B4-BE49-F238E27FC236}">
                <a16:creationId xmlns:a16="http://schemas.microsoft.com/office/drawing/2014/main" id="{E674775A-38AE-5AE3-8849-DDD03746999A}"/>
              </a:ext>
            </a:extLst>
          </p:cNvPr>
          <p:cNvSpPr/>
          <p:nvPr/>
        </p:nvSpPr>
        <p:spPr>
          <a:xfrm>
            <a:off x="4029628" y="1993475"/>
            <a:ext cx="1275767" cy="0"/>
          </a:xfrm>
          <a:prstGeom prst="line">
            <a:avLst/>
          </a:prstGeom>
          <a:noFill/>
          <a:ln w="19050">
            <a:solidFill>
              <a:srgbClr val="4A5C66"/>
            </a:solidFill>
            <a:prstDash val="solid"/>
          </a:ln>
        </p:spPr>
        <p:txBody>
          <a:bodyPr/>
          <a:lstStyle/>
          <a:p>
            <a:endParaRPr lang="de-DE" sz="1343"/>
          </a:p>
        </p:txBody>
      </p:sp>
      <p:sp>
        <p:nvSpPr>
          <p:cNvPr id="51" name="Shape 50">
            <a:extLst>
              <a:ext uri="{FF2B5EF4-FFF2-40B4-BE49-F238E27FC236}">
                <a16:creationId xmlns:a16="http://schemas.microsoft.com/office/drawing/2014/main" id="{8686B614-47B2-F95C-2F30-E55905160A9E}"/>
              </a:ext>
            </a:extLst>
          </p:cNvPr>
          <p:cNvSpPr/>
          <p:nvPr/>
        </p:nvSpPr>
        <p:spPr>
          <a:xfrm flipV="1">
            <a:off x="5305396" y="1713762"/>
            <a:ext cx="0" cy="279714"/>
          </a:xfrm>
          <a:prstGeom prst="line">
            <a:avLst/>
          </a:prstGeom>
          <a:noFill/>
          <a:ln w="19050">
            <a:solidFill>
              <a:srgbClr val="4A5C66"/>
            </a:solidFill>
            <a:prstDash val="solid"/>
            <a:tailEnd type="triangle"/>
          </a:ln>
        </p:spPr>
        <p:txBody>
          <a:bodyPr/>
          <a:lstStyle/>
          <a:p>
            <a:endParaRPr lang="de-DE" sz="1343"/>
          </a:p>
        </p:txBody>
      </p:sp>
      <p:sp>
        <p:nvSpPr>
          <p:cNvPr id="52" name="Text 51">
            <a:extLst>
              <a:ext uri="{FF2B5EF4-FFF2-40B4-BE49-F238E27FC236}">
                <a16:creationId xmlns:a16="http://schemas.microsoft.com/office/drawing/2014/main" id="{7BD76D03-B5D1-BD77-ED62-CEB30E34DD44}"/>
              </a:ext>
            </a:extLst>
          </p:cNvPr>
          <p:cNvSpPr txBox="1"/>
          <p:nvPr/>
        </p:nvSpPr>
        <p:spPr>
          <a:xfrm>
            <a:off x="4172897" y="1386293"/>
            <a:ext cx="170557" cy="204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709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</a:t>
            </a:r>
            <a:endParaRPr lang="en-US" sz="709" dirty="0">
              <a:solidFill>
                <a:srgbClr val="4A5C66"/>
              </a:solidFill>
            </a:endParaRPr>
          </a:p>
        </p:txBody>
      </p:sp>
      <p:sp>
        <p:nvSpPr>
          <p:cNvPr id="53" name="Text 52">
            <a:extLst>
              <a:ext uri="{FF2B5EF4-FFF2-40B4-BE49-F238E27FC236}">
                <a16:creationId xmlns:a16="http://schemas.microsoft.com/office/drawing/2014/main" id="{C74585F7-5C43-9732-0441-5ED20ED15184}"/>
              </a:ext>
            </a:extLst>
          </p:cNvPr>
          <p:cNvSpPr txBox="1"/>
          <p:nvPr/>
        </p:nvSpPr>
        <p:spPr>
          <a:xfrm>
            <a:off x="4050095" y="1788807"/>
            <a:ext cx="307003" cy="204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09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nein</a:t>
            </a:r>
            <a:endParaRPr lang="en-US" sz="709" dirty="0">
              <a:solidFill>
                <a:srgbClr val="4A5C66"/>
              </a:solidFill>
            </a:endParaRPr>
          </a:p>
        </p:txBody>
      </p:sp>
      <p:sp>
        <p:nvSpPr>
          <p:cNvPr id="54" name="Shape 53">
            <a:extLst>
              <a:ext uri="{FF2B5EF4-FFF2-40B4-BE49-F238E27FC236}">
                <a16:creationId xmlns:a16="http://schemas.microsoft.com/office/drawing/2014/main" id="{2EEFA69C-405E-D20D-A928-E566D06DF769}"/>
              </a:ext>
            </a:extLst>
          </p:cNvPr>
          <p:cNvSpPr/>
          <p:nvPr/>
        </p:nvSpPr>
        <p:spPr>
          <a:xfrm>
            <a:off x="6222992" y="2457390"/>
            <a:ext cx="716340" cy="545783"/>
          </a:xfrm>
          <a:prstGeom prst="roundRect">
            <a:avLst>
              <a:gd name="adj" fmla="val 7500"/>
            </a:avLst>
          </a:prstGeom>
          <a:solidFill>
            <a:srgbClr val="E4F2C2"/>
          </a:solidFill>
          <a:ln w="12700">
            <a:solidFill>
              <a:srgbClr val="8FB04A"/>
            </a:solidFill>
            <a:prstDash val="solid"/>
          </a:ln>
        </p:spPr>
        <p:txBody>
          <a:bodyPr/>
          <a:lstStyle/>
          <a:p>
            <a:endParaRPr lang="de-DE" sz="1343"/>
          </a:p>
        </p:txBody>
      </p:sp>
      <p:sp>
        <p:nvSpPr>
          <p:cNvPr id="55" name="Text 54">
            <a:extLst>
              <a:ext uri="{FF2B5EF4-FFF2-40B4-BE49-F238E27FC236}">
                <a16:creationId xmlns:a16="http://schemas.microsoft.com/office/drawing/2014/main" id="{4E7EBE39-F278-C2F8-C951-D29B6502B8A7}"/>
              </a:ext>
            </a:extLst>
          </p:cNvPr>
          <p:cNvSpPr txBox="1"/>
          <p:nvPr/>
        </p:nvSpPr>
        <p:spPr>
          <a:xfrm>
            <a:off x="6263927" y="2457390"/>
            <a:ext cx="634472" cy="545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46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Antragseingang verarbeiten</a:t>
            </a:r>
            <a:endParaRPr lang="en-US" sz="746" dirty="0">
              <a:solidFill>
                <a:srgbClr val="2F3E46"/>
              </a:solidFill>
            </a:endParaRPr>
          </a:p>
        </p:txBody>
      </p:sp>
      <p:sp>
        <p:nvSpPr>
          <p:cNvPr id="56" name="Shape 55">
            <a:extLst>
              <a:ext uri="{FF2B5EF4-FFF2-40B4-BE49-F238E27FC236}">
                <a16:creationId xmlns:a16="http://schemas.microsoft.com/office/drawing/2014/main" id="{A747A8CE-DC71-E20D-BBC2-887A6ADF0EC6}"/>
              </a:ext>
            </a:extLst>
          </p:cNvPr>
          <p:cNvSpPr/>
          <p:nvPr/>
        </p:nvSpPr>
        <p:spPr>
          <a:xfrm>
            <a:off x="6222992" y="3617178"/>
            <a:ext cx="716340" cy="545783"/>
          </a:xfrm>
          <a:prstGeom prst="roundRect">
            <a:avLst>
              <a:gd name="adj" fmla="val 7500"/>
            </a:avLst>
          </a:prstGeom>
          <a:solidFill>
            <a:srgbClr val="E4F2C2"/>
          </a:solidFill>
          <a:ln w="12700">
            <a:solidFill>
              <a:srgbClr val="8FB04A"/>
            </a:solidFill>
            <a:prstDash val="solid"/>
          </a:ln>
        </p:spPr>
        <p:txBody>
          <a:bodyPr/>
          <a:lstStyle/>
          <a:p>
            <a:endParaRPr lang="de-DE" sz="1343"/>
          </a:p>
        </p:txBody>
      </p:sp>
      <p:sp>
        <p:nvSpPr>
          <p:cNvPr id="57" name="Text 56">
            <a:extLst>
              <a:ext uri="{FF2B5EF4-FFF2-40B4-BE49-F238E27FC236}">
                <a16:creationId xmlns:a16="http://schemas.microsoft.com/office/drawing/2014/main" id="{9DFF245A-9856-B457-50A1-E5D6AB05BFC5}"/>
              </a:ext>
            </a:extLst>
          </p:cNvPr>
          <p:cNvSpPr txBox="1"/>
          <p:nvPr/>
        </p:nvSpPr>
        <p:spPr>
          <a:xfrm>
            <a:off x="6263927" y="3617178"/>
            <a:ext cx="634472" cy="545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46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Antrag prüfen, Stellungnahme abgeben (5.4)</a:t>
            </a:r>
            <a:endParaRPr lang="en-US" sz="746" dirty="0">
              <a:solidFill>
                <a:srgbClr val="2F3E46"/>
              </a:solidFill>
            </a:endParaRPr>
          </a:p>
        </p:txBody>
      </p:sp>
      <p:sp>
        <p:nvSpPr>
          <p:cNvPr id="58" name="Shape 57">
            <a:extLst>
              <a:ext uri="{FF2B5EF4-FFF2-40B4-BE49-F238E27FC236}">
                <a16:creationId xmlns:a16="http://schemas.microsoft.com/office/drawing/2014/main" id="{F1322516-CFBB-B2E1-A257-9F4C248F0AC1}"/>
              </a:ext>
            </a:extLst>
          </p:cNvPr>
          <p:cNvSpPr/>
          <p:nvPr/>
        </p:nvSpPr>
        <p:spPr>
          <a:xfrm>
            <a:off x="6581163" y="1713762"/>
            <a:ext cx="0" cy="743629"/>
          </a:xfrm>
          <a:prstGeom prst="line">
            <a:avLst/>
          </a:prstGeom>
          <a:noFill/>
          <a:ln w="19050">
            <a:solidFill>
              <a:srgbClr val="4A5C66"/>
            </a:solidFill>
            <a:prstDash val="solid"/>
            <a:tailEnd type="triangle"/>
          </a:ln>
        </p:spPr>
        <p:txBody>
          <a:bodyPr/>
          <a:lstStyle/>
          <a:p>
            <a:endParaRPr lang="de-DE" sz="1343"/>
          </a:p>
        </p:txBody>
      </p:sp>
      <p:sp>
        <p:nvSpPr>
          <p:cNvPr id="59" name="Shape 58">
            <a:extLst>
              <a:ext uri="{FF2B5EF4-FFF2-40B4-BE49-F238E27FC236}">
                <a16:creationId xmlns:a16="http://schemas.microsoft.com/office/drawing/2014/main" id="{3D0D7A08-0AAE-9B65-3C66-A92257BA8FC6}"/>
              </a:ext>
            </a:extLst>
          </p:cNvPr>
          <p:cNvSpPr/>
          <p:nvPr/>
        </p:nvSpPr>
        <p:spPr>
          <a:xfrm>
            <a:off x="6581163" y="3003173"/>
            <a:ext cx="0" cy="614005"/>
          </a:xfrm>
          <a:prstGeom prst="line">
            <a:avLst/>
          </a:prstGeom>
          <a:noFill/>
          <a:ln w="19050">
            <a:solidFill>
              <a:srgbClr val="4A5C66"/>
            </a:solidFill>
            <a:prstDash val="solid"/>
            <a:tailEnd type="triangle"/>
          </a:ln>
        </p:spPr>
        <p:txBody>
          <a:bodyPr/>
          <a:lstStyle/>
          <a:p>
            <a:endParaRPr lang="de-DE" sz="1343"/>
          </a:p>
        </p:txBody>
      </p:sp>
      <p:sp>
        <p:nvSpPr>
          <p:cNvPr id="60" name="Shape 59">
            <a:extLst>
              <a:ext uri="{FF2B5EF4-FFF2-40B4-BE49-F238E27FC236}">
                <a16:creationId xmlns:a16="http://schemas.microsoft.com/office/drawing/2014/main" id="{02B55F9A-428A-1CC2-113C-8FE325D0F990}"/>
              </a:ext>
            </a:extLst>
          </p:cNvPr>
          <p:cNvSpPr/>
          <p:nvPr/>
        </p:nvSpPr>
        <p:spPr>
          <a:xfrm>
            <a:off x="6939331" y="3890070"/>
            <a:ext cx="279714" cy="0"/>
          </a:xfrm>
          <a:prstGeom prst="line">
            <a:avLst/>
          </a:prstGeom>
          <a:noFill/>
          <a:ln w="19050">
            <a:solidFill>
              <a:srgbClr val="4A5C66"/>
            </a:solidFill>
            <a:prstDash val="solid"/>
          </a:ln>
        </p:spPr>
        <p:txBody>
          <a:bodyPr/>
          <a:lstStyle/>
          <a:p>
            <a:endParaRPr lang="de-DE" sz="1343"/>
          </a:p>
        </p:txBody>
      </p:sp>
      <p:sp>
        <p:nvSpPr>
          <p:cNvPr id="61" name="Shape 60">
            <a:extLst>
              <a:ext uri="{FF2B5EF4-FFF2-40B4-BE49-F238E27FC236}">
                <a16:creationId xmlns:a16="http://schemas.microsoft.com/office/drawing/2014/main" id="{E42A1FCF-2353-F180-FC4A-0699063BB64E}"/>
              </a:ext>
            </a:extLst>
          </p:cNvPr>
          <p:cNvSpPr/>
          <p:nvPr/>
        </p:nvSpPr>
        <p:spPr>
          <a:xfrm flipV="1">
            <a:off x="7219045" y="2873550"/>
            <a:ext cx="0" cy="1016520"/>
          </a:xfrm>
          <a:prstGeom prst="line">
            <a:avLst/>
          </a:prstGeom>
          <a:noFill/>
          <a:ln w="19050">
            <a:solidFill>
              <a:srgbClr val="4A5C66"/>
            </a:solidFill>
            <a:prstDash val="solid"/>
            <a:tailEnd type="triangle"/>
          </a:ln>
        </p:spPr>
        <p:txBody>
          <a:bodyPr/>
          <a:lstStyle/>
          <a:p>
            <a:endParaRPr lang="de-DE" sz="1343"/>
          </a:p>
        </p:txBody>
      </p:sp>
      <p:sp>
        <p:nvSpPr>
          <p:cNvPr id="62" name="Shape 61">
            <a:extLst>
              <a:ext uri="{FF2B5EF4-FFF2-40B4-BE49-F238E27FC236}">
                <a16:creationId xmlns:a16="http://schemas.microsoft.com/office/drawing/2014/main" id="{07DF5613-9F40-1326-A328-30D0C634C8EE}"/>
              </a:ext>
            </a:extLst>
          </p:cNvPr>
          <p:cNvSpPr/>
          <p:nvPr/>
        </p:nvSpPr>
        <p:spPr>
          <a:xfrm>
            <a:off x="7219045" y="1843385"/>
            <a:ext cx="0" cy="743629"/>
          </a:xfrm>
          <a:prstGeom prst="line">
            <a:avLst/>
          </a:prstGeom>
          <a:noFill/>
          <a:ln w="19050">
            <a:solidFill>
              <a:srgbClr val="4A5C66"/>
            </a:solidFill>
            <a:prstDash val="solid"/>
            <a:tailEnd type="triangle"/>
          </a:ln>
        </p:spPr>
        <p:txBody>
          <a:bodyPr/>
          <a:lstStyle/>
          <a:p>
            <a:endParaRPr lang="de-DE" sz="1343"/>
          </a:p>
        </p:txBody>
      </p:sp>
      <p:sp>
        <p:nvSpPr>
          <p:cNvPr id="63" name="Shape 62">
            <a:extLst>
              <a:ext uri="{FF2B5EF4-FFF2-40B4-BE49-F238E27FC236}">
                <a16:creationId xmlns:a16="http://schemas.microsoft.com/office/drawing/2014/main" id="{3F3632E1-5950-2E8A-D602-53CE7F12AF29}"/>
              </a:ext>
            </a:extLst>
          </p:cNvPr>
          <p:cNvSpPr/>
          <p:nvPr/>
        </p:nvSpPr>
        <p:spPr>
          <a:xfrm>
            <a:off x="7362313" y="2730282"/>
            <a:ext cx="774329" cy="0"/>
          </a:xfrm>
          <a:prstGeom prst="line">
            <a:avLst/>
          </a:prstGeom>
          <a:noFill/>
          <a:ln w="19050">
            <a:solidFill>
              <a:srgbClr val="4A5C66"/>
            </a:solidFill>
            <a:prstDash val="solid"/>
            <a:tailEnd type="triangle"/>
          </a:ln>
        </p:spPr>
        <p:txBody>
          <a:bodyPr/>
          <a:lstStyle/>
          <a:p>
            <a:endParaRPr lang="de-DE" sz="1343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80B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 7 · D2D · VERLÄNGERUNGSANTRAG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310896"/>
            <a:ext cx="6172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Data: Datenmodell (Ausschnitt)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55464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5B6A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39</a:t>
            </a:fld>
            <a:endParaRPr lang="en-US"/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3C6CF77D-54E6-A75C-CBBB-7E0D596D5C33}"/>
              </a:ext>
            </a:extLst>
          </p:cNvPr>
          <p:cNvSpPr/>
          <p:nvPr/>
        </p:nvSpPr>
        <p:spPr>
          <a:xfrm>
            <a:off x="939617" y="838151"/>
            <a:ext cx="2564035" cy="270648"/>
          </a:xfrm>
          <a:prstGeom prst="rect">
            <a:avLst/>
          </a:prstGeom>
          <a:solidFill>
            <a:srgbClr val="2A74C2"/>
          </a:solidFill>
          <a:ln w="12700">
            <a:solidFill>
              <a:srgbClr val="2A74C2"/>
            </a:solidFill>
            <a:prstDash val="solid"/>
          </a:ln>
        </p:spPr>
        <p:txBody>
          <a:bodyPr/>
          <a:lstStyle/>
          <a:p>
            <a:endParaRPr lang="de-DE" sz="1402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CD7F5450-4FBD-45A7-7EFD-69117F3C3E3D}"/>
              </a:ext>
            </a:extLst>
          </p:cNvPr>
          <p:cNvSpPr txBox="1"/>
          <p:nvPr/>
        </p:nvSpPr>
        <p:spPr>
          <a:xfrm>
            <a:off x="939617" y="838151"/>
            <a:ext cx="2564035" cy="270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13" b="1" dirty="0">
                <a:solidFill>
                  <a:srgbClr val="FFFFFF"/>
                </a:solidFill>
                <a:latin typeface="Calibri" panose="020F0502020204030204" pitchFamily="34" charset="0"/>
                <a:ea typeface="Cambria" pitchFamily="34" charset="-122"/>
                <a:cs typeface="Cambria" pitchFamily="34" charset="-120"/>
              </a:rPr>
              <a:t>Abschlussarbeit</a:t>
            </a:r>
            <a:endParaRPr lang="en-US" sz="1013" dirty="0">
              <a:latin typeface="Calibri" panose="020F0502020204030204" pitchFamily="34" charset="0"/>
            </a:endParaRP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046F08EA-A416-934F-0CB9-175909B0BECC}"/>
              </a:ext>
            </a:extLst>
          </p:cNvPr>
          <p:cNvSpPr/>
          <p:nvPr/>
        </p:nvSpPr>
        <p:spPr>
          <a:xfrm>
            <a:off x="939617" y="1108799"/>
            <a:ext cx="2564035" cy="1381730"/>
          </a:xfrm>
          <a:prstGeom prst="rect">
            <a:avLst/>
          </a:prstGeom>
          <a:solidFill>
            <a:srgbClr val="EAF2FB"/>
          </a:solidFill>
          <a:ln w="12700">
            <a:solidFill>
              <a:srgbClr val="2A74C2"/>
            </a:solidFill>
            <a:prstDash val="solid"/>
          </a:ln>
        </p:spPr>
        <p:txBody>
          <a:bodyPr/>
          <a:lstStyle/>
          <a:p>
            <a:endParaRPr lang="de-DE" sz="1402"/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5D32C56A-2245-8EE5-EB79-5C52732D07B0}"/>
              </a:ext>
            </a:extLst>
          </p:cNvPr>
          <p:cNvSpPr txBox="1"/>
          <p:nvPr/>
        </p:nvSpPr>
        <p:spPr>
          <a:xfrm>
            <a:off x="1010841" y="1158656"/>
            <a:ext cx="2457200" cy="1324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234"/>
              </a:spcAft>
            </a:pPr>
            <a:r>
              <a:rPr lang="en-US" sz="74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</a:t>
            </a:r>
            <a:r>
              <a:rPr lang="en-US" sz="857" u="sng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matrikelnummer</a:t>
            </a:r>
            <a:r>
              <a:rPr lang="en-US" sz="857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String</a:t>
            </a:r>
            <a:endParaRPr lang="en-US" sz="857" dirty="0"/>
          </a:p>
          <a:p>
            <a:pPr>
              <a:spcAft>
                <a:spcPts val="234"/>
              </a:spcAft>
            </a:pPr>
            <a:r>
              <a:rPr lang="en-US" sz="74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</a:t>
            </a:r>
            <a:r>
              <a:rPr lang="en-US" sz="857" u="sng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arbeit_id</a:t>
            </a:r>
            <a:r>
              <a:rPr lang="en-US" sz="857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Integer</a:t>
            </a:r>
            <a:endParaRPr lang="en-US" sz="857" dirty="0"/>
          </a:p>
          <a:p>
            <a:pPr>
              <a:spcAft>
                <a:spcPts val="234"/>
              </a:spcAft>
            </a:pPr>
            <a:r>
              <a:rPr lang="en-US" sz="740" b="1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857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r>
              <a:rPr lang="en-US" sz="857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String</a:t>
            </a:r>
            <a:endParaRPr lang="en-US" sz="857" dirty="0"/>
          </a:p>
          <a:p>
            <a:pPr>
              <a:spcAft>
                <a:spcPts val="234"/>
              </a:spcAft>
            </a:pPr>
            <a:r>
              <a:rPr lang="en-US" sz="740" b="1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857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</a:t>
            </a:r>
            <a:r>
              <a:rPr lang="en-US" sz="857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String</a:t>
            </a:r>
            <a:endParaRPr lang="en-US" sz="857" dirty="0"/>
          </a:p>
          <a:p>
            <a:pPr>
              <a:spcAft>
                <a:spcPts val="234"/>
              </a:spcAft>
            </a:pPr>
            <a:r>
              <a:rPr lang="en-US" sz="740" b="1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857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</a:t>
            </a:r>
            <a:r>
              <a:rPr lang="en-US" sz="857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String</a:t>
            </a:r>
            <a:endParaRPr lang="en-US" sz="857" dirty="0"/>
          </a:p>
          <a:p>
            <a:pPr>
              <a:spcAft>
                <a:spcPts val="234"/>
              </a:spcAft>
            </a:pPr>
            <a:r>
              <a:rPr lang="en-US" sz="740" b="1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857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erstpruefer</a:t>
            </a:r>
            <a:r>
              <a:rPr lang="en-US" sz="857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String</a:t>
            </a:r>
            <a:endParaRPr lang="en-US" sz="857" dirty="0"/>
          </a:p>
          <a:p>
            <a:pPr>
              <a:spcAft>
                <a:spcPts val="234"/>
              </a:spcAft>
            </a:pPr>
            <a:r>
              <a:rPr lang="en-US" sz="740" b="1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857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</a:t>
            </a:r>
            <a:r>
              <a:rPr lang="en-US" sz="857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Date</a:t>
            </a:r>
            <a:endParaRPr lang="en-US" sz="857" dirty="0"/>
          </a:p>
          <a:p>
            <a:pPr>
              <a:spcAft>
                <a:spcPts val="234"/>
              </a:spcAft>
            </a:pPr>
            <a:r>
              <a:rPr lang="en-US" sz="740" b="1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857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abgabetermin</a:t>
            </a:r>
            <a:r>
              <a:rPr lang="en-US" sz="857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Date</a:t>
            </a:r>
            <a:endParaRPr lang="en-US" sz="857" dirty="0"/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E5D9A3C6-7102-0D47-2BEF-04D269D60ED1}"/>
              </a:ext>
            </a:extLst>
          </p:cNvPr>
          <p:cNvSpPr/>
          <p:nvPr/>
        </p:nvSpPr>
        <p:spPr>
          <a:xfrm>
            <a:off x="4999339" y="838151"/>
            <a:ext cx="3205043" cy="270648"/>
          </a:xfrm>
          <a:prstGeom prst="rect">
            <a:avLst/>
          </a:prstGeom>
          <a:solidFill>
            <a:srgbClr val="2A74C2"/>
          </a:solidFill>
          <a:ln w="12700">
            <a:solidFill>
              <a:srgbClr val="2A74C2"/>
            </a:solidFill>
            <a:prstDash val="solid"/>
          </a:ln>
        </p:spPr>
        <p:txBody>
          <a:bodyPr/>
          <a:lstStyle/>
          <a:p>
            <a:endParaRPr lang="de-DE" sz="1402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9BC3189B-183F-02EA-B235-B133D9AD0CBA}"/>
              </a:ext>
            </a:extLst>
          </p:cNvPr>
          <p:cNvSpPr txBox="1"/>
          <p:nvPr/>
        </p:nvSpPr>
        <p:spPr>
          <a:xfrm>
            <a:off x="4999339" y="838151"/>
            <a:ext cx="3205043" cy="270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13" b="1" dirty="0">
                <a:solidFill>
                  <a:srgbClr val="FFFFFF"/>
                </a:solidFill>
                <a:latin typeface="Calibri" panose="020F0502020204030204" pitchFamily="34" charset="0"/>
                <a:ea typeface="Cambria" pitchFamily="34" charset="-122"/>
                <a:cs typeface="Cambria" pitchFamily="34" charset="-120"/>
              </a:rPr>
              <a:t>Verlängerungsantrag</a:t>
            </a:r>
            <a:endParaRPr lang="en-US" sz="1013" dirty="0">
              <a:latin typeface="Calibri" panose="020F0502020204030204" pitchFamily="34" charset="0"/>
            </a:endParaRP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96654497-984E-54C4-72AB-FECE253BDFA8}"/>
              </a:ext>
            </a:extLst>
          </p:cNvPr>
          <p:cNvSpPr/>
          <p:nvPr/>
        </p:nvSpPr>
        <p:spPr>
          <a:xfrm>
            <a:off x="4999339" y="1108799"/>
            <a:ext cx="3205043" cy="2343243"/>
          </a:xfrm>
          <a:prstGeom prst="rect">
            <a:avLst/>
          </a:prstGeom>
          <a:solidFill>
            <a:srgbClr val="EAF2FB"/>
          </a:solidFill>
          <a:ln w="12700">
            <a:solidFill>
              <a:srgbClr val="2A74C2"/>
            </a:solidFill>
            <a:prstDash val="solid"/>
          </a:ln>
        </p:spPr>
        <p:txBody>
          <a:bodyPr/>
          <a:lstStyle/>
          <a:p>
            <a:endParaRPr lang="de-DE" sz="1402"/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FC33F37D-BE94-EB50-62E9-7CB49C7D1328}"/>
              </a:ext>
            </a:extLst>
          </p:cNvPr>
          <p:cNvSpPr txBox="1"/>
          <p:nvPr/>
        </p:nvSpPr>
        <p:spPr>
          <a:xfrm>
            <a:off x="5070562" y="1158656"/>
            <a:ext cx="3098209" cy="2286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234"/>
              </a:spcAft>
            </a:pPr>
            <a:r>
              <a:rPr lang="en-US" sz="74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</a:t>
            </a:r>
            <a:r>
              <a:rPr lang="en-US" sz="857" u="sng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antrag_id</a:t>
            </a:r>
            <a:r>
              <a:rPr lang="en-US" sz="857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Integer</a:t>
            </a:r>
            <a:endParaRPr lang="en-US" sz="857" dirty="0"/>
          </a:p>
          <a:p>
            <a:pPr>
              <a:spcAft>
                <a:spcPts val="234"/>
              </a:spcAft>
            </a:pPr>
            <a:r>
              <a:rPr lang="en-US" sz="740" b="1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</a:t>
            </a:r>
            <a:r>
              <a:rPr lang="en-US" sz="857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arbeit_id</a:t>
            </a:r>
            <a:r>
              <a:rPr lang="en-US" sz="857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Integer</a:t>
            </a:r>
            <a:endParaRPr lang="en-US" sz="857" dirty="0"/>
          </a:p>
          <a:p>
            <a:pPr>
              <a:spcAft>
                <a:spcPts val="234"/>
              </a:spcAft>
            </a:pPr>
            <a:r>
              <a:rPr lang="en-US" sz="740" b="1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857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grund</a:t>
            </a:r>
            <a:r>
              <a:rPr lang="en-US" sz="857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Text</a:t>
            </a:r>
            <a:endParaRPr lang="en-US" sz="857" dirty="0"/>
          </a:p>
          <a:p>
            <a:pPr>
              <a:spcAft>
                <a:spcPts val="234"/>
              </a:spcAft>
            </a:pPr>
            <a:r>
              <a:rPr lang="en-US" sz="740" b="1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857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krankmeldung</a:t>
            </a:r>
            <a:r>
              <a:rPr lang="en-US" sz="857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Dokument (optional)</a:t>
            </a:r>
            <a:endParaRPr lang="en-US" sz="857" dirty="0"/>
          </a:p>
          <a:p>
            <a:pPr>
              <a:spcAft>
                <a:spcPts val="234"/>
              </a:spcAft>
            </a:pPr>
            <a:r>
              <a:rPr lang="en-US" sz="740" b="1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857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antragsdatum</a:t>
            </a:r>
            <a:r>
              <a:rPr lang="en-US" sz="857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Date</a:t>
            </a:r>
            <a:endParaRPr lang="en-US" sz="857" dirty="0"/>
          </a:p>
          <a:p>
            <a:pPr>
              <a:spcAft>
                <a:spcPts val="234"/>
              </a:spcAft>
            </a:pPr>
            <a:r>
              <a:rPr lang="en-US" sz="740" b="1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857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alter_abgabetermin</a:t>
            </a:r>
            <a:r>
              <a:rPr lang="en-US" sz="857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Date</a:t>
            </a:r>
            <a:endParaRPr lang="en-US" sz="857" dirty="0"/>
          </a:p>
          <a:p>
            <a:pPr>
              <a:spcAft>
                <a:spcPts val="234"/>
              </a:spcAft>
            </a:pPr>
            <a:r>
              <a:rPr lang="en-US" sz="740" b="1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857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neuer_abgabetermin</a:t>
            </a:r>
            <a:r>
              <a:rPr lang="en-US" sz="857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Date</a:t>
            </a:r>
            <a:endParaRPr lang="en-US" sz="857" dirty="0"/>
          </a:p>
          <a:p>
            <a:pPr>
              <a:spcAft>
                <a:spcPts val="234"/>
              </a:spcAft>
            </a:pPr>
            <a:r>
              <a:rPr lang="en-US" sz="740" b="1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857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stellungnahme</a:t>
            </a:r>
            <a:r>
              <a:rPr lang="en-US" sz="857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Stellungnahme</a:t>
            </a:r>
            <a:endParaRPr lang="en-US" sz="857" dirty="0"/>
          </a:p>
          <a:p>
            <a:pPr>
              <a:spcAft>
                <a:spcPts val="234"/>
              </a:spcAft>
            </a:pPr>
            <a:r>
              <a:rPr lang="en-US" sz="740" b="1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857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pruefungsausschuss</a:t>
            </a:r>
            <a:r>
              <a:rPr lang="en-US" sz="857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String</a:t>
            </a:r>
            <a:endParaRPr lang="en-US" sz="857" dirty="0"/>
          </a:p>
          <a:p>
            <a:pPr>
              <a:spcAft>
                <a:spcPts val="234"/>
              </a:spcAft>
            </a:pPr>
            <a:r>
              <a:rPr lang="en-US" sz="740" b="1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857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entscheider_personalnummer</a:t>
            </a:r>
            <a:r>
              <a:rPr lang="en-US" sz="857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String</a:t>
            </a:r>
            <a:endParaRPr lang="en-US" sz="857" dirty="0"/>
          </a:p>
          <a:p>
            <a:pPr>
              <a:spcAft>
                <a:spcPts val="234"/>
              </a:spcAft>
            </a:pPr>
            <a:r>
              <a:rPr lang="en-US" sz="740" b="1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857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entscheider_name</a:t>
            </a:r>
            <a:r>
              <a:rPr lang="en-US" sz="857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String</a:t>
            </a:r>
            <a:endParaRPr lang="en-US" sz="857" dirty="0"/>
          </a:p>
          <a:p>
            <a:pPr>
              <a:spcAft>
                <a:spcPts val="234"/>
              </a:spcAft>
            </a:pPr>
            <a:r>
              <a:rPr lang="en-US" sz="740" b="1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857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entscheidungsergebnis</a:t>
            </a:r>
            <a:r>
              <a:rPr lang="en-US" sz="857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Entscheidungsergebnis</a:t>
            </a:r>
            <a:endParaRPr lang="en-US" sz="857" dirty="0"/>
          </a:p>
          <a:p>
            <a:pPr>
              <a:spcAft>
                <a:spcPts val="234"/>
              </a:spcAft>
            </a:pPr>
            <a:r>
              <a:rPr lang="en-US" sz="740" b="1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857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entscheidungsdatum</a:t>
            </a:r>
            <a:r>
              <a:rPr lang="en-US" sz="857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Date</a:t>
            </a:r>
            <a:endParaRPr lang="en-US" sz="857" dirty="0"/>
          </a:p>
          <a:p>
            <a:pPr>
              <a:spcAft>
                <a:spcPts val="234"/>
              </a:spcAft>
            </a:pPr>
            <a:r>
              <a:rPr lang="en-US" sz="740" b="1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857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r>
              <a:rPr lang="en-US" sz="857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AntragStatus</a:t>
            </a:r>
            <a:endParaRPr lang="en-US" sz="857" dirty="0"/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AE6BDA66-66EF-56AA-7344-3815FD26B416}"/>
              </a:ext>
            </a:extLst>
          </p:cNvPr>
          <p:cNvSpPr/>
          <p:nvPr/>
        </p:nvSpPr>
        <p:spPr>
          <a:xfrm>
            <a:off x="3503652" y="1393692"/>
            <a:ext cx="1495687" cy="0"/>
          </a:xfrm>
          <a:prstGeom prst="line">
            <a:avLst/>
          </a:prstGeom>
          <a:noFill/>
          <a:ln w="19050">
            <a:solidFill>
              <a:srgbClr val="4A5C66"/>
            </a:solidFill>
            <a:prstDash val="solid"/>
          </a:ln>
        </p:spPr>
        <p:txBody>
          <a:bodyPr/>
          <a:lstStyle/>
          <a:p>
            <a:endParaRPr lang="de-DE" sz="1402"/>
          </a:p>
        </p:txBody>
      </p:sp>
      <p:sp>
        <p:nvSpPr>
          <p:cNvPr id="13" name="Text 13">
            <a:extLst>
              <a:ext uri="{FF2B5EF4-FFF2-40B4-BE49-F238E27FC236}">
                <a16:creationId xmlns:a16="http://schemas.microsoft.com/office/drawing/2014/main" id="{5C47FEC6-A756-9204-33BA-38BA945F3186}"/>
              </a:ext>
            </a:extLst>
          </p:cNvPr>
          <p:cNvSpPr txBox="1"/>
          <p:nvPr/>
        </p:nvSpPr>
        <p:spPr>
          <a:xfrm>
            <a:off x="3525019" y="1180023"/>
            <a:ext cx="356116" cy="199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18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18" dirty="0">
              <a:solidFill>
                <a:srgbClr val="2F3E46"/>
              </a:solidFill>
            </a:endParaRPr>
          </a:p>
        </p:txBody>
      </p:sp>
      <p:sp>
        <p:nvSpPr>
          <p:cNvPr id="14" name="Text 14">
            <a:extLst>
              <a:ext uri="{FF2B5EF4-FFF2-40B4-BE49-F238E27FC236}">
                <a16:creationId xmlns:a16="http://schemas.microsoft.com/office/drawing/2014/main" id="{361F20C0-85D0-FF39-D43C-7EAE6F45E65B}"/>
              </a:ext>
            </a:extLst>
          </p:cNvPr>
          <p:cNvSpPr txBox="1"/>
          <p:nvPr/>
        </p:nvSpPr>
        <p:spPr>
          <a:xfrm>
            <a:off x="4572000" y="1180023"/>
            <a:ext cx="405972" cy="199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/>
            <a:r>
              <a:rPr lang="en-US" sz="818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0..n</a:t>
            </a:r>
            <a:endParaRPr lang="en-US" sz="818" dirty="0">
              <a:solidFill>
                <a:srgbClr val="2F3E46"/>
              </a:solidFill>
            </a:endParaRPr>
          </a:p>
        </p:txBody>
      </p:sp>
      <p:sp>
        <p:nvSpPr>
          <p:cNvPr id="15" name="Text 15">
            <a:extLst>
              <a:ext uri="{FF2B5EF4-FFF2-40B4-BE49-F238E27FC236}">
                <a16:creationId xmlns:a16="http://schemas.microsoft.com/office/drawing/2014/main" id="{2D1698F7-C01E-3CA5-41B8-9EC9BF1518F8}"/>
              </a:ext>
            </a:extLst>
          </p:cNvPr>
          <p:cNvSpPr txBox="1"/>
          <p:nvPr/>
        </p:nvSpPr>
        <p:spPr>
          <a:xfrm>
            <a:off x="3503652" y="1422181"/>
            <a:ext cx="1495687" cy="199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818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◄ gehört zu</a:t>
            </a:r>
            <a:endParaRPr lang="en-US" sz="818" dirty="0">
              <a:solidFill>
                <a:srgbClr val="2F3E46"/>
              </a:solidFill>
            </a:endParaRP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57CD0BB0-5519-B442-B818-9A052018516D}"/>
              </a:ext>
            </a:extLst>
          </p:cNvPr>
          <p:cNvSpPr/>
          <p:nvPr/>
        </p:nvSpPr>
        <p:spPr>
          <a:xfrm>
            <a:off x="3076313" y="3736935"/>
            <a:ext cx="1424464" cy="847556"/>
          </a:xfrm>
          <a:prstGeom prst="rect">
            <a:avLst/>
          </a:prstGeom>
          <a:solidFill>
            <a:srgbClr val="FFFFFF"/>
          </a:solidFill>
          <a:ln w="25400">
            <a:solidFill>
              <a:srgbClr val="2A74C2"/>
            </a:solidFill>
            <a:prstDash val="solid"/>
          </a:ln>
        </p:spPr>
        <p:txBody>
          <a:bodyPr/>
          <a:lstStyle/>
          <a:p>
            <a:endParaRPr lang="de-DE" sz="1402"/>
          </a:p>
        </p:txBody>
      </p:sp>
      <p:sp>
        <p:nvSpPr>
          <p:cNvPr id="17" name="Text 17">
            <a:extLst>
              <a:ext uri="{FF2B5EF4-FFF2-40B4-BE49-F238E27FC236}">
                <a16:creationId xmlns:a16="http://schemas.microsoft.com/office/drawing/2014/main" id="{0E4F7DDC-E2A1-88D9-9A6B-A7C42ECE3123}"/>
              </a:ext>
            </a:extLst>
          </p:cNvPr>
          <p:cNvSpPr txBox="1"/>
          <p:nvPr/>
        </p:nvSpPr>
        <p:spPr>
          <a:xfrm>
            <a:off x="3076313" y="3779669"/>
            <a:ext cx="1424464" cy="156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740" i="1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«enumeration»</a:t>
            </a:r>
            <a:endParaRPr lang="en-US" sz="740" dirty="0"/>
          </a:p>
        </p:txBody>
      </p:sp>
      <p:sp>
        <p:nvSpPr>
          <p:cNvPr id="18" name="Text 18">
            <a:extLst>
              <a:ext uri="{FF2B5EF4-FFF2-40B4-BE49-F238E27FC236}">
                <a16:creationId xmlns:a16="http://schemas.microsoft.com/office/drawing/2014/main" id="{E23FC83A-2FC8-AE81-0AE6-28189F48DFAB}"/>
              </a:ext>
            </a:extLst>
          </p:cNvPr>
          <p:cNvSpPr txBox="1"/>
          <p:nvPr/>
        </p:nvSpPr>
        <p:spPr>
          <a:xfrm>
            <a:off x="3076313" y="3922115"/>
            <a:ext cx="1424464" cy="185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974" b="1" dirty="0">
                <a:solidFill>
                  <a:srgbClr val="2F3E46"/>
                </a:solidFill>
                <a:latin typeface="Calibri" panose="020F0502020204030204" pitchFamily="34" charset="0"/>
                <a:ea typeface="Cambria" pitchFamily="34" charset="-122"/>
                <a:cs typeface="Cambria" pitchFamily="34" charset="-120"/>
              </a:rPr>
              <a:t>Stellungnahme</a:t>
            </a:r>
            <a:endParaRPr lang="en-US" sz="974" dirty="0">
              <a:solidFill>
                <a:srgbClr val="2F3E46"/>
              </a:solidFill>
              <a:latin typeface="Calibri" panose="020F0502020204030204" pitchFamily="34" charset="0"/>
            </a:endParaRPr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4F569B84-97EF-68A5-0884-793137293829}"/>
              </a:ext>
            </a:extLst>
          </p:cNvPr>
          <p:cNvSpPr/>
          <p:nvPr/>
        </p:nvSpPr>
        <p:spPr>
          <a:xfrm>
            <a:off x="3076313" y="4128663"/>
            <a:ext cx="1424464" cy="0"/>
          </a:xfrm>
          <a:prstGeom prst="line">
            <a:avLst/>
          </a:prstGeom>
          <a:noFill/>
          <a:ln w="12700">
            <a:solidFill>
              <a:srgbClr val="2A74C2"/>
            </a:solidFill>
            <a:prstDash val="solid"/>
          </a:ln>
        </p:spPr>
        <p:txBody>
          <a:bodyPr/>
          <a:lstStyle/>
          <a:p>
            <a:endParaRPr lang="de-DE" sz="1402"/>
          </a:p>
        </p:txBody>
      </p:sp>
      <p:sp>
        <p:nvSpPr>
          <p:cNvPr id="20" name="Text 20">
            <a:extLst>
              <a:ext uri="{FF2B5EF4-FFF2-40B4-BE49-F238E27FC236}">
                <a16:creationId xmlns:a16="http://schemas.microsoft.com/office/drawing/2014/main" id="{93BFB079-C227-63FB-3248-C60E676020C8}"/>
              </a:ext>
            </a:extLst>
          </p:cNvPr>
          <p:cNvSpPr txBox="1"/>
          <p:nvPr/>
        </p:nvSpPr>
        <p:spPr>
          <a:xfrm>
            <a:off x="3161781" y="4178519"/>
            <a:ext cx="1282017" cy="398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18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befuerwortet</a:t>
            </a:r>
            <a:endParaRPr lang="en-US" sz="818" dirty="0">
              <a:solidFill>
                <a:srgbClr val="2F3E46"/>
              </a:solidFill>
            </a:endParaRPr>
          </a:p>
          <a:p>
            <a:r>
              <a:rPr lang="en-US" sz="818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nicht_befuerwortet</a:t>
            </a:r>
            <a:endParaRPr lang="en-US" sz="818" dirty="0">
              <a:solidFill>
                <a:srgbClr val="2F3E46"/>
              </a:solidFill>
            </a:endParaRPr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08F3F9E0-C00B-C96D-B9D8-7A60FD9711A5}"/>
              </a:ext>
            </a:extLst>
          </p:cNvPr>
          <p:cNvSpPr/>
          <p:nvPr/>
        </p:nvSpPr>
        <p:spPr>
          <a:xfrm>
            <a:off x="5319843" y="3736935"/>
            <a:ext cx="1566910" cy="847556"/>
          </a:xfrm>
          <a:prstGeom prst="rect">
            <a:avLst/>
          </a:prstGeom>
          <a:solidFill>
            <a:srgbClr val="FFFFFF"/>
          </a:solidFill>
          <a:ln w="25400">
            <a:solidFill>
              <a:srgbClr val="2A74C2"/>
            </a:solidFill>
            <a:prstDash val="solid"/>
          </a:ln>
        </p:spPr>
        <p:txBody>
          <a:bodyPr/>
          <a:lstStyle/>
          <a:p>
            <a:endParaRPr lang="de-DE" sz="1402"/>
          </a:p>
        </p:txBody>
      </p:sp>
      <p:sp>
        <p:nvSpPr>
          <p:cNvPr id="22" name="Text 22">
            <a:extLst>
              <a:ext uri="{FF2B5EF4-FFF2-40B4-BE49-F238E27FC236}">
                <a16:creationId xmlns:a16="http://schemas.microsoft.com/office/drawing/2014/main" id="{FE589437-084F-7CE7-9DA7-403C40A18F88}"/>
              </a:ext>
            </a:extLst>
          </p:cNvPr>
          <p:cNvSpPr txBox="1"/>
          <p:nvPr/>
        </p:nvSpPr>
        <p:spPr>
          <a:xfrm>
            <a:off x="5319843" y="3779669"/>
            <a:ext cx="1566910" cy="156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740" i="1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«enumeration»</a:t>
            </a:r>
            <a:endParaRPr lang="en-US" sz="740" dirty="0"/>
          </a:p>
        </p:txBody>
      </p:sp>
      <p:sp>
        <p:nvSpPr>
          <p:cNvPr id="23" name="Text 23">
            <a:extLst>
              <a:ext uri="{FF2B5EF4-FFF2-40B4-BE49-F238E27FC236}">
                <a16:creationId xmlns:a16="http://schemas.microsoft.com/office/drawing/2014/main" id="{846A38E1-ECB1-DEAC-F066-696E5B9609FF}"/>
              </a:ext>
            </a:extLst>
          </p:cNvPr>
          <p:cNvSpPr txBox="1"/>
          <p:nvPr/>
        </p:nvSpPr>
        <p:spPr>
          <a:xfrm>
            <a:off x="5319843" y="3922115"/>
            <a:ext cx="1566910" cy="185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974" b="1" dirty="0">
                <a:solidFill>
                  <a:srgbClr val="2F3E46"/>
                </a:solidFill>
                <a:latin typeface="Calibri" panose="020F0502020204030204" pitchFamily="34" charset="0"/>
                <a:ea typeface="Cambria" pitchFamily="34" charset="-122"/>
                <a:cs typeface="Cambria" pitchFamily="34" charset="-120"/>
              </a:rPr>
              <a:t>Entscheidungsergebnis</a:t>
            </a:r>
            <a:endParaRPr lang="en-US" sz="974" dirty="0">
              <a:solidFill>
                <a:srgbClr val="2F3E46"/>
              </a:solidFill>
              <a:latin typeface="Calibri" panose="020F0502020204030204" pitchFamily="34" charset="0"/>
            </a:endParaRPr>
          </a:p>
        </p:txBody>
      </p:sp>
      <p:sp>
        <p:nvSpPr>
          <p:cNvPr id="24" name="Shape 24">
            <a:extLst>
              <a:ext uri="{FF2B5EF4-FFF2-40B4-BE49-F238E27FC236}">
                <a16:creationId xmlns:a16="http://schemas.microsoft.com/office/drawing/2014/main" id="{358EA993-B89A-7D30-BCA3-DD2BD74D09F7}"/>
              </a:ext>
            </a:extLst>
          </p:cNvPr>
          <p:cNvSpPr/>
          <p:nvPr/>
        </p:nvSpPr>
        <p:spPr>
          <a:xfrm>
            <a:off x="5319843" y="4128663"/>
            <a:ext cx="1566910" cy="0"/>
          </a:xfrm>
          <a:prstGeom prst="line">
            <a:avLst/>
          </a:prstGeom>
          <a:noFill/>
          <a:ln w="12700">
            <a:solidFill>
              <a:srgbClr val="2A74C2"/>
            </a:solidFill>
            <a:prstDash val="solid"/>
          </a:ln>
        </p:spPr>
        <p:txBody>
          <a:bodyPr/>
          <a:lstStyle/>
          <a:p>
            <a:endParaRPr lang="de-DE" sz="1402"/>
          </a:p>
        </p:txBody>
      </p:sp>
      <p:sp>
        <p:nvSpPr>
          <p:cNvPr id="26" name="Text 25">
            <a:extLst>
              <a:ext uri="{FF2B5EF4-FFF2-40B4-BE49-F238E27FC236}">
                <a16:creationId xmlns:a16="http://schemas.microsoft.com/office/drawing/2014/main" id="{77095BB6-FB7A-D804-CBB5-DDF18B062A53}"/>
              </a:ext>
            </a:extLst>
          </p:cNvPr>
          <p:cNvSpPr txBox="1"/>
          <p:nvPr/>
        </p:nvSpPr>
        <p:spPr>
          <a:xfrm>
            <a:off x="5405312" y="4178519"/>
            <a:ext cx="1424464" cy="398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18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genehmigt</a:t>
            </a:r>
            <a:endParaRPr lang="en-US" sz="818" dirty="0">
              <a:solidFill>
                <a:srgbClr val="2F3E46"/>
              </a:solidFill>
            </a:endParaRPr>
          </a:p>
          <a:p>
            <a:r>
              <a:rPr lang="en-US" sz="818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abgelehnt</a:t>
            </a:r>
            <a:endParaRPr lang="en-US" sz="818" dirty="0">
              <a:solidFill>
                <a:srgbClr val="2F3E46"/>
              </a:solidFill>
            </a:endParaRPr>
          </a:p>
        </p:txBody>
      </p:sp>
      <p:sp>
        <p:nvSpPr>
          <p:cNvPr id="27" name="Shape 26">
            <a:extLst>
              <a:ext uri="{FF2B5EF4-FFF2-40B4-BE49-F238E27FC236}">
                <a16:creationId xmlns:a16="http://schemas.microsoft.com/office/drawing/2014/main" id="{C9D2BDA7-2B4B-0A80-08AD-22A9093801DA}"/>
              </a:ext>
            </a:extLst>
          </p:cNvPr>
          <p:cNvSpPr/>
          <p:nvPr/>
        </p:nvSpPr>
        <p:spPr>
          <a:xfrm>
            <a:off x="6993589" y="3736935"/>
            <a:ext cx="1210794" cy="1025614"/>
          </a:xfrm>
          <a:prstGeom prst="rect">
            <a:avLst/>
          </a:prstGeom>
          <a:solidFill>
            <a:srgbClr val="FFFFFF"/>
          </a:solidFill>
          <a:ln w="25400">
            <a:solidFill>
              <a:srgbClr val="2A74C2"/>
            </a:solidFill>
            <a:prstDash val="solid"/>
          </a:ln>
        </p:spPr>
        <p:txBody>
          <a:bodyPr/>
          <a:lstStyle/>
          <a:p>
            <a:endParaRPr lang="de-DE" sz="1402"/>
          </a:p>
        </p:txBody>
      </p:sp>
      <p:sp>
        <p:nvSpPr>
          <p:cNvPr id="28" name="Text 27">
            <a:extLst>
              <a:ext uri="{FF2B5EF4-FFF2-40B4-BE49-F238E27FC236}">
                <a16:creationId xmlns:a16="http://schemas.microsoft.com/office/drawing/2014/main" id="{C971755E-20B8-2332-22ED-B75EE3382422}"/>
              </a:ext>
            </a:extLst>
          </p:cNvPr>
          <p:cNvSpPr txBox="1"/>
          <p:nvPr/>
        </p:nvSpPr>
        <p:spPr>
          <a:xfrm>
            <a:off x="6993589" y="3779669"/>
            <a:ext cx="1210794" cy="156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740" i="1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«enumeration»</a:t>
            </a:r>
            <a:endParaRPr lang="en-US" sz="740" dirty="0"/>
          </a:p>
        </p:txBody>
      </p:sp>
      <p:sp>
        <p:nvSpPr>
          <p:cNvPr id="29" name="Text 28">
            <a:extLst>
              <a:ext uri="{FF2B5EF4-FFF2-40B4-BE49-F238E27FC236}">
                <a16:creationId xmlns:a16="http://schemas.microsoft.com/office/drawing/2014/main" id="{145872C3-A5B7-1172-1E61-BE2C906FA5BB}"/>
              </a:ext>
            </a:extLst>
          </p:cNvPr>
          <p:cNvSpPr txBox="1"/>
          <p:nvPr/>
        </p:nvSpPr>
        <p:spPr>
          <a:xfrm>
            <a:off x="6993589" y="3922115"/>
            <a:ext cx="1210794" cy="185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974" b="1" dirty="0">
                <a:solidFill>
                  <a:srgbClr val="2F3E46"/>
                </a:solidFill>
                <a:latin typeface="Calibri" panose="020F0502020204030204" pitchFamily="34" charset="0"/>
                <a:ea typeface="Cambria" pitchFamily="34" charset="-122"/>
                <a:cs typeface="Cambria" pitchFamily="34" charset="-120"/>
              </a:rPr>
              <a:t>AntragStatus</a:t>
            </a:r>
            <a:endParaRPr lang="en-US" sz="974" dirty="0">
              <a:solidFill>
                <a:srgbClr val="2F3E46"/>
              </a:solidFill>
              <a:latin typeface="Calibri" panose="020F0502020204030204" pitchFamily="34" charset="0"/>
            </a:endParaRPr>
          </a:p>
        </p:txBody>
      </p:sp>
      <p:sp>
        <p:nvSpPr>
          <p:cNvPr id="30" name="Shape 29">
            <a:extLst>
              <a:ext uri="{FF2B5EF4-FFF2-40B4-BE49-F238E27FC236}">
                <a16:creationId xmlns:a16="http://schemas.microsoft.com/office/drawing/2014/main" id="{85459877-E91F-9C3D-2AEE-550B048DD0AE}"/>
              </a:ext>
            </a:extLst>
          </p:cNvPr>
          <p:cNvSpPr/>
          <p:nvPr/>
        </p:nvSpPr>
        <p:spPr>
          <a:xfrm>
            <a:off x="6993589" y="4128663"/>
            <a:ext cx="1210794" cy="0"/>
          </a:xfrm>
          <a:prstGeom prst="line">
            <a:avLst/>
          </a:prstGeom>
          <a:noFill/>
          <a:ln w="12700">
            <a:solidFill>
              <a:srgbClr val="2A74C2"/>
            </a:solidFill>
            <a:prstDash val="solid"/>
          </a:ln>
        </p:spPr>
        <p:txBody>
          <a:bodyPr/>
          <a:lstStyle/>
          <a:p>
            <a:endParaRPr lang="de-DE" sz="1402"/>
          </a:p>
        </p:txBody>
      </p:sp>
      <p:sp>
        <p:nvSpPr>
          <p:cNvPr id="31" name="Text 30">
            <a:extLst>
              <a:ext uri="{FF2B5EF4-FFF2-40B4-BE49-F238E27FC236}">
                <a16:creationId xmlns:a16="http://schemas.microsoft.com/office/drawing/2014/main" id="{C48EAE42-54E5-A8B1-071A-C395DAE02835}"/>
              </a:ext>
            </a:extLst>
          </p:cNvPr>
          <p:cNvSpPr txBox="1"/>
          <p:nvPr/>
        </p:nvSpPr>
        <p:spPr>
          <a:xfrm>
            <a:off x="7079056" y="4178519"/>
            <a:ext cx="1068348" cy="57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18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eingereicht</a:t>
            </a:r>
            <a:endParaRPr lang="en-US" sz="818" dirty="0">
              <a:solidFill>
                <a:srgbClr val="2F3E46"/>
              </a:solidFill>
            </a:endParaRPr>
          </a:p>
          <a:p>
            <a:r>
              <a:rPr lang="en-US" sz="818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in_pruefung</a:t>
            </a:r>
            <a:endParaRPr lang="en-US" sz="818" dirty="0">
              <a:solidFill>
                <a:srgbClr val="2F3E46"/>
              </a:solidFill>
            </a:endParaRPr>
          </a:p>
          <a:p>
            <a:r>
              <a:rPr lang="en-US" sz="818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entschieden</a:t>
            </a:r>
            <a:endParaRPr lang="en-US" sz="818" dirty="0">
              <a:solidFill>
                <a:srgbClr val="2F3E46"/>
              </a:solidFill>
            </a:endParaRPr>
          </a:p>
        </p:txBody>
      </p:sp>
      <p:sp>
        <p:nvSpPr>
          <p:cNvPr id="32" name="Shape 31">
            <a:extLst>
              <a:ext uri="{FF2B5EF4-FFF2-40B4-BE49-F238E27FC236}">
                <a16:creationId xmlns:a16="http://schemas.microsoft.com/office/drawing/2014/main" id="{A40D7899-454C-1E35-801D-6EAEB7C56CB8}"/>
              </a:ext>
            </a:extLst>
          </p:cNvPr>
          <p:cNvSpPr/>
          <p:nvPr/>
        </p:nvSpPr>
        <p:spPr>
          <a:xfrm>
            <a:off x="6103298" y="3594489"/>
            <a:ext cx="0" cy="142446"/>
          </a:xfrm>
          <a:prstGeom prst="line">
            <a:avLst/>
          </a:prstGeom>
          <a:noFill/>
          <a:ln w="19050">
            <a:solidFill>
              <a:srgbClr val="4A5C66"/>
            </a:solidFill>
            <a:prstDash val="solid"/>
          </a:ln>
        </p:spPr>
        <p:txBody>
          <a:bodyPr/>
          <a:lstStyle/>
          <a:p>
            <a:endParaRPr lang="de-DE" sz="1402"/>
          </a:p>
        </p:txBody>
      </p:sp>
      <p:sp>
        <p:nvSpPr>
          <p:cNvPr id="33" name="Shape 32">
            <a:extLst>
              <a:ext uri="{FF2B5EF4-FFF2-40B4-BE49-F238E27FC236}">
                <a16:creationId xmlns:a16="http://schemas.microsoft.com/office/drawing/2014/main" id="{CB65D9E6-625C-E1EB-56DA-95643003C9DD}"/>
              </a:ext>
            </a:extLst>
          </p:cNvPr>
          <p:cNvSpPr/>
          <p:nvPr/>
        </p:nvSpPr>
        <p:spPr>
          <a:xfrm>
            <a:off x="6032075" y="3452042"/>
            <a:ext cx="142446" cy="14244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A5C66"/>
            </a:solidFill>
            <a:prstDash val="solid"/>
          </a:ln>
        </p:spPr>
        <p:txBody>
          <a:bodyPr/>
          <a:lstStyle/>
          <a:p>
            <a:endParaRPr lang="de-DE" sz="1402"/>
          </a:p>
        </p:txBody>
      </p:sp>
      <p:sp>
        <p:nvSpPr>
          <p:cNvPr id="34" name="Shape 33">
            <a:extLst>
              <a:ext uri="{FF2B5EF4-FFF2-40B4-BE49-F238E27FC236}">
                <a16:creationId xmlns:a16="http://schemas.microsoft.com/office/drawing/2014/main" id="{A5E2F5C3-08FB-0D8A-DE89-86D8D7DC7635}"/>
              </a:ext>
            </a:extLst>
          </p:cNvPr>
          <p:cNvSpPr/>
          <p:nvPr/>
        </p:nvSpPr>
        <p:spPr>
          <a:xfrm>
            <a:off x="6032075" y="3523265"/>
            <a:ext cx="142446" cy="0"/>
          </a:xfrm>
          <a:prstGeom prst="line">
            <a:avLst/>
          </a:prstGeom>
          <a:noFill/>
          <a:ln w="15875">
            <a:solidFill>
              <a:srgbClr val="4A5C66"/>
            </a:solidFill>
            <a:prstDash val="solid"/>
          </a:ln>
        </p:spPr>
        <p:txBody>
          <a:bodyPr/>
          <a:lstStyle/>
          <a:p>
            <a:endParaRPr lang="de-DE" sz="1402"/>
          </a:p>
        </p:txBody>
      </p:sp>
      <p:sp>
        <p:nvSpPr>
          <p:cNvPr id="35" name="Shape 34">
            <a:extLst>
              <a:ext uri="{FF2B5EF4-FFF2-40B4-BE49-F238E27FC236}">
                <a16:creationId xmlns:a16="http://schemas.microsoft.com/office/drawing/2014/main" id="{B8E56D78-0292-682F-C0F5-33788D208576}"/>
              </a:ext>
            </a:extLst>
          </p:cNvPr>
          <p:cNvSpPr/>
          <p:nvPr/>
        </p:nvSpPr>
        <p:spPr>
          <a:xfrm>
            <a:off x="6103298" y="3452042"/>
            <a:ext cx="0" cy="142446"/>
          </a:xfrm>
          <a:prstGeom prst="line">
            <a:avLst/>
          </a:prstGeom>
          <a:noFill/>
          <a:ln w="15875">
            <a:solidFill>
              <a:srgbClr val="4A5C66"/>
            </a:solidFill>
            <a:prstDash val="solid"/>
          </a:ln>
        </p:spPr>
        <p:txBody>
          <a:bodyPr/>
          <a:lstStyle/>
          <a:p>
            <a:endParaRPr lang="de-DE" sz="1402"/>
          </a:p>
        </p:txBody>
      </p:sp>
      <p:sp>
        <p:nvSpPr>
          <p:cNvPr id="36" name="Shape 35">
            <a:extLst>
              <a:ext uri="{FF2B5EF4-FFF2-40B4-BE49-F238E27FC236}">
                <a16:creationId xmlns:a16="http://schemas.microsoft.com/office/drawing/2014/main" id="{F92FD80F-C628-8515-2C54-CE3777752A66}"/>
              </a:ext>
            </a:extLst>
          </p:cNvPr>
          <p:cNvSpPr/>
          <p:nvPr/>
        </p:nvSpPr>
        <p:spPr>
          <a:xfrm>
            <a:off x="7598985" y="3594489"/>
            <a:ext cx="0" cy="142446"/>
          </a:xfrm>
          <a:prstGeom prst="line">
            <a:avLst/>
          </a:prstGeom>
          <a:noFill/>
          <a:ln w="19050">
            <a:solidFill>
              <a:srgbClr val="4A5C66"/>
            </a:solidFill>
            <a:prstDash val="solid"/>
          </a:ln>
        </p:spPr>
        <p:txBody>
          <a:bodyPr/>
          <a:lstStyle/>
          <a:p>
            <a:endParaRPr lang="de-DE" sz="1402"/>
          </a:p>
        </p:txBody>
      </p:sp>
      <p:sp>
        <p:nvSpPr>
          <p:cNvPr id="37" name="Shape 36">
            <a:extLst>
              <a:ext uri="{FF2B5EF4-FFF2-40B4-BE49-F238E27FC236}">
                <a16:creationId xmlns:a16="http://schemas.microsoft.com/office/drawing/2014/main" id="{F86B8E70-E36B-71D4-82DB-3AF8DAFDB2BA}"/>
              </a:ext>
            </a:extLst>
          </p:cNvPr>
          <p:cNvSpPr/>
          <p:nvPr/>
        </p:nvSpPr>
        <p:spPr>
          <a:xfrm>
            <a:off x="7527762" y="3452042"/>
            <a:ext cx="142446" cy="14244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A5C66"/>
            </a:solidFill>
            <a:prstDash val="solid"/>
          </a:ln>
        </p:spPr>
        <p:txBody>
          <a:bodyPr/>
          <a:lstStyle/>
          <a:p>
            <a:endParaRPr lang="de-DE" sz="1402"/>
          </a:p>
        </p:txBody>
      </p:sp>
      <p:sp>
        <p:nvSpPr>
          <p:cNvPr id="38" name="Shape 37">
            <a:extLst>
              <a:ext uri="{FF2B5EF4-FFF2-40B4-BE49-F238E27FC236}">
                <a16:creationId xmlns:a16="http://schemas.microsoft.com/office/drawing/2014/main" id="{BDB928ED-E951-2D58-9836-0A7F58CFE7BB}"/>
              </a:ext>
            </a:extLst>
          </p:cNvPr>
          <p:cNvSpPr/>
          <p:nvPr/>
        </p:nvSpPr>
        <p:spPr>
          <a:xfrm>
            <a:off x="7527762" y="3523265"/>
            <a:ext cx="142446" cy="0"/>
          </a:xfrm>
          <a:prstGeom prst="line">
            <a:avLst/>
          </a:prstGeom>
          <a:noFill/>
          <a:ln w="15875">
            <a:solidFill>
              <a:srgbClr val="4A5C66"/>
            </a:solidFill>
            <a:prstDash val="solid"/>
          </a:ln>
        </p:spPr>
        <p:txBody>
          <a:bodyPr/>
          <a:lstStyle/>
          <a:p>
            <a:endParaRPr lang="de-DE" sz="1402"/>
          </a:p>
        </p:txBody>
      </p:sp>
      <p:sp>
        <p:nvSpPr>
          <p:cNvPr id="39" name="Shape 38">
            <a:extLst>
              <a:ext uri="{FF2B5EF4-FFF2-40B4-BE49-F238E27FC236}">
                <a16:creationId xmlns:a16="http://schemas.microsoft.com/office/drawing/2014/main" id="{2DB26A79-4C15-2704-A155-5266CD6059EB}"/>
              </a:ext>
            </a:extLst>
          </p:cNvPr>
          <p:cNvSpPr/>
          <p:nvPr/>
        </p:nvSpPr>
        <p:spPr>
          <a:xfrm>
            <a:off x="7598985" y="3452042"/>
            <a:ext cx="0" cy="142446"/>
          </a:xfrm>
          <a:prstGeom prst="line">
            <a:avLst/>
          </a:prstGeom>
          <a:noFill/>
          <a:ln w="15875">
            <a:solidFill>
              <a:srgbClr val="4A5C66"/>
            </a:solidFill>
            <a:prstDash val="solid"/>
          </a:ln>
        </p:spPr>
        <p:txBody>
          <a:bodyPr/>
          <a:lstStyle/>
          <a:p>
            <a:endParaRPr lang="de-DE" sz="1402"/>
          </a:p>
        </p:txBody>
      </p:sp>
      <p:sp>
        <p:nvSpPr>
          <p:cNvPr id="40" name="Shape 39">
            <a:extLst>
              <a:ext uri="{FF2B5EF4-FFF2-40B4-BE49-F238E27FC236}">
                <a16:creationId xmlns:a16="http://schemas.microsoft.com/office/drawing/2014/main" id="{41599509-77BA-0551-F7C8-83D2BAFB27D2}"/>
              </a:ext>
            </a:extLst>
          </p:cNvPr>
          <p:cNvSpPr/>
          <p:nvPr/>
        </p:nvSpPr>
        <p:spPr>
          <a:xfrm>
            <a:off x="5248620" y="3594489"/>
            <a:ext cx="0" cy="71223"/>
          </a:xfrm>
          <a:prstGeom prst="line">
            <a:avLst/>
          </a:prstGeom>
          <a:noFill/>
          <a:ln w="19050">
            <a:solidFill>
              <a:srgbClr val="4A5C66"/>
            </a:solidFill>
            <a:prstDash val="solid"/>
          </a:ln>
        </p:spPr>
        <p:txBody>
          <a:bodyPr/>
          <a:lstStyle/>
          <a:p>
            <a:endParaRPr lang="de-DE" sz="1402"/>
          </a:p>
        </p:txBody>
      </p:sp>
      <p:sp>
        <p:nvSpPr>
          <p:cNvPr id="41" name="Shape 40">
            <a:extLst>
              <a:ext uri="{FF2B5EF4-FFF2-40B4-BE49-F238E27FC236}">
                <a16:creationId xmlns:a16="http://schemas.microsoft.com/office/drawing/2014/main" id="{6D3AE6B1-E41C-568F-2DAD-68245EB578D0}"/>
              </a:ext>
            </a:extLst>
          </p:cNvPr>
          <p:cNvSpPr/>
          <p:nvPr/>
        </p:nvSpPr>
        <p:spPr>
          <a:xfrm flipH="1">
            <a:off x="3788545" y="3665712"/>
            <a:ext cx="1460075" cy="0"/>
          </a:xfrm>
          <a:prstGeom prst="line">
            <a:avLst/>
          </a:prstGeom>
          <a:noFill/>
          <a:ln w="19050">
            <a:solidFill>
              <a:srgbClr val="4A5C66"/>
            </a:solidFill>
            <a:prstDash val="solid"/>
          </a:ln>
        </p:spPr>
        <p:txBody>
          <a:bodyPr/>
          <a:lstStyle/>
          <a:p>
            <a:endParaRPr lang="de-DE" sz="1402"/>
          </a:p>
        </p:txBody>
      </p:sp>
      <p:sp>
        <p:nvSpPr>
          <p:cNvPr id="42" name="Shape 41">
            <a:extLst>
              <a:ext uri="{FF2B5EF4-FFF2-40B4-BE49-F238E27FC236}">
                <a16:creationId xmlns:a16="http://schemas.microsoft.com/office/drawing/2014/main" id="{70535CF6-4524-A125-7D9F-47ABA52FA48F}"/>
              </a:ext>
            </a:extLst>
          </p:cNvPr>
          <p:cNvSpPr/>
          <p:nvPr/>
        </p:nvSpPr>
        <p:spPr>
          <a:xfrm>
            <a:off x="3788545" y="3665712"/>
            <a:ext cx="0" cy="71223"/>
          </a:xfrm>
          <a:prstGeom prst="line">
            <a:avLst/>
          </a:prstGeom>
          <a:noFill/>
          <a:ln w="19050">
            <a:solidFill>
              <a:srgbClr val="4A5C66"/>
            </a:solidFill>
            <a:prstDash val="solid"/>
          </a:ln>
        </p:spPr>
        <p:txBody>
          <a:bodyPr/>
          <a:lstStyle/>
          <a:p>
            <a:endParaRPr lang="de-DE" sz="1402"/>
          </a:p>
        </p:txBody>
      </p:sp>
      <p:sp>
        <p:nvSpPr>
          <p:cNvPr id="43" name="Shape 42">
            <a:extLst>
              <a:ext uri="{FF2B5EF4-FFF2-40B4-BE49-F238E27FC236}">
                <a16:creationId xmlns:a16="http://schemas.microsoft.com/office/drawing/2014/main" id="{C1D22962-E342-F662-ACDC-3B0D4D6BF568}"/>
              </a:ext>
            </a:extLst>
          </p:cNvPr>
          <p:cNvSpPr/>
          <p:nvPr/>
        </p:nvSpPr>
        <p:spPr>
          <a:xfrm>
            <a:off x="5177398" y="3452042"/>
            <a:ext cx="142446" cy="14244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A5C66"/>
            </a:solidFill>
            <a:prstDash val="solid"/>
          </a:ln>
        </p:spPr>
        <p:txBody>
          <a:bodyPr/>
          <a:lstStyle/>
          <a:p>
            <a:endParaRPr lang="de-DE" sz="1402"/>
          </a:p>
        </p:txBody>
      </p:sp>
      <p:sp>
        <p:nvSpPr>
          <p:cNvPr id="44" name="Shape 43">
            <a:extLst>
              <a:ext uri="{FF2B5EF4-FFF2-40B4-BE49-F238E27FC236}">
                <a16:creationId xmlns:a16="http://schemas.microsoft.com/office/drawing/2014/main" id="{556D3182-30AB-3CFC-D34D-97CA83DDA923}"/>
              </a:ext>
            </a:extLst>
          </p:cNvPr>
          <p:cNvSpPr/>
          <p:nvPr/>
        </p:nvSpPr>
        <p:spPr>
          <a:xfrm>
            <a:off x="5177398" y="3523265"/>
            <a:ext cx="142446" cy="0"/>
          </a:xfrm>
          <a:prstGeom prst="line">
            <a:avLst/>
          </a:prstGeom>
          <a:noFill/>
          <a:ln w="15875">
            <a:solidFill>
              <a:srgbClr val="4A5C66"/>
            </a:solidFill>
            <a:prstDash val="solid"/>
          </a:ln>
        </p:spPr>
        <p:txBody>
          <a:bodyPr/>
          <a:lstStyle/>
          <a:p>
            <a:endParaRPr lang="de-DE" sz="1402"/>
          </a:p>
        </p:txBody>
      </p:sp>
      <p:sp>
        <p:nvSpPr>
          <p:cNvPr id="45" name="Shape 44">
            <a:extLst>
              <a:ext uri="{FF2B5EF4-FFF2-40B4-BE49-F238E27FC236}">
                <a16:creationId xmlns:a16="http://schemas.microsoft.com/office/drawing/2014/main" id="{AA2CBD64-A2CF-8448-31DC-6B0B43BA5F52}"/>
              </a:ext>
            </a:extLst>
          </p:cNvPr>
          <p:cNvSpPr/>
          <p:nvPr/>
        </p:nvSpPr>
        <p:spPr>
          <a:xfrm>
            <a:off x="5248620" y="3452042"/>
            <a:ext cx="0" cy="142446"/>
          </a:xfrm>
          <a:prstGeom prst="line">
            <a:avLst/>
          </a:prstGeom>
          <a:noFill/>
          <a:ln w="15875">
            <a:solidFill>
              <a:srgbClr val="4A5C66"/>
            </a:solidFill>
            <a:prstDash val="solid"/>
          </a:ln>
        </p:spPr>
        <p:txBody>
          <a:bodyPr/>
          <a:lstStyle/>
          <a:p>
            <a:endParaRPr lang="de-DE" sz="1402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80B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 7 · D2D · VERLÄNGERUNGSANTRAG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310896"/>
            <a:ext cx="6172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Control: Regeln und Entscheidungslogik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55464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5B6A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40</a:t>
            </a:fld>
            <a:endParaRPr lang="en-US"/>
          </a:p>
        </p:txBody>
      </p:sp>
      <p:graphicFrame>
        <p:nvGraphicFramePr>
          <p:cNvPr id="4" name="Table 0">
            <a:extLst>
              <a:ext uri="{FF2B5EF4-FFF2-40B4-BE49-F238E27FC236}">
                <a16:creationId xmlns:a16="http://schemas.microsoft.com/office/drawing/2014/main" id="{0FD53463-3E20-1811-E470-1C127BE611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5864320"/>
              </p:ext>
            </p:extLst>
          </p:nvPr>
        </p:nvGraphicFramePr>
        <p:xfrm>
          <a:off x="366063" y="990600"/>
          <a:ext cx="8411873" cy="1864757"/>
        </p:xfrm>
        <a:graphic>
          <a:graphicData uri="http://schemas.openxmlformats.org/drawingml/2006/table">
            <a:tbl>
              <a:tblPr/>
              <a:tblGrid>
                <a:gridCol w="55278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40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292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223" marR="68223" marT="81867" marB="81867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C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Durchsetzung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223" marR="68223" marT="81867" marB="81867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C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5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F3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Zugriff nur nach THM-Login.</a:t>
                      </a:r>
                      <a:endParaRPr lang="en-US" sz="1000" dirty="0">
                        <a:solidFill>
                          <a:srgbClr val="2F3E46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223" marR="68223" marT="81867" marB="81867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F3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Login-Maske</a:t>
                      </a:r>
                      <a:endParaRPr lang="en-US" sz="1000" dirty="0">
                        <a:solidFill>
                          <a:srgbClr val="2F3E46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223" marR="68223" marT="81867" marB="81867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5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F3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 Antrag enthält einen Grund. Die Krankmeldung ist optional.</a:t>
                      </a:r>
                      <a:endParaRPr lang="en-US" sz="1000" dirty="0">
                        <a:solidFill>
                          <a:srgbClr val="2F3E46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223" marR="68223" marT="81867" marB="81867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F3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Pflichtfeld im Portal</a:t>
                      </a:r>
                      <a:endParaRPr lang="en-US" sz="1000" dirty="0">
                        <a:solidFill>
                          <a:srgbClr val="2F3E46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223" marR="68223" marT="81867" marB="81867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15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F3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Nur </a:t>
                      </a:r>
                      <a:r>
                        <a:rPr lang="en-US" sz="1000" dirty="0" err="1">
                          <a:solidFill>
                            <a:srgbClr val="2F3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Erstprüfer</a:t>
                      </a:r>
                      <a:r>
                        <a:rPr lang="en-US" sz="1000" dirty="0">
                          <a:solidFill>
                            <a:srgbClr val="2F3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</a:t>
                      </a:r>
                      <a:r>
                        <a:rPr lang="en-US" sz="1000" dirty="0" err="1">
                          <a:solidFill>
                            <a:srgbClr val="2F3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bekommt</a:t>
                      </a:r>
                      <a:r>
                        <a:rPr lang="en-US" sz="1000" dirty="0">
                          <a:solidFill>
                            <a:srgbClr val="2F3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2F3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automatische</a:t>
                      </a:r>
                      <a:r>
                        <a:rPr lang="en-US" sz="1000" dirty="0">
                          <a:solidFill>
                            <a:srgbClr val="2F3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2F3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Benachrichtigung</a:t>
                      </a:r>
                      <a:r>
                        <a:rPr lang="en-US" sz="1000" dirty="0">
                          <a:solidFill>
                            <a:srgbClr val="2F3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2F3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bekommt</a:t>
                      </a:r>
                      <a:r>
                        <a:rPr lang="en-US" sz="1000" dirty="0">
                          <a:solidFill>
                            <a:srgbClr val="2F3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000" dirty="0">
                        <a:solidFill>
                          <a:srgbClr val="2F3E46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223" marR="68223" marT="81867" marB="81867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F3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Prüfschritt im Portal</a:t>
                      </a:r>
                      <a:endParaRPr lang="en-US" sz="1000" dirty="0">
                        <a:solidFill>
                          <a:srgbClr val="2F3E46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223" marR="68223" marT="81867" marB="81867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71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F3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Neuer </a:t>
                      </a:r>
                      <a:r>
                        <a:rPr lang="en-US" sz="1000" dirty="0" err="1">
                          <a:solidFill>
                            <a:srgbClr val="2F3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abgabe</a:t>
                      </a:r>
                      <a:r>
                        <a:rPr lang="en-US" sz="1000" dirty="0">
                          <a:solidFill>
                            <a:srgbClr val="2F3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2F3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termin</a:t>
                      </a:r>
                      <a:r>
                        <a:rPr lang="en-US" sz="1000" dirty="0">
                          <a:solidFill>
                            <a:srgbClr val="2F3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2F3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nach</a:t>
                      </a:r>
                      <a:r>
                        <a:rPr lang="en-US" sz="1000" dirty="0">
                          <a:solidFill>
                            <a:srgbClr val="2F3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2F3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formel</a:t>
                      </a:r>
                      <a:br>
                        <a:rPr lang="en-US" sz="1000" dirty="0">
                          <a:solidFill>
                            <a:srgbClr val="2F3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</a:br>
                      <a:br>
                        <a:rPr lang="en-US" sz="1000" dirty="0">
                          <a:solidFill>
                            <a:srgbClr val="2F3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</a:br>
                      <a:endParaRPr lang="en-US" sz="1000" dirty="0">
                        <a:solidFill>
                          <a:srgbClr val="2F3E46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223" marR="68223" marT="81867" marB="81867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F3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Entscheidungsdatum im Portal</a:t>
                      </a:r>
                      <a:endParaRPr lang="en-US" sz="1000" dirty="0">
                        <a:solidFill>
                          <a:srgbClr val="2F3E46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223" marR="68223" marT="81867" marB="81867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4835A9E4-22D6-23F5-B70B-48090F0BAAD9}"/>
              </a:ext>
            </a:extLst>
          </p:cNvPr>
          <p:cNvGrpSpPr/>
          <p:nvPr/>
        </p:nvGrpSpPr>
        <p:grpSpPr>
          <a:xfrm>
            <a:off x="366064" y="2696170"/>
            <a:ext cx="8411873" cy="818674"/>
            <a:chOff x="457200" y="4480560"/>
            <a:chExt cx="6400800" cy="1097280"/>
          </a:xfrm>
        </p:grpSpPr>
        <p:sp>
          <p:nvSpPr>
            <p:cNvPr id="6" name="Shape 4">
              <a:extLst>
                <a:ext uri="{FF2B5EF4-FFF2-40B4-BE49-F238E27FC236}">
                  <a16:creationId xmlns:a16="http://schemas.microsoft.com/office/drawing/2014/main" id="{31AB6F74-78A7-F14F-A3D6-DFAED38CBF58}"/>
                </a:ext>
              </a:extLst>
            </p:cNvPr>
            <p:cNvSpPr/>
            <p:nvPr/>
          </p:nvSpPr>
          <p:spPr>
            <a:xfrm>
              <a:off x="457200" y="4480560"/>
              <a:ext cx="6400800" cy="1097280"/>
            </a:xfrm>
            <a:prstGeom prst="roundRect">
              <a:avLst>
                <a:gd name="adj" fmla="val 5000"/>
              </a:avLst>
            </a:prstGeom>
            <a:solidFill>
              <a:srgbClr val="FFF3CD"/>
            </a:solidFill>
            <a:ln w="12700">
              <a:solidFill>
                <a:srgbClr val="8FB04A"/>
              </a:solidFill>
              <a:prstDash val="solid"/>
            </a:ln>
          </p:spPr>
          <p:txBody>
            <a:bodyPr/>
            <a:lstStyle/>
            <a:p>
              <a:endParaRPr lang="de-DE" sz="1343"/>
            </a:p>
          </p:txBody>
        </p:sp>
        <p:sp>
          <p:nvSpPr>
            <p:cNvPr id="7" name="Text 5">
              <a:extLst>
                <a:ext uri="{FF2B5EF4-FFF2-40B4-BE49-F238E27FC236}">
                  <a16:creationId xmlns:a16="http://schemas.microsoft.com/office/drawing/2014/main" id="{01222DE3-7165-91C6-8EC1-33250B5B68D4}"/>
                </a:ext>
              </a:extLst>
            </p:cNvPr>
            <p:cNvSpPr txBox="1"/>
            <p:nvPr/>
          </p:nvSpPr>
          <p:spPr>
            <a:xfrm>
              <a:off x="640080" y="4572000"/>
              <a:ext cx="60350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sz="1045" b="1" dirty="0">
                  <a:solidFill>
                    <a:srgbClr val="2F3E46"/>
                  </a:solidFill>
                  <a:latin typeface="Calibri" panose="020F0502020204030204" pitchFamily="34" charset="0"/>
                  <a:ea typeface="Cambria" pitchFamily="34" charset="-122"/>
                  <a:cs typeface="Cambria" pitchFamily="34" charset="-120"/>
                </a:rPr>
                <a:t>Formel: Datum </a:t>
              </a:r>
              <a:r>
                <a:rPr lang="en-US" sz="1045" b="1" dirty="0" err="1">
                  <a:solidFill>
                    <a:srgbClr val="2F3E46"/>
                  </a:solidFill>
                  <a:latin typeface="Calibri" panose="020F0502020204030204" pitchFamily="34" charset="0"/>
                  <a:ea typeface="Cambria" pitchFamily="34" charset="-122"/>
                  <a:cs typeface="Cambria" pitchFamily="34" charset="-120"/>
                </a:rPr>
                <a:t>wird</a:t>
              </a:r>
              <a:r>
                <a:rPr lang="en-US" sz="1045" b="1" dirty="0">
                  <a:solidFill>
                    <a:srgbClr val="2F3E46"/>
                  </a:solidFill>
                  <a:latin typeface="Calibri" panose="020F0502020204030204" pitchFamily="34" charset="0"/>
                  <a:ea typeface="Cambria" pitchFamily="34" charset="-122"/>
                  <a:cs typeface="Cambria" pitchFamily="34" charset="-120"/>
                </a:rPr>
                <a:t> </a:t>
              </a:r>
              <a:r>
                <a:rPr lang="en-US" sz="1045" b="1" dirty="0" err="1">
                  <a:solidFill>
                    <a:srgbClr val="2F3E46"/>
                  </a:solidFill>
                  <a:latin typeface="Calibri" panose="020F0502020204030204" pitchFamily="34" charset="0"/>
                  <a:ea typeface="Cambria" pitchFamily="34" charset="-122"/>
                  <a:cs typeface="Cambria" pitchFamily="34" charset="-120"/>
                </a:rPr>
                <a:t>automatisch</a:t>
              </a:r>
              <a:r>
                <a:rPr lang="en-US" sz="1045" b="1" dirty="0">
                  <a:solidFill>
                    <a:srgbClr val="2F3E46"/>
                  </a:solidFill>
                  <a:latin typeface="Calibri" panose="020F0502020204030204" pitchFamily="34" charset="0"/>
                  <a:ea typeface="Cambria" pitchFamily="34" charset="-122"/>
                  <a:cs typeface="Cambria" pitchFamily="34" charset="-120"/>
                </a:rPr>
                <a:t> </a:t>
              </a:r>
              <a:r>
                <a:rPr lang="en-US" sz="1045" b="1" dirty="0" err="1">
                  <a:solidFill>
                    <a:srgbClr val="2F3E46"/>
                  </a:solidFill>
                  <a:latin typeface="Calibri" panose="020F0502020204030204" pitchFamily="34" charset="0"/>
                  <a:ea typeface="Cambria" pitchFamily="34" charset="-122"/>
                  <a:cs typeface="Cambria" pitchFamily="34" charset="-120"/>
                </a:rPr>
                <a:t>berechnet</a:t>
              </a:r>
              <a:endParaRPr lang="en-US" sz="1045" dirty="0">
                <a:solidFill>
                  <a:srgbClr val="2F3E46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8" name="Text 6">
              <a:extLst>
                <a:ext uri="{FF2B5EF4-FFF2-40B4-BE49-F238E27FC236}">
                  <a16:creationId xmlns:a16="http://schemas.microsoft.com/office/drawing/2014/main" id="{A4F42B20-8901-9157-4A3E-15479AC4894E}"/>
                </a:ext>
              </a:extLst>
            </p:cNvPr>
            <p:cNvSpPr txBox="1"/>
            <p:nvPr/>
          </p:nvSpPr>
          <p:spPr>
            <a:xfrm>
              <a:off x="640080" y="4892040"/>
              <a:ext cx="60350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sz="1119" b="1" dirty="0">
                  <a:solidFill>
                    <a:srgbClr val="2F3E4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Neuer Abgabetermin = alter Abgabetermin + Verlängerungsdauer</a:t>
              </a:r>
              <a:endParaRPr lang="en-US" sz="1119" dirty="0">
                <a:solidFill>
                  <a:srgbClr val="2F3E46"/>
                </a:solidFill>
              </a:endParaRPr>
            </a:p>
          </p:txBody>
        </p:sp>
      </p:grpSp>
      <p:sp>
        <p:nvSpPr>
          <p:cNvPr id="9" name="Text 21">
            <a:extLst>
              <a:ext uri="{FF2B5EF4-FFF2-40B4-BE49-F238E27FC236}">
                <a16:creationId xmlns:a16="http://schemas.microsoft.com/office/drawing/2014/main" id="{1E1B821C-EA52-2B3C-D590-18E6BE462981}"/>
              </a:ext>
            </a:extLst>
          </p:cNvPr>
          <p:cNvSpPr txBox="1"/>
          <p:nvPr/>
        </p:nvSpPr>
        <p:spPr>
          <a:xfrm>
            <a:off x="8061596" y="2662059"/>
            <a:ext cx="409337" cy="204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783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80B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 7 · D2D · VERLÄNGERUNGSANTRAG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310896"/>
            <a:ext cx="6172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Environment: Betriebs- und Entwicklungsumgebung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55464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5B6A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41</a:t>
            </a:fld>
            <a:endParaRPr lang="en-US"/>
          </a:p>
        </p:txBody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E32976D6-0813-14C4-8F67-38DDBF71B761}"/>
              </a:ext>
            </a:extLst>
          </p:cNvPr>
          <p:cNvSpPr txBox="1"/>
          <p:nvPr/>
        </p:nvSpPr>
        <p:spPr>
          <a:xfrm>
            <a:off x="366064" y="990600"/>
            <a:ext cx="4093369" cy="238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94" b="1" dirty="0">
                <a:solidFill>
                  <a:srgbClr val="2F3E46"/>
                </a:solidFill>
                <a:latin typeface="Calibri" panose="020F0502020204030204" pitchFamily="34" charset="0"/>
                <a:ea typeface="Cambria" pitchFamily="34" charset="-122"/>
                <a:cs typeface="Cambria" pitchFamily="34" charset="-120"/>
              </a:rPr>
              <a:t>Operational Environment</a:t>
            </a:r>
            <a:endParaRPr lang="en-US" sz="1194" dirty="0">
              <a:solidFill>
                <a:srgbClr val="2F3E46"/>
              </a:solidFill>
              <a:latin typeface="Calibri" panose="020F0502020204030204" pitchFamily="34" charset="0"/>
            </a:endParaRPr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55079F12-984F-3E36-91F6-67CB31455D04}"/>
              </a:ext>
            </a:extLst>
          </p:cNvPr>
          <p:cNvSpPr txBox="1"/>
          <p:nvPr/>
        </p:nvSpPr>
        <p:spPr>
          <a:xfrm>
            <a:off x="366065" y="2457391"/>
            <a:ext cx="8391406" cy="27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33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Technologieplattform: Webportal im Browser am Desktop und auf dem Smartphone, Anmeldung über THM-Login (One-Pager).</a:t>
            </a:r>
            <a:endParaRPr lang="en-US" sz="933" dirty="0">
              <a:solidFill>
                <a:srgbClr val="2F3E46"/>
              </a:solidFill>
            </a:endParaRPr>
          </a:p>
        </p:txBody>
      </p:sp>
      <p:graphicFrame>
        <p:nvGraphicFramePr>
          <p:cNvPr id="6" name="Table 1">
            <a:extLst>
              <a:ext uri="{FF2B5EF4-FFF2-40B4-BE49-F238E27FC236}">
                <a16:creationId xmlns:a16="http://schemas.microsoft.com/office/drawing/2014/main" id="{366B2ABA-889E-3460-C066-315B448A68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5152085"/>
              </p:ext>
            </p:extLst>
          </p:nvPr>
        </p:nvGraphicFramePr>
        <p:xfrm>
          <a:off x="366064" y="3173730"/>
          <a:ext cx="8411873" cy="425256"/>
        </p:xfrm>
        <a:graphic>
          <a:graphicData uri="http://schemas.openxmlformats.org/drawingml/2006/table">
            <a:tbl>
              <a:tblPr/>
              <a:tblGrid>
                <a:gridCol w="27971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71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76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26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Software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223" marR="68223" marT="40934" marB="40934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C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223" marR="68223" marT="40934" marB="40934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C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223" marR="68223" marT="40934" marB="40934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C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26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5A43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ThesisFlow </a:t>
                      </a:r>
                      <a:r>
                        <a:rPr lang="en-US" sz="900" dirty="0">
                          <a:solidFill>
                            <a:srgbClr val="5A43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(Webanwendung), E-Mail-Dienst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223" marR="68223" marT="40934" marB="40934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A43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Handy, Laptop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223" marR="68223" marT="40934" marB="40934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F3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THM-Login, </a:t>
                      </a:r>
                      <a:r>
                        <a:rPr lang="en-US" sz="900" dirty="0" err="1">
                          <a:solidFill>
                            <a:srgbClr val="2F3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Datenschutz</a:t>
                      </a:r>
                      <a:r>
                        <a:rPr lang="en-US" sz="900" dirty="0">
                          <a:solidFill>
                            <a:srgbClr val="2F3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900" dirty="0">
                        <a:solidFill>
                          <a:srgbClr val="2F3E46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223" marR="68223" marT="40934" marB="40934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Table 0">
            <a:extLst>
              <a:ext uri="{FF2B5EF4-FFF2-40B4-BE49-F238E27FC236}">
                <a16:creationId xmlns:a16="http://schemas.microsoft.com/office/drawing/2014/main" id="{3CDC467D-92AF-FA65-4AAE-8C8F0A8A07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7379678"/>
              </p:ext>
            </p:extLst>
          </p:nvPr>
        </p:nvGraphicFramePr>
        <p:xfrm>
          <a:off x="366064" y="1263492"/>
          <a:ext cx="8411873" cy="856196"/>
        </p:xfrm>
        <a:graphic>
          <a:graphicData uri="http://schemas.openxmlformats.org/drawingml/2006/table">
            <a:tbl>
              <a:tblPr/>
              <a:tblGrid>
                <a:gridCol w="23877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66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773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831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223" marR="68223" marT="40934" marB="40934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C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223" marR="68223" marT="40934" marB="40934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C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Eigenschaften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223" marR="68223" marT="40934" marB="40934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C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26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F3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Studierende:</a:t>
                      </a:r>
                      <a:r>
                        <a:rPr lang="en-US" sz="900">
                          <a:solidFill>
                            <a:srgbClr val="2F3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(Jonas)</a:t>
                      </a:r>
                      <a:endParaRPr lang="en-US" sz="900" dirty="0">
                        <a:solidFill>
                          <a:srgbClr val="2F3E46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223" marR="68223" marT="40934" marB="40934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F3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unterwegs, viel auf Reisen</a:t>
                      </a:r>
                      <a:endParaRPr lang="en-US" sz="900" dirty="0">
                        <a:solidFill>
                          <a:srgbClr val="2F3E46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223" marR="68223" marT="40934" marB="40934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F3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Laptop, Handy </a:t>
                      </a:r>
                      <a:endParaRPr lang="en-US" sz="900" dirty="0">
                        <a:solidFill>
                          <a:srgbClr val="2F3E46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223" marR="68223" marT="40934" marB="40934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26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F3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Studierende:</a:t>
                      </a:r>
                      <a:r>
                        <a:rPr lang="en-US" sz="900">
                          <a:solidFill>
                            <a:srgbClr val="2F3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(Jonas)</a:t>
                      </a:r>
                      <a:endParaRPr lang="en-US" sz="900" dirty="0">
                        <a:solidFill>
                          <a:srgbClr val="2F3E46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223" marR="68223" marT="40934" marB="40934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F3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zu Hause </a:t>
                      </a:r>
                      <a:endParaRPr lang="en-US" sz="900" dirty="0">
                        <a:solidFill>
                          <a:srgbClr val="2F3E46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223" marR="68223" marT="40934" marB="40934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latin typeface="Calibri" charset="0"/>
                          <a:ea typeface="Calibri" charset="0"/>
                          <a:cs typeface="Calibri" charset="0"/>
                        </a:rPr>
                        <a:t>Laptop, Desktop, Handy</a:t>
                      </a:r>
                    </a:p>
                  </a:txBody>
                  <a:tcPr marL="68223" marR="68223" marT="40934" marB="40934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26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 err="1">
                          <a:solidFill>
                            <a:srgbClr val="2F3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Erstprüfer:in</a:t>
                      </a:r>
                      <a:endParaRPr lang="en-US" sz="900" dirty="0">
                        <a:solidFill>
                          <a:srgbClr val="2F3E46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223" marR="68223" marT="40934" marB="40934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A43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Office, </a:t>
                      </a:r>
                      <a:r>
                        <a:rPr lang="en-US" sz="900" dirty="0" err="1">
                          <a:solidFill>
                            <a:srgbClr val="5A43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Homeoffice</a:t>
                      </a:r>
                      <a:r>
                        <a:rPr lang="en-US" sz="900" dirty="0">
                          <a:solidFill>
                            <a:srgbClr val="5A43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223" marR="68223" marT="40934" marB="40934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latin typeface="Calibri" charset="0"/>
                          <a:ea typeface="Calibri" charset="0"/>
                          <a:cs typeface="Calibri" charset="0"/>
                        </a:rPr>
                        <a:t>Laptop, Handy, Desktop</a:t>
                      </a:r>
                    </a:p>
                  </a:txBody>
                  <a:tcPr marL="68223" marR="68223" marT="40934" marB="40934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80B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 7 · D2D · VERLÄNGERUNGSANTRAG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310896"/>
            <a:ext cx="6172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Quality Attributes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55464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5B6A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42</a:t>
            </a:fld>
            <a:endParaRPr lang="en-US"/>
          </a:p>
        </p:txBody>
      </p:sp>
      <p:graphicFrame>
        <p:nvGraphicFramePr>
          <p:cNvPr id="4" name="Table 0">
            <a:extLst>
              <a:ext uri="{FF2B5EF4-FFF2-40B4-BE49-F238E27FC236}">
                <a16:creationId xmlns:a16="http://schemas.microsoft.com/office/drawing/2014/main" id="{79A37A27-331C-97C2-262C-BA720E3529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2402383"/>
              </p:ext>
            </p:extLst>
          </p:nvPr>
        </p:nvGraphicFramePr>
        <p:xfrm>
          <a:off x="366063" y="990600"/>
          <a:ext cx="8411873" cy="2964281"/>
        </p:xfrm>
        <a:graphic>
          <a:graphicData uri="http://schemas.openxmlformats.org/drawingml/2006/table">
            <a:tbl>
              <a:tblPr/>
              <a:tblGrid>
                <a:gridCol w="17737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40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4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63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223" marR="68223" marT="61401" marB="61401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C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Anforderung aus den Unterlagen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223" marR="68223" marT="61401" marB="61401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C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Prüfbarkeit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223" marR="68223" marT="61401" marB="61401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C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0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F3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Benutzbarkeit</a:t>
                      </a:r>
                      <a:endParaRPr lang="en-US" sz="900" dirty="0">
                        <a:solidFill>
                          <a:srgbClr val="2F3E46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223" marR="68223" marT="61401" marB="61401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F3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Schritt-für-Schritt-Führung mit Pflichtfeldprüfung, keine neue Registrierung, kurze Einführung statt wochenlanger Schulung</a:t>
                      </a:r>
                      <a:endParaRPr lang="en-US" sz="900" dirty="0">
                        <a:solidFill>
                          <a:srgbClr val="2F3E46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223" marR="68223" marT="61401" marB="61401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F3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Eine Testperson stellt den Antrag ohne Hilfe</a:t>
                      </a:r>
                      <a:endParaRPr lang="en-US" sz="900" dirty="0">
                        <a:solidFill>
                          <a:srgbClr val="2F3E46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223" marR="68223" marT="61401" marB="61401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0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F3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Plattformunabhängigkeit</a:t>
                      </a:r>
                      <a:endParaRPr lang="en-US" sz="900" dirty="0">
                        <a:solidFill>
                          <a:srgbClr val="2F3E46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223" marR="68223" marT="61401" marB="61401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F3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 genauso komfortabel wie am Desktop</a:t>
                      </a:r>
                      <a:endParaRPr lang="en-US" sz="900" dirty="0">
                        <a:solidFill>
                          <a:srgbClr val="2F3E46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223" marR="68223" marT="61401" marB="61401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F3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am Desktop-Browser und am Smartphone mit gleichem Funktionsumfang</a:t>
                      </a:r>
                      <a:endParaRPr lang="en-US" sz="900" dirty="0">
                        <a:solidFill>
                          <a:srgbClr val="2F3E46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223" marR="68223" marT="61401" marB="61401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49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F3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Verfügbarkeit</a:t>
                      </a:r>
                      <a:endParaRPr lang="en-US" sz="900" dirty="0">
                        <a:solidFill>
                          <a:srgbClr val="2F3E46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223" marR="68223" marT="61401" marB="61401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F3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Rund um die Uhr verfügbar</a:t>
                      </a:r>
                      <a:endParaRPr lang="en-US" sz="900" dirty="0">
                        <a:solidFill>
                          <a:srgbClr val="2F3E46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223" marR="68223" marT="61401" marB="61401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F3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Prüfung der Erreichbarkeit außerhalb der Bürozeiten</a:t>
                      </a:r>
                      <a:endParaRPr lang="en-US" sz="900" dirty="0">
                        <a:solidFill>
                          <a:srgbClr val="2F3E46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223" marR="68223" marT="61401" marB="61401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49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F3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Zuverlässigkeit</a:t>
                      </a:r>
                      <a:endParaRPr lang="en-US" sz="900" dirty="0">
                        <a:solidFill>
                          <a:srgbClr val="2F3E46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223" marR="68223" marT="61401" marB="61401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F3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Läuft zuverlässig und bildet die Prüfschritte ab</a:t>
                      </a:r>
                      <a:endParaRPr lang="en-US" sz="900" dirty="0">
                        <a:solidFill>
                          <a:srgbClr val="2F3E46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223" marR="68223" marT="61401" marB="61401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 err="1">
                          <a:solidFill>
                            <a:srgbClr val="2F3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Antrag</a:t>
                      </a:r>
                      <a:r>
                        <a:rPr lang="en-US" sz="900" dirty="0">
                          <a:solidFill>
                            <a:srgbClr val="2F3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durchläuft alle Prüfschritte fehlerfrei</a:t>
                      </a:r>
                      <a:endParaRPr lang="en-US" sz="900" dirty="0">
                        <a:solidFill>
                          <a:srgbClr val="2F3E46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223" marR="68223" marT="61401" marB="61401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70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F3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Transparenz</a:t>
                      </a:r>
                      <a:endParaRPr lang="en-US" sz="900" dirty="0">
                        <a:solidFill>
                          <a:srgbClr val="2F3E46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223" marR="68223" marT="61401" marB="61401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F3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jederzeit sichtbar, Fristen und Verlängerungsoptionen transparent, Benachrichtigung bei Statuswechsel</a:t>
                      </a:r>
                      <a:endParaRPr lang="en-US" sz="900" dirty="0">
                        <a:solidFill>
                          <a:srgbClr val="2F3E46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223" marR="68223" marT="61401" marB="61401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F3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und Frist sind sichtbar, die Benachrichtigung kommt bei jedem Statuswechsel an</a:t>
                      </a:r>
                      <a:endParaRPr lang="en-US" sz="900" dirty="0">
                        <a:solidFill>
                          <a:srgbClr val="2F3E46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223" marR="68223" marT="61401" marB="61401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49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F3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Datenschutz, Sicherheit</a:t>
                      </a:r>
                      <a:endParaRPr lang="en-US" sz="900" dirty="0">
                        <a:solidFill>
                          <a:srgbClr val="2F3E46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223" marR="68223" marT="61401" marB="61401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F3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Personenbezogene Daten geschützt, THM-Login mit Rollen</a:t>
                      </a:r>
                      <a:endParaRPr lang="en-US" sz="900" dirty="0">
                        <a:solidFill>
                          <a:srgbClr val="2F3E46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223" marR="68223" marT="61401" marB="61401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F3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Rollen- und Rechtetest, Abstimmung zum Datenschutz</a:t>
                      </a:r>
                      <a:endParaRPr lang="en-US" sz="900" dirty="0">
                        <a:solidFill>
                          <a:srgbClr val="2F3E46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223" marR="68223" marT="61401" marB="61401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49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F3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Pflegbarkeit</a:t>
                      </a:r>
                      <a:endParaRPr lang="en-US" sz="900" dirty="0">
                        <a:solidFill>
                          <a:srgbClr val="2F3E46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223" marR="68223" marT="61401" marB="61401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F3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Regeln und Fristen sind pflegbar</a:t>
                      </a:r>
                      <a:endParaRPr lang="en-US" sz="900" dirty="0">
                        <a:solidFill>
                          <a:srgbClr val="2F3E46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223" marR="68223" marT="61401" marB="61401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F3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Regel oder Frist lässt sich ohne Entwickler ändern</a:t>
                      </a:r>
                      <a:endParaRPr lang="en-US" sz="900" dirty="0">
                        <a:solidFill>
                          <a:srgbClr val="2F3E46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223" marR="68223" marT="61401" marB="61401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70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F3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Nachvollziehbarkeit</a:t>
                      </a:r>
                      <a:endParaRPr lang="en-US" sz="900" dirty="0">
                        <a:solidFill>
                          <a:srgbClr val="2F3E46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223" marR="68223" marT="61401" marB="61401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F3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Rechtssichere Ablage ohne Papierstapel</a:t>
                      </a:r>
                      <a:endParaRPr lang="en-US" sz="900" dirty="0">
                        <a:solidFill>
                          <a:srgbClr val="2F3E46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223" marR="68223" marT="61401" marB="61401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F3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Prüfung: Entscheidung und Antrag sind in der Akte auffindbar</a:t>
                      </a:r>
                      <a:endParaRPr lang="en-US" sz="900" dirty="0">
                        <a:solidFill>
                          <a:srgbClr val="2F3E46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223" marR="68223" marT="61401" marB="61401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80BA24"/>
          </a:solidFill>
          <a:ln w="12700">
            <a:solidFill>
              <a:srgbClr val="80BA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3" name="Image 0" descr="final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57200"/>
            <a:ext cx="3142969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60020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80B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ABSCHLUSSPRÄSENTATION  ·  REQUIREMENTS ENGINEERING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31520" y="18288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Vielen Dank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731520" y="26517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Fragen und Diskussion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731520" y="3291840"/>
            <a:ext cx="7680960" cy="0"/>
          </a:xfrm>
          <a:prstGeom prst="line">
            <a:avLst/>
          </a:prstGeom>
          <a:noFill/>
          <a:ln w="9525">
            <a:solidFill>
              <a:srgbClr val="C9D1D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5"/>
          <p:cNvSpPr/>
          <p:nvPr/>
        </p:nvSpPr>
        <p:spPr>
          <a:xfrm>
            <a:off x="731520" y="342900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b="1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ThesisFlow  ·  Anmelden. Betreuen. Abschließen.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de-DE" sz="125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Fachbereich MND  ·  Technische Hochschule Mittelhessen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Gruppe Grün  ·  02.10.2026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31014751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4891</Words>
  <Application>Microsoft Office PowerPoint</Application>
  <PresentationFormat>Bildschirmpräsentation (16:9)</PresentationFormat>
  <Paragraphs>1204</Paragraphs>
  <Slides>43</Slides>
  <Notes>43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43</vt:i4>
      </vt:variant>
    </vt:vector>
  </HeadingPairs>
  <TitlesOfParts>
    <vt:vector size="47" baseType="lpstr">
      <vt:lpstr>Arial</vt:lpstr>
      <vt:lpstr>Calibri</vt:lpstr>
      <vt:lpstr>Consolas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ThesisFlow – Abschlusspräsentation</dc:title>
  <dc:subject>PptxGenJS Presentation</dc:subject>
  <dc:creator>PptxGenJS</dc:creator>
  <cp:lastModifiedBy>Ewa Posnjak</cp:lastModifiedBy>
  <cp:revision>4</cp:revision>
  <dcterms:created xsi:type="dcterms:W3CDTF">2026-10-01T20:49:47Z</dcterms:created>
  <dcterms:modified xsi:type="dcterms:W3CDTF">2026-10-01T21:28:09Z</dcterms:modified>
</cp:coreProperties>
</file>