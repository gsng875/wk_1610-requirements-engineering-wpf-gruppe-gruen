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PROJEKTPRÄSENTATION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Anmelden. Betreuen.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Abschließen.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Webbasiertes Portal zur digitalen Anmeldung und Verwaltung von Abschlussarbeiten im Fachbereich MND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 MND, Prof. Dr. Carsten Lucke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Auftragnehmer: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Grün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Engineering, 02.10.2026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84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9326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9966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996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9326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und Produktvision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3898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4538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1453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13898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 und Kontextabgrenzung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18470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9110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18470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23042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23682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304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und Releaseplanung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27614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28254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4904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2761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Gesamt-Datenmodell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2186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32826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4904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32186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Dialoglandkarte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0" y="36758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37398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4904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0" y="36758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User Stories nach den 7 Dimensionen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413308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41970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4904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114800" y="41330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Testfälle und offene Punkte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Überblick und Produktvision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VISION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100584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17320"/>
            <a:ext cx="2350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per PDF-Antrag mit Ausdruck und Unterschriften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Weitergabe per E-Mail, sieben Übergaben pro Antrag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Status für Studierende, Rückfragen nur telefonisch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23260" y="9144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7852" y="100584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Vision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06140" y="1417320"/>
            <a:ext cx="2350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Abschlussarbeit im Fachbereich MND wird vollständig digital angemeldet, freigegeben und verwaltet.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Papier, ohne Medienbrüche, von jedem Gerät aus.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100584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17320"/>
            <a:ext cx="2350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Rückfragen und kürzere Durchlaufzeit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für alle Beteiligten jederzeit sichtbar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Komfortabel nutzbar am Desktop und am Smartphone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8321040" cy="960120"/>
          </a:xfrm>
          <a:prstGeom prst="roundRect">
            <a:avLst>
              <a:gd name="adj" fmla="val 7619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PDF-Antrag wird durch ein Webportal ersetzt. Externe Zweitprüfer:innen werden in die Anmeldung eingebunden.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 Ausbaustufe: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Verlängerungsanträge.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Antragsformulare der THM und Prüfungsordnungen B.Sc. und M.Sc. Wirtschaftsinformatik.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 und Kontextabgrenzung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KONTEXT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Soll-Perspektive: Wer und was mit ThesisFlow Daten austauscht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8321040" cy="3767328"/>
          </a:xfrm>
          <a:prstGeom prst="roundRect">
            <a:avLst>
              <a:gd name="adj" fmla="val 2913"/>
            </a:avLst>
          </a:prstGeom>
          <a:solidFill>
            <a:srgbClr val="F5F7F4"/>
          </a:solidFill>
          <a:ln w="15875">
            <a:solidFill>
              <a:srgbClr val="97BC6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950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Kontextgrenze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143000"/>
            <a:ext cx="1645920" cy="3337560"/>
          </a:xfrm>
          <a:prstGeom prst="roundRect">
            <a:avLst>
              <a:gd name="adj" fmla="val 555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143000"/>
            <a:ext cx="1645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17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Systemgrenze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499616"/>
            <a:ext cx="146304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160934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368296" y="1353312"/>
            <a:ext cx="12984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Antrag, Verlängerungsantrag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Status, Abgabetermin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642616"/>
            <a:ext cx="146304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0" y="275234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368296" y="2496312"/>
            <a:ext cx="12984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Themenfreigabe, Stellungnahme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Themen, Aufgaben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Zweitprüfer:in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3785616"/>
            <a:ext cx="146304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0" y="389534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368296" y="3639312"/>
            <a:ext cx="12984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Zusage, Qualifikationsnachweis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Anfrage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1408176"/>
            <a:ext cx="146304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5394960" y="151790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477256" y="1261872"/>
            <a:ext cx="12984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Prüfergebnis, Fristprüfung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Anträge, Fristen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858000" y="20574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vorsitzende:r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2231136"/>
            <a:ext cx="146304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5394960" y="234086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477256" y="2084832"/>
            <a:ext cx="12984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Entscheidung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Entscheidungsvorlage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858000" y="28803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685800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94960" y="3054096"/>
            <a:ext cx="146304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394960" y="316382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477256" y="2907792"/>
            <a:ext cx="12984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Identität, Rolle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Anmeldeanfrage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858000" y="37033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85800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E-Mail-Dienst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94960" y="3986784"/>
            <a:ext cx="146304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477256" y="3803904"/>
            <a:ext cx="129844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Benachrichtigungen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4754880" y="48280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Eingabe   ◀ Ausgabe   gestrichelt: Nachbarsystem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STAKEHOLDER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Personas für die Rollen, die ThesisFlow nutzen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pic>
        <p:nvPicPr>
          <p:cNvPr id="8" name="Image 0" descr="C:\Users\Ewa\OneDrive - Aurora Engineering GmbH\ZXY\Desktop\Studium\Requirement Eng\Abschlusspräsentation\bilder\bache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808" y="1042416"/>
            <a:ext cx="452825" cy="1051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4632" y="21671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Moritz Hoffmann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84632" y="24414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39496" y="280720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einreichen, Status jederzeit sehen, Verlängerung online beantragen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39496" y="340156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Antrag, Papierformulare und unklare Fristen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23260" y="932688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91940" y="1088136"/>
            <a:ext cx="960120" cy="9601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91940" y="108813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296412" y="21671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 Andreas Becker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296412" y="24414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351276" y="280720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 und freigeben, ohne Formular und Unterschrift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3351276" y="340156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per E-Mail hin- und herschicken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35040" y="932688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67144" y="1051560"/>
            <a:ext cx="1033272" cy="10332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1" descr="C:\Users\Ewa\OneDrive - Aurora Engineering GmbH\ZXY\Desktop\Studium\Requirement Eng\Abschlusspräsentation\bilder\sekretari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88136"/>
            <a:ext cx="960120" cy="960120"/>
          </a:xfrm>
          <a:prstGeom prst="ellipse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108192" y="21671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Krüger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108192" y="24414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6163056" y="280720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Vollständigkeit und Fristen auf einen Blick prüfen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6163056" y="340156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Scans, tägliche Telefonrückfragen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11480" y="411480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8640" y="4114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Stakeholder ohne eigene Persona: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Zweitprüfer:in (intern oder extern) und Prüfungsausschussvorsitzende:r. Sie handeln in einzelnen Schritten und sind im Kontextdiagramm und in der Story Map berücksichtigt.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Map mit Releaseplanung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STORY MAP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Activities, 29 User Tasks, 66 User Stories. Die vollständige Karte liegt als Story_Mapping_V2 vor.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8321040" cy="914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9536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Vorbereitung der Anmeldung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abstimmen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Zweitprüfung vorschlagen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1480" y="245059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" y="24505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Externes Korreferat klären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281635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281635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Starttermin abstimmen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057400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57400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9344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36776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Antragstellung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09344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36776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Antragsdaten erfassen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09344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36776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Unterlagen ergänzen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609344" y="245059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36776" y="24505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bestätigen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609344" y="281635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36776" y="281635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55264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55264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07208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34640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 des Antrags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07208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34640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Formalien prüfen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807208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4640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Antrag entscheiden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453128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53128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05072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32504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der Arbeit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05072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32504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005072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32504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festlegen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005072" y="245059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32504" y="24505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ausgeben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650992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50992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02936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230368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Durchführung der Arbeit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202936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DCE8F5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30368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 und Status einsehen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202936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DCE8F5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30368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verfolgen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202936" y="245059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DCE8F5"/>
          </a:solidFill>
          <a:ln w="25400">
            <a:solidFill>
              <a:srgbClr val="4A7FB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230368" y="24505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202936" y="281635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DCE8F5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230368" y="281635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abgeben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202936" y="318211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DCE8F5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230368" y="31821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entscheiden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848856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848856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00800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428232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der Arbeit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400800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28232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abgeben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400800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428232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erfassen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00800" y="245059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428232" y="24505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Eingang bestätigen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400800" y="281635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428232" y="281635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Beteiligte informieren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046720" y="914400"/>
            <a:ext cx="237744" cy="237744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046720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598664" y="1188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626096" y="11887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 der Dokumentation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598664" y="17190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626096" y="17190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Antragsstatus einsehen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598664" y="20848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626096" y="20848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Antragsstatus einsehen (Dekanat)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598664" y="245059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626096" y="24505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 erhalten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598664" y="281635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EEF4E8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626096" y="281635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Unterlagen einreichen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598664" y="318211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626096" y="31821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prüfen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598664" y="354787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626096" y="35478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Abschlussbestätigung erhalten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598664" y="3913632"/>
            <a:ext cx="1133856" cy="320040"/>
          </a:xfrm>
          <a:prstGeom prst="roundRect">
            <a:avLst>
              <a:gd name="adj" fmla="val 14286"/>
            </a:avLst>
          </a:prstGeom>
          <a:solidFill>
            <a:srgbClr val="FFF7E0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626096" y="391363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abrufen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11480" y="44348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40664" y="4389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600200" y="44348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929384" y="4389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788920" y="44348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118104" y="4389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4114800" y="4389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umrandet: die drei User Tasks, aus denen die im Detail vorgestellten User Stories stammen.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Releaseplanung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RELEASES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Releases, priorisiert nach Auftrag, Nutzen und Abhängigkeiten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0058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2070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Anmeldung bis Ausgabe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9164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1 bis 4: vorbereiten, Antrag stellen, prüfen, Thema freigeben und ausgeben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Einbindung externer Zweitprüfer:innen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Antragsstatus und Rückmeldung für Studierende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" y="3401568"/>
            <a:ext cx="244144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" y="3401568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des Auftrags. Ersetzt den PDF-Antrag vollständig und liefert die Daten, auf denen alles Weitere aufbaut.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23260" y="932688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7852" y="10058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387852" y="12070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Durchführung und Verlängerung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06140" y="169164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Bearbeitungszeitraum, Abgabetermin und Fristen einsehen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stellen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und Entscheidung zur Verlängerung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51276" y="3401568"/>
            <a:ext cx="244144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2716" y="3401568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 Ausbaustufe laut Auftrag. Braucht Beginn und Abgabetermin aus Release 1.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932688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10058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12070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Abgabe und Abschluss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69164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als PDF abgeben, Eingang bestätigen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Beteiligte über die Abgabe informieren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prüfen und abrufen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3401568"/>
            <a:ext cx="244144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54496" y="3401568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 über den Auftrag hinaus. Umfang mit dem Auftraggeber abstimmen.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Gesamt-Datenmodell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DATEN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Klassen. Entscheidungen und Stellungnahmen sind Attribute, keine eigenen Klassen.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057400" cy="994867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60120"/>
            <a:ext cx="2057400" cy="27432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960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1271016"/>
            <a:ext cx="194767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 : String *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String *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thm_email : String *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 : String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286000" cy="241035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960120"/>
            <a:ext cx="2286000" cy="27432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Abschlussarbeit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218688" y="1271016"/>
            <a:ext cx="2176272" cy="20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 : Integer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 : String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erstpruefer_id : Integer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zweitpruefer_id : Integer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 : Abschlussart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: String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: String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wunsch_starttermin : Date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ArbeitStatus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thema_freigabe_datum : Date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aenderungswunsch : Text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 : Date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 : Date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355080" y="960120"/>
            <a:ext cx="2377440" cy="994867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960120"/>
            <a:ext cx="2377440" cy="27432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Prüfer:in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1271016"/>
            <a:ext cx="226771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pruefer_id : Integer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String *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 : Boolean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qualifikation_geprueft : Boolean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355080" y="2487168"/>
            <a:ext cx="2377440" cy="209580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487168"/>
            <a:ext cx="2377440" cy="27432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2798064"/>
            <a:ext cx="2267712" cy="176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 : Integer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 : Integer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: Text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 : Datei (optional)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: Date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: Text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: Entscheidungsergebnis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entscheidungsdatum : Date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pa_vorsitzende_r : String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neuer_abgabetermin : Date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AntragStatus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68880" y="1417320"/>
            <a:ext cx="6858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68880" y="1234440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►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2505456" y="144475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734056" y="144475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1417320"/>
            <a:ext cx="9144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40680" y="12344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von ►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477256" y="144475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0..n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934456" y="144475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40680" y="2926080"/>
            <a:ext cx="9144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40680" y="274320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►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477256" y="29535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934456" y="29535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0..n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20116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21945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Abschlussart: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Bachelor, Master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ArbeitStatus: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eingereicht, rueckfrage, thema_freigegeben, zugelassen, ausgegeben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AntragStatus: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eingereicht, stellungnahme_erteilt, entschieden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Entscheidungsergebnis: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genehmigt, abgelehnt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3639312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" y="3639312"/>
            <a:ext cx="5449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aus dem Nachbarsystem THM-Login.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übrigen Daten gehören ThesisFlow.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Prüfer:in: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zwei je Abschlussarbeit, Erst- und Zweitprüfer:in.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Formeln: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 = beginn + Bearbeitungszeit laut Prüfungsordnung.  neuer_abgabetermin = abgabetermin + Verlängerung.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Dialoglandkarte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DIALOGE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nach THM-Login. Die Startseite richtet sich nach der Rolle.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0" y="932688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4176" y="932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261872"/>
            <a:ext cx="914" cy="1554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41732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4176" y="14173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 je Rolle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746504"/>
            <a:ext cx="914" cy="1554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4460" y="1901952"/>
            <a:ext cx="6353251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4460" y="1901952"/>
            <a:ext cx="914" cy="1554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" y="205740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57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94460" y="24140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" y="25420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" y="25420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Abschlussarbeit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94460" y="28712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29992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FFF7E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" y="29992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stellen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94460" y="33284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" y="34564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9496" y="34564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und Fristen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94460" y="37856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39136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FFF7E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9496" y="39136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12210" y="1901952"/>
            <a:ext cx="914" cy="1554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529230" y="205740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29230" y="2057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12210" y="24140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20670" y="25420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57246" y="25420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Themen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12210" y="28712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620670" y="29992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FFF7E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657246" y="29992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 und freigeben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12210" y="33284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620670" y="34564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657246" y="34564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festlegen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12210" y="37856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620670" y="39136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57246" y="39136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zur Verlängerung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29961" y="1901952"/>
            <a:ext cx="914" cy="1554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646981" y="205740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46981" y="2057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29961" y="24140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738421" y="25420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74997" y="25420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Antragsliste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29961" y="28712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738421" y="29992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74997" y="29992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Formalien prüfen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29961" y="33284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738421" y="34564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774997" y="34564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 prüfen, Ausgabe bestätigen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747711" y="1901952"/>
            <a:ext cx="914" cy="1554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764731" y="205740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64731" y="2057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Prüfungsausschussvorsitzende:r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47711" y="24140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856171" y="25420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892747" y="25420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Entscheidungsliste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747711" y="28712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856171" y="29992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92747" y="29992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Antrag entscheiden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747711" y="332841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856171" y="345643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892747" y="345643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Verlängerung entscheiden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1480" y="44348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49808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Dialoge der drei im Detail vorgestellten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1: Antrag einreichen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1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und Interface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326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„Als Studierende:r möchte ich meinen Antrag verbindlich über das Portal einreichen, damit die Anmeldung meiner Abschlussarbeit offiziell gestartet wird.“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075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2.4.2  ·  Activity 2 Antragstellung  ·  User Task 2.4 Antrag absenden  ·  Release 1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pic>
        <p:nvPicPr>
          <p:cNvPr id="11" name="Image 0" descr="C:\Users\Ewa\OneDrive - Aurora Engineering GmbH\ZXY\Desktop\Studium\Requirement Eng\Abschlusspräsentation\bilder\bache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51760"/>
            <a:ext cx="374073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Moritz Hoffmann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der Antrag vollständig und angekommen ist.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Beteiligte: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Erstprüfer:in, Dekanat.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91440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023360" y="1207008"/>
            <a:ext cx="4709160" cy="3474720"/>
          </a:xfrm>
          <a:prstGeom prst="roundRect">
            <a:avLst>
              <a:gd name="adj" fmla="val 2632"/>
            </a:avLst>
          </a:prstGeom>
          <a:solidFill>
            <a:srgbClr val="F5F7F4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4206240" y="25146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Interface-Entwurf „Antrag stellen“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durch das Projektteam ergänzt.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1: Antrag einreichen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1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und Control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83210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14400"/>
            <a:ext cx="256032" cy="228600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-603504" y="1929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einreichen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914400"/>
            <a:ext cx="256032" cy="105156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6200000">
            <a:off x="269748" y="13121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1965960"/>
            <a:ext cx="256032" cy="123444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 rot="16200000">
            <a:off x="178308" y="24551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7512" y="1965960"/>
            <a:ext cx="8065008" cy="914"/>
          </a:xfrm>
          <a:prstGeom prst="line">
            <a:avLst/>
          </a:prstGeom>
          <a:noFill/>
          <a:ln w="12700">
            <a:solidFill>
              <a:srgbClr val="1F2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32130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158648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Angaben erfasst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35024" y="1440180"/>
            <a:ext cx="265176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600200" y="12115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36776" y="12115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Angaben und Unterlagen prüfen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0" y="1440180"/>
            <a:ext cx="2286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71800" y="12115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08376" y="12115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43300" y="1668780"/>
            <a:ext cx="914" cy="68580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23545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08376" y="23545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Antragseingang verarbeiten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0" y="2583180"/>
            <a:ext cx="2286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43400" y="2400300"/>
            <a:ext cx="365760" cy="365760"/>
          </a:xfrm>
          <a:prstGeom prst="diamond">
            <a:avLst/>
          </a:prstGeom>
          <a:solidFill>
            <a:srgbClr val="FFF7E0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28483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Pflichtangaben vollständig?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09160" y="2583180"/>
            <a:ext cx="27432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709160" y="240944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983480" y="23545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0056" y="23545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„eingereicht“ setzen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6480" y="2583180"/>
            <a:ext cx="27432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00800" y="23545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37376" y="23545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Eingang bestätigen, Erstprüfer:in informieren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43800" y="2583180"/>
            <a:ext cx="32004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863840" y="245516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A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43216" y="28575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eingereicht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26280" y="1440180"/>
            <a:ext cx="914" cy="96012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6280" y="1440180"/>
            <a:ext cx="4572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562856" y="126644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983480" y="12115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0056" y="12115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Angaben ergänzen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54980" y="1028700"/>
            <a:ext cx="914" cy="18288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43300" y="1028700"/>
            <a:ext cx="201168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43300" y="1028700"/>
            <a:ext cx="914" cy="18288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11480" y="3337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Regeln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35935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1480" y="35935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41248" y="35935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den Zugriff erst nach THM-Login gewähren.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1480" y="38221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" y="38221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" y="38221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Pflichtangaben fehlen, muss das System das Absenden verhindern und die fehlenden Angaben anzeigen.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1480" y="40507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11480" y="40507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41248" y="40507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der Antrag abgesendet ist, muss das System den Status „eingereicht“ setzen.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1480" y="42793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11480" y="42793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841248" y="42793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der Status gesetzt ist, muss das System der Studierenden den Eingang bestätigen.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45079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11480" y="45079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41248" y="45079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die Erstprüfer:in über den eingereichten Antrag informieren.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1: Antrag einreichen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1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Environment und Quality Attribute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914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Ausschnitt aus dem Gesamt-Datenmodell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488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matrikelnummer, name, studiengang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Prüfer:in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extern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thema, firma, wunsch_starttermin, Erst- und Zweitprüfer:in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anlegen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eingereicht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1148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und Matrikelnummer kommen aus dem THM-Login.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9144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773168" y="12070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Webportal im Browser, am Desktop und am Smartphone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nach THM-Login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 zu Hause und unterwegs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194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</a:t>
            </a:r>
            <a:endParaRPr lang="en-US" sz="10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487168"/>
          <a:ext cx="3977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Schritt-für-Schritt-Führung mit Prüfung der Pflichtangaben.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Testperson reicht den Antrag ohne Hilfe ein.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Beim Absenden gehen keine Angaben verloren.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Gespeicherte Angaben stimmen mit der Eingabe überein.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Eingang wird sofort bestätigt.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Bestätigung erscheint nach dem Absenden.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2: Thema bestätigen und freigeben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2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und Interface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326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„Als Erstprüfer:in möchte ich das Thema der Abschlussarbeit bestätigen, damit die Arbeit mit dem abgestimmten Thema offiziell freigegeben wird.“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075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 ·  Activity 4 Ausgabe der Arbeit  ·  User Task 4.1  ·  Release 1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Andreas Becker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 und freigeben, ohne Formular und Unterschrift.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Unteren Formularteil ausfüllen, unterschreiben, per E-Mail senden.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Beteiligte: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Studierende:r, Dekanat.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91440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207008"/>
            <a:ext cx="4709160" cy="3474720"/>
          </a:xfrm>
          <a:prstGeom prst="roundRect">
            <a:avLst>
              <a:gd name="adj" fmla="val 2632"/>
            </a:avLst>
          </a:prstGeom>
          <a:solidFill>
            <a:srgbClr val="F5F7F4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206240" y="25146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aus dem Prototyp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„Thema prüfen und freigeben“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durch das Projektteam eingefügt.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2: Thema bestätigen und freigeben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2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und Control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832104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14400"/>
            <a:ext cx="256032" cy="256032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-740664" y="2066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Themenfreigabe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914400"/>
            <a:ext cx="256032" cy="137160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6200000">
            <a:off x="109728" y="1472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2286000"/>
            <a:ext cx="256032" cy="118872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 rot="16200000">
            <a:off x="201168" y="2752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7512" y="2286000"/>
            <a:ext cx="8065008" cy="914"/>
          </a:xfrm>
          <a:prstGeom prst="line">
            <a:avLst/>
          </a:prstGeom>
          <a:noFill/>
          <a:ln w="12700">
            <a:solidFill>
              <a:srgbClr val="1F2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7004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293522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eingereicht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35024" y="2788920"/>
            <a:ext cx="265176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600200" y="256032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36776" y="256032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 informieren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71700" y="2057400"/>
            <a:ext cx="914" cy="50292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1600200" y="16002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36776" y="160020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0" y="1828800"/>
            <a:ext cx="18288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26080" y="16002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62656" y="160020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69080" y="1828800"/>
            <a:ext cx="13716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06240" y="1645920"/>
            <a:ext cx="365760" cy="365760"/>
          </a:xfrm>
          <a:prstGeom prst="diamond">
            <a:avLst/>
          </a:prstGeom>
          <a:solidFill>
            <a:srgbClr val="FFF7E0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062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2093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wie abgestimmt?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828800"/>
            <a:ext cx="22860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572000" y="165506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00600" y="16002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37176" y="160020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72100" y="2057400"/>
            <a:ext cx="914" cy="50292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00600" y="256032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37176" y="256032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speichern, Status setzen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0" y="2788920"/>
            <a:ext cx="13716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080760" y="266090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A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0136" y="3063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freigegeben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389120" y="1188720"/>
            <a:ext cx="914" cy="45720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1188720"/>
            <a:ext cx="219456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425696" y="10149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83680" y="96012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0256" y="96012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eintragen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55180" y="1417320"/>
            <a:ext cx="914" cy="114300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583680" y="256032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0256" y="256032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Speichern, Studierende:n informieren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26680" y="2788920"/>
            <a:ext cx="155448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882128" y="266090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A1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61504" y="3063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 gesendet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" y="3566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Regeln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38221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" y="38221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" y="38221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den Zugriff erst nach THM-Login gewähren.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1480" y="40507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11480" y="40507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41248" y="40507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ausschließlich der zugeordneten Erstprüfer:in die Möglichkeit bieten, das Thema freizugeben.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1480" y="42793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11480" y="42793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841248" y="42793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das Thema freigegeben ist, muss das System das Freigabedatum speichern und den Status „thema_freigegeben“ setzen.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450799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11480" y="450799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41248" y="450799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das Thema nicht bestätigt wird, muss das System den Änderungswunsch speichern und die Studierende:n informieren.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2: Thema bestätigen und freigeben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2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Environment und Quality Attribute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914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Ausschnitt aus dem Gesamt-Datenmodell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488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thema, wunsch_starttermin, 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studiengang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thema_freigabe_datum, status = thema_freigegeben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aenderungswunsch, status = rueckfrage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1148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Themenfreigabe ist ein Attribut der Abschlussarbeit, keine eigene Klasse.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9144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773168" y="12070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Webportal im Browser, am Desktop und am Smartphone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nach THM-Login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 im Büro und zwischen Lehrveranstaltungen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194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</a:t>
            </a:r>
            <a:endParaRPr lang="en-US" sz="10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487168"/>
          <a:ext cx="3977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Sicherheit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die zugeordnete Erstprüfer:in kann das Thema freigeben.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Versuch mit anderem Konto wird verhindert.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Freigabe bleibt unverändert gespeichert.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 und Thema sind nach erneutem Aufruf identisch.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ohne Schulung auf beiden Gerätetypen.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Nutzungstest mit Erstprüfenden.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3: Verlängerungsantrag stellen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3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und Interface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326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„Als Studierende:r möchte ich einen Verlängerungsantrag direkt im Portal stellen, damit kein separater Papierantrag notwendig ist.“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075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5.3.1 bis 5.3.3  ·  Activity 5 Durchführung der Arbeit  ·  User Task 5.3  ·  Release 2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pic>
        <p:nvPicPr>
          <p:cNvPr id="11" name="Image 0" descr="C:\Users\Ewa\OneDrive - Aurora Engineering GmbH\ZXY\Desktop\Studium\Requirement Eng\Abschlusspräsentation\bilder\bache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51760"/>
            <a:ext cx="374073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Moritz Hoffmann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bei Bedarf online beantragen.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Papierantrag und unklare Fristen.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Beteiligte: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Erstprüfer:in, Prüfungsausschussvorsitzende:r.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91440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pic>
        <p:nvPicPr>
          <p:cNvPr id="15" name="Image 1" descr="C:\Users\Ewa\OneDrive - Aurora Engineering GmbH\ZXY\Desktop\Studium\Requirement Eng\Abschlusspräsentation\bilder\wireframes_verlaenger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34440"/>
            <a:ext cx="4709160" cy="22408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23360" y="35209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des Projektteams. Ergänzung nach Rückmeldung: optionales Uploadfeld für einen Nachweis, Anzeige von altem und neuem Abgabetermin.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3: Verlängerungsantrag stellen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3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und Control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832104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14400"/>
            <a:ext cx="256032" cy="2468880"/>
          </a:xfrm>
          <a:prstGeom prst="rect">
            <a:avLst/>
          </a:prstGeom>
          <a:solidFill>
            <a:srgbClr val="EEF4E8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-694944" y="2020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914400"/>
            <a:ext cx="256032" cy="82296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6200000">
            <a:off x="384048" y="1197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1737360"/>
            <a:ext cx="256032" cy="82296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 rot="16200000">
            <a:off x="384048" y="20208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7512" y="1737360"/>
            <a:ext cx="8065008" cy="914"/>
          </a:xfrm>
          <a:prstGeom prst="line">
            <a:avLst/>
          </a:prstGeom>
          <a:noFill/>
          <a:ln w="12700">
            <a:solidFill>
              <a:srgbClr val="1F2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2560320"/>
            <a:ext cx="256032" cy="822960"/>
          </a:xfrm>
          <a:prstGeom prst="rect">
            <a:avLst/>
          </a:prstGeom>
          <a:solidFill>
            <a:srgbClr val="EEF4E8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 rot="16200000">
            <a:off x="384048" y="2843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" y="2560320"/>
            <a:ext cx="8065008" cy="914"/>
          </a:xfrm>
          <a:prstGeom prst="line">
            <a:avLst/>
          </a:prstGeom>
          <a:noFill/>
          <a:ln w="12700">
            <a:solidFill>
              <a:srgbClr val="1F2A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20700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35024" y="1325880"/>
            <a:ext cx="265176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00200" y="10972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36776" y="10972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starten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1325880"/>
            <a:ext cx="27432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17520" y="10972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54096" y="10972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angeben, Nachweis optional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60520" y="1325880"/>
            <a:ext cx="27432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34840" y="10972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71416" y="10972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06340" y="1554480"/>
            <a:ext cx="914" cy="36576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34840" y="19202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71416" y="192024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Antragseingang verarbeiten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2148840"/>
            <a:ext cx="27432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52160" y="19202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88736" y="192024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„eingereicht“, Erstprüfer:in informieren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23660" y="2377440"/>
            <a:ext cx="914" cy="365760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52160" y="27432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A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88736" y="274320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erhalten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95160" y="2971800"/>
            <a:ext cx="502920" cy="914"/>
          </a:xfrm>
          <a:prstGeom prst="line">
            <a:avLst/>
          </a:prstGeom>
          <a:noFill/>
          <a:ln w="15875">
            <a:solidFill>
              <a:srgbClr val="1F2A1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98080" y="284378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A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27264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mit Stellungnahme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11480" y="3520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Regeln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77647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11480" y="377647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" y="377647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den Zugriff erst nach THM-Login gewähren.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400507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1480" y="400507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841248" y="400507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der Grund fehlt, muss das System das Absenden verhindern.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423367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11480" y="423367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841248" y="423367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der Prüfungsausschussvorsitzenden die Entscheidung erst ermöglichen, wenn die Stellungnahme der Erstprüfer:in vorliegt.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1480" y="4462272"/>
            <a:ext cx="347472" cy="192024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11480" y="446227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41248" y="4462272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genehmigt ist, muss das System berechnen: neuer_abgabetermin = abgabetermin + Verlängerung.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3: Verlängerungsantrag stellen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STORY 3 VON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Environment und Quality Attribute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914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Ausschnitt aus dem Gesamt-Datenmodell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488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thema, firma, abgabetermin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Verlängerungsantrag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grund, nachweis (optional), datum, status = eingereicht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anlegen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Verlängerungsantrag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stellungnahme, entscheidung, entscheidungsdatum, pa_vorsitzende_r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Verlängerungsantrag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neuer_abgabetermin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1148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Abschlussarbeit sind mehrere Verlängerungsanträge möglich (0..n). Der alte Abgabetermin bleibt erhalten.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9144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773168" y="12070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Webportal im Browser, am Desktop und am Smartphone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nach THM-Login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 unterwegs und zu Hause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194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</a:t>
            </a:r>
            <a:endParaRPr lang="en-US" sz="10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487168"/>
          <a:ext cx="3977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 mit wenigen Angaben, Thema und Firma sind vorbelegt.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Testperson stellt den Antrag ohne Hilfe.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 alter und neuer Abgabetermin sind sichtbar.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Beide Termine erscheinen nach der Entscheidung.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Nachweis ist nur für Berechtigte einsehbar.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Rollen- und Rechtetest.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Testfälle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TESTS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Schema Given, When, Then. Jeder Testfall prüft eine Control-Regel.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914400"/>
                <a:gridCol w="2514600"/>
                <a:gridCol w="201168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Bezug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1, C3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Pflichtangaben sind erfasst.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Studierende sendet den Antrag ab.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ist „eingereicht“, der Eingang wird bestätigt.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1, C2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gewünschte Starttermin fehlt.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Studierende sendet den Antrag ab.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Antrag wird nicht gesendet, die fehlende Angabe wird angezeigt.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2, C3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Abschlussarbeit ist eingereicht, die zugeordnete Erstprüfer:in ist angemeldet.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 gibt das Thema frei.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Freigabedatum ist gespeichert, Status ist „thema_freigegeben“.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2, C2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nicht zugeordnete Prüfer:in ist angemeldet.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 ruft das Thema auf.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System verweigert den Zugriff.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3, C2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Abschlussarbeit läuft, das Feld Grund ist leer.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Studierende sendet den Verlängerungsantrag ab.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Antrag wird nicht gesendet.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3, C4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Abgabetermin 15.01., Verlängerung um 14 Tage ist genehmigt.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Entscheidung wird gespeichert.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Neuer Abgabetermin ist der 29.01., der alte bleibt sichtbar.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Offene Punkte und nächste Schritte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AUSBLICK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Gruppe Grün  ·  Auftraggeber: Fachbereich MND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105656" cy="3749040"/>
          </a:xfrm>
          <a:prstGeom prst="roundRect">
            <a:avLst>
              <a:gd name="adj" fmla="val 1951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an den Auftraggeber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37160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lang darf eine Verlängerung laut Prüfungsordnung sein?</a:t>
            </a:r>
            <a:endParaRPr lang="en-US" sz="10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welchen Weg sollen Beteiligte benachrichtigt werden?</a:t>
            </a:r>
            <a:endParaRPr lang="en-US" sz="10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die Prüfungsverwaltung den Modulstand für die Zulassung über eine Schnittstelle?</a:t>
            </a:r>
            <a:endParaRPr lang="en-US" sz="10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die Abgabe der Arbeit (Release 3) zum Auftrag?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1436" y="914400"/>
            <a:ext cx="4105656" cy="3749040"/>
          </a:xfrm>
          <a:prstGeom prst="roundRect">
            <a:avLst>
              <a:gd name="adj" fmla="val 1951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8596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86884" y="137160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Fragen im Interview klären.</a:t>
            </a:r>
            <a:endParaRPr lang="en-US" sz="10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von Release 1 nach den 7 Dimensionen ausarbeiten.</a:t>
            </a:r>
            <a:endParaRPr lang="en-US" sz="10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um die Dialoge der Studierenden erweitern.</a:t>
            </a:r>
            <a:endParaRPr lang="en-US" sz="10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Testfälle für alle Regeln von Release 1 ergänzen.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ThesisFlow – Abschlusspräsentation</dc:title>
  <dc:subject>PptxGenJS Presentation</dc:subject>
  <dc:creator>PptxGenJS</dc:creator>
  <cp:lastModifiedBy>PptxGenJS</cp:lastModifiedBy>
  <cp:revision>1</cp:revision>
  <dcterms:created xsi:type="dcterms:W3CDTF">2026-10-01T12:59:11Z</dcterms:created>
  <dcterms:modified xsi:type="dcterms:W3CDTF">2026-10-01T12:59:11Z</dcterms:modified>
</cp:coreProperties>
</file>