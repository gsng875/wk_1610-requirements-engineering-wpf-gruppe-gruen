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83280" cy="5143500"/>
          </a:xfrm>
          <a:prstGeom prst="rect">
            <a:avLst/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PROJEKTPRÄSENTATION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7772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ThesisFlow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5087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Anmelden. Betreuen.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Abschließen.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Webbasiertes Portal zur digitalen Anmeldung und Verwaltung von Abschlussarbeiten im Fachbereich MND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4114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D9E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Auftraggeber: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D9E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Fachbereich MND, Prof. Dr. Carsten Lucke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D9E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Auftragnehmer: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D9E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Grün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D9E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Engineering, 02.10.2026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3840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657600" y="932688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99669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49040" y="996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9326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 und Produktvision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0" y="1389888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9040" y="145389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49040" y="1453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13898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 und Kontextabgrenzung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0" y="1847088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49040" y="191109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49040" y="1911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18470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0" y="2304288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49040" y="236829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49040" y="2368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Map und Releaseplanung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0" y="2761488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49040" y="282549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49040" y="2825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27614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Gesamt-Datenmodell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0" y="3218688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49040" y="328269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49040" y="3282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114800" y="32186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Dialoglandkarte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0" y="3675888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49040" y="373989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9040" y="3739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114800" y="36758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User Stories nach den 7 Dimensionen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57600" y="4133088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49040" y="419709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749040" y="4197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114800" y="41330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Testfälle und offene Punkte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Überblick und Produktvision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·  VISION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91440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1005840"/>
            <a:ext cx="2368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417320"/>
            <a:ext cx="23500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per PDF-Antrag mit Ausdruck und Unterschriften</a:t>
            </a:r>
            <a:endParaRPr lang="en-US" sz="1050" dirty="0"/>
          </a:p>
          <a:p>
            <a:pPr marL="139700" indent="-1397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Weitergabe per E-Mail, sieben Übergaben pro Antrag</a:t>
            </a:r>
            <a:endParaRPr lang="en-US" sz="1050" dirty="0"/>
          </a:p>
          <a:p>
            <a:pPr marL="139700" indent="-1397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Status für Studierende, Rückfragen nur telefonisch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23260" y="91440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7852" y="1005840"/>
            <a:ext cx="2368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Unsere Vision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06140" y="1417320"/>
            <a:ext cx="23500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Abschlussarbeit im Fachbereich MND wird vollständig digital angemeldet, freigegeben und verwaltet.</a:t>
            </a:r>
            <a:endParaRPr lang="en-US" sz="1050" dirty="0"/>
          </a:p>
          <a:p>
            <a:pPr marL="139700" indent="-1397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Papier, ohne Medienbrüche, von jedem Gerät aus.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91440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9632" y="1005840"/>
            <a:ext cx="2368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Nutzen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417320"/>
            <a:ext cx="23500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Rückfragen und kürzere Durchlaufzeit</a:t>
            </a:r>
            <a:endParaRPr lang="en-US" sz="1050" dirty="0"/>
          </a:p>
          <a:p>
            <a:pPr marL="139700" indent="-1397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für alle Beteiligten jederzeit sichtbar</a:t>
            </a:r>
            <a:endParaRPr lang="en-US" sz="1050" dirty="0"/>
          </a:p>
          <a:p>
            <a:pPr marL="139700" indent="-1397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Komfortabel nutzbar am Desktop und am Smartphone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703320"/>
            <a:ext cx="8321040" cy="960120"/>
          </a:xfrm>
          <a:prstGeom prst="roundRect">
            <a:avLst>
              <a:gd name="adj" fmla="val 7619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033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Auftrag: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PDF-Antrag wird durch ein Webportal ersetzt. Externe Zweitprüfer:innen werden in die Anmeldung eingebunden.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Zweite Ausbaustufe: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Verlängerungsanträge.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Grundlage: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Antragsformulare der THM und Prüfungsordnungen B.Sc. und M.Sc. Wirtschaftsinformatik.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System- und Kontextabgrenzung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·  KONTEXT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Soll-Perspektive: Wer und was mit ThesisFlow Daten austauscht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14400"/>
            <a:ext cx="8321040" cy="3767328"/>
          </a:xfrm>
          <a:prstGeom prst="roundRect">
            <a:avLst>
              <a:gd name="adj" fmla="val 2913"/>
            </a:avLst>
          </a:prstGeom>
          <a:solidFill>
            <a:srgbClr val="F5F7F4"/>
          </a:solidFill>
          <a:ln w="15875">
            <a:solidFill>
              <a:srgbClr val="97BC62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548640" y="95097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Kontextgrenze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749040" y="1143000"/>
            <a:ext cx="1645920" cy="3337560"/>
          </a:xfrm>
          <a:prstGeom prst="roundRect">
            <a:avLst>
              <a:gd name="adj" fmla="val 5556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1143000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ThesisFlow</a:t>
            </a:r>
            <a:endParaRPr lang="en-US" sz="17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Systemgrenze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13258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86000" y="1499616"/>
            <a:ext cx="146304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0" y="1609344"/>
            <a:ext cx="146304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368296" y="1353312"/>
            <a:ext cx="129844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Antrag, Verlängerungsantrag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Status, Abgabetermin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48640" y="24688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468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286000" y="2642616"/>
            <a:ext cx="146304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0" y="2752344"/>
            <a:ext cx="146304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368296" y="2496312"/>
            <a:ext cx="129844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Themenfreigabe, Stellungnahme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Themen, Aufgaben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611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Zweitprüfer:in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286000" y="3785616"/>
            <a:ext cx="146304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0" y="3895344"/>
            <a:ext cx="146304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368296" y="3639312"/>
            <a:ext cx="129844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Zusage, Qualifikationsnachweis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Anfrage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6858000" y="12344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1234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Dekanat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94960" y="1408176"/>
            <a:ext cx="146304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29" name="Shape 27"/>
          <p:cNvSpPr/>
          <p:nvPr/>
        </p:nvSpPr>
        <p:spPr>
          <a:xfrm>
            <a:off x="5394960" y="1517904"/>
            <a:ext cx="146304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477256" y="1261872"/>
            <a:ext cx="129844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Prüfergebnis, Fristprüfung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Anträge, Fristen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6858000" y="205740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Prüfungsausschuss-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vorsitzende:r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2231136"/>
            <a:ext cx="146304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34" name="Shape 32"/>
          <p:cNvSpPr/>
          <p:nvPr/>
        </p:nvSpPr>
        <p:spPr>
          <a:xfrm>
            <a:off x="5394960" y="2340864"/>
            <a:ext cx="146304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477256" y="2084832"/>
            <a:ext cx="129844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Entscheidung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Entscheidungsvorlage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858000" y="288036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8A968A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685800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THM-Login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394960" y="3054096"/>
            <a:ext cx="146304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39" name="Shape 37"/>
          <p:cNvSpPr/>
          <p:nvPr/>
        </p:nvSpPr>
        <p:spPr>
          <a:xfrm>
            <a:off x="5394960" y="3163824"/>
            <a:ext cx="146304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5477256" y="2907792"/>
            <a:ext cx="129844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Identität, Rolle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Anmeldeanfrage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6858000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8A968A"/>
            </a:solidFill>
            <a:prstDash val="dash"/>
          </a:ln>
        </p:spPr>
      </p:sp>
      <p:sp>
        <p:nvSpPr>
          <p:cNvPr id="42" name="Text 40"/>
          <p:cNvSpPr txBox="1"/>
          <p:nvPr/>
        </p:nvSpPr>
        <p:spPr>
          <a:xfrm>
            <a:off x="6858000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E-Mail-Dienst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94960" y="3986784"/>
            <a:ext cx="146304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5477256" y="3803904"/>
            <a:ext cx="1298448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Benachrichtigungen</a:t>
            </a:r>
            <a:endParaRPr lang="en-US" sz="65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82803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Eingabe   ◀ Ausgabe   gestrichelt: Nachbarsystem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·  STAKEHOLDER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Personas für die Rollen, die ThesisFlow nutzen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32688"/>
            <a:ext cx="1984248" cy="3063240"/>
          </a:xfrm>
          <a:prstGeom prst="roundRect">
            <a:avLst>
              <a:gd name="adj" fmla="val 368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pic>
        <p:nvPicPr>
          <p:cNvPr id="8" name="Image 0" descr="C:\Users\Ewa\OneDrive - Aurora Engineering GmbH\ZXY\Desktop\Studium\Requirement Eng\Abschlusspräsentation\bilder\bache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192" y="1042416"/>
            <a:ext cx="452825" cy="1051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4632" y="2167128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Moritz Hoffmann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84632" y="2441448"/>
            <a:ext cx="183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Studierende:r, B.Sc. WI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539496" y="280720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in einem Durchgang einreichen, Status jederzeit sehen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539496" y="34015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heute: </a:t>
            </a:r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Wochenlang keine Rückmeldung zum Antrag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932688"/>
            <a:ext cx="1984248" cy="3063240"/>
          </a:xfrm>
          <a:prstGeom prst="roundRect">
            <a:avLst>
              <a:gd name="adj" fmla="val 368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99232" y="1051560"/>
            <a:ext cx="1033272" cy="103327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5" name="Image 1" descr="C:\Users\Ewa\OneDrive - Aurora Engineering GmbH\ZXY\Desktop\Studium\Requirement Eng\Abschlusspräsentation\bilder\ma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088136"/>
            <a:ext cx="960120" cy="960120"/>
          </a:xfrm>
          <a:prstGeom prst="ellipse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596896" y="2167128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Tarek Yilmaz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2596896" y="2441448"/>
            <a:ext cx="183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Studierende:r, M.Sc. WI, berufsbegleitend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2651760" y="280720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Zweitprüfer:in einbinden, Verlängerung online beantragen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2651760" y="34015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heute: </a:t>
            </a:r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vor Ort kollidieren mit dem Beruf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4636008" y="932688"/>
            <a:ext cx="1984248" cy="3063240"/>
          </a:xfrm>
          <a:prstGeom prst="roundRect">
            <a:avLst>
              <a:gd name="adj" fmla="val 368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148072" y="1088136"/>
            <a:ext cx="960120" cy="9601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148072" y="108813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4709160" y="2167128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Dr. Andreas Becker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4709160" y="2441448"/>
            <a:ext cx="183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764024" y="280720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prüfen und freigeben, ohne Formular und Unterschrift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4764024" y="34015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heute: </a:t>
            </a:r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per E-Mail hin- und herschicken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6748272" y="932688"/>
            <a:ext cx="1984248" cy="3063240"/>
          </a:xfrm>
          <a:prstGeom prst="roundRect">
            <a:avLst>
              <a:gd name="adj" fmla="val 368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223760" y="1051560"/>
            <a:ext cx="1033272" cy="103327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9" name="Image 2" descr="C:\Users\Ewa\OneDrive - Aurora Engineering GmbH\ZXY\Desktop\Studium\Requirement Eng\Abschlusspräsentation\bilder\sekretari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1088136"/>
            <a:ext cx="960120" cy="960120"/>
          </a:xfrm>
          <a:prstGeom prst="ellipse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21424" y="2167128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Michael Krüger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6821424" y="2441448"/>
            <a:ext cx="183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Dekanat</a:t>
            </a:r>
            <a:endParaRPr lang="en-US" sz="850" dirty="0"/>
          </a:p>
        </p:txBody>
      </p:sp>
      <p:sp>
        <p:nvSpPr>
          <p:cNvPr id="32" name="Text 27"/>
          <p:cNvSpPr txBox="1"/>
          <p:nvPr/>
        </p:nvSpPr>
        <p:spPr>
          <a:xfrm>
            <a:off x="6876288" y="280720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Vollständigkeit und Fristen auf einen Blick prüfen</a:t>
            </a:r>
            <a:endParaRPr lang="en-US" sz="850" dirty="0"/>
          </a:p>
        </p:txBody>
      </p:sp>
      <p:sp>
        <p:nvSpPr>
          <p:cNvPr id="33" name="Text 28"/>
          <p:cNvSpPr txBox="1"/>
          <p:nvPr/>
        </p:nvSpPr>
        <p:spPr>
          <a:xfrm>
            <a:off x="6876288" y="3401568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heute: </a:t>
            </a:r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Unleserliche Scans, tägliche Telefonrückfragen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411480" y="4114800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Stakeholder ohne eigene Persona: </a:t>
            </a:r>
            <a:pPr indent="0" marL="0">
              <a:buNone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Zweitprüfer:in (intern oder extern) und Prüfungsausschussvorsitzende:r. Sie handeln in einzelnen Schritten und sind im Kontextdiagramm und in der Story Map berücksichtigt.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Map mit Releaseplanung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·  STORY MAP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Activities, 29 User Tasks, 66 User Stories. Die vollständige Karte liegt als Story_Mapping_V2 vor.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033272"/>
            <a:ext cx="8321040" cy="914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59536" y="914400"/>
            <a:ext cx="237744" cy="237744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914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188720"/>
            <a:ext cx="1133856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" y="11887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Vorbereitung der Anmeldung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171907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" y="171907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abstimmen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11480" y="208483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912" y="208483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Zweitprüfung vorschlagen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" y="245059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Externes Korreferat klären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11480" y="281635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" y="281635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Starttermin abstimmen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2057400" y="914400"/>
            <a:ext cx="237744" cy="237744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57400" y="914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609344" y="1188720"/>
            <a:ext cx="1133856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36776" y="11887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Antragstellung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609344" y="171907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36776" y="171907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Antragsdaten erfassen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609344" y="208483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36776" y="208483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Unterlagen ergänzen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609344" y="245059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36776" y="245059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bestätigen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609344" y="281635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36776" y="281635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absenden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55264" y="914400"/>
            <a:ext cx="237744" cy="237744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55264" y="914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07208" y="1188720"/>
            <a:ext cx="1133856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834640" y="11887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 des Antrags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807208" y="171907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834640" y="171907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Formalien prüfen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807208" y="208483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4640" y="208483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Antrag entscheiden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453128" y="914400"/>
            <a:ext cx="237744" cy="237744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453128" y="914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005072" y="1188720"/>
            <a:ext cx="1133856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032504" y="11887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 der Arbeit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005072" y="171907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032504" y="171907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bestätigen und freigeben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005072" y="208483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032504" y="208483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Bearbeitungszeit festlegen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005072" y="245059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032504" y="245059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ausgeben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650992" y="914400"/>
            <a:ext cx="237744" cy="237744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650992" y="914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02936" y="1188720"/>
            <a:ext cx="1133856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230368" y="11887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Durchführung der Arbeit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202936" y="171907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DCE8F5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230368" y="171907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 und Status einsehen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5202936" y="208483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DCE8F5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230368" y="208483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Fristen verfolgen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02936" y="245059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DCE8F5"/>
          </a:solidFill>
          <a:ln w="25400">
            <a:solidFill>
              <a:srgbClr val="4A7FB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230368" y="245059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 beantragen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202936" y="281635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DCE8F5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230368" y="281635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Stellungnahme abgeben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5202936" y="318211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DCE8F5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230368" y="318211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 entscheiden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6848856" y="914400"/>
            <a:ext cx="237744" cy="237744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848856" y="914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00800" y="1188720"/>
            <a:ext cx="1133856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428232" y="11887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Abgabe der Arbeit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400800" y="171907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FFF7E0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428232" y="171907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 abgeben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6400800" y="208483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FFF7E0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428232" y="208483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Abgabe erfassen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6400800" y="245059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FFF7E0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428232" y="245059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Eingang bestätigen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400800" y="281635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FFF7E0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428232" y="281635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Beteiligte informieren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8046720" y="914400"/>
            <a:ext cx="237744" cy="237744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046720" y="914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598664" y="1188720"/>
            <a:ext cx="1133856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626096" y="11887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 der Dokumentation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7598664" y="171907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626096" y="171907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Antragsstatus einsehen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7598664" y="208483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7626096" y="208483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Antragsstatus einsehen (Dekanat)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598664" y="245059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7626096" y="245059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Rückmeldung erhalten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7598664" y="281635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EEF4E8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626096" y="281635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Unterlagen einreichen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598664" y="318211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FFF7E0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626096" y="318211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prüfen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7598664" y="354787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FFF7E0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7626096" y="354787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Abschlussbestätigung erhalten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98664" y="3913632"/>
            <a:ext cx="1133856" cy="320040"/>
          </a:xfrm>
          <a:prstGeom prst="roundRect">
            <a:avLst>
              <a:gd name="adj" fmla="val 14286"/>
            </a:avLst>
          </a:prstGeom>
          <a:solidFill>
            <a:srgbClr val="FFF7E0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626096" y="3913632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abrufen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411480" y="44348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EEF4E8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0664" y="4389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1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1600200" y="44348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929384" y="4389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2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2788920" y="44348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3118104" y="4389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3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4114800" y="438912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Dick umrandet: die drei User Tasks, aus denen die im Detail vorgestellten User Stories stammen.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Releaseplanung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·  RELEASES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Releases, priorisiert nach Auftrag, Nutzen und Abhängigkeiten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32688"/>
            <a:ext cx="2697480" cy="3749040"/>
          </a:xfrm>
          <a:prstGeom prst="roundRect">
            <a:avLst>
              <a:gd name="adj" fmla="val 2712"/>
            </a:avLst>
          </a:prstGeom>
          <a:solidFill>
            <a:srgbClr val="EEF4E8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005840"/>
            <a:ext cx="236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207008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Anmeldung bis Ausgabe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691640"/>
            <a:ext cx="2350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1 bis 4: vorbereiten, Antrag stellen, prüfen, Thema freigeben und ausgeben</a:t>
            </a:r>
            <a:endParaRPr lang="en-US" sz="9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Einbindung externer Zweitprüfer:innen</a:t>
            </a:r>
            <a:endParaRPr lang="en-US" sz="9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Antragsstatus und Rückmeldung für Studierende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39496" y="3401568"/>
            <a:ext cx="244144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" y="3401568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Begründung: </a:t>
            </a:r>
            <a:pPr indent="0" marL="0">
              <a:buNone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 des Auftrags. Ersetzt den PDF-Antrag vollständig und liefert die Daten, auf denen alles Weitere aufbaut.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3260" y="932688"/>
            <a:ext cx="2697480" cy="3749040"/>
          </a:xfrm>
          <a:prstGeom prst="roundRect">
            <a:avLst>
              <a:gd name="adj" fmla="val 2712"/>
            </a:avLst>
          </a:prstGeom>
          <a:solidFill>
            <a:srgbClr val="DCE8F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7852" y="1005840"/>
            <a:ext cx="236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1F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2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387852" y="1207008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Durchführung und Verlängerung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06140" y="1691640"/>
            <a:ext cx="2350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Bearbeitungszeitraum, Abgabetermin und Fristen einsehen</a:t>
            </a:r>
            <a:endParaRPr lang="en-US" sz="9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Verlängerungsantrag stellen</a:t>
            </a:r>
            <a:endParaRPr lang="en-US" sz="9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Stellungnahme und Entscheidung zur Verlängerung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51276" y="3401568"/>
            <a:ext cx="244144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2716" y="3401568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Begründung: </a:t>
            </a:r>
            <a:pPr indent="0" marL="0">
              <a:buNone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Zweite Ausbaustufe laut Auftrag. Braucht Beginn und Abgabetermin aus Release 1.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932688"/>
            <a:ext cx="2697480" cy="3749040"/>
          </a:xfrm>
          <a:prstGeom prst="roundRect">
            <a:avLst>
              <a:gd name="adj" fmla="val 2712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99632" y="1005840"/>
            <a:ext cx="236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6199632" y="1207008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Abgabe und Abschluss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1691640"/>
            <a:ext cx="2350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 als PDF abgeben, Eingang bestätigen</a:t>
            </a:r>
            <a:endParaRPr lang="en-US" sz="9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Beteiligte über die Abgabe informieren</a:t>
            </a:r>
            <a:endParaRPr lang="en-US" sz="9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prüfen und abrufen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63056" y="3401568"/>
            <a:ext cx="244144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3401568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Begründung: </a:t>
            </a:r>
            <a:pPr indent="0" marL="0">
              <a:buNone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über den Auftrag hinaus. Umfang mit dem Auftraggeber abstimmen.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Gesamt-Datenmodell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·  DATEN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Klassen. Entscheidungen und Stellungnahmen sind Attribute, keine eigenen Klassen.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2057400" cy="994867"/>
          </a:xfrm>
          <a:prstGeom prst="rect">
            <a:avLst/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960120"/>
            <a:ext cx="2057400" cy="274320"/>
          </a:xfrm>
          <a:prstGeom prst="rect">
            <a:avLst/>
          </a:prstGeom>
          <a:solidFill>
            <a:srgbClr val="EEF4E8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9601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75488" y="1271016"/>
            <a:ext cx="194767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matrikelnummer : String *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: String *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thm_email : String *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studiengang : String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154680" y="960120"/>
            <a:ext cx="2286000" cy="2410358"/>
          </a:xfrm>
          <a:prstGeom prst="rect">
            <a:avLst/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54680" y="960120"/>
            <a:ext cx="2286000" cy="274320"/>
          </a:xfrm>
          <a:prstGeom prst="rect">
            <a:avLst/>
          </a:prstGeom>
          <a:solidFill>
            <a:srgbClr val="EEF4E8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Abschlussarbeit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1271016"/>
            <a:ext cx="2176272" cy="2081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arbeit_id : Integer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matrikelnummer : String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erstpruefer_id : Integer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zweitpruefer_id : Integer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 : Abschlussart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: String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: String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wunsch_starttermin : Date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: ArbeitStatus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thema_freigabe_datum : Date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aenderungswunsch : Text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 : Date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abgabetermin : Date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355080" y="960120"/>
            <a:ext cx="2377440" cy="994867"/>
          </a:xfrm>
          <a:prstGeom prst="rect">
            <a:avLst/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960120"/>
            <a:ext cx="2377440" cy="274320"/>
          </a:xfrm>
          <a:prstGeom prst="rect">
            <a:avLst/>
          </a:prstGeom>
          <a:solidFill>
            <a:srgbClr val="EEF4E8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55080" y="960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Prüfer:in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1271016"/>
            <a:ext cx="226771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pruefer_id : Integer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: String *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 : Boolean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qualifikation_geprueft : Boolean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355080" y="2487168"/>
            <a:ext cx="2377440" cy="2095805"/>
          </a:xfrm>
          <a:prstGeom prst="rect">
            <a:avLst/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2487168"/>
            <a:ext cx="2377440" cy="274320"/>
          </a:xfrm>
          <a:prstGeom prst="rect">
            <a:avLst/>
          </a:prstGeom>
          <a:solidFill>
            <a:srgbClr val="EEF4E8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Verlängerungsantrag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2798064"/>
            <a:ext cx="2267712" cy="176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antrag_id : Integer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arbeit_id : Integer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 : Text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nachweis : Datei (optional)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 : Date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stellungnahme : Text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 : Entscheidungsergebnis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entscheidungsdatum : Date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pa_vorsitzende_r : String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neuer_abgabetermin : Date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: AntragStatus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468880" y="1417320"/>
            <a:ext cx="68580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468880" y="1234440"/>
            <a:ext cx="685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►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2505456" y="144475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2734056" y="144475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1..n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40680" y="1417320"/>
            <a:ext cx="91440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40680" y="12344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betreut von ►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77256" y="144475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0..n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5934456" y="144475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1..2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440680" y="2926080"/>
            <a:ext cx="91440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40680" y="274320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►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477256" y="295351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934456" y="295351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0..n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1480" y="20116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«enumeration»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411480" y="219456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Abschlussart: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Bachelor, Master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ArbeitStatus: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eingereicht, rueckfrage, thema_freigegeben, zugelassen, ausgegeben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AntragStatus: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eingereicht, stellungnahme_erteilt, entschieden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Entscheidungsergebnis: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genehmigt, abgelehnt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11480" y="3639312"/>
            <a:ext cx="5669280" cy="1024128"/>
          </a:xfrm>
          <a:prstGeom prst="roundRect">
            <a:avLst>
              <a:gd name="adj" fmla="val 7143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" y="3639312"/>
            <a:ext cx="544982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aus dem Nachbarsystem THM-Login.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übrigen Daten gehören ThesisFlow.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Prüfer:in: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höchstens zwei je Abschlussarbeit, Erst- und Zweitprüfer:in.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Formeln: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abgabetermin = beginn + Bearbeitungszeit laut Prüfungsordnung.  neuer_abgabetermin = abgabetermin + Verlängerung.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Dialoglandkarte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·  DIALOGE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Zugriff nach THM-Login. Die Startseite richtet sich nach der Rolle.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0" y="932688"/>
            <a:ext cx="1828800" cy="329184"/>
          </a:xfrm>
          <a:prstGeom prst="roundRect">
            <a:avLst>
              <a:gd name="adj" fmla="val 1388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94176" y="93268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THM-Login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1261872"/>
            <a:ext cx="914" cy="155448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657600" y="1417320"/>
            <a:ext cx="1828800" cy="329184"/>
          </a:xfrm>
          <a:prstGeom prst="roundRect">
            <a:avLst>
              <a:gd name="adj" fmla="val 1388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4176" y="141732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Startseite je Rolle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0" y="1746504"/>
            <a:ext cx="914" cy="155448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94460" y="1901952"/>
            <a:ext cx="6353251" cy="914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94460" y="1901952"/>
            <a:ext cx="914" cy="155448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1480" y="2057400"/>
            <a:ext cx="196596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205740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394460" y="24140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02920" y="25420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9496" y="25420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Meine Abschlussarbeit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394460" y="28712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02920" y="29992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FFF7E0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9496" y="29992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stellen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394460" y="33284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02920" y="34564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39496" y="34564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und Fristen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394460" y="37856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02920" y="39136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FFF7E0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9496" y="39136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 beantragen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512210" y="1901952"/>
            <a:ext cx="914" cy="155448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529230" y="2057400"/>
            <a:ext cx="196596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29230" y="205740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512210" y="24140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20670" y="25420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57246" y="25420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Meine Themen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512210" y="28712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620670" y="29992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FFF7E0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57246" y="29992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prüfen und freigeben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512210" y="33284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620670" y="34564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657246" y="34564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Bearbeitungszeit festlegen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512210" y="37856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620670" y="39136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657246" y="39136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Stellungnahme zur Verlängerung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29961" y="1901952"/>
            <a:ext cx="914" cy="155448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646981" y="2057400"/>
            <a:ext cx="196596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646981" y="205740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Dekanat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629961" y="24140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738421" y="25420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774997" y="25420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Antragsliste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629961" y="28712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738421" y="29992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774997" y="29992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Formalien prüfen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629961" y="33284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4738421" y="34564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774997" y="34564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Frist prüfen, Ausgabe bestätigen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747711" y="1901952"/>
            <a:ext cx="914" cy="155448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764731" y="2057400"/>
            <a:ext cx="196596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4731" y="205740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Prüfungsausschussvorsitzende:r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47711" y="24140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856171" y="25420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892747" y="25420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Entscheidungsliste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747711" y="28712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856171" y="29992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92747" y="29992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Antrag entscheiden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7747711" y="3328416"/>
            <a:ext cx="914" cy="128016"/>
          </a:xfrm>
          <a:prstGeom prst="line">
            <a:avLst/>
          </a:prstGeom>
          <a:noFill/>
          <a:ln w="15875">
            <a:solidFill>
              <a:srgbClr val="5C6B5C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6856171" y="345643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92747" y="3456432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Verlängerung entscheiden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11480" y="44348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49808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Dialoge der drei im Detail vorgestellten User Stories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1: Antrag einreichen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1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und Interface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32688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93268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„Als Studierende:r möchte ich meinen Antrag verbindlich über das Portal einreichen, damit die Anmeldung meiner Abschlussarbeit offiziell gestartet wird.“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20756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2.4.2  ·  Activity 2 Antragstellung  ·  User Task 2.4 Antrag absenden  ·  Release 1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377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pic>
        <p:nvPicPr>
          <p:cNvPr id="11" name="Image 0" descr="C:\Users\Ewa\OneDrive - Aurora Engineering GmbH\ZXY\Desktop\Studium\Requirement Eng\Abschlusspräsentation\bilder\bache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651760"/>
            <a:ext cx="374073" cy="868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25880" y="2697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Moritz Hoffmann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Studierende:r, B.Sc. Wirtschaftsinformatik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11480" y="3611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in einem Durchgang korrekt einreichen.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Unsicher, ob der Antrag vollständig und angekommen ist.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Beteiligte: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Erstprüfer:in, Dekanat.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914400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023360" y="1207008"/>
            <a:ext cx="4709160" cy="3474720"/>
          </a:xfrm>
          <a:prstGeom prst="roundRect">
            <a:avLst>
              <a:gd name="adj" fmla="val 2632"/>
            </a:avLst>
          </a:prstGeom>
          <a:solidFill>
            <a:srgbClr val="F5F7F4"/>
          </a:solidFill>
          <a:ln w="15875">
            <a:solidFill>
              <a:srgbClr val="8A968A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4206240" y="25146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Interface-Entwurf „Antrag stellen“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durch das Projektteam ergänzt.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1: Antrag einreichen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1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und Control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14400"/>
            <a:ext cx="8321040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914400"/>
            <a:ext cx="256032" cy="2286000"/>
          </a:xfrm>
          <a:prstGeom prst="rect">
            <a:avLst/>
          </a:prstGeom>
          <a:solidFill>
            <a:srgbClr val="EEF4E8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16200000">
            <a:off x="-603504" y="19293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einreichen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914400"/>
            <a:ext cx="256032" cy="1051560"/>
          </a:xfrm>
          <a:prstGeom prst="rect">
            <a:avLst/>
          </a:prstGeom>
          <a:solidFill>
            <a:srgbClr val="EEF4E8"/>
          </a:solidFill>
          <a:ln w="12700">
            <a:solidFill>
              <a:srgbClr val="1F2A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 rot="16200000">
            <a:off x="269748" y="131216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1965960"/>
            <a:ext cx="256032" cy="1234440"/>
          </a:xfrm>
          <a:prstGeom prst="rect">
            <a:avLst/>
          </a:prstGeom>
          <a:solidFill>
            <a:srgbClr val="EEF4E8"/>
          </a:solidFill>
          <a:ln w="12700">
            <a:solidFill>
              <a:srgbClr val="1F2A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 rot="16200000">
            <a:off x="178308" y="245516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7512" y="1965960"/>
            <a:ext cx="8065008" cy="914"/>
          </a:xfrm>
          <a:prstGeom prst="line">
            <a:avLst/>
          </a:prstGeom>
          <a:noFill/>
          <a:ln w="12700">
            <a:solidFill>
              <a:srgbClr val="1F2A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132130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78992" y="158648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Angaben erfasst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35024" y="1440180"/>
            <a:ext cx="265176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600200" y="12115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36776" y="12115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Angaben und Unterlagen prüfen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0" y="1440180"/>
            <a:ext cx="22860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971800" y="12115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08376" y="12115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absenden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543300" y="1668780"/>
            <a:ext cx="914" cy="68580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971800" y="23545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08376" y="23545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Antragseingang verarbeiten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114800" y="2583180"/>
            <a:ext cx="22860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43400" y="2400300"/>
            <a:ext cx="365760" cy="365760"/>
          </a:xfrm>
          <a:prstGeom prst="diamond">
            <a:avLst/>
          </a:prstGeom>
          <a:solidFill>
            <a:srgbClr val="FFF7E0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343400" y="2400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886200" y="284835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Pflichtangaben vollständig?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709160" y="2583180"/>
            <a:ext cx="27432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709160" y="2409444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983480" y="23545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0056" y="23545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„eingereicht“ setzen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26480" y="2583180"/>
            <a:ext cx="27432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400800" y="23545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37376" y="23545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Eingang bestätigen, Erstprüfer:in informieren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543800" y="2583180"/>
            <a:ext cx="32004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863840" y="2455164"/>
            <a:ext cx="256032" cy="25603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A1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43216" y="28575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eingereicht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26280" y="1440180"/>
            <a:ext cx="914" cy="96012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26280" y="1440180"/>
            <a:ext cx="45720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4562856" y="126644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983480" y="12115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020056" y="12115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Angaben ergänzen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554980" y="1028700"/>
            <a:ext cx="914" cy="18288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43300" y="1028700"/>
            <a:ext cx="201168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43300" y="1028700"/>
            <a:ext cx="914" cy="18288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1480" y="33375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Regeln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11480" y="35935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11480" y="35935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841248" y="35935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System muss den Zugriff erst nach THM-Login gewähren.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11480" y="38221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38221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41248" y="38221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Pflichtangaben fehlen, muss das System das Absenden verhindern und die fehlenden Angaben anzeigen.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11480" y="40507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11480" y="40507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841248" y="40507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Sobald der Antrag abgesendet ist, muss das System den Status „eingereicht“ setzen.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11480" y="42793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11480" y="42793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841248" y="42793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Sobald der Status gesetzt ist, muss das System der Studierenden den Eingang bestätigen.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11480" y="45079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11480" y="45079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841248" y="45079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System muss die Erstprüfer:in über den eingereichten Antrag informieren.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1: Antrag einreichen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1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Environment und Quality Attribute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9144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Ausschnitt aus dem Gesamt-Datenmodell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07008"/>
          <a:ext cx="4114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822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Zugriff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Studierende:r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matrikelnummer, name, studiengang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Prüfer:in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extern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Abschlussarbeit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thema, firma, wunsch_starttermin, Erst- und Zweitprüfer:in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anlegen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Abschlussarbeit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= eingereicht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11480" y="3200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und Matrikelnummer kommen aus dem THM-Login.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91440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773168" y="1207008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Webportal im Browser, am Desktop und am Smartphone</a:t>
            </a:r>
            <a:endParaRPr lang="en-US" sz="9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Zugriff nach THM-Login</a:t>
            </a:r>
            <a:endParaRPr lang="en-US" sz="9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Nutzung zu Hause und unterwegs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2194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Attribute</a:t>
            </a:r>
            <a:endParaRPr lang="en-US" sz="10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0020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Anforderung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Prüfbarkeit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Benutzbarkeit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Schritt-für-Schritt-Führung mit Prüfung der Pflichtangaben.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Eine Testperson reicht den Antrag ohne Hilfe ein.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Zuverlässigkeit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Beim Absenden gehen keine Angaben verloren.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Gespeicherte Angaben stimmen mit der Eingabe überein.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Transparenz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Eingang wird sofort bestätigt.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Bestätigung erscheint nach dem Absenden.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2: Thema bestätigen und freigeben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2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und Interface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32688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93268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„Als Erstprüfer:in möchte ich das Thema der Abschlussarbeit bestätigen, damit die Arbeit mit dem abgestimmten Thema offiziell freigegeben wird.“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20756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4.1.1  ·  Activity 4 Ausgabe der Arbeit  ·  User Task 4.1  ·  Release 1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377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731520" cy="7315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Andreas Becker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" y="3611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prüfen und freigeben, ohne Formular und Unterschrift.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Unteren Formularteil ausfüllen, unterschreiben, per E-Mail senden.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Beteiligte: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Studierende:r, Dekanat.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914400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1207008"/>
            <a:ext cx="4709160" cy="3474720"/>
          </a:xfrm>
          <a:prstGeom prst="roundRect">
            <a:avLst>
              <a:gd name="adj" fmla="val 2632"/>
            </a:avLst>
          </a:prstGeom>
          <a:solidFill>
            <a:srgbClr val="F5F7F4"/>
          </a:solidFill>
          <a:ln w="15875">
            <a:solidFill>
              <a:srgbClr val="8A968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4206240" y="25146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aus dem Prototyp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„Thema prüfen und freigeben“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durch das Projektteam eingefügt.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2: Thema bestätigen und freigeben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2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und Control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14400"/>
            <a:ext cx="8321040" cy="25603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914400"/>
            <a:ext cx="256032" cy="2560320"/>
          </a:xfrm>
          <a:prstGeom prst="rect">
            <a:avLst/>
          </a:prstGeom>
          <a:solidFill>
            <a:srgbClr val="EEF4E8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16200000">
            <a:off x="-740664" y="20665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Themenfreigabe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914400"/>
            <a:ext cx="256032" cy="1371600"/>
          </a:xfrm>
          <a:prstGeom prst="rect">
            <a:avLst/>
          </a:prstGeom>
          <a:solidFill>
            <a:srgbClr val="EEF4E8"/>
          </a:solidFill>
          <a:ln w="12700">
            <a:solidFill>
              <a:srgbClr val="1F2A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 rot="16200000">
            <a:off x="109728" y="14721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2286000"/>
            <a:ext cx="256032" cy="1188720"/>
          </a:xfrm>
          <a:prstGeom prst="rect">
            <a:avLst/>
          </a:prstGeom>
          <a:solidFill>
            <a:srgbClr val="EEF4E8"/>
          </a:solidFill>
          <a:ln w="12700">
            <a:solidFill>
              <a:srgbClr val="1F2A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 rot="16200000">
            <a:off x="201168" y="27523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7512" y="2286000"/>
            <a:ext cx="8065008" cy="914"/>
          </a:xfrm>
          <a:prstGeom prst="line">
            <a:avLst/>
          </a:prstGeom>
          <a:noFill/>
          <a:ln w="12700">
            <a:solidFill>
              <a:srgbClr val="1F2A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267004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78992" y="293522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eingereicht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35024" y="2788920"/>
            <a:ext cx="265176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600200" y="256032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36776" y="256032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 informieren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171700" y="2057400"/>
            <a:ext cx="914" cy="50292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1600200" y="1600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36776" y="160020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aufrufen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0" y="1828800"/>
            <a:ext cx="18288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926080" y="1600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62656" y="160020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prüfen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069080" y="1828800"/>
            <a:ext cx="13716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206240" y="1645920"/>
            <a:ext cx="365760" cy="365760"/>
          </a:xfrm>
          <a:prstGeom prst="diamond">
            <a:avLst/>
          </a:prstGeom>
          <a:solidFill>
            <a:srgbClr val="FFF7E0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06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749040" y="2093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wie abgestimmt?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572000" y="1828800"/>
            <a:ext cx="22860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572000" y="1655064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800600" y="1600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37176" y="160020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bestätigen und freigeben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72100" y="2057400"/>
            <a:ext cx="914" cy="50292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800600" y="256032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37176" y="256032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speichern, Status setzen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943600" y="2788920"/>
            <a:ext cx="13716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080760" y="2660904"/>
            <a:ext cx="256032" cy="25603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A1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0136" y="30632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freigegeben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389120" y="1188720"/>
            <a:ext cx="914" cy="45720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89120" y="1188720"/>
            <a:ext cx="219456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4425696" y="10149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583680" y="96012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620256" y="96012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Änderungswunsch eintragen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155180" y="1417320"/>
            <a:ext cx="914" cy="114300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6583680" y="256032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620256" y="256032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Studierende:n informieren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726680" y="2788920"/>
            <a:ext cx="155448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882128" y="2660904"/>
            <a:ext cx="256032" cy="25603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A1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61504" y="30632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gesendet</a:t>
            </a:r>
            <a:endParaRPr lang="en-US" sz="700" dirty="0"/>
          </a:p>
        </p:txBody>
      </p:sp>
      <p:sp>
        <p:nvSpPr>
          <p:cNvPr id="51" name="Text 49"/>
          <p:cNvSpPr txBox="1"/>
          <p:nvPr/>
        </p:nvSpPr>
        <p:spPr>
          <a:xfrm>
            <a:off x="411480" y="3566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Regeln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11480" y="38221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38221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41248" y="38221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System muss den Zugriff erst nach THM-Login gewähren.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11480" y="40507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11480" y="40507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841248" y="40507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System muss ausschließlich der zugeordneten Erstprüfer:in die Möglichkeit bieten, das Thema freizugeben.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11480" y="42793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11480" y="42793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841248" y="42793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Sobald das Thema freigegeben ist, muss das System das Freigabedatum speichern und den Status „thema_freigegeben“ setzen.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11480" y="450799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11480" y="450799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841248" y="450799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das Thema nicht bestätigt wird, muss das System den Änderungswunsch speichern und die Studierende:n informieren.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2: Thema bestätigen und freigeben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2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Environment und Quality Attribute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9144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Ausschnitt aus dem Gesamt-Datenmodell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07008"/>
          <a:ext cx="4114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822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Zugriff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Abschlussarbeit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thema, wunsch_starttermin, 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Studierende:r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studiengang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Abschlussarbeit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thema_freigabe_datum, status = thema_freigegeben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Abschlussarbeit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aenderungswunsch, status = rueckfrage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11480" y="3200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Themenfreigabe ist ein Attribut der Abschlussarbeit, keine eigene Klasse.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91440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773168" y="1207008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Webportal im Browser, am Desktop und am Smartphone</a:t>
            </a:r>
            <a:endParaRPr lang="en-US" sz="9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Zugriff nach THM-Login</a:t>
            </a:r>
            <a:endParaRPr lang="en-US" sz="9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Nutzung im Büro und zwischen Lehrveranstaltungen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2194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Attribute</a:t>
            </a:r>
            <a:endParaRPr lang="en-US" sz="10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0020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Anforderung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Prüfbarkeit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Sicherheit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die zugeordnete Erstprüfer:in kann das Thema freigeben.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Versuch mit anderem Konto wird verhindert.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Zuverlässigkeit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Freigabe bleibt unverändert gespeichert.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Datum und Thema sind nach erneutem Aufruf identisch.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Benutzbarkeit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Freigabe ohne Schulung auf beiden Gerätetypen.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Nutzungstest mit Erstprüfenden.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3: Verlängerungsantrag stellen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3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und Interface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32688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93268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„Als Studierende:r möchte ich einen Verlängerungsantrag direkt im Portal stellen, damit kein separater Papierantrag notwendig ist.“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20756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5.3.1 bis 5.3.3  ·  Activity 5 Durchführung der Arbeit  ·  User Task 5.3  ·  Release 2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377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pic>
        <p:nvPicPr>
          <p:cNvPr id="11" name="Image 0" descr="C:\Users\Ewa\OneDrive - Aurora Engineering GmbH\ZXY\Desktop\Studium\Requirement Eng\Abschlusspräsentation\bilder\m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731520" cy="731520"/>
          </a:xfrm>
          <a:prstGeom prst="ellipse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25880" y="2697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Tarek Yilmaz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Studierende:r, M.Sc. Wirtschaftsinformatik, berufsbegleitend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11480" y="3611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 bei Bedarf online beantragen.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Papierantrag und unklare Fristen.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Beteiligte: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Erstprüfer:in, Prüfungsausschussvorsitzende:r.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914400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050" dirty="0"/>
          </a:p>
        </p:txBody>
      </p:sp>
      <p:pic>
        <p:nvPicPr>
          <p:cNvPr id="15" name="Image 1" descr="C:\Users\Ewa\OneDrive - Aurora Engineering GmbH\ZXY\Desktop\Studium\Requirement Eng\Abschlusspräsentation\bilder\wireframes_verlaengeru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34440"/>
            <a:ext cx="4709160" cy="224083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23360" y="352099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 des Projektteams. Ergänzung nach Rückmeldung: optionales Uploadfeld für einen Nachweis, Anzeige von altem und neuem Abgabetermin.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3: Verlängerungsantrag stellen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3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und Control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914400"/>
            <a:ext cx="832104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914400"/>
            <a:ext cx="256032" cy="2468880"/>
          </a:xfrm>
          <a:prstGeom prst="rect">
            <a:avLst/>
          </a:prstGeom>
          <a:solidFill>
            <a:srgbClr val="EEF4E8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16200000">
            <a:off x="-694944" y="20208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Verlängerungsantrag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914400"/>
            <a:ext cx="256032" cy="822960"/>
          </a:xfrm>
          <a:prstGeom prst="rect">
            <a:avLst/>
          </a:prstGeom>
          <a:solidFill>
            <a:srgbClr val="EEF4E8"/>
          </a:solidFill>
          <a:ln w="12700">
            <a:solidFill>
              <a:srgbClr val="1F2A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 rot="16200000">
            <a:off x="384048" y="1197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Studierende:r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1737360"/>
            <a:ext cx="256032" cy="822960"/>
          </a:xfrm>
          <a:prstGeom prst="rect">
            <a:avLst/>
          </a:prstGeom>
          <a:solidFill>
            <a:srgbClr val="EEF4E8"/>
          </a:solidFill>
          <a:ln w="12700">
            <a:solidFill>
              <a:srgbClr val="1F2A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 rot="16200000">
            <a:off x="384048" y="202082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7512" y="1737360"/>
            <a:ext cx="8065008" cy="914"/>
          </a:xfrm>
          <a:prstGeom prst="line">
            <a:avLst/>
          </a:prstGeom>
          <a:noFill/>
          <a:ln w="12700">
            <a:solidFill>
              <a:srgbClr val="1F2A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560320"/>
            <a:ext cx="256032" cy="822960"/>
          </a:xfrm>
          <a:prstGeom prst="rect">
            <a:avLst/>
          </a:prstGeom>
          <a:solidFill>
            <a:srgbClr val="EEF4E8"/>
          </a:solidFill>
          <a:ln w="12700">
            <a:solidFill>
              <a:srgbClr val="1F2A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 rot="16200000">
            <a:off x="384048" y="28437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Erstprüfer:in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67512" y="2560320"/>
            <a:ext cx="8065008" cy="914"/>
          </a:xfrm>
          <a:prstGeom prst="line">
            <a:avLst/>
          </a:prstGeom>
          <a:noFill/>
          <a:ln w="12700">
            <a:solidFill>
              <a:srgbClr val="1F2A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" y="120700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35024" y="1325880"/>
            <a:ext cx="265176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600200" y="10972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36776" y="10972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Verlängerungsantrag starten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0" y="1325880"/>
            <a:ext cx="27432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17520" y="10972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54096" y="10972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 angeben, Nachweis optional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60520" y="1325880"/>
            <a:ext cx="27432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434840" y="10972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71416" y="109728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absenden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06340" y="1554480"/>
            <a:ext cx="914" cy="36576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434840" y="19202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471416" y="192024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Antragseingang verarbeiten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77840" y="2148840"/>
            <a:ext cx="27432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52160" y="19202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DCE8F5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888736" y="192024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„eingereicht“, Erstprüfer:in informieren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23660" y="2377440"/>
            <a:ext cx="914" cy="365760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852160" y="2743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1F2A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888736" y="2743200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erhalten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995160" y="2971800"/>
            <a:ext cx="502920" cy="914"/>
          </a:xfrm>
          <a:prstGeom prst="line">
            <a:avLst/>
          </a:prstGeom>
          <a:noFill/>
          <a:ln w="15875">
            <a:solidFill>
              <a:srgbClr val="1F2A1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498080" y="2843784"/>
            <a:ext cx="256032" cy="25603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A1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827264" y="2788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Stellungnahme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411480" y="35204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Regeln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11480" y="377647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11480" y="377647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841248" y="377647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System muss den Zugriff erst nach THM-Login gewähren.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400507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1480" y="400507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41248" y="400507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der Grund fehlt, muss das System das Absenden verhindern.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11480" y="423367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11480" y="423367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41248" y="423367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System muss der Prüfungsausschussvorsitzenden die Entscheidung erst ermöglichen, wenn die Stellungnahme der Erstprüfer:in vorliegt.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11480" y="4462272"/>
            <a:ext cx="347472" cy="192024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11480" y="446227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841248" y="4462272"/>
            <a:ext cx="78638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Sobald genehmigt ist, muss das System berechnen: neuer_abgabetermin = abgabetermin + Verlängerung.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3: Verlängerungsantrag stellen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 STORY 3 VON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Environment und Quality Attribute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9144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Ausschnitt aus dem Gesamt-Datenmodell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07008"/>
          <a:ext cx="4114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822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Zugriff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Abschlussarbeit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thema, firma, abgabetermin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Verlängerungsantrag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grund, nachweis (optional), datum, status = eingereicht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anlegen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Verlängerungsantrag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stellungnahme, entscheidung, entscheidungsdatum, pa_vorsitzende_r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Verlängerungsantrag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neuer_abgabetermin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11480" y="3200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Abschlussarbeit sind mehrere Verlängerungsanträge möglich (0..n). Der alte Abgabetermin bleibt erhalten.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91440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773168" y="1207008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Webportal im Browser, am Desktop und am Smartphone</a:t>
            </a:r>
            <a:endParaRPr lang="en-US" sz="9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Zugriff nach THM-Login</a:t>
            </a:r>
            <a:endParaRPr lang="en-US" sz="900" dirty="0"/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Nutzung unterwegs und zu Hause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2194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Attribute</a:t>
            </a:r>
            <a:endParaRPr lang="en-US" sz="105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0020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Anforderung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Prüfbarkeit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Benutzbarkeit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Antrag mit wenigen Angaben, Thema und Firma sind vorbelegt.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Eine Testperson stellt den Antrag ohne Hilfe.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Transparenz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Status, alter und neuer Abgabetermin sind sichtbar.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Beide Termine erscheinen nach der Entscheidung.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Datenschutz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Nachweis ist nur für Berechtigte einsehbar.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Rollen- und Rechtetest.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Testfälle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·  TESTS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583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dem Schema Given, When, Then. Jeder Testfall prüft eine Control-Regel.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60120"/>
          <a:ext cx="83210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914400"/>
                <a:gridCol w="2514600"/>
                <a:gridCol w="2011680"/>
                <a:gridCol w="2468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Bezug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1, C3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Pflichtangaben sind erfasst.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Studierende sendet den Antrag ab.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ist „eingereicht“, der Eingang wird bestätigt.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1, C2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gewünschte Starttermin fehlt.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Studierende sendet den Antrag ab.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Antrag wird nicht gesendet, die fehlende Angabe wird angezeigt.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2, C3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Abschlussarbeit ist eingereicht, die zugeordnete Erstprüfer:in ist angemeldet.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 gibt das Thema frei.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Freigabedatum ist gespeichert, Status ist „thema_freigegeben“.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2, C2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Eine nicht zugeordnete Prüfer:in ist angemeldet.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 ruft das Thema auf.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System verweigert den Zugriff.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3, C2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Eine Abschlussarbeit läuft, das Feld Grund ist leer.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Studierende sendet den Verlängerungsantrag ab.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Antrag wird nicht gesendet.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3, C4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Abgabetermin 15.01., Verlängerung um 14 Tage ist genehmigt.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Entscheidung wird gespeichert.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Neuer Abgabetermin ist der 29.01., der alte bleibt sichtbar.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Offene Punkte und nächste Schritte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·  AUSBLICK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ThesisFlow  ·  Gruppe Grün  ·  Auftraggeber: Fachbereich MND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27532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914400"/>
            <a:ext cx="4105656" cy="3749040"/>
          </a:xfrm>
          <a:prstGeom prst="roundRect">
            <a:avLst>
              <a:gd name="adj" fmla="val 1951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an den Auftraggeber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371600"/>
            <a:ext cx="3794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lang darf eine Verlängerung laut Prüfungsordnung sein?</a:t>
            </a:r>
            <a:endParaRPr lang="en-US" sz="10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welchen Weg sollen Beteiligte benachrichtigt werden?</a:t>
            </a:r>
            <a:endParaRPr lang="en-US" sz="10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Liefert die Prüfungsverwaltung den Modulstand für die Zulassung über eine Schnittstelle?</a:t>
            </a:r>
            <a:endParaRPr lang="en-US" sz="10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Gehört die Abgabe der Arbeit (Release 3) zum Auftrag?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31436" y="914400"/>
            <a:ext cx="4105656" cy="3749040"/>
          </a:xfrm>
          <a:prstGeom prst="roundRect">
            <a:avLst>
              <a:gd name="adj" fmla="val 1951"/>
            </a:avLst>
          </a:prstGeom>
          <a:solidFill>
            <a:srgbClr val="EEF4E8"/>
          </a:solidFill>
          <a:ln w="12700">
            <a:solidFill>
              <a:srgbClr val="EEF4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68596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Schritte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86884" y="1371600"/>
            <a:ext cx="3794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Fragen im Interview klären.</a:t>
            </a:r>
            <a:endParaRPr lang="en-US" sz="10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von Release 1 nach den 7 Dimensionen ausarbeiten.</a:t>
            </a:r>
            <a:endParaRPr lang="en-US" sz="10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 um die Dialoge der Studierenden erweitern.</a:t>
            </a:r>
            <a:endParaRPr lang="en-US" sz="10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Testfälle für alle Regeln von Release 1 ergänzen.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ThesisFlow – Abschlusspräsentation</dc:title>
  <dc:subject>PptxGenJS Presentation</dc:subject>
  <dc:creator>PptxGenJS</dc:creator>
  <cp:lastModifiedBy>PptxGenJS</cp:lastModifiedBy>
  <cp:revision>1</cp:revision>
  <dcterms:created xsi:type="dcterms:W3CDTF">2026-10-01T12:53:01Z</dcterms:created>
  <dcterms:modified xsi:type="dcterms:W3CDTF">2026-10-01T12:53:01Z</dcterms:modified>
</cp:coreProperties>
</file>