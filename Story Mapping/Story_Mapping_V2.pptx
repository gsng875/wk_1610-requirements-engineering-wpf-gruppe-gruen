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206400" cy="11612880"/>
  <p:notesSz cx="11612880" cy="5120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Mapping ThesisFlow, Version 2. Drei Ebenen: Activity, User Task, User Story. Zeitstrahl von links nach rechts, Schritt 1 bis 7. Inhalte ausschliesslich aus Story Mapping/1 bis 7 (Version 1) im Repository; Kurztexte mit einheitlicher Nummerierung Activity.Task.Story.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Mapping ThesisFlow – Version 2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657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Anmeldung und Verwaltung von Abschlussarbeiten im FB MND  ·  7 Activities  ·  29 User Tasks  ·  66 User Stories  ·  Leserichtung von links nach rechts (Schritt 1 bis 7)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977640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 ·  GRUPPE GRÜN  ·  STAND 01.10.2026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50365152" cy="1097280"/>
          </a:xfrm>
          <a:prstGeom prst="rect">
            <a:avLst/>
          </a:prstGeom>
          <a:solidFill>
            <a:srgbClr val="EEF4E8"/>
          </a:solidFill>
          <a:ln w="12700">
            <a:solidFill>
              <a:srgbClr val="EEF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86200"/>
            <a:ext cx="50365152" cy="1051560"/>
          </a:xfrm>
          <a:prstGeom prst="rect">
            <a:avLst/>
          </a:prstGeom>
          <a:solidFill>
            <a:srgbClr val="F1F6FB"/>
          </a:solidFill>
          <a:ln w="12700">
            <a:solidFill>
              <a:srgbClr val="F1F6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074920"/>
            <a:ext cx="50365152" cy="4809744"/>
          </a:xfrm>
          <a:prstGeom prst="rect">
            <a:avLst/>
          </a:prstGeom>
          <a:solidFill>
            <a:srgbClr val="FDFBF3"/>
          </a:solidFill>
          <a:ln w="12700">
            <a:solidFill>
              <a:srgbClr val="FDFB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78892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 1</a:t>
            </a:r>
            <a:endParaRPr lang="en-US" sz="8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" y="413766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4137660"/>
            <a:ext cx="1280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 2</a:t>
            </a:r>
            <a:endParaRPr lang="en-US" sz="8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546354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7E0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5463540"/>
            <a:ext cx="1280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 3</a:t>
            </a:r>
            <a:endParaRPr lang="en-US" sz="8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ZEITLICHER ABLAUF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03120" y="2103120"/>
            <a:ext cx="48673512" cy="914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0" y="1819656"/>
            <a:ext cx="566928" cy="566928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777472" y="1819656"/>
            <a:ext cx="566928" cy="566928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777472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6898112" y="1819656"/>
            <a:ext cx="566928" cy="566928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8112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1204936" y="1819656"/>
            <a:ext cx="566928" cy="566928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204936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7953208" y="1819656"/>
            <a:ext cx="566928" cy="566928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953208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5515296" y="1819656"/>
            <a:ext cx="566928" cy="566928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515296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4705016" y="1819656"/>
            <a:ext cx="566928" cy="566928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705016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312664" y="2386584"/>
            <a:ext cx="914" cy="2651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2664" y="347472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1216" y="3749040"/>
            <a:ext cx="4882896" cy="914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1216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71216" y="4800600"/>
            <a:ext cx="914" cy="45720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98848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98848" y="4800600"/>
            <a:ext cx="914" cy="45720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4800600"/>
            <a:ext cx="914" cy="1618488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54112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54112" y="4800600"/>
            <a:ext cx="914" cy="45720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03120" y="2651760"/>
            <a:ext cx="6419088" cy="82296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103120" y="2651760"/>
            <a:ext cx="641908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</a:t>
            </a:r>
            <a:endParaRPr lang="en-US" sz="9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Vorbereitung der Anmeldung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03120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103120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1.1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abstimmen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103120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103120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1.1.1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mit Erstprüfer:in abstimmen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730752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730752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1.2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Zweitprüfung vorschlagen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730752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730752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1.2.1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oder externe Zweitprüfung vorschlagen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358384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58384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1.3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Externes Korreferat klären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358384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358384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1.3.1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Einverständnis zum Korreferat bestätigen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Externe:r Zweitprüfer:in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358384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358384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1.3.2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Fachliche Qualifikation und Berufserfahrung nachweisen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Externe:r Zweitprüfer:in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986016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986016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1.4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Starttermin abstimmen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986016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986016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1.4.1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Wunschstarttermin mit Erstprüfer:in abstimmen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2060936" y="2386584"/>
            <a:ext cx="914" cy="2651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2060936" y="347472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19488" y="3749040"/>
            <a:ext cx="4882896" cy="914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19488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19488" y="4800600"/>
            <a:ext cx="914" cy="27797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247120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247120" y="4800600"/>
            <a:ext cx="914" cy="27797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74752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2874752" y="4800600"/>
            <a:ext cx="914" cy="27797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4502384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4502384" y="4800600"/>
            <a:ext cx="914" cy="3941064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51392" y="2651760"/>
            <a:ext cx="6419088" cy="82296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851392" y="2651760"/>
            <a:ext cx="641908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9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Antragstellung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851392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851392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2.1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Antragsdaten erfassen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8851392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851392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2.1.1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Persönliche Angaben im Antrag eintragen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851392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851392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2.1.2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Prüfer:in auswählen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8851392" y="7534656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851392" y="7534656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2.1.3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Gewünschten Starttermin angeben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0479024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0479024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2.2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Unterlagen ergänzen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10479024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0479024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2.2.1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Erforderliche Nachweise im Portal hochladen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0479024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479024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2.2.2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Nachweise zu externen Prüfungsleistungen hinzufügen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10479024" y="7534656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0479024" y="7534656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2.2.3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Hochgeladene und fehlende Dokumente sehen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2106656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2106656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2.3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bestätigen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2106656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2106656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2.3.1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digital bestätigen bzw. unterschreiben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12106656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2106656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2.3.2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der Studierenden digital bestätigen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Prüfer:in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12106656" y="7534656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2106656" y="7534656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2.3.3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Sehen, ob alle digitalen Bestätigungen vorliegen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13734288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3734288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2.4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absenden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13734288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3734288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2.4.1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und Unterlagen vor dem Absenden prüfen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13734288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3734288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2.4.2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verbindlich über das Portal einreichen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13734288" y="7534656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3734288" y="7534656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2.4.3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Bestätigung der Einreichung erhalten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3734288" y="8695944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3734288" y="8695944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2.4.4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Eingereichten Antrag automatisch zur Prüfung erhalten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Zuständige Stelle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17181576" y="2386584"/>
            <a:ext cx="914" cy="2651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7181576" y="347472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6367760" y="3749040"/>
            <a:ext cx="1627632" cy="914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6367760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6367760" y="4800600"/>
            <a:ext cx="914" cy="1618488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7995392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7995392" y="4800600"/>
            <a:ext cx="914" cy="27797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5599664" y="2651760"/>
            <a:ext cx="3163824" cy="82296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5599664" y="2651760"/>
            <a:ext cx="316382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US" sz="9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Prüfung des Antrags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15599664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15599664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3.1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Formalien prüfen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15599664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15599664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3.1.1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Voraussetzungen der Zulassung der Studierenden prüfen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5599664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15599664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3.1.2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Zulassung der externen Prüfer:in prüfen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7227296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17227296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3.2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Antrag entscheiden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17227296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17227296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3.2.1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annehmen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PA-Vorsitz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17227296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17227296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3.2.2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ablehnen und Ablehnung begründen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PA-Vorsitz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17227296" y="7534656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17227296" y="7534656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3.2.3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 des Prüfungsausschusses mitgeteilt bekommen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Prüfer:in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1488400" y="2386584"/>
            <a:ext cx="914" cy="2651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1488400" y="347472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9860768" y="3749040"/>
            <a:ext cx="3255264" cy="914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9860768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9860768" y="4800600"/>
            <a:ext cx="914" cy="45720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1488400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1488400" y="4800600"/>
            <a:ext cx="914" cy="27797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3116032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3116032" y="4800600"/>
            <a:ext cx="914" cy="1618488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9092672" y="2651760"/>
            <a:ext cx="4791456" cy="82296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19092672" y="2651760"/>
            <a:ext cx="4791456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9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Ausgabe der Arbeit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19092672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19092672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4.1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bestätigen und freigeben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19092672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19092672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4.1.1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der Abschlussarbeit bestätigen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20720304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20720304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4.2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Bearbeitungszeit festlegen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20720304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20720304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4.2.1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 der Bearbeitungszeit festlegen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20720304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20720304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4.2.2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Abgabedatum festlegen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20720304" y="7534656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20720304" y="7534656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4.2.3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Bearbeitungsfrist gegen die Prüfungsordnung prüfen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22347936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22347936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4.3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ausgeben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22347936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22347936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4.3.1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Ausgabebestätigung über das Portal versenden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Sekretariat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22347936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22347936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4.3.2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die Ausgabe des Themas informiert werden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28236672" y="2386584"/>
            <a:ext cx="914" cy="2651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8236672" y="347472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4981408" y="3749040"/>
            <a:ext cx="6510528" cy="914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4981408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4981408" y="4800600"/>
            <a:ext cx="914" cy="27797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6609040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6609040" y="4800600"/>
            <a:ext cx="914" cy="27797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8236672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8236672" y="4800600"/>
            <a:ext cx="914" cy="27797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9864304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9864304" y="4800600"/>
            <a:ext cx="914" cy="27797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1491936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1491936" y="4800600"/>
            <a:ext cx="914" cy="27797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4213312" y="265176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24213312" y="2651760"/>
            <a:ext cx="80467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9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Durchführung der Arbeit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4213312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24213312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5.1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 und Status einsehen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24213312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24213312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5.1.1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 der Bearbeitungszeit sehen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24213312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24213312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5.1.2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Aktuellen Abgabetermin sehen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24213312" y="7534656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24213312" y="7534656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5.1.3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Aktuellen Status der Abschlussarbeit sehen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25840944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25840944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5.2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Fristen verfolgen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25840944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25840944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5.2.1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Verbleibende Bearbeitungszeit sehen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>
            <a:off x="25840944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25840944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5.2.2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wichtigen Fristen automatisch erinnert werden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25840944" y="7534656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25840944" y="7534656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5.2.3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geänderten Abgabetermin informiert werden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>
            <a:off x="27468576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27468576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5.3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beantragen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>
            <a:off x="27468576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4" name="Text 192"/>
          <p:cNvSpPr txBox="1"/>
          <p:nvPr/>
        </p:nvSpPr>
        <p:spPr>
          <a:xfrm>
            <a:off x="27468576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5.3.1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Verlängerungsantrag im Portal starten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195" name="Shape 193"/>
          <p:cNvSpPr/>
          <p:nvPr/>
        </p:nvSpPr>
        <p:spPr>
          <a:xfrm>
            <a:off x="27468576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6" name="Text 194"/>
          <p:cNvSpPr txBox="1"/>
          <p:nvPr/>
        </p:nvSpPr>
        <p:spPr>
          <a:xfrm>
            <a:off x="27468576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5.3.2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 für die Verlängerung angeben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>
            <a:off x="27468576" y="7534656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27468576" y="7534656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5.3.3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digital absenden und Bearbeitungsstatus sehen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>
            <a:off x="29096208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200" name="Text 198"/>
          <p:cNvSpPr txBox="1"/>
          <p:nvPr/>
        </p:nvSpPr>
        <p:spPr>
          <a:xfrm>
            <a:off x="29096208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5.4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Stellungnahme abgeben</a:t>
            </a:r>
            <a:endParaRPr lang="en-US" sz="750" dirty="0"/>
          </a:p>
        </p:txBody>
      </p:sp>
      <p:sp>
        <p:nvSpPr>
          <p:cNvPr id="201" name="Shape 199"/>
          <p:cNvSpPr/>
          <p:nvPr/>
        </p:nvSpPr>
        <p:spPr>
          <a:xfrm>
            <a:off x="29096208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2" name="Text 200"/>
          <p:cNvSpPr txBox="1"/>
          <p:nvPr/>
        </p:nvSpPr>
        <p:spPr>
          <a:xfrm>
            <a:off x="29096208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5.4.1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Verlängerungsantrag einsehen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>
            <a:off x="29096208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4" name="Text 202"/>
          <p:cNvSpPr txBox="1"/>
          <p:nvPr/>
        </p:nvSpPr>
        <p:spPr>
          <a:xfrm>
            <a:off x="29096208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5.4.2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Stellungnahme zum Verlängerungsantrag abgeben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750" dirty="0"/>
          </a:p>
        </p:txBody>
      </p:sp>
      <p:sp>
        <p:nvSpPr>
          <p:cNvPr id="205" name="Shape 203"/>
          <p:cNvSpPr/>
          <p:nvPr/>
        </p:nvSpPr>
        <p:spPr>
          <a:xfrm>
            <a:off x="29096208" y="7534656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6" name="Text 204"/>
          <p:cNvSpPr txBox="1"/>
          <p:nvPr/>
        </p:nvSpPr>
        <p:spPr>
          <a:xfrm>
            <a:off x="29096208" y="7534656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5.4.3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Stellungnahme digital weiterleiten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750" dirty="0"/>
          </a:p>
        </p:txBody>
      </p:sp>
      <p:sp>
        <p:nvSpPr>
          <p:cNvPr id="207" name="Shape 205"/>
          <p:cNvSpPr/>
          <p:nvPr/>
        </p:nvSpPr>
        <p:spPr>
          <a:xfrm>
            <a:off x="30723840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30723840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5.5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entscheiden</a:t>
            </a:r>
            <a:endParaRPr lang="en-US" sz="750" dirty="0"/>
          </a:p>
        </p:txBody>
      </p:sp>
      <p:sp>
        <p:nvSpPr>
          <p:cNvPr id="209" name="Shape 207"/>
          <p:cNvSpPr/>
          <p:nvPr/>
        </p:nvSpPr>
        <p:spPr>
          <a:xfrm>
            <a:off x="30723840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0" name="Text 208"/>
          <p:cNvSpPr txBox="1"/>
          <p:nvPr/>
        </p:nvSpPr>
        <p:spPr>
          <a:xfrm>
            <a:off x="30723840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5.5.1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Verlängerungsantrag und Stellungnahme einsehen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Prüfungsausschuss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30723840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30723840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5.5.2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Verlängerungsantrag genehmigen oder ablehnen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Prüfungsausschuss</a:t>
            </a:r>
            <a:endParaRPr lang="en-US" sz="750" dirty="0"/>
          </a:p>
        </p:txBody>
      </p:sp>
      <p:sp>
        <p:nvSpPr>
          <p:cNvPr id="213" name="Shape 211"/>
          <p:cNvSpPr/>
          <p:nvPr/>
        </p:nvSpPr>
        <p:spPr>
          <a:xfrm>
            <a:off x="30723840" y="7534656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30723840" y="7534656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5.5.3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 und ggf. neuen Abgabetermin hinterlegen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Prüfungsausschuss</a:t>
            </a:r>
            <a:endParaRPr lang="en-US" sz="750" dirty="0"/>
          </a:p>
        </p:txBody>
      </p:sp>
      <p:sp>
        <p:nvSpPr>
          <p:cNvPr id="215" name="Shape 213"/>
          <p:cNvSpPr/>
          <p:nvPr/>
        </p:nvSpPr>
        <p:spPr>
          <a:xfrm>
            <a:off x="35798760" y="2386584"/>
            <a:ext cx="914" cy="2651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5798760" y="347472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3357312" y="3749040"/>
            <a:ext cx="4882896" cy="914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33357312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33357312" y="4800600"/>
            <a:ext cx="914" cy="1618488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4984944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34984944" y="4800600"/>
            <a:ext cx="914" cy="27797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6612576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36612576" y="4800600"/>
            <a:ext cx="914" cy="1618488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38240208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38240208" y="4800600"/>
            <a:ext cx="914" cy="27797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2589216" y="2651760"/>
            <a:ext cx="6419088" cy="82296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7" name="Text 225"/>
          <p:cNvSpPr txBox="1"/>
          <p:nvPr/>
        </p:nvSpPr>
        <p:spPr>
          <a:xfrm>
            <a:off x="32589216" y="2651760"/>
            <a:ext cx="641908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6</a:t>
            </a:r>
            <a:endParaRPr lang="en-US" sz="9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Abgabe der Arbeit</a:t>
            </a:r>
            <a:endParaRPr lang="en-US" sz="900" dirty="0"/>
          </a:p>
        </p:txBody>
      </p:sp>
      <p:sp>
        <p:nvSpPr>
          <p:cNvPr id="228" name="Shape 226"/>
          <p:cNvSpPr/>
          <p:nvPr/>
        </p:nvSpPr>
        <p:spPr>
          <a:xfrm>
            <a:off x="32589216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229" name="Text 227"/>
          <p:cNvSpPr txBox="1"/>
          <p:nvPr/>
        </p:nvSpPr>
        <p:spPr>
          <a:xfrm>
            <a:off x="32589216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6.1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 abgeben</a:t>
            </a:r>
            <a:endParaRPr lang="en-US" sz="750" dirty="0"/>
          </a:p>
        </p:txBody>
      </p:sp>
      <p:sp>
        <p:nvSpPr>
          <p:cNvPr id="230" name="Shape 228"/>
          <p:cNvSpPr/>
          <p:nvPr/>
        </p:nvSpPr>
        <p:spPr>
          <a:xfrm>
            <a:off x="32589216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1" name="Text 229"/>
          <p:cNvSpPr txBox="1"/>
          <p:nvPr/>
        </p:nvSpPr>
        <p:spPr>
          <a:xfrm>
            <a:off x="32589216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6.1.1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 als PDF im Portal hochladen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232" name="Shape 230"/>
          <p:cNvSpPr/>
          <p:nvPr/>
        </p:nvSpPr>
        <p:spPr>
          <a:xfrm>
            <a:off x="32589216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3" name="Text 231"/>
          <p:cNvSpPr txBox="1"/>
          <p:nvPr/>
        </p:nvSpPr>
        <p:spPr>
          <a:xfrm>
            <a:off x="32589216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6.1.2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Abgabefrist und Restzeit auf der Abgabeseite sehen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234" name="Shape 232"/>
          <p:cNvSpPr/>
          <p:nvPr/>
        </p:nvSpPr>
        <p:spPr>
          <a:xfrm>
            <a:off x="34216848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235" name="Text 233"/>
          <p:cNvSpPr txBox="1"/>
          <p:nvPr/>
        </p:nvSpPr>
        <p:spPr>
          <a:xfrm>
            <a:off x="34216848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6.2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erfassen</a:t>
            </a:r>
            <a:endParaRPr lang="en-US" sz="750" dirty="0"/>
          </a:p>
        </p:txBody>
      </p:sp>
      <p:sp>
        <p:nvSpPr>
          <p:cNvPr id="236" name="Shape 234"/>
          <p:cNvSpPr/>
          <p:nvPr/>
        </p:nvSpPr>
        <p:spPr>
          <a:xfrm>
            <a:off x="34216848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7" name="Text 235"/>
          <p:cNvSpPr txBox="1"/>
          <p:nvPr/>
        </p:nvSpPr>
        <p:spPr>
          <a:xfrm>
            <a:off x="34216848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6.2.1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prüft Dateityp und Größe jeder Abgabe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34216848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9" name="Text 237"/>
          <p:cNvSpPr txBox="1"/>
          <p:nvPr/>
        </p:nvSpPr>
        <p:spPr>
          <a:xfrm>
            <a:off x="34216848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6.2.2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hält Abgabezeitpunkt fest und gleicht ihn mit der Frist ab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34216848" y="7534656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1" name="Text 239"/>
          <p:cNvSpPr txBox="1"/>
          <p:nvPr/>
        </p:nvSpPr>
        <p:spPr>
          <a:xfrm>
            <a:off x="34216848" y="7534656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6.2.3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Abgegebene Arbeit unveränderbar sichern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</a:t>
            </a:r>
            <a:endParaRPr lang="en-US" sz="750" dirty="0"/>
          </a:p>
        </p:txBody>
      </p:sp>
      <p:sp>
        <p:nvSpPr>
          <p:cNvPr id="242" name="Shape 240"/>
          <p:cNvSpPr/>
          <p:nvPr/>
        </p:nvSpPr>
        <p:spPr>
          <a:xfrm>
            <a:off x="35844480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243" name="Text 241"/>
          <p:cNvSpPr txBox="1"/>
          <p:nvPr/>
        </p:nvSpPr>
        <p:spPr>
          <a:xfrm>
            <a:off x="35844480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6.3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Eingang bestätigen</a:t>
            </a:r>
            <a:endParaRPr lang="en-US" sz="750" dirty="0"/>
          </a:p>
        </p:txBody>
      </p:sp>
      <p:sp>
        <p:nvSpPr>
          <p:cNvPr id="244" name="Shape 242"/>
          <p:cNvSpPr/>
          <p:nvPr/>
        </p:nvSpPr>
        <p:spPr>
          <a:xfrm>
            <a:off x="35844480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5" name="Text 243"/>
          <p:cNvSpPr txBox="1"/>
          <p:nvPr/>
        </p:nvSpPr>
        <p:spPr>
          <a:xfrm>
            <a:off x="35844480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6.3.1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E-Mail-Bestätigung direkt nach der Abgabe erhalten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246" name="Shape 244"/>
          <p:cNvSpPr/>
          <p:nvPr/>
        </p:nvSpPr>
        <p:spPr>
          <a:xfrm>
            <a:off x="35844480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7" name="Text 245"/>
          <p:cNvSpPr txBox="1"/>
          <p:nvPr/>
        </p:nvSpPr>
        <p:spPr>
          <a:xfrm>
            <a:off x="35844480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6.3.2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Abgabequittung mit Zeitstempel und Vorgangsnummer sehen und speichern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Studierende:r</a:t>
            </a:r>
            <a:endParaRPr lang="en-US" sz="750" dirty="0"/>
          </a:p>
        </p:txBody>
      </p:sp>
      <p:sp>
        <p:nvSpPr>
          <p:cNvPr id="248" name="Shape 246"/>
          <p:cNvSpPr/>
          <p:nvPr/>
        </p:nvSpPr>
        <p:spPr>
          <a:xfrm>
            <a:off x="37472112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249" name="Text 247"/>
          <p:cNvSpPr txBox="1"/>
          <p:nvPr/>
        </p:nvSpPr>
        <p:spPr>
          <a:xfrm>
            <a:off x="37472112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6.4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Beteiligte informieren</a:t>
            </a:r>
            <a:endParaRPr lang="en-US" sz="750" dirty="0"/>
          </a:p>
        </p:txBody>
      </p:sp>
      <p:sp>
        <p:nvSpPr>
          <p:cNvPr id="250" name="Shape 248"/>
          <p:cNvSpPr/>
          <p:nvPr/>
        </p:nvSpPr>
        <p:spPr>
          <a:xfrm>
            <a:off x="37472112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1" name="Text 249"/>
          <p:cNvSpPr txBox="1"/>
          <p:nvPr/>
        </p:nvSpPr>
        <p:spPr>
          <a:xfrm>
            <a:off x="37472112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6.4.1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über die Abgabe benachrichtigt werden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Erstprüfer:in</a:t>
            </a:r>
            <a:endParaRPr lang="en-US" sz="750" dirty="0"/>
          </a:p>
        </p:txBody>
      </p:sp>
      <p:sp>
        <p:nvSpPr>
          <p:cNvPr id="252" name="Shape 250"/>
          <p:cNvSpPr/>
          <p:nvPr/>
        </p:nvSpPr>
        <p:spPr>
          <a:xfrm>
            <a:off x="37472112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3" name="Text 251"/>
          <p:cNvSpPr txBox="1"/>
          <p:nvPr/>
        </p:nvSpPr>
        <p:spPr>
          <a:xfrm>
            <a:off x="37472112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6.4.2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E-Mail informiert werden und Arbeit über einen Link einsehen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Externe:r Zweitprüfer:in</a:t>
            </a:r>
            <a:endParaRPr lang="en-US" sz="750" dirty="0"/>
          </a:p>
        </p:txBody>
      </p:sp>
      <p:sp>
        <p:nvSpPr>
          <p:cNvPr id="254" name="Shape 252"/>
          <p:cNvSpPr/>
          <p:nvPr/>
        </p:nvSpPr>
        <p:spPr>
          <a:xfrm>
            <a:off x="37472112" y="7534656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5" name="Text 253"/>
          <p:cNvSpPr txBox="1"/>
          <p:nvPr/>
        </p:nvSpPr>
        <p:spPr>
          <a:xfrm>
            <a:off x="37472112" y="7534656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6.4.3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jede Abgabe mit Name, Matrikelnummer und Thema benachrichtigt werden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Dekanat</a:t>
            </a:r>
            <a:endParaRPr lang="en-US" sz="750" dirty="0"/>
          </a:p>
        </p:txBody>
      </p:sp>
      <p:sp>
        <p:nvSpPr>
          <p:cNvPr id="256" name="Shape 254"/>
          <p:cNvSpPr/>
          <p:nvPr/>
        </p:nvSpPr>
        <p:spPr>
          <a:xfrm>
            <a:off x="44988480" y="2386584"/>
            <a:ext cx="914" cy="265176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44988480" y="347472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40105584" y="3749040"/>
            <a:ext cx="9765792" cy="914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40105584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40105584" y="4800600"/>
            <a:ext cx="914" cy="1618488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41733216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41733216" y="4800600"/>
            <a:ext cx="914" cy="45720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43360848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43360848" y="4800600"/>
            <a:ext cx="914" cy="1618488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44988480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4988480" y="4800600"/>
            <a:ext cx="914" cy="1618488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6616112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46616112" y="4800600"/>
            <a:ext cx="914" cy="45720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8243744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48243744" y="4800600"/>
            <a:ext cx="914" cy="1618488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49871376" y="3749040"/>
            <a:ext cx="914" cy="274320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49871376" y="4800600"/>
            <a:ext cx="914" cy="1618488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39337488" y="2651760"/>
            <a:ext cx="11301984" cy="82296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4" name="Text 272"/>
          <p:cNvSpPr txBox="1"/>
          <p:nvPr/>
        </p:nvSpPr>
        <p:spPr>
          <a:xfrm>
            <a:off x="39337488" y="2651760"/>
            <a:ext cx="11301984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7</a:t>
            </a:r>
            <a:endParaRPr lang="en-US" sz="9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Abschluss der Dokumentation</a:t>
            </a:r>
            <a:endParaRPr lang="en-US" sz="900" dirty="0"/>
          </a:p>
        </p:txBody>
      </p:sp>
      <p:sp>
        <p:nvSpPr>
          <p:cNvPr id="275" name="Shape 273"/>
          <p:cNvSpPr/>
          <p:nvPr/>
        </p:nvSpPr>
        <p:spPr>
          <a:xfrm>
            <a:off x="39337488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276" name="Text 274"/>
          <p:cNvSpPr txBox="1"/>
          <p:nvPr/>
        </p:nvSpPr>
        <p:spPr>
          <a:xfrm>
            <a:off x="39337488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7.1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Antragsstatus einsehen</a:t>
            </a:r>
            <a:endParaRPr lang="en-US" sz="750" dirty="0"/>
          </a:p>
        </p:txBody>
      </p:sp>
      <p:sp>
        <p:nvSpPr>
          <p:cNvPr id="277" name="Shape 275"/>
          <p:cNvSpPr/>
          <p:nvPr/>
        </p:nvSpPr>
        <p:spPr>
          <a:xfrm>
            <a:off x="39337488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8" name="Text 276"/>
          <p:cNvSpPr txBox="1"/>
          <p:nvPr/>
        </p:nvSpPr>
        <p:spPr>
          <a:xfrm>
            <a:off x="39337488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7.1.1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Aktuellen Status sehen, um den Fortschritt zu kennen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offen</a:t>
            </a:r>
            <a:endParaRPr lang="en-US" sz="750" dirty="0"/>
          </a:p>
        </p:txBody>
      </p:sp>
      <p:sp>
        <p:nvSpPr>
          <p:cNvPr id="279" name="Shape 277"/>
          <p:cNvSpPr/>
          <p:nvPr/>
        </p:nvSpPr>
        <p:spPr>
          <a:xfrm>
            <a:off x="39337488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0" name="Text 278"/>
          <p:cNvSpPr txBox="1"/>
          <p:nvPr/>
        </p:nvSpPr>
        <p:spPr>
          <a:xfrm>
            <a:off x="39337488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7.1.2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Sehen, ob mein Antrag noch bearbeitet wird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offen</a:t>
            </a:r>
            <a:endParaRPr lang="en-US" sz="750" dirty="0"/>
          </a:p>
        </p:txBody>
      </p:sp>
      <p:sp>
        <p:nvSpPr>
          <p:cNvPr id="281" name="Shape 279"/>
          <p:cNvSpPr/>
          <p:nvPr/>
        </p:nvSpPr>
        <p:spPr>
          <a:xfrm>
            <a:off x="40965120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282" name="Text 280"/>
          <p:cNvSpPr txBox="1"/>
          <p:nvPr/>
        </p:nvSpPr>
        <p:spPr>
          <a:xfrm>
            <a:off x="40965120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7.2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Antragsstatus einsehen (Prüfungsamt)</a:t>
            </a:r>
            <a:endParaRPr lang="en-US" sz="750" dirty="0"/>
          </a:p>
        </p:txBody>
      </p:sp>
      <p:sp>
        <p:nvSpPr>
          <p:cNvPr id="283" name="Shape 281"/>
          <p:cNvSpPr/>
          <p:nvPr/>
        </p:nvSpPr>
        <p:spPr>
          <a:xfrm>
            <a:off x="40965120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4" name="Text 282"/>
          <p:cNvSpPr txBox="1"/>
          <p:nvPr/>
        </p:nvSpPr>
        <p:spPr>
          <a:xfrm>
            <a:off x="40965120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7.2.1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einsehen, um den Bearbeitungsstand nachzuvollziehen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Prüfungsamt</a:t>
            </a:r>
            <a:endParaRPr lang="en-US" sz="750" dirty="0"/>
          </a:p>
        </p:txBody>
      </p:sp>
      <p:sp>
        <p:nvSpPr>
          <p:cNvPr id="285" name="Shape 283"/>
          <p:cNvSpPr/>
          <p:nvPr/>
        </p:nvSpPr>
        <p:spPr>
          <a:xfrm>
            <a:off x="42592752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286" name="Text 284"/>
          <p:cNvSpPr txBox="1"/>
          <p:nvPr/>
        </p:nvSpPr>
        <p:spPr>
          <a:xfrm>
            <a:off x="42592752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7.3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Rückmeldung zum Antrag erhalten</a:t>
            </a:r>
            <a:endParaRPr lang="en-US" sz="750" dirty="0"/>
          </a:p>
        </p:txBody>
      </p:sp>
      <p:sp>
        <p:nvSpPr>
          <p:cNvPr id="287" name="Shape 285"/>
          <p:cNvSpPr/>
          <p:nvPr/>
        </p:nvSpPr>
        <p:spPr>
          <a:xfrm>
            <a:off x="42592752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8" name="Text 286"/>
          <p:cNvSpPr txBox="1"/>
          <p:nvPr/>
        </p:nvSpPr>
        <p:spPr>
          <a:xfrm>
            <a:off x="42592752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7.3.1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Rückmeldung erhalten, ob noch Schritte notwendig sind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offen</a:t>
            </a:r>
            <a:endParaRPr lang="en-US" sz="750" dirty="0"/>
          </a:p>
        </p:txBody>
      </p:sp>
      <p:sp>
        <p:nvSpPr>
          <p:cNvPr id="289" name="Shape 287"/>
          <p:cNvSpPr/>
          <p:nvPr/>
        </p:nvSpPr>
        <p:spPr>
          <a:xfrm>
            <a:off x="42592752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0" name="Text 288"/>
          <p:cNvSpPr txBox="1"/>
          <p:nvPr/>
        </p:nvSpPr>
        <p:spPr>
          <a:xfrm>
            <a:off x="42592752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7.3.2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neue Rückmeldungen informiert werden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offen</a:t>
            </a:r>
            <a:endParaRPr lang="en-US" sz="750" dirty="0"/>
          </a:p>
        </p:txBody>
      </p:sp>
      <p:sp>
        <p:nvSpPr>
          <p:cNvPr id="291" name="Shape 289"/>
          <p:cNvSpPr/>
          <p:nvPr/>
        </p:nvSpPr>
        <p:spPr>
          <a:xfrm>
            <a:off x="44220384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292" name="Text 290"/>
          <p:cNvSpPr txBox="1"/>
          <p:nvPr/>
        </p:nvSpPr>
        <p:spPr>
          <a:xfrm>
            <a:off x="44220384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7.4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Unterlagen einreichen</a:t>
            </a:r>
            <a:endParaRPr lang="en-US" sz="750" dirty="0"/>
          </a:p>
        </p:txBody>
      </p:sp>
      <p:sp>
        <p:nvSpPr>
          <p:cNvPr id="293" name="Shape 291"/>
          <p:cNvSpPr/>
          <p:nvPr/>
        </p:nvSpPr>
        <p:spPr>
          <a:xfrm>
            <a:off x="44220384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4" name="Text 292"/>
          <p:cNvSpPr txBox="1"/>
          <p:nvPr/>
        </p:nvSpPr>
        <p:spPr>
          <a:xfrm>
            <a:off x="44220384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7.4.1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Unterlagen einreichen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offen</a:t>
            </a:r>
            <a:endParaRPr lang="en-US" sz="750" dirty="0"/>
          </a:p>
        </p:txBody>
      </p:sp>
      <p:sp>
        <p:nvSpPr>
          <p:cNvPr id="295" name="Shape 293"/>
          <p:cNvSpPr/>
          <p:nvPr/>
        </p:nvSpPr>
        <p:spPr>
          <a:xfrm>
            <a:off x="44220384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6" name="Text 294"/>
          <p:cNvSpPr txBox="1"/>
          <p:nvPr/>
        </p:nvSpPr>
        <p:spPr>
          <a:xfrm>
            <a:off x="44220384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7.4.2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Einsehen, welche Unterlagen fehlen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offen</a:t>
            </a:r>
            <a:endParaRPr lang="en-US" sz="750" dirty="0"/>
          </a:p>
        </p:txBody>
      </p:sp>
      <p:sp>
        <p:nvSpPr>
          <p:cNvPr id="297" name="Shape 295"/>
          <p:cNvSpPr/>
          <p:nvPr/>
        </p:nvSpPr>
        <p:spPr>
          <a:xfrm>
            <a:off x="45848016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298" name="Text 296"/>
          <p:cNvSpPr txBox="1"/>
          <p:nvPr/>
        </p:nvSpPr>
        <p:spPr>
          <a:xfrm>
            <a:off x="45848016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7.5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Antragsdokumentation prüfen</a:t>
            </a:r>
            <a:endParaRPr lang="en-US" sz="750" dirty="0"/>
          </a:p>
        </p:txBody>
      </p:sp>
      <p:sp>
        <p:nvSpPr>
          <p:cNvPr id="299" name="Shape 297"/>
          <p:cNvSpPr/>
          <p:nvPr/>
        </p:nvSpPr>
        <p:spPr>
          <a:xfrm>
            <a:off x="45848016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0" name="Text 298"/>
          <p:cNvSpPr txBox="1"/>
          <p:nvPr/>
        </p:nvSpPr>
        <p:spPr>
          <a:xfrm>
            <a:off x="45848016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7.5.1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Antragsdokumentation einsehen, um Vorgänge nachzuvollziehen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Prüfungsamt</a:t>
            </a:r>
            <a:endParaRPr lang="en-US" sz="750" dirty="0"/>
          </a:p>
        </p:txBody>
      </p:sp>
      <p:sp>
        <p:nvSpPr>
          <p:cNvPr id="301" name="Shape 299"/>
          <p:cNvSpPr/>
          <p:nvPr/>
        </p:nvSpPr>
        <p:spPr>
          <a:xfrm>
            <a:off x="47475648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302" name="Text 300"/>
          <p:cNvSpPr txBox="1"/>
          <p:nvPr/>
        </p:nvSpPr>
        <p:spPr>
          <a:xfrm>
            <a:off x="47475648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7.6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Abschlussbestätigung erhalten</a:t>
            </a:r>
            <a:endParaRPr lang="en-US" sz="750" dirty="0"/>
          </a:p>
        </p:txBody>
      </p:sp>
      <p:sp>
        <p:nvSpPr>
          <p:cNvPr id="303" name="Shape 301"/>
          <p:cNvSpPr/>
          <p:nvPr/>
        </p:nvSpPr>
        <p:spPr>
          <a:xfrm>
            <a:off x="47475648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4" name="Text 302"/>
          <p:cNvSpPr txBox="1"/>
          <p:nvPr/>
        </p:nvSpPr>
        <p:spPr>
          <a:xfrm>
            <a:off x="47475648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7.6.1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Bestätigung als Nachweis für den Abschluss erhalten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offen</a:t>
            </a:r>
            <a:endParaRPr lang="en-US" sz="750" dirty="0"/>
          </a:p>
        </p:txBody>
      </p:sp>
      <p:sp>
        <p:nvSpPr>
          <p:cNvPr id="305" name="Shape 303"/>
          <p:cNvSpPr/>
          <p:nvPr/>
        </p:nvSpPr>
        <p:spPr>
          <a:xfrm>
            <a:off x="47475648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6" name="Text 304"/>
          <p:cNvSpPr txBox="1"/>
          <p:nvPr/>
        </p:nvSpPr>
        <p:spPr>
          <a:xfrm>
            <a:off x="47475648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7.6.2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Bestätigung im Portal einsehen und später abrufen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offen</a:t>
            </a:r>
            <a:endParaRPr lang="en-US" sz="750" dirty="0"/>
          </a:p>
        </p:txBody>
      </p:sp>
      <p:sp>
        <p:nvSpPr>
          <p:cNvPr id="307" name="Shape 305"/>
          <p:cNvSpPr/>
          <p:nvPr/>
        </p:nvSpPr>
        <p:spPr>
          <a:xfrm>
            <a:off x="49103280" y="4023360"/>
            <a:ext cx="1536192" cy="777240"/>
          </a:xfrm>
          <a:prstGeom prst="roundRect">
            <a:avLst>
              <a:gd name="adj" fmla="val 8235"/>
            </a:avLst>
          </a:prstGeom>
          <a:solidFill>
            <a:srgbClr val="DCE8F5"/>
          </a:solidFill>
          <a:ln w="15875">
            <a:solidFill>
              <a:srgbClr val="4A7FB5"/>
            </a:solidFill>
            <a:prstDash val="solid"/>
          </a:ln>
        </p:spPr>
      </p:sp>
      <p:sp>
        <p:nvSpPr>
          <p:cNvPr id="308" name="Text 306"/>
          <p:cNvSpPr txBox="1"/>
          <p:nvPr/>
        </p:nvSpPr>
        <p:spPr>
          <a:xfrm>
            <a:off x="49103280" y="4023360"/>
            <a:ext cx="1536192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7.7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Antragsdokumentation abrufen</a:t>
            </a:r>
            <a:endParaRPr lang="en-US" sz="750" dirty="0"/>
          </a:p>
        </p:txBody>
      </p:sp>
      <p:sp>
        <p:nvSpPr>
          <p:cNvPr id="309" name="Shape 307"/>
          <p:cNvSpPr/>
          <p:nvPr/>
        </p:nvSpPr>
        <p:spPr>
          <a:xfrm>
            <a:off x="49103280" y="5212080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0" name="Text 308"/>
          <p:cNvSpPr txBox="1"/>
          <p:nvPr/>
        </p:nvSpPr>
        <p:spPr>
          <a:xfrm>
            <a:off x="49103280" y="5212080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7.7.1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und Dokumente nach Abschluss einsehen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offen</a:t>
            </a:r>
            <a:endParaRPr lang="en-US" sz="750" dirty="0"/>
          </a:p>
        </p:txBody>
      </p:sp>
      <p:sp>
        <p:nvSpPr>
          <p:cNvPr id="311" name="Shape 309"/>
          <p:cNvSpPr/>
          <p:nvPr/>
        </p:nvSpPr>
        <p:spPr>
          <a:xfrm>
            <a:off x="49103280" y="6373368"/>
            <a:ext cx="1536192" cy="105156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2" name="Text 310"/>
          <p:cNvSpPr txBox="1"/>
          <p:nvPr/>
        </p:nvSpPr>
        <p:spPr>
          <a:xfrm>
            <a:off x="49103280" y="6373368"/>
            <a:ext cx="153619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7.7.2</a:t>
            </a:r>
            <a:endParaRPr lang="en-US" sz="7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 Dokumente herunterladen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offen</a:t>
            </a:r>
            <a:endParaRPr lang="en-US" sz="750" dirty="0"/>
          </a:p>
        </p:txBody>
      </p:sp>
      <p:sp>
        <p:nvSpPr>
          <p:cNvPr id="313" name="Text 311"/>
          <p:cNvSpPr txBox="1"/>
          <p:nvPr/>
        </p:nvSpPr>
        <p:spPr>
          <a:xfrm>
            <a:off x="457200" y="10250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Legende</a:t>
            </a:r>
            <a:endParaRPr lang="en-US" sz="1100" dirty="0"/>
          </a:p>
        </p:txBody>
      </p:sp>
      <p:sp>
        <p:nvSpPr>
          <p:cNvPr id="314" name="Shape 312"/>
          <p:cNvSpPr/>
          <p:nvPr/>
        </p:nvSpPr>
        <p:spPr>
          <a:xfrm>
            <a:off x="457200" y="10634472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5" name="Text 313"/>
          <p:cNvSpPr txBox="1"/>
          <p:nvPr/>
        </p:nvSpPr>
        <p:spPr>
          <a:xfrm>
            <a:off x="1005840" y="10588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 1: Activity (7), Prozessschritt im Zeitstrahl</a:t>
            </a:r>
            <a:endParaRPr lang="en-US" sz="1050" dirty="0"/>
          </a:p>
        </p:txBody>
      </p:sp>
      <p:sp>
        <p:nvSpPr>
          <p:cNvPr id="316" name="Shape 314"/>
          <p:cNvSpPr/>
          <p:nvPr/>
        </p:nvSpPr>
        <p:spPr>
          <a:xfrm>
            <a:off x="5120640" y="10634472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DCE8F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17" name="Text 315"/>
          <p:cNvSpPr txBox="1"/>
          <p:nvPr/>
        </p:nvSpPr>
        <p:spPr>
          <a:xfrm>
            <a:off x="5669280" y="10588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 2: User Task (29), gehört zur Activity darüber</a:t>
            </a:r>
            <a:endParaRPr lang="en-US" sz="1050" dirty="0"/>
          </a:p>
        </p:txBody>
      </p:sp>
      <p:sp>
        <p:nvSpPr>
          <p:cNvPr id="318" name="Shape 316"/>
          <p:cNvSpPr/>
          <p:nvPr/>
        </p:nvSpPr>
        <p:spPr>
          <a:xfrm>
            <a:off x="9966960" y="10634472"/>
            <a:ext cx="457200" cy="274320"/>
          </a:xfrm>
          <a:prstGeom prst="rect">
            <a:avLst/>
          </a:prstGeom>
          <a:solidFill>
            <a:srgbClr val="FFF7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9" name="Text 317"/>
          <p:cNvSpPr txBox="1"/>
          <p:nvPr/>
        </p:nvSpPr>
        <p:spPr>
          <a:xfrm>
            <a:off x="10515600" y="10588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 3: User Story (66), gehört zum User Task darüber</a:t>
            </a:r>
            <a:endParaRPr lang="en-US" sz="1050" dirty="0"/>
          </a:p>
        </p:txBody>
      </p:sp>
      <p:sp>
        <p:nvSpPr>
          <p:cNvPr id="320" name="Shape 318"/>
          <p:cNvSpPr/>
          <p:nvPr/>
        </p:nvSpPr>
        <p:spPr>
          <a:xfrm>
            <a:off x="15179040" y="10771632"/>
            <a:ext cx="457200" cy="914"/>
          </a:xfrm>
          <a:prstGeom prst="line">
            <a:avLst/>
          </a:prstGeom>
          <a:noFill/>
          <a:ln w="19050">
            <a:solidFill>
              <a:srgbClr val="7A867A"/>
            </a:solidFill>
            <a:prstDash val="solid"/>
          </a:ln>
        </p:spPr>
      </p:sp>
      <p:sp>
        <p:nvSpPr>
          <p:cNvPr id="321" name="Text 319"/>
          <p:cNvSpPr txBox="1"/>
          <p:nvPr/>
        </p:nvSpPr>
        <p:spPr>
          <a:xfrm>
            <a:off x="15727680" y="10588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Zuordnung (Baumstruktur)</a:t>
            </a:r>
            <a:endParaRPr lang="en-US" sz="1050" dirty="0"/>
          </a:p>
        </p:txBody>
      </p:sp>
      <p:sp>
        <p:nvSpPr>
          <p:cNvPr id="322" name="Shape 320"/>
          <p:cNvSpPr/>
          <p:nvPr/>
        </p:nvSpPr>
        <p:spPr>
          <a:xfrm>
            <a:off x="18470880" y="10771632"/>
            <a:ext cx="640080" cy="914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323" name="Text 321"/>
          <p:cNvSpPr txBox="1"/>
          <p:nvPr/>
        </p:nvSpPr>
        <p:spPr>
          <a:xfrm>
            <a:off x="19202400" y="10588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Zeitlicher Ablauf, Schritt 1 bis 7</a:t>
            </a:r>
            <a:endParaRPr lang="en-US" sz="1050" dirty="0"/>
          </a:p>
        </p:txBody>
      </p:sp>
      <p:sp>
        <p:nvSpPr>
          <p:cNvPr id="324" name="Text 322"/>
          <p:cNvSpPr txBox="1"/>
          <p:nvPr/>
        </p:nvSpPr>
        <p:spPr>
          <a:xfrm>
            <a:off x="22860000" y="10433304"/>
            <a:ext cx="2011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sind als Kurztext dargestellt. Vollständiger Wortlaut, Rollen und die Zuordnung zu den Nummern der Version 1 stehen in Story_Mapping_V2.md. „Rolle offen“: In Version 1 ist für diese User Story keine Rolle angegeben.</a:t>
            </a:r>
            <a:endParaRPr lang="en-US" sz="1050" dirty="0"/>
          </a:p>
        </p:txBody>
      </p:sp>
      <p:sp>
        <p:nvSpPr>
          <p:cNvPr id="325" name="Text 323"/>
          <p:cNvSpPr txBox="1"/>
          <p:nvPr/>
        </p:nvSpPr>
        <p:spPr>
          <a:xfrm>
            <a:off x="36118800" y="10588752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Story Mapping/1 bis 7 (Version 1) im Repository  ·  Aufgabe: User Story Mapping (Praxisteil, Seite 10)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 Mapping ThesisFlow V2</dc:title>
  <dc:subject>PptxGenJS Presentation</dc:subject>
  <dc:creator>PptxGenJS</dc:creator>
  <cp:lastModifiedBy>PptxGenJS</cp:lastModifiedBy>
  <cp:revision>1</cp:revision>
  <dcterms:created xsi:type="dcterms:W3CDTF">2026-10-01T08:37:59Z</dcterms:created>
  <dcterms:modified xsi:type="dcterms:W3CDTF">2026-10-01T08:37:59Z</dcterms:modified>
</cp:coreProperties>
</file>